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product, not the stack. StudyMapper turns a syllabus into a plan, then measures what the student gets wrong so the next session can focus there. The four words at the bottom are the whole system: plan, learn, practise, improve, and the records show what to revisit. The team and roll numbers are on screen for the record, so do not read them aloud. Set the evidence standard now: every claim in the next twelve slides is checked against the repository or the running app.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a map, not a list. The four columns are the four moves: frame the problem, decide what the system should do, build and prove it, then close. Point out that the agenda is deliberately uneven in length because the design and evidence sections carry the argument. Do not read the thirteen titles aloud. Say the deck is short enough to leave time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product in one slide. The dashboard is the home base: subjects, question banks, progress, focus timer. The roadmap is a separate library of 91 roadmaps. Coding practice generates Python problems and runs them in the browser through Pyodide. Placement prep splits aptitude, technical and HR. The point is not the feature count; it is that all four screens read and write the same local record. End on the question: can the student's own activity shape the next plan? The honest answer is partial — activity produces a weakness score, and the plan can be regenerated on demand.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in student terms before any technology. Three failures: context is lost when tools are separate, a plan made once ignores difficulty and slipping dates, and feedback arrives after the exam. The diagram on the right is deliberately simple: four tools with no shared record. The consequence line is the one to land: the plan never learns from the week. Do not mention the solution yet; slide 5 is the response.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objectives as the direct response to the three failures. One: the plan is generated from the exam date, topic difficulty and available days, and compressed in panic mode — not made once. Two: generated material is editable, so the student stays in charge. Three: practice is where measurement happens — stored study events feed the weakness score, while flashcards follow SM-2. Four: all of it lives in one local record, so the app survives a bad connection. The scope panels matter: timetabling, proctoring, a teacher dashboard, a native app and sync are decisions, not gaps.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grid cell by cell; pick the contrast. Adaptive platforms sequence content well but rarely react to one student's week. AI tutors generate well but are usually cloud-only and disconnected from stored data. LMS analytics serve the institution. Spaced repetition is excellent but isolated from the syllabus and practice. Gamified apps sustain habit but reward activity, not understanding. The gradient card is the sentence to land: the missing combination is planning, generation, measurement and offline study for one learner. Say plainly that this is a design comparison, not a systematic literature review.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diagram left to right. The interface is ordinary React with 46 routed views. The domain column is the product: the planner, the weakness detector, the SM-2 scheduler, gamification, the AI orchestrator and the file parser. Every one of those rules runs locally. The planner reads the exam date, topic difficulty and panic mode; the weakness detector reads the last seven days of analytics; SM-2 schedules flashcards. They share the store but stay separate. The data column is the foundation: 40 Dexie tables over IndexedDB, grouped into curriculum, practice, planning and progress. The arrows matter: actions go right, next actions come back, and every module reads and writes the same store. The core loop is plan, study, attempt, score, re-plan. AI and identity sit outside the canvas because they are optional; the app still studies without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views, one process. The use-case diagram says what the student can do: plan, study and generate, practise and test, measure and adapt. The four core use cases are built in; OpenRouter and Pyodide are optional supporting actors. The activity diagram says what happens after one action: open the plan, study and log the event, recompute the weakness score, then branch. At 40 or above the topic is flagged for revision, and the student can regenerate the plan on demand; below 40 the weakness record is cleared and progress is recorded. SM-2 is a separate scheduler for flashcards, shown in the band at the bottom right. The weights there are fixed and inspectable on purpose: a failed coding attempt adds 30, low accuracy adds half the shortfall, a pomodoro adds 10, a pass subtracts 20 and notes subtract 10.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choices by constraint, not by logo. React and Vite keep the feedback loop fast for a small team. OpenRouter avoids model hosting; Pyodide runs Python in the browser, so coding practice needs no execution server. Mermaid and KaTeX render diagrams and maths locally. Dexie is the product's memory, with 40 tables; Firebase is only optional identity. Vitest, the production build and Puppeteer are how claims are checked. The bottom line answers the hardware question: there is nothing to install or host. Any modern browser is enough.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about what these numbers mean. 47 tests across 14 files pass, the production build takes 6.21 seconds, the database has 40 tables and the app exposes 46 routed views. The test wall is a visual count, not a new metric. The before/after panel is a workflow comparison, not an experiment. The screenshot is the dashboard, with level, streak and progress read from stored records. The sentence to land is the rose band: this proves functional completeness and build health, not learning gains. A classroom study is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three claims, one sentence each. Adaptive means the plan is generated from the exam date and topic difficulty, and can be recomputed on demand — not written once. Explainable means a student or examiner can trace why a topic is flagged weak or why it appears tomorrow — the data is in the same store, the weights are fixed, the threshold is 40. Local-first means the product survives a bad connection and treats cloud services as optional. The contributions are stated as mechanisms, not adjectives. Close on the gradient band: the loop is built; the learning study is next.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sequencing argument is the slide. The first horizon is not more features; it is a classroom pilot with a pre/post design, because that is the missing evidence. Optional sync and accessibility make the product usable beyond one browser. The next year is about reach and review: mobile, a mentor view that aggregates rather than surveils, and a workflow for checking AI content. Beyond that is institutional integration and a longitudinal study. If asked what is realistically next, answer the pilot and the accessibility pass — both are small enough to start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references. Explain the policy: the repository, the abstract and the live app are the primary sources; the rest are official documentation used to confirm specific technical behaviour. No secondary blog posts or unattributed claims are cited. If an examiner asks about the SM-2 formulation, point to Woźniak's original description and the Anki manual as the reference implementation. The repository link is also the fastest way for an evaluator to inspect the code after the presentation.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g_aurora.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40080" y="411480"/>
            <a:ext cx="201168" cy="201168"/>
          </a:xfrm>
          <a:prstGeom prst="roundRect">
            <a:avLst>
              <a:gd name="adj" fmla="val 25000"/>
            </a:avLst>
          </a:prstGeom>
          <a:gradFill rotWithShape="1">
            <a:gsLst>
              <a:gs pos="0">
                <a:srgbClr val="0EA5E9"/>
              </a:gs>
              <a:gs pos="100000">
                <a:srgbClr val="4F5BD5"/>
              </a:gs>
            </a:gsLst>
            <a:lin scaled="0" ang="19500000"/>
          </a:gradFill>
          <a:ln>
            <a:noFill/>
          </a:ln>
          <a:effectLst/>
        </p:spPr>
        <p:txBody>
          <a:bodyPr rtlCol="0" anchor="ctr"/>
          <a:lstStyle/>
          <a:p>
            <a:pPr algn="ctr"/>
          </a:p>
        </p:txBody>
      </p:sp>
      <p:sp>
        <p:nvSpPr>
          <p:cNvPr id="4" name="TextBox 3"/>
          <p:cNvSpPr txBox="1"/>
          <p:nvPr/>
        </p:nvSpPr>
        <p:spPr>
          <a:xfrm>
            <a:off x="923544" y="393192"/>
            <a:ext cx="2194560" cy="219456"/>
          </a:xfrm>
          <a:prstGeom prst="rect">
            <a:avLst/>
          </a:prstGeom>
          <a:noFill/>
        </p:spPr>
        <p:txBody>
          <a:bodyPr wrap="square" anchor="t" lIns="0" rIns="0" tIns="0" bIns="0">
            <a:noAutofit/>
          </a:bodyPr>
          <a:lstStyle/>
          <a:p>
            <a:pPr algn="l">
              <a:lnSpc>
                <a:spcPct val="112000"/>
              </a:lnSpc>
              <a:spcAft>
                <a:spcPts val="0"/>
              </a:spcAft>
            </a:pPr>
            <a:r>
              <a:rPr sz="1050" b="1" i="0">
                <a:solidFill>
                  <a:srgbClr val="0F172A"/>
                </a:solidFill>
                <a:latin typeface="Segoe UI"/>
              </a:rPr>
              <a:t>StudyMapper</a:t>
            </a:r>
          </a:p>
        </p:txBody>
      </p:sp>
      <p:sp>
        <p:nvSpPr>
          <p:cNvPr id="5" name="TextBox 4"/>
          <p:cNvSpPr txBox="1"/>
          <p:nvPr/>
        </p:nvSpPr>
        <p:spPr>
          <a:xfrm>
            <a:off x="6400800" y="402336"/>
            <a:ext cx="5148072" cy="201168"/>
          </a:xfrm>
          <a:prstGeom prst="rect">
            <a:avLst/>
          </a:prstGeom>
          <a:noFill/>
        </p:spPr>
        <p:txBody>
          <a:bodyPr wrap="square" anchor="t" lIns="0" rIns="0" tIns="0" bIns="0">
            <a:noAutofit/>
          </a:bodyPr>
          <a:lstStyle/>
          <a:p>
            <a:pPr algn="r">
              <a:lnSpc>
                <a:spcPct val="112000"/>
              </a:lnSpc>
              <a:spcAft>
                <a:spcPts val="0"/>
              </a:spcAft>
            </a:pPr>
            <a:r>
              <a:rPr sz="950" b="1" i="0">
                <a:solidFill>
                  <a:srgbClr val="4F5BD5"/>
                </a:solidFill>
                <a:latin typeface="Segoe UI"/>
              </a:rPr>
              <a:t>ACADEMIC PROJECT  ·  2026–27</a:t>
            </a:r>
          </a:p>
        </p:txBody>
      </p:sp>
      <p:sp>
        <p:nvSpPr>
          <p:cNvPr id="6" name="Rounded Rectangle 5"/>
          <p:cNvSpPr/>
          <p:nvPr/>
        </p:nvSpPr>
        <p:spPr>
          <a:xfrm>
            <a:off x="731520" y="896112"/>
            <a:ext cx="3017520" cy="310896"/>
          </a:xfrm>
          <a:prstGeom prst="roundRect">
            <a:avLst>
              <a:gd name="adj" fmla="val 50000"/>
            </a:avLst>
          </a:prstGeom>
          <a:solidFill>
            <a:srgbClr val="EEF0FF"/>
          </a:solidFill>
          <a:ln>
            <a:noFill/>
          </a:ln>
          <a:effectLst/>
        </p:spPr>
        <p:txBody>
          <a:bodyPr rtlCol="0" anchor="ctr" wrap="square" lIns="54864" rIns="54864" tIns="0" bIns="0"/>
          <a:lstStyle/>
          <a:p>
            <a:pPr algn="ctr"/>
            <a:r>
              <a:rPr sz="860" b="1">
                <a:solidFill>
                  <a:srgbClr val="4F5BD5"/>
                </a:solidFill>
                <a:latin typeface="Segoe UI"/>
              </a:rPr>
              <a:t>AI-DRIVEN LEARNING WORKSPACE</a:t>
            </a:r>
          </a:p>
        </p:txBody>
      </p:sp>
      <p:sp>
        <p:nvSpPr>
          <p:cNvPr id="7" name="TextBox 6"/>
          <p:cNvSpPr txBox="1"/>
          <p:nvPr/>
        </p:nvSpPr>
        <p:spPr>
          <a:xfrm>
            <a:off x="685800" y="1298448"/>
            <a:ext cx="6766560" cy="868680"/>
          </a:xfrm>
          <a:prstGeom prst="rect">
            <a:avLst/>
          </a:prstGeom>
          <a:noFill/>
        </p:spPr>
        <p:txBody>
          <a:bodyPr wrap="square" anchor="t" lIns="0" rIns="0" tIns="0" bIns="0">
            <a:noAutofit/>
          </a:bodyPr>
          <a:lstStyle/>
          <a:p>
            <a:pPr algn="l">
              <a:lnSpc>
                <a:spcPct val="95000"/>
              </a:lnSpc>
              <a:spcAft>
                <a:spcPts val="0"/>
              </a:spcAft>
            </a:pPr>
            <a:r>
              <a:rPr sz="5800" b="1" i="0">
                <a:solidFill>
                  <a:srgbClr val="0F172A"/>
                </a:solidFill>
                <a:latin typeface="Segoe UI"/>
              </a:rPr>
              <a:t>StudyMapper</a:t>
            </a:r>
          </a:p>
        </p:txBody>
      </p:sp>
      <p:sp>
        <p:nvSpPr>
          <p:cNvPr id="8" name="TextBox 7"/>
          <p:cNvSpPr txBox="1"/>
          <p:nvPr/>
        </p:nvSpPr>
        <p:spPr>
          <a:xfrm>
            <a:off x="713232" y="2176272"/>
            <a:ext cx="6355080" cy="868680"/>
          </a:xfrm>
          <a:prstGeom prst="rect">
            <a:avLst/>
          </a:prstGeom>
          <a:noFill/>
        </p:spPr>
        <p:txBody>
          <a:bodyPr wrap="square" anchor="t" lIns="0" rIns="0" tIns="0" bIns="0">
            <a:noAutofit/>
          </a:bodyPr>
          <a:lstStyle/>
          <a:p>
            <a:pPr algn="l">
              <a:lnSpc>
                <a:spcPct val="112000"/>
              </a:lnSpc>
              <a:spcAft>
                <a:spcPts val="0"/>
              </a:spcAft>
            </a:pPr>
            <a:r>
              <a:rPr sz="2300" b="0" i="0">
                <a:solidFill>
                  <a:srgbClr val="475569"/>
                </a:solidFill>
                <a:latin typeface="Segoe UI"/>
              </a:rPr>
              <a:t>AI-Driven Personalized Learning</a:t>
            </a:r>
          </a:p>
          <a:p>
            <a:pPr algn="l">
              <a:lnSpc>
                <a:spcPct val="112000"/>
              </a:lnSpc>
              <a:spcAft>
                <a:spcPts val="0"/>
              </a:spcAft>
            </a:pPr>
            <a:r>
              <a:rPr sz="2300" b="0" i="0">
                <a:solidFill>
                  <a:srgbClr val="475569"/>
                </a:solidFill>
                <a:latin typeface="Segoe UI"/>
              </a:rPr>
              <a:t>&amp; Academic Management System</a:t>
            </a:r>
          </a:p>
        </p:txBody>
      </p:sp>
      <p:sp>
        <p:nvSpPr>
          <p:cNvPr id="9" name="Rectangle 8"/>
          <p:cNvSpPr/>
          <p:nvPr/>
        </p:nvSpPr>
        <p:spPr>
          <a:xfrm>
            <a:off x="731520" y="3182112"/>
            <a:ext cx="1234440" cy="50292"/>
          </a:xfrm>
          <a:prstGeom prst="rect">
            <a:avLst/>
          </a:prstGeom>
          <a:gradFill rotWithShape="1">
            <a:gsLst>
              <a:gs pos="0">
                <a:srgbClr val="0EA5E9"/>
              </a:gs>
              <a:gs pos="100000">
                <a:srgbClr val="4F5BD5"/>
              </a:gs>
            </a:gsLst>
            <a:lin scaled="0" ang="0"/>
          </a:gradFill>
          <a:ln>
            <a:noFill/>
          </a:ln>
          <a:effectLst/>
        </p:spPr>
        <p:txBody>
          <a:bodyPr rtlCol="0" anchor="ctr"/>
          <a:lstStyle/>
          <a:p>
            <a:pPr algn="ctr"/>
          </a:p>
        </p:txBody>
      </p:sp>
      <p:sp>
        <p:nvSpPr>
          <p:cNvPr id="10" name="TextBox 9"/>
          <p:cNvSpPr txBox="1"/>
          <p:nvPr/>
        </p:nvSpPr>
        <p:spPr>
          <a:xfrm>
            <a:off x="731520" y="3364992"/>
            <a:ext cx="3657600" cy="182880"/>
          </a:xfrm>
          <a:prstGeom prst="rect">
            <a:avLst/>
          </a:prstGeom>
          <a:noFill/>
        </p:spPr>
        <p:txBody>
          <a:bodyPr wrap="square" anchor="t" lIns="0" rIns="0" tIns="0" bIns="0">
            <a:noAutofit/>
          </a:bodyPr>
          <a:lstStyle/>
          <a:p>
            <a:pPr algn="l">
              <a:lnSpc>
                <a:spcPct val="112000"/>
              </a:lnSpc>
              <a:spcAft>
                <a:spcPts val="0"/>
              </a:spcAft>
            </a:pPr>
            <a:r>
              <a:rPr sz="900" b="1" i="0">
                <a:solidFill>
                  <a:srgbClr val="4F5BD5"/>
                </a:solidFill>
                <a:latin typeface="Segoe UI"/>
              </a:rPr>
              <a:t>PROJECT OVERVIEW</a:t>
            </a:r>
          </a:p>
        </p:txBody>
      </p:sp>
      <p:sp>
        <p:nvSpPr>
          <p:cNvPr id="11" name="TextBox 10"/>
          <p:cNvSpPr txBox="1"/>
          <p:nvPr/>
        </p:nvSpPr>
        <p:spPr>
          <a:xfrm>
            <a:off x="731520" y="3584448"/>
            <a:ext cx="6355080" cy="914400"/>
          </a:xfrm>
          <a:prstGeom prst="rect">
            <a:avLst/>
          </a:prstGeom>
          <a:noFill/>
        </p:spPr>
        <p:txBody>
          <a:bodyPr wrap="square" anchor="t" lIns="0" rIns="0" tIns="0" bIns="0">
            <a:noAutofit/>
          </a:bodyPr>
          <a:lstStyle/>
          <a:p>
            <a:pPr algn="l">
              <a:lnSpc>
                <a:spcPct val="128000"/>
              </a:lnSpc>
              <a:spcAft>
                <a:spcPts val="0"/>
              </a:spcAft>
            </a:pPr>
            <a:r>
              <a:rPr sz="1520" b="0" i="0">
                <a:solidFill>
                  <a:srgbClr val="0F172A"/>
                </a:solidFill>
                <a:latin typeface="Segoe UI"/>
              </a:rPr>
              <a:t>A local-first study workspace that turns a syllabus into an adaptive plan, generates notes and practice, and scores weakness from activity.</a:t>
            </a:r>
          </a:p>
        </p:txBody>
      </p:sp>
      <p:sp>
        <p:nvSpPr>
          <p:cNvPr id="12" name="TextBox 11"/>
          <p:cNvSpPr txBox="1"/>
          <p:nvPr/>
        </p:nvSpPr>
        <p:spPr>
          <a:xfrm>
            <a:off x="731520" y="4590288"/>
            <a:ext cx="6309360" cy="219456"/>
          </a:xfrm>
          <a:prstGeom prst="rect">
            <a:avLst/>
          </a:prstGeom>
          <a:noFill/>
        </p:spPr>
        <p:txBody>
          <a:bodyPr wrap="square" anchor="t" lIns="0" rIns="0" tIns="0" bIns="0">
            <a:noAutofit/>
          </a:bodyPr>
          <a:lstStyle/>
          <a:p>
            <a:pPr algn="l">
              <a:lnSpc>
                <a:spcPct val="112000"/>
              </a:lnSpc>
              <a:spcAft>
                <a:spcPts val="0"/>
              </a:spcAft>
            </a:pPr>
            <a:r>
              <a:rPr sz="1050" b="0" i="0">
                <a:solidFill>
                  <a:srgbClr val="7C8AA3"/>
                </a:solidFill>
                <a:latin typeface="Segoe UI"/>
              </a:rPr>
              <a:t>React 19  ·  Dexie / IndexedDB  ·  OpenRouter</a:t>
            </a:r>
          </a:p>
        </p:txBody>
      </p:sp>
      <p:sp>
        <p:nvSpPr>
          <p:cNvPr id="13" name="Rounded Rectangle 12"/>
          <p:cNvSpPr/>
          <p:nvPr/>
        </p:nvSpPr>
        <p:spPr>
          <a:xfrm>
            <a:off x="731520" y="5029200"/>
            <a:ext cx="1225296" cy="347472"/>
          </a:xfrm>
          <a:prstGeom prst="roundRect">
            <a:avLst>
              <a:gd name="adj" fmla="val 50000"/>
            </a:avLst>
          </a:prstGeom>
          <a:solidFill>
            <a:srgbClr val="E0F2FE"/>
          </a:solidFill>
          <a:ln>
            <a:noFill/>
          </a:ln>
          <a:effectLst/>
        </p:spPr>
        <p:txBody>
          <a:bodyPr rtlCol="0" anchor="ctr" wrap="square" lIns="54864" rIns="54864" tIns="0" bIns="0"/>
          <a:lstStyle/>
          <a:p>
            <a:pPr algn="ctr"/>
            <a:r>
              <a:rPr sz="1050" b="1">
                <a:solidFill>
                  <a:srgbClr val="0EA5E9"/>
                </a:solidFill>
                <a:latin typeface="Segoe UI"/>
              </a:rPr>
              <a:t>Plan</a:t>
            </a:r>
          </a:p>
        </p:txBody>
      </p:sp>
      <p:cxnSp>
        <p:nvCxnSpPr>
          <p:cNvPr id="14" name="Connector 13"/>
          <p:cNvCxnSpPr/>
          <p:nvPr/>
        </p:nvCxnSpPr>
        <p:spPr>
          <a:xfrm>
            <a:off x="1984248" y="5202936"/>
            <a:ext cx="118872" cy="0"/>
          </a:xfrm>
          <a:prstGeom prst="line">
            <a:avLst/>
          </a:prstGeom>
          <a:ln w="15240">
            <a:solidFill>
              <a:srgbClr val="A9B5C9"/>
            </a:solidFill>
            <a:tailEnd type="triangle" w="med" len="med"/>
          </a:ln>
          <a:effectLst/>
        </p:spPr>
      </p:cxnSp>
      <p:sp>
        <p:nvSpPr>
          <p:cNvPr id="15" name="Rounded Rectangle 14"/>
          <p:cNvSpPr/>
          <p:nvPr/>
        </p:nvSpPr>
        <p:spPr>
          <a:xfrm>
            <a:off x="2121408" y="5029200"/>
            <a:ext cx="1225296" cy="347472"/>
          </a:xfrm>
          <a:prstGeom prst="roundRect">
            <a:avLst>
              <a:gd name="adj" fmla="val 50000"/>
            </a:avLst>
          </a:prstGeom>
          <a:solidFill>
            <a:srgbClr val="EEF0FF"/>
          </a:solidFill>
          <a:ln>
            <a:noFill/>
          </a:ln>
          <a:effectLst/>
        </p:spPr>
        <p:txBody>
          <a:bodyPr rtlCol="0" anchor="ctr" wrap="square" lIns="54864" rIns="54864" tIns="0" bIns="0"/>
          <a:lstStyle/>
          <a:p>
            <a:pPr algn="ctr"/>
            <a:r>
              <a:rPr sz="1050" b="1">
                <a:solidFill>
                  <a:srgbClr val="4F5BD5"/>
                </a:solidFill>
                <a:latin typeface="Segoe UI"/>
              </a:rPr>
              <a:t>Learn</a:t>
            </a:r>
          </a:p>
        </p:txBody>
      </p:sp>
      <p:cxnSp>
        <p:nvCxnSpPr>
          <p:cNvPr id="16" name="Connector 15"/>
          <p:cNvCxnSpPr/>
          <p:nvPr/>
        </p:nvCxnSpPr>
        <p:spPr>
          <a:xfrm>
            <a:off x="3374136" y="5202936"/>
            <a:ext cx="118872" cy="0"/>
          </a:xfrm>
          <a:prstGeom prst="line">
            <a:avLst/>
          </a:prstGeom>
          <a:ln w="15240">
            <a:solidFill>
              <a:srgbClr val="A9B5C9"/>
            </a:solidFill>
            <a:tailEnd type="triangle" w="med" len="med"/>
          </a:ln>
          <a:effectLst/>
        </p:spPr>
      </p:cxnSp>
      <p:sp>
        <p:nvSpPr>
          <p:cNvPr id="17" name="Rounded Rectangle 16"/>
          <p:cNvSpPr/>
          <p:nvPr/>
        </p:nvSpPr>
        <p:spPr>
          <a:xfrm>
            <a:off x="3511296" y="5029200"/>
            <a:ext cx="1225296" cy="347472"/>
          </a:xfrm>
          <a:prstGeom prst="roundRect">
            <a:avLst>
              <a:gd name="adj" fmla="val 50000"/>
            </a:avLst>
          </a:prstGeom>
          <a:solidFill>
            <a:srgbClr val="FFF7E6"/>
          </a:solidFill>
          <a:ln>
            <a:noFill/>
          </a:ln>
          <a:effectLst/>
        </p:spPr>
        <p:txBody>
          <a:bodyPr rtlCol="0" anchor="ctr" wrap="square" lIns="54864" rIns="54864" tIns="0" bIns="0"/>
          <a:lstStyle/>
          <a:p>
            <a:pPr algn="ctr"/>
            <a:r>
              <a:rPr sz="1050" b="1">
                <a:solidFill>
                  <a:srgbClr val="F59E0B"/>
                </a:solidFill>
                <a:latin typeface="Segoe UI"/>
              </a:rPr>
              <a:t>Practise</a:t>
            </a:r>
          </a:p>
        </p:txBody>
      </p:sp>
      <p:cxnSp>
        <p:nvCxnSpPr>
          <p:cNvPr id="18" name="Connector 17"/>
          <p:cNvCxnSpPr/>
          <p:nvPr/>
        </p:nvCxnSpPr>
        <p:spPr>
          <a:xfrm>
            <a:off x="4764024" y="5202936"/>
            <a:ext cx="118872" cy="0"/>
          </a:xfrm>
          <a:prstGeom prst="line">
            <a:avLst/>
          </a:prstGeom>
          <a:ln w="15240">
            <a:solidFill>
              <a:srgbClr val="A9B5C9"/>
            </a:solidFill>
            <a:tailEnd type="triangle" w="med" len="med"/>
          </a:ln>
          <a:effectLst/>
        </p:spPr>
      </p:cxnSp>
      <p:sp>
        <p:nvSpPr>
          <p:cNvPr id="19" name="Rounded Rectangle 18"/>
          <p:cNvSpPr/>
          <p:nvPr/>
        </p:nvSpPr>
        <p:spPr>
          <a:xfrm>
            <a:off x="4901184" y="5029200"/>
            <a:ext cx="1225296" cy="347472"/>
          </a:xfrm>
          <a:prstGeom prst="roundRect">
            <a:avLst>
              <a:gd name="adj" fmla="val 50000"/>
            </a:avLst>
          </a:prstGeom>
          <a:solidFill>
            <a:srgbClr val="E7FBF3"/>
          </a:solidFill>
          <a:ln>
            <a:noFill/>
          </a:ln>
          <a:effectLst/>
        </p:spPr>
        <p:txBody>
          <a:bodyPr rtlCol="0" anchor="ctr" wrap="square" lIns="54864" rIns="54864" tIns="0" bIns="0"/>
          <a:lstStyle/>
          <a:p>
            <a:pPr algn="ctr"/>
            <a:r>
              <a:rPr sz="1050" b="1">
                <a:solidFill>
                  <a:srgbClr val="10B981"/>
                </a:solidFill>
                <a:latin typeface="Segoe UI"/>
              </a:rPr>
              <a:t>Improve</a:t>
            </a:r>
          </a:p>
        </p:txBody>
      </p:sp>
      <p:sp>
        <p:nvSpPr>
          <p:cNvPr id="20" name="TextBox 19"/>
          <p:cNvSpPr txBox="1"/>
          <p:nvPr/>
        </p:nvSpPr>
        <p:spPr>
          <a:xfrm>
            <a:off x="731520" y="5522976"/>
            <a:ext cx="5120640" cy="201168"/>
          </a:xfrm>
          <a:prstGeom prst="rect">
            <a:avLst/>
          </a:prstGeom>
          <a:noFill/>
        </p:spPr>
        <p:txBody>
          <a:bodyPr wrap="square" anchor="t" lIns="0" rIns="0" tIns="0" bIns="0">
            <a:noAutofit/>
          </a:bodyPr>
          <a:lstStyle/>
          <a:p>
            <a:pPr algn="l">
              <a:lnSpc>
                <a:spcPct val="112000"/>
              </a:lnSpc>
              <a:spcAft>
                <a:spcPts val="0"/>
              </a:spcAft>
            </a:pPr>
            <a:r>
              <a:rPr sz="900" b="0" i="1">
                <a:solidFill>
                  <a:srgbClr val="7C8AA3"/>
                </a:solidFill>
                <a:latin typeface="Segoe UI"/>
              </a:rPr>
              <a:t>the same records show what to revisit</a:t>
            </a:r>
          </a:p>
        </p:txBody>
      </p:sp>
      <p:sp>
        <p:nvSpPr>
          <p:cNvPr id="21" name="TextBox 20"/>
          <p:cNvSpPr txBox="1"/>
          <p:nvPr/>
        </p:nvSpPr>
        <p:spPr>
          <a:xfrm>
            <a:off x="731520" y="5943600"/>
            <a:ext cx="6309360" cy="237744"/>
          </a:xfrm>
          <a:prstGeom prst="rect">
            <a:avLst/>
          </a:prstGeom>
          <a:noFill/>
        </p:spPr>
        <p:txBody>
          <a:bodyPr wrap="square" anchor="t" lIns="0" rIns="0" tIns="0" bIns="0">
            <a:noAutofit/>
          </a:bodyPr>
          <a:lstStyle/>
          <a:p>
            <a:pPr algn="l">
              <a:lnSpc>
                <a:spcPct val="112000"/>
              </a:lnSpc>
              <a:spcAft>
                <a:spcPts val="0"/>
              </a:spcAft>
            </a:pPr>
            <a:r>
              <a:rPr sz="1150" b="1" i="0">
                <a:solidFill>
                  <a:srgbClr val="4F5BD5"/>
                </a:solidFill>
                <a:latin typeface="Segoe UI"/>
              </a:rPr>
              <a:t>Live demo  ·  study-mapper.vercel.app</a:t>
            </a:r>
          </a:p>
        </p:txBody>
      </p:sp>
      <p:sp>
        <p:nvSpPr>
          <p:cNvPr id="22" name="Rounded Rectangle 21"/>
          <p:cNvSpPr/>
          <p:nvPr/>
        </p:nvSpPr>
        <p:spPr>
          <a:xfrm>
            <a:off x="7603236" y="941832"/>
            <a:ext cx="3986784" cy="3182112"/>
          </a:xfrm>
          <a:prstGeom prst="roundRect">
            <a:avLst>
              <a:gd name="adj" fmla="val 5000"/>
            </a:avLst>
          </a:prstGeom>
          <a:solidFill>
            <a:srgbClr val="E8ECF8"/>
          </a:solidFill>
          <a:ln>
            <a:noFill/>
          </a:ln>
          <a:effectLst/>
        </p:spPr>
        <p:txBody>
          <a:bodyPr rtlCol="0" anchor="ctr" wrap="square"/>
          <a:lstStyle/>
          <a:p>
            <a:pPr algn="ctr"/>
          </a:p>
        </p:txBody>
      </p:sp>
      <p:sp>
        <p:nvSpPr>
          <p:cNvPr id="23" name="Rounded Rectangle 22"/>
          <p:cNvSpPr/>
          <p:nvPr/>
        </p:nvSpPr>
        <p:spPr>
          <a:xfrm>
            <a:off x="7571231" y="896112"/>
            <a:ext cx="3986784" cy="3182112"/>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24" name="TextBox 23"/>
          <p:cNvSpPr txBox="1"/>
          <p:nvPr/>
        </p:nvSpPr>
        <p:spPr>
          <a:xfrm>
            <a:off x="7790688" y="1042415"/>
            <a:ext cx="1828800" cy="182880"/>
          </a:xfrm>
          <a:prstGeom prst="rect">
            <a:avLst/>
          </a:prstGeom>
          <a:noFill/>
        </p:spPr>
        <p:txBody>
          <a:bodyPr wrap="square" anchor="t" lIns="0" rIns="0" tIns="0" bIns="0">
            <a:noAutofit/>
          </a:bodyPr>
          <a:lstStyle/>
          <a:p>
            <a:pPr algn="l">
              <a:lnSpc>
                <a:spcPct val="112000"/>
              </a:lnSpc>
              <a:spcAft>
                <a:spcPts val="0"/>
              </a:spcAft>
            </a:pPr>
            <a:r>
              <a:rPr sz="900" b="1" i="0">
                <a:solidFill>
                  <a:srgbClr val="4F5BD5"/>
                </a:solidFill>
                <a:latin typeface="Segoe UI"/>
              </a:rPr>
              <a:t>TEAM</a:t>
            </a:r>
          </a:p>
        </p:txBody>
      </p:sp>
      <p:sp>
        <p:nvSpPr>
          <p:cNvPr id="25" name="TextBox 24"/>
          <p:cNvSpPr txBox="1"/>
          <p:nvPr/>
        </p:nvSpPr>
        <p:spPr>
          <a:xfrm>
            <a:off x="9966960" y="1042415"/>
            <a:ext cx="1371600" cy="182880"/>
          </a:xfrm>
          <a:prstGeom prst="rect">
            <a:avLst/>
          </a:prstGeom>
          <a:noFill/>
        </p:spPr>
        <p:txBody>
          <a:bodyPr wrap="square" anchor="t" lIns="0" rIns="0" tIns="0" bIns="0">
            <a:noAutofit/>
          </a:bodyPr>
          <a:lstStyle/>
          <a:p>
            <a:pPr algn="r">
              <a:lnSpc>
                <a:spcPct val="112000"/>
              </a:lnSpc>
              <a:spcAft>
                <a:spcPts val="0"/>
              </a:spcAft>
            </a:pPr>
            <a:r>
              <a:rPr sz="800" b="1" i="0">
                <a:solidFill>
                  <a:srgbClr val="7C8AA3"/>
                </a:solidFill>
                <a:latin typeface="Segoe UI"/>
              </a:rPr>
              <a:t>5 MEMBERS</a:t>
            </a:r>
          </a:p>
        </p:txBody>
      </p:sp>
      <p:sp>
        <p:nvSpPr>
          <p:cNvPr id="26" name="TextBox 25"/>
          <p:cNvSpPr txBox="1"/>
          <p:nvPr/>
        </p:nvSpPr>
        <p:spPr>
          <a:xfrm>
            <a:off x="7790688" y="1344168"/>
            <a:ext cx="2103120" cy="164592"/>
          </a:xfrm>
          <a:prstGeom prst="rect">
            <a:avLst/>
          </a:prstGeom>
          <a:noFill/>
        </p:spPr>
        <p:txBody>
          <a:bodyPr wrap="square" anchor="t" lIns="0" rIns="0" tIns="0" bIns="0">
            <a:noAutofit/>
          </a:bodyPr>
          <a:lstStyle/>
          <a:p>
            <a:pPr algn="l">
              <a:lnSpc>
                <a:spcPct val="112000"/>
              </a:lnSpc>
              <a:spcAft>
                <a:spcPts val="0"/>
              </a:spcAft>
            </a:pPr>
            <a:r>
              <a:rPr sz="750" b="1" i="0">
                <a:solidFill>
                  <a:srgbClr val="7C8AA3"/>
                </a:solidFill>
                <a:latin typeface="Segoe UI"/>
              </a:rPr>
              <a:t>NAME</a:t>
            </a:r>
          </a:p>
        </p:txBody>
      </p:sp>
      <p:sp>
        <p:nvSpPr>
          <p:cNvPr id="27" name="TextBox 26"/>
          <p:cNvSpPr txBox="1"/>
          <p:nvPr/>
        </p:nvSpPr>
        <p:spPr>
          <a:xfrm>
            <a:off x="9829800" y="1344168"/>
            <a:ext cx="1481328" cy="164592"/>
          </a:xfrm>
          <a:prstGeom prst="rect">
            <a:avLst/>
          </a:prstGeom>
          <a:noFill/>
        </p:spPr>
        <p:txBody>
          <a:bodyPr wrap="square" anchor="t" lIns="0" rIns="0" tIns="0" bIns="0">
            <a:noAutofit/>
          </a:bodyPr>
          <a:lstStyle/>
          <a:p>
            <a:pPr algn="r">
              <a:lnSpc>
                <a:spcPct val="112000"/>
              </a:lnSpc>
              <a:spcAft>
                <a:spcPts val="0"/>
              </a:spcAft>
            </a:pPr>
            <a:r>
              <a:rPr sz="750" b="1" i="0">
                <a:solidFill>
                  <a:srgbClr val="7C8AA3"/>
                </a:solidFill>
                <a:latin typeface="Segoe UI"/>
              </a:rPr>
              <a:t>ROLL NO</a:t>
            </a:r>
          </a:p>
        </p:txBody>
      </p:sp>
      <p:sp>
        <p:nvSpPr>
          <p:cNvPr id="28" name="Rectangle 27"/>
          <p:cNvSpPr/>
          <p:nvPr/>
        </p:nvSpPr>
        <p:spPr>
          <a:xfrm>
            <a:off x="7790688" y="1554480"/>
            <a:ext cx="3529584" cy="7315"/>
          </a:xfrm>
          <a:prstGeom prst="rect">
            <a:avLst/>
          </a:prstGeom>
          <a:solidFill>
            <a:srgbClr val="E3E8F5"/>
          </a:solidFill>
          <a:ln>
            <a:noFill/>
          </a:ln>
          <a:effectLst/>
        </p:spPr>
        <p:txBody>
          <a:bodyPr rtlCol="0" anchor="ctr" wrap="square"/>
          <a:lstStyle/>
          <a:p>
            <a:pPr algn="ctr"/>
          </a:p>
        </p:txBody>
      </p:sp>
      <p:sp>
        <p:nvSpPr>
          <p:cNvPr id="29" name="TextBox 28"/>
          <p:cNvSpPr txBox="1"/>
          <p:nvPr/>
        </p:nvSpPr>
        <p:spPr>
          <a:xfrm>
            <a:off x="7790688" y="1664208"/>
            <a:ext cx="2194560" cy="219456"/>
          </a:xfrm>
          <a:prstGeom prst="rect">
            <a:avLst/>
          </a:prstGeom>
          <a:noFill/>
        </p:spPr>
        <p:txBody>
          <a:bodyPr wrap="square" anchor="t" lIns="0" rIns="0" tIns="0" bIns="0">
            <a:noAutofit/>
          </a:bodyPr>
          <a:lstStyle/>
          <a:p>
            <a:pPr algn="l">
              <a:lnSpc>
                <a:spcPct val="112000"/>
              </a:lnSpc>
              <a:spcAft>
                <a:spcPts val="0"/>
              </a:spcAft>
            </a:pPr>
            <a:r>
              <a:rPr sz="1220" b="1" i="0">
                <a:solidFill>
                  <a:srgbClr val="0F172A"/>
                </a:solidFill>
                <a:latin typeface="Segoe UI"/>
              </a:rPr>
              <a:t>P. Venubhaskar</a:t>
            </a:r>
          </a:p>
        </p:txBody>
      </p:sp>
      <p:sp>
        <p:nvSpPr>
          <p:cNvPr id="30" name="TextBox 29"/>
          <p:cNvSpPr txBox="1"/>
          <p:nvPr/>
        </p:nvSpPr>
        <p:spPr>
          <a:xfrm>
            <a:off x="9646920" y="1682496"/>
            <a:ext cx="1664208" cy="201168"/>
          </a:xfrm>
          <a:prstGeom prst="rect">
            <a:avLst/>
          </a:prstGeom>
          <a:noFill/>
        </p:spPr>
        <p:txBody>
          <a:bodyPr wrap="square" anchor="t" lIns="0" rIns="0" tIns="0" bIns="0">
            <a:noAutofit/>
          </a:bodyPr>
          <a:lstStyle/>
          <a:p>
            <a:pPr algn="r">
              <a:lnSpc>
                <a:spcPct val="112000"/>
              </a:lnSpc>
              <a:spcAft>
                <a:spcPts val="0"/>
              </a:spcAft>
            </a:pPr>
            <a:r>
              <a:rPr sz="980" b="0" i="0">
                <a:solidFill>
                  <a:srgbClr val="475569"/>
                </a:solidFill>
                <a:latin typeface="Segoe UI"/>
              </a:rPr>
              <a:t>252G5A0520</a:t>
            </a:r>
          </a:p>
        </p:txBody>
      </p:sp>
      <p:sp>
        <p:nvSpPr>
          <p:cNvPr id="31" name="Rectangle 30"/>
          <p:cNvSpPr/>
          <p:nvPr/>
        </p:nvSpPr>
        <p:spPr>
          <a:xfrm>
            <a:off x="7790688" y="2011680"/>
            <a:ext cx="3529584" cy="5486"/>
          </a:xfrm>
          <a:prstGeom prst="rect">
            <a:avLst/>
          </a:prstGeom>
          <a:solidFill>
            <a:srgbClr val="E3E8F5"/>
          </a:solidFill>
          <a:ln>
            <a:noFill/>
          </a:ln>
          <a:effectLst/>
        </p:spPr>
        <p:txBody>
          <a:bodyPr rtlCol="0" anchor="ctr" wrap="square"/>
          <a:lstStyle/>
          <a:p>
            <a:pPr algn="ctr"/>
          </a:p>
        </p:txBody>
      </p:sp>
      <p:sp>
        <p:nvSpPr>
          <p:cNvPr id="32" name="TextBox 31"/>
          <p:cNvSpPr txBox="1"/>
          <p:nvPr/>
        </p:nvSpPr>
        <p:spPr>
          <a:xfrm>
            <a:off x="7790688" y="2103120"/>
            <a:ext cx="2194560" cy="219456"/>
          </a:xfrm>
          <a:prstGeom prst="rect">
            <a:avLst/>
          </a:prstGeom>
          <a:noFill/>
        </p:spPr>
        <p:txBody>
          <a:bodyPr wrap="square" anchor="t" lIns="0" rIns="0" tIns="0" bIns="0">
            <a:noAutofit/>
          </a:bodyPr>
          <a:lstStyle/>
          <a:p>
            <a:pPr algn="l">
              <a:lnSpc>
                <a:spcPct val="112000"/>
              </a:lnSpc>
              <a:spcAft>
                <a:spcPts val="0"/>
              </a:spcAft>
            </a:pPr>
            <a:r>
              <a:rPr sz="1220" b="1" i="0">
                <a:solidFill>
                  <a:srgbClr val="0F172A"/>
                </a:solidFill>
                <a:latin typeface="Segoe UI"/>
              </a:rPr>
              <a:t>T. Vasanth</a:t>
            </a:r>
          </a:p>
        </p:txBody>
      </p:sp>
      <p:sp>
        <p:nvSpPr>
          <p:cNvPr id="33" name="TextBox 32"/>
          <p:cNvSpPr txBox="1"/>
          <p:nvPr/>
        </p:nvSpPr>
        <p:spPr>
          <a:xfrm>
            <a:off x="9646920" y="2121408"/>
            <a:ext cx="1664208" cy="201168"/>
          </a:xfrm>
          <a:prstGeom prst="rect">
            <a:avLst/>
          </a:prstGeom>
          <a:noFill/>
        </p:spPr>
        <p:txBody>
          <a:bodyPr wrap="square" anchor="t" lIns="0" rIns="0" tIns="0" bIns="0">
            <a:noAutofit/>
          </a:bodyPr>
          <a:lstStyle/>
          <a:p>
            <a:pPr algn="r">
              <a:lnSpc>
                <a:spcPct val="112000"/>
              </a:lnSpc>
              <a:spcAft>
                <a:spcPts val="0"/>
              </a:spcAft>
            </a:pPr>
            <a:r>
              <a:rPr sz="980" b="0" i="0">
                <a:solidFill>
                  <a:srgbClr val="475569"/>
                </a:solidFill>
                <a:latin typeface="Segoe UI"/>
              </a:rPr>
              <a:t>252G5A0528</a:t>
            </a:r>
          </a:p>
        </p:txBody>
      </p:sp>
      <p:sp>
        <p:nvSpPr>
          <p:cNvPr id="34" name="Rectangle 33"/>
          <p:cNvSpPr/>
          <p:nvPr/>
        </p:nvSpPr>
        <p:spPr>
          <a:xfrm>
            <a:off x="7790688" y="2450591"/>
            <a:ext cx="3529584" cy="5486"/>
          </a:xfrm>
          <a:prstGeom prst="rect">
            <a:avLst/>
          </a:prstGeom>
          <a:solidFill>
            <a:srgbClr val="E3E8F5"/>
          </a:solidFill>
          <a:ln>
            <a:noFill/>
          </a:ln>
          <a:effectLst/>
        </p:spPr>
        <p:txBody>
          <a:bodyPr rtlCol="0" anchor="ctr" wrap="square"/>
          <a:lstStyle/>
          <a:p>
            <a:pPr algn="ctr"/>
          </a:p>
        </p:txBody>
      </p:sp>
      <p:sp>
        <p:nvSpPr>
          <p:cNvPr id="35" name="TextBox 34"/>
          <p:cNvSpPr txBox="1"/>
          <p:nvPr/>
        </p:nvSpPr>
        <p:spPr>
          <a:xfrm>
            <a:off x="7790688" y="2542032"/>
            <a:ext cx="2194560" cy="219456"/>
          </a:xfrm>
          <a:prstGeom prst="rect">
            <a:avLst/>
          </a:prstGeom>
          <a:noFill/>
        </p:spPr>
        <p:txBody>
          <a:bodyPr wrap="square" anchor="t" lIns="0" rIns="0" tIns="0" bIns="0">
            <a:noAutofit/>
          </a:bodyPr>
          <a:lstStyle/>
          <a:p>
            <a:pPr algn="l">
              <a:lnSpc>
                <a:spcPct val="112000"/>
              </a:lnSpc>
              <a:spcAft>
                <a:spcPts val="0"/>
              </a:spcAft>
            </a:pPr>
            <a:r>
              <a:rPr sz="1220" b="1" i="0">
                <a:solidFill>
                  <a:srgbClr val="0F172A"/>
                </a:solidFill>
                <a:latin typeface="Segoe UI"/>
              </a:rPr>
              <a:t>V. Adarsh Kumar</a:t>
            </a:r>
          </a:p>
        </p:txBody>
      </p:sp>
      <p:sp>
        <p:nvSpPr>
          <p:cNvPr id="36" name="TextBox 35"/>
          <p:cNvSpPr txBox="1"/>
          <p:nvPr/>
        </p:nvSpPr>
        <p:spPr>
          <a:xfrm>
            <a:off x="9646920" y="2560320"/>
            <a:ext cx="1664208" cy="201168"/>
          </a:xfrm>
          <a:prstGeom prst="rect">
            <a:avLst/>
          </a:prstGeom>
          <a:noFill/>
        </p:spPr>
        <p:txBody>
          <a:bodyPr wrap="square" anchor="t" lIns="0" rIns="0" tIns="0" bIns="0">
            <a:noAutofit/>
          </a:bodyPr>
          <a:lstStyle/>
          <a:p>
            <a:pPr algn="r">
              <a:lnSpc>
                <a:spcPct val="112000"/>
              </a:lnSpc>
              <a:spcAft>
                <a:spcPts val="0"/>
              </a:spcAft>
            </a:pPr>
            <a:r>
              <a:rPr sz="980" b="0" i="0">
                <a:solidFill>
                  <a:srgbClr val="475569"/>
                </a:solidFill>
                <a:latin typeface="Segoe UI"/>
              </a:rPr>
              <a:t>252G5A0532</a:t>
            </a:r>
          </a:p>
        </p:txBody>
      </p:sp>
      <p:sp>
        <p:nvSpPr>
          <p:cNvPr id="37" name="Rectangle 36"/>
          <p:cNvSpPr/>
          <p:nvPr/>
        </p:nvSpPr>
        <p:spPr>
          <a:xfrm>
            <a:off x="7790688" y="2889504"/>
            <a:ext cx="3529584" cy="5486"/>
          </a:xfrm>
          <a:prstGeom prst="rect">
            <a:avLst/>
          </a:prstGeom>
          <a:solidFill>
            <a:srgbClr val="E3E8F5"/>
          </a:solidFill>
          <a:ln>
            <a:noFill/>
          </a:ln>
          <a:effectLst/>
        </p:spPr>
        <p:txBody>
          <a:bodyPr rtlCol="0" anchor="ctr" wrap="square"/>
          <a:lstStyle/>
          <a:p>
            <a:pPr algn="ctr"/>
          </a:p>
        </p:txBody>
      </p:sp>
      <p:sp>
        <p:nvSpPr>
          <p:cNvPr id="38" name="TextBox 37"/>
          <p:cNvSpPr txBox="1"/>
          <p:nvPr/>
        </p:nvSpPr>
        <p:spPr>
          <a:xfrm>
            <a:off x="7790688" y="2980944"/>
            <a:ext cx="2194560" cy="219456"/>
          </a:xfrm>
          <a:prstGeom prst="rect">
            <a:avLst/>
          </a:prstGeom>
          <a:noFill/>
        </p:spPr>
        <p:txBody>
          <a:bodyPr wrap="square" anchor="t" lIns="0" rIns="0" tIns="0" bIns="0">
            <a:noAutofit/>
          </a:bodyPr>
          <a:lstStyle/>
          <a:p>
            <a:pPr algn="l">
              <a:lnSpc>
                <a:spcPct val="112000"/>
              </a:lnSpc>
              <a:spcAft>
                <a:spcPts val="0"/>
              </a:spcAft>
            </a:pPr>
            <a:r>
              <a:rPr sz="1220" b="1" i="0">
                <a:solidFill>
                  <a:srgbClr val="0F172A"/>
                </a:solidFill>
                <a:latin typeface="Segoe UI"/>
              </a:rPr>
              <a:t>B. Sai Vikas</a:t>
            </a:r>
          </a:p>
        </p:txBody>
      </p:sp>
      <p:sp>
        <p:nvSpPr>
          <p:cNvPr id="39" name="TextBox 38"/>
          <p:cNvSpPr txBox="1"/>
          <p:nvPr/>
        </p:nvSpPr>
        <p:spPr>
          <a:xfrm>
            <a:off x="9646920" y="2999232"/>
            <a:ext cx="1664208" cy="201168"/>
          </a:xfrm>
          <a:prstGeom prst="rect">
            <a:avLst/>
          </a:prstGeom>
          <a:noFill/>
        </p:spPr>
        <p:txBody>
          <a:bodyPr wrap="square" anchor="t" lIns="0" rIns="0" tIns="0" bIns="0">
            <a:noAutofit/>
          </a:bodyPr>
          <a:lstStyle/>
          <a:p>
            <a:pPr algn="r">
              <a:lnSpc>
                <a:spcPct val="112000"/>
              </a:lnSpc>
              <a:spcAft>
                <a:spcPts val="0"/>
              </a:spcAft>
            </a:pPr>
            <a:r>
              <a:rPr sz="980" b="0" i="0">
                <a:solidFill>
                  <a:srgbClr val="475569"/>
                </a:solidFill>
                <a:latin typeface="Segoe UI"/>
              </a:rPr>
              <a:t>252G5A0501</a:t>
            </a:r>
          </a:p>
        </p:txBody>
      </p:sp>
      <p:sp>
        <p:nvSpPr>
          <p:cNvPr id="40" name="Rectangle 39"/>
          <p:cNvSpPr/>
          <p:nvPr/>
        </p:nvSpPr>
        <p:spPr>
          <a:xfrm>
            <a:off x="7790688" y="3328415"/>
            <a:ext cx="3529584" cy="5486"/>
          </a:xfrm>
          <a:prstGeom prst="rect">
            <a:avLst/>
          </a:prstGeom>
          <a:solidFill>
            <a:srgbClr val="E3E8F5"/>
          </a:solidFill>
          <a:ln>
            <a:noFill/>
          </a:ln>
          <a:effectLst/>
        </p:spPr>
        <p:txBody>
          <a:bodyPr rtlCol="0" anchor="ctr" wrap="square"/>
          <a:lstStyle/>
          <a:p>
            <a:pPr algn="ctr"/>
          </a:p>
        </p:txBody>
      </p:sp>
      <p:sp>
        <p:nvSpPr>
          <p:cNvPr id="41" name="TextBox 40"/>
          <p:cNvSpPr txBox="1"/>
          <p:nvPr/>
        </p:nvSpPr>
        <p:spPr>
          <a:xfrm>
            <a:off x="7790688" y="3419856"/>
            <a:ext cx="2194560" cy="219456"/>
          </a:xfrm>
          <a:prstGeom prst="rect">
            <a:avLst/>
          </a:prstGeom>
          <a:noFill/>
        </p:spPr>
        <p:txBody>
          <a:bodyPr wrap="square" anchor="t" lIns="0" rIns="0" tIns="0" bIns="0">
            <a:noAutofit/>
          </a:bodyPr>
          <a:lstStyle/>
          <a:p>
            <a:pPr algn="l">
              <a:lnSpc>
                <a:spcPct val="112000"/>
              </a:lnSpc>
              <a:spcAft>
                <a:spcPts val="0"/>
              </a:spcAft>
            </a:pPr>
            <a:r>
              <a:rPr sz="1220" b="1" i="0">
                <a:solidFill>
                  <a:srgbClr val="0F172A"/>
                </a:solidFill>
                <a:latin typeface="Segoe UI"/>
              </a:rPr>
              <a:t>C. Narendra</a:t>
            </a:r>
          </a:p>
        </p:txBody>
      </p:sp>
      <p:sp>
        <p:nvSpPr>
          <p:cNvPr id="42" name="TextBox 41"/>
          <p:cNvSpPr txBox="1"/>
          <p:nvPr/>
        </p:nvSpPr>
        <p:spPr>
          <a:xfrm>
            <a:off x="9646920" y="3438144"/>
            <a:ext cx="1664208" cy="201168"/>
          </a:xfrm>
          <a:prstGeom prst="rect">
            <a:avLst/>
          </a:prstGeom>
          <a:noFill/>
        </p:spPr>
        <p:txBody>
          <a:bodyPr wrap="square" anchor="t" lIns="0" rIns="0" tIns="0" bIns="0">
            <a:noAutofit/>
          </a:bodyPr>
          <a:lstStyle/>
          <a:p>
            <a:pPr algn="r">
              <a:lnSpc>
                <a:spcPct val="112000"/>
              </a:lnSpc>
              <a:spcAft>
                <a:spcPts val="0"/>
              </a:spcAft>
            </a:pPr>
            <a:r>
              <a:rPr sz="980" b="0" i="0">
                <a:solidFill>
                  <a:srgbClr val="475569"/>
                </a:solidFill>
                <a:latin typeface="Segoe UI"/>
              </a:rPr>
              <a:t>252G5A0502</a:t>
            </a:r>
          </a:p>
        </p:txBody>
      </p:sp>
      <p:sp>
        <p:nvSpPr>
          <p:cNvPr id="43" name="TextBox 42"/>
          <p:cNvSpPr txBox="1"/>
          <p:nvPr/>
        </p:nvSpPr>
        <p:spPr>
          <a:xfrm>
            <a:off x="7790688" y="3803904"/>
            <a:ext cx="3529584" cy="164592"/>
          </a:xfrm>
          <a:prstGeom prst="rect">
            <a:avLst/>
          </a:prstGeom>
          <a:noFill/>
        </p:spPr>
        <p:txBody>
          <a:bodyPr wrap="square" anchor="t" lIns="0" rIns="0" tIns="0" bIns="0">
            <a:noAutofit/>
          </a:bodyPr>
          <a:lstStyle/>
          <a:p>
            <a:pPr algn="l">
              <a:lnSpc>
                <a:spcPct val="112000"/>
              </a:lnSpc>
              <a:spcAft>
                <a:spcPts val="0"/>
              </a:spcAft>
            </a:pPr>
            <a:r>
              <a:rPr sz="800" b="0" i="0">
                <a:solidFill>
                  <a:srgbClr val="7C8AA3"/>
                </a:solidFill>
                <a:latin typeface="Segoe UI"/>
              </a:rPr>
              <a:t>Batch 4  ·  Department of CSE</a:t>
            </a:r>
          </a:p>
        </p:txBody>
      </p:sp>
      <p:sp>
        <p:nvSpPr>
          <p:cNvPr id="44" name="Rounded Rectangle 43"/>
          <p:cNvSpPr/>
          <p:nvPr/>
        </p:nvSpPr>
        <p:spPr>
          <a:xfrm>
            <a:off x="7603236" y="4270248"/>
            <a:ext cx="3986784" cy="822960"/>
          </a:xfrm>
          <a:prstGeom prst="roundRect">
            <a:avLst>
              <a:gd name="adj" fmla="val 5000"/>
            </a:avLst>
          </a:prstGeom>
          <a:solidFill>
            <a:srgbClr val="E8ECF8"/>
          </a:solidFill>
          <a:ln>
            <a:noFill/>
          </a:ln>
          <a:effectLst/>
        </p:spPr>
        <p:txBody>
          <a:bodyPr rtlCol="0" anchor="ctr" wrap="square"/>
          <a:lstStyle/>
          <a:p>
            <a:pPr algn="ctr"/>
          </a:p>
        </p:txBody>
      </p:sp>
      <p:sp>
        <p:nvSpPr>
          <p:cNvPr id="45" name="Rounded Rectangle 44"/>
          <p:cNvSpPr/>
          <p:nvPr/>
        </p:nvSpPr>
        <p:spPr>
          <a:xfrm>
            <a:off x="7571231" y="4224528"/>
            <a:ext cx="3986784" cy="822960"/>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46" name="TextBox 45"/>
          <p:cNvSpPr txBox="1"/>
          <p:nvPr/>
        </p:nvSpPr>
        <p:spPr>
          <a:xfrm>
            <a:off x="7790688" y="4334256"/>
            <a:ext cx="1828800" cy="182880"/>
          </a:xfrm>
          <a:prstGeom prst="rect">
            <a:avLst/>
          </a:prstGeom>
          <a:noFill/>
        </p:spPr>
        <p:txBody>
          <a:bodyPr wrap="square" anchor="t" lIns="0" rIns="0" tIns="0" bIns="0">
            <a:noAutofit/>
          </a:bodyPr>
          <a:lstStyle/>
          <a:p>
            <a:pPr algn="l">
              <a:lnSpc>
                <a:spcPct val="112000"/>
              </a:lnSpc>
              <a:spcAft>
                <a:spcPts val="0"/>
              </a:spcAft>
            </a:pPr>
            <a:r>
              <a:rPr sz="850" b="1" i="0">
                <a:solidFill>
                  <a:srgbClr val="4F5BD5"/>
                </a:solidFill>
                <a:latin typeface="Segoe UI"/>
              </a:rPr>
              <a:t>GUIDE</a:t>
            </a:r>
          </a:p>
        </p:txBody>
      </p:sp>
      <p:sp>
        <p:nvSpPr>
          <p:cNvPr id="47" name="TextBox 46"/>
          <p:cNvSpPr txBox="1"/>
          <p:nvPr/>
        </p:nvSpPr>
        <p:spPr>
          <a:xfrm>
            <a:off x="7790688" y="4526280"/>
            <a:ext cx="3566160" cy="256032"/>
          </a:xfrm>
          <a:prstGeom prst="rect">
            <a:avLst/>
          </a:prstGeom>
          <a:noFill/>
        </p:spPr>
        <p:txBody>
          <a:bodyPr wrap="square" anchor="t" lIns="0" rIns="0" tIns="0" bIns="0">
            <a:noAutofit/>
          </a:bodyPr>
          <a:lstStyle/>
          <a:p>
            <a:pPr algn="l">
              <a:lnSpc>
                <a:spcPct val="112000"/>
              </a:lnSpc>
              <a:spcAft>
                <a:spcPts val="0"/>
              </a:spcAft>
            </a:pPr>
            <a:r>
              <a:rPr sz="1400" b="1" i="0">
                <a:solidFill>
                  <a:srgbClr val="0F172A"/>
                </a:solidFill>
                <a:latin typeface="Segoe UI"/>
              </a:rPr>
              <a:t>Ms. C. Sravani</a:t>
            </a:r>
          </a:p>
        </p:txBody>
      </p:sp>
      <p:sp>
        <p:nvSpPr>
          <p:cNvPr id="48" name="Rounded Rectangle 47"/>
          <p:cNvSpPr/>
          <p:nvPr/>
        </p:nvSpPr>
        <p:spPr>
          <a:xfrm>
            <a:off x="7603236" y="5239512"/>
            <a:ext cx="3986784" cy="1115568"/>
          </a:xfrm>
          <a:prstGeom prst="roundRect">
            <a:avLst>
              <a:gd name="adj" fmla="val 5000"/>
            </a:avLst>
          </a:prstGeom>
          <a:solidFill>
            <a:srgbClr val="E8ECF8"/>
          </a:solidFill>
          <a:ln>
            <a:noFill/>
          </a:ln>
          <a:effectLst/>
        </p:spPr>
        <p:txBody>
          <a:bodyPr rtlCol="0" anchor="ctr" wrap="square"/>
          <a:lstStyle/>
          <a:p>
            <a:pPr algn="ctr"/>
          </a:p>
        </p:txBody>
      </p:sp>
      <p:sp>
        <p:nvSpPr>
          <p:cNvPr id="49" name="Rounded Rectangle 48"/>
          <p:cNvSpPr/>
          <p:nvPr/>
        </p:nvSpPr>
        <p:spPr>
          <a:xfrm>
            <a:off x="7571231" y="5193792"/>
            <a:ext cx="3986784" cy="1115568"/>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50" name="TextBox 49"/>
          <p:cNvSpPr txBox="1"/>
          <p:nvPr/>
        </p:nvSpPr>
        <p:spPr>
          <a:xfrm>
            <a:off x="7790688" y="5294376"/>
            <a:ext cx="3291840" cy="182880"/>
          </a:xfrm>
          <a:prstGeom prst="rect">
            <a:avLst/>
          </a:prstGeom>
          <a:noFill/>
        </p:spPr>
        <p:txBody>
          <a:bodyPr wrap="square" anchor="t" lIns="0" rIns="0" tIns="0" bIns="0">
            <a:noAutofit/>
          </a:bodyPr>
          <a:lstStyle/>
          <a:p>
            <a:pPr algn="l">
              <a:lnSpc>
                <a:spcPct val="112000"/>
              </a:lnSpc>
              <a:spcAft>
                <a:spcPts val="0"/>
              </a:spcAft>
            </a:pPr>
            <a:r>
              <a:rPr sz="819" b="1" i="0">
                <a:solidFill>
                  <a:srgbClr val="4F5BD5"/>
                </a:solidFill>
                <a:latin typeface="Segoe UI"/>
              </a:rPr>
              <a:t>DEPARTMENT &amp; INSTITUTION</a:t>
            </a:r>
          </a:p>
        </p:txBody>
      </p:sp>
      <p:sp>
        <p:nvSpPr>
          <p:cNvPr id="51" name="TextBox 50"/>
          <p:cNvSpPr txBox="1"/>
          <p:nvPr/>
        </p:nvSpPr>
        <p:spPr>
          <a:xfrm>
            <a:off x="7790688" y="5477256"/>
            <a:ext cx="3529584" cy="219456"/>
          </a:xfrm>
          <a:prstGeom prst="rect">
            <a:avLst/>
          </a:prstGeom>
          <a:noFill/>
        </p:spPr>
        <p:txBody>
          <a:bodyPr wrap="square" anchor="t" lIns="0" rIns="0" tIns="0" bIns="0">
            <a:noAutofit/>
          </a:bodyPr>
          <a:lstStyle/>
          <a:p>
            <a:pPr algn="l">
              <a:lnSpc>
                <a:spcPct val="112000"/>
              </a:lnSpc>
              <a:spcAft>
                <a:spcPts val="0"/>
              </a:spcAft>
            </a:pPr>
            <a:r>
              <a:rPr sz="1080" b="1" i="0">
                <a:solidFill>
                  <a:srgbClr val="0F172A"/>
                </a:solidFill>
                <a:latin typeface="Segoe UI"/>
              </a:rPr>
              <a:t>Computer Science &amp; Engineering</a:t>
            </a:r>
          </a:p>
        </p:txBody>
      </p:sp>
      <p:sp>
        <p:nvSpPr>
          <p:cNvPr id="52" name="TextBox 51"/>
          <p:cNvSpPr txBox="1"/>
          <p:nvPr/>
        </p:nvSpPr>
        <p:spPr>
          <a:xfrm>
            <a:off x="7790688" y="5724144"/>
            <a:ext cx="3529584" cy="457200"/>
          </a:xfrm>
          <a:prstGeom prst="rect">
            <a:avLst/>
          </a:prstGeom>
          <a:noFill/>
        </p:spPr>
        <p:txBody>
          <a:bodyPr wrap="square" anchor="t" lIns="0" rIns="0" tIns="0" bIns="0">
            <a:noAutofit/>
          </a:bodyPr>
          <a:lstStyle/>
          <a:p>
            <a:pPr algn="l">
              <a:lnSpc>
                <a:spcPct val="118000"/>
              </a:lnSpc>
              <a:spcAft>
                <a:spcPts val="0"/>
              </a:spcAft>
            </a:pPr>
            <a:r>
              <a:rPr sz="880" b="0" i="0">
                <a:solidFill>
                  <a:srgbClr val="7C8AA3"/>
                </a:solidFill>
                <a:latin typeface="Segoe UI"/>
              </a:rPr>
              <a:t>Anantha Lakshmi Institute of Technology &amp; Sciences (Autonomous)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g_aurora.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40080" y="411480"/>
            <a:ext cx="164592" cy="164592"/>
          </a:xfrm>
          <a:prstGeom prst="roundRect">
            <a:avLst>
              <a:gd name="adj" fmla="val 25000"/>
            </a:avLst>
          </a:prstGeom>
          <a:gradFill rotWithShape="1">
            <a:gsLst>
              <a:gs pos="0">
                <a:srgbClr val="0EA5E9"/>
              </a:gs>
              <a:gs pos="100000">
                <a:srgbClr val="4F5BD5"/>
              </a:gs>
            </a:gsLst>
            <a:lin scaled="0" ang="19500000"/>
          </a:gradFill>
          <a:ln>
            <a:noFill/>
          </a:ln>
          <a:effectLst/>
        </p:spPr>
        <p:txBody>
          <a:bodyPr rtlCol="0" anchor="ctr"/>
          <a:lstStyle/>
          <a:p>
            <a:pPr algn="ctr"/>
          </a:p>
        </p:txBody>
      </p:sp>
      <p:sp>
        <p:nvSpPr>
          <p:cNvPr id="4" name="TextBox 3"/>
          <p:cNvSpPr txBox="1"/>
          <p:nvPr/>
        </p:nvSpPr>
        <p:spPr>
          <a:xfrm>
            <a:off x="886968" y="365760"/>
            <a:ext cx="1828800" cy="219456"/>
          </a:xfrm>
          <a:prstGeom prst="rect">
            <a:avLst/>
          </a:prstGeom>
          <a:noFill/>
        </p:spPr>
        <p:txBody>
          <a:bodyPr wrap="square" anchor="t" lIns="0" rIns="0" tIns="0" bIns="0">
            <a:noAutofit/>
          </a:bodyPr>
          <a:lstStyle/>
          <a:p>
            <a:pPr algn="l">
              <a:lnSpc>
                <a:spcPct val="112000"/>
              </a:lnSpc>
              <a:spcAft>
                <a:spcPts val="0"/>
              </a:spcAft>
            </a:pPr>
            <a:r>
              <a:rPr sz="950" b="1" i="0">
                <a:solidFill>
                  <a:srgbClr val="0F172A"/>
                </a:solidFill>
                <a:latin typeface="Segoe UI"/>
              </a:rPr>
              <a:t>StudyMapper</a:t>
            </a:r>
          </a:p>
        </p:txBody>
      </p:sp>
      <p:sp>
        <p:nvSpPr>
          <p:cNvPr id="5" name="TextBox 4"/>
          <p:cNvSpPr txBox="1"/>
          <p:nvPr/>
        </p:nvSpPr>
        <p:spPr>
          <a:xfrm>
            <a:off x="6035040" y="374904"/>
            <a:ext cx="5513832" cy="201168"/>
          </a:xfrm>
          <a:prstGeom prst="rect">
            <a:avLst/>
          </a:prstGeom>
          <a:noFill/>
        </p:spPr>
        <p:txBody>
          <a:bodyPr wrap="square" anchor="t" lIns="0" rIns="0" tIns="0" bIns="0">
            <a:noAutofit/>
          </a:bodyPr>
          <a:lstStyle/>
          <a:p>
            <a:pPr algn="r">
              <a:lnSpc>
                <a:spcPct val="112000"/>
              </a:lnSpc>
              <a:spcAft>
                <a:spcPts val="0"/>
              </a:spcAft>
            </a:pPr>
            <a:r>
              <a:rPr sz="950" b="1" i="0">
                <a:solidFill>
                  <a:srgbClr val="4F5BD5"/>
                </a:solidFill>
                <a:latin typeface="Segoe UI"/>
              </a:rPr>
              <a:t>01 · AGENDA</a:t>
            </a:r>
          </a:p>
        </p:txBody>
      </p:sp>
      <p:sp>
        <p:nvSpPr>
          <p:cNvPr id="6" name="TextBox 5"/>
          <p:cNvSpPr txBox="1"/>
          <p:nvPr/>
        </p:nvSpPr>
        <p:spPr>
          <a:xfrm>
            <a:off x="640080" y="658368"/>
            <a:ext cx="10908792" cy="566928"/>
          </a:xfrm>
          <a:prstGeom prst="rect">
            <a:avLst/>
          </a:prstGeom>
          <a:noFill/>
        </p:spPr>
        <p:txBody>
          <a:bodyPr wrap="square" anchor="t" lIns="0" rIns="0" tIns="0" bIns="0">
            <a:noAutofit/>
          </a:bodyPr>
          <a:lstStyle/>
          <a:p>
            <a:pPr algn="l">
              <a:lnSpc>
                <a:spcPct val="98000"/>
              </a:lnSpc>
              <a:spcAft>
                <a:spcPts val="0"/>
              </a:spcAft>
            </a:pPr>
            <a:r>
              <a:rPr sz="3300" b="1" i="0">
                <a:solidFill>
                  <a:srgbClr val="0F172A"/>
                </a:solidFill>
                <a:latin typeface="Segoe UI"/>
              </a:rPr>
              <a:t>Thirteen sections, four moves</a:t>
            </a:r>
          </a:p>
        </p:txBody>
      </p:sp>
      <p:sp>
        <p:nvSpPr>
          <p:cNvPr id="7" name="TextBox 6"/>
          <p:cNvSpPr txBox="1"/>
          <p:nvPr/>
        </p:nvSpPr>
        <p:spPr>
          <a:xfrm>
            <a:off x="640080" y="1243584"/>
            <a:ext cx="10469880" cy="438912"/>
          </a:xfrm>
          <a:prstGeom prst="rect">
            <a:avLst/>
          </a:prstGeom>
          <a:noFill/>
        </p:spPr>
        <p:txBody>
          <a:bodyPr wrap="square" anchor="t" lIns="0" rIns="0" tIns="0" bIns="0">
            <a:noAutofit/>
          </a:bodyPr>
          <a:lstStyle/>
          <a:p>
            <a:pPr algn="l">
              <a:lnSpc>
                <a:spcPct val="114000"/>
              </a:lnSpc>
              <a:spcAft>
                <a:spcPts val="0"/>
              </a:spcAft>
            </a:pPr>
            <a:r>
              <a:rPr sz="1450" b="0" i="0">
                <a:solidFill>
                  <a:srgbClr val="475569"/>
                </a:solidFill>
                <a:latin typeface="Segoe UI"/>
              </a:rPr>
              <a:t>Frame the problem, design the system, prove it, then close.</a:t>
            </a:r>
          </a:p>
        </p:txBody>
      </p:sp>
      <p:sp>
        <p:nvSpPr>
          <p:cNvPr id="8" name="Rectangle 7"/>
          <p:cNvSpPr/>
          <p:nvPr/>
        </p:nvSpPr>
        <p:spPr>
          <a:xfrm>
            <a:off x="640080" y="6437376"/>
            <a:ext cx="10908792" cy="7315"/>
          </a:xfrm>
          <a:prstGeom prst="rect">
            <a:avLst/>
          </a:prstGeom>
          <a:solidFill>
            <a:srgbClr val="D5DCEE"/>
          </a:solidFill>
          <a:ln>
            <a:noFill/>
          </a:ln>
          <a:effectLst/>
        </p:spPr>
        <p:txBody>
          <a:bodyPr rtlCol="0" anchor="ctr" wrap="square"/>
          <a:lstStyle/>
          <a:p>
            <a:pPr algn="ctr"/>
          </a:p>
        </p:txBody>
      </p:sp>
      <p:sp>
        <p:nvSpPr>
          <p:cNvPr id="9" name="TextBox 8"/>
          <p:cNvSpPr txBox="1"/>
          <p:nvPr/>
        </p:nvSpPr>
        <p:spPr>
          <a:xfrm>
            <a:off x="640080" y="6519672"/>
            <a:ext cx="7863840" cy="164592"/>
          </a:xfrm>
          <a:prstGeom prst="rect">
            <a:avLst/>
          </a:prstGeom>
          <a:noFill/>
        </p:spPr>
        <p:txBody>
          <a:bodyPr wrap="square" anchor="t" lIns="0" rIns="0" tIns="0" bIns="0">
            <a:noAutofit/>
          </a:bodyPr>
          <a:lstStyle/>
          <a:p>
            <a:pPr algn="l">
              <a:lnSpc>
                <a:spcPct val="112000"/>
              </a:lnSpc>
              <a:spcAft>
                <a:spcPts val="0"/>
              </a:spcAft>
            </a:pPr>
            <a:r>
              <a:rPr sz="800" b="0" i="0">
                <a:solidFill>
                  <a:srgbClr val="7C8AA3"/>
                </a:solidFill>
                <a:latin typeface="Segoe UI"/>
              </a:rPr>
              <a:t>StudyMapper  ·  AI-Driven Personalized Learning &amp; Academic Management</a:t>
            </a:r>
          </a:p>
        </p:txBody>
      </p:sp>
      <p:sp>
        <p:nvSpPr>
          <p:cNvPr id="10" name="TextBox 9"/>
          <p:cNvSpPr txBox="1"/>
          <p:nvPr/>
        </p:nvSpPr>
        <p:spPr>
          <a:xfrm>
            <a:off x="10058400" y="6510528"/>
            <a:ext cx="1490472" cy="182880"/>
          </a:xfrm>
          <a:prstGeom prst="rect">
            <a:avLst/>
          </a:prstGeom>
          <a:noFill/>
        </p:spPr>
        <p:txBody>
          <a:bodyPr wrap="square" anchor="t" lIns="0" rIns="0" tIns="0" bIns="0">
            <a:noAutofit/>
          </a:bodyPr>
          <a:lstStyle/>
          <a:p>
            <a:pPr algn="r">
              <a:lnSpc>
                <a:spcPct val="112000"/>
              </a:lnSpc>
              <a:spcAft>
                <a:spcPts val="0"/>
              </a:spcAft>
            </a:pPr>
            <a:r>
              <a:rPr sz="880" b="1" i="0">
                <a:solidFill>
                  <a:srgbClr val="7C8AA3"/>
                </a:solidFill>
                <a:latin typeface="Segoe UI"/>
              </a:rPr>
              <a:t>02 / 13</a:t>
            </a:r>
          </a:p>
        </p:txBody>
      </p:sp>
      <p:sp>
        <p:nvSpPr>
          <p:cNvPr id="11" name="Rounded Rectangle 10"/>
          <p:cNvSpPr/>
          <p:nvPr/>
        </p:nvSpPr>
        <p:spPr>
          <a:xfrm>
            <a:off x="672084" y="1783080"/>
            <a:ext cx="2615184" cy="4261104"/>
          </a:xfrm>
          <a:prstGeom prst="roundRect">
            <a:avLst>
              <a:gd name="adj" fmla="val 5000"/>
            </a:avLst>
          </a:prstGeom>
          <a:solidFill>
            <a:srgbClr val="E8ECF8"/>
          </a:solidFill>
          <a:ln>
            <a:noFill/>
          </a:ln>
          <a:effectLst/>
        </p:spPr>
        <p:txBody>
          <a:bodyPr rtlCol="0" anchor="ctr" wrap="square"/>
          <a:lstStyle/>
          <a:p>
            <a:pPr algn="ctr"/>
          </a:p>
        </p:txBody>
      </p:sp>
      <p:sp>
        <p:nvSpPr>
          <p:cNvPr id="12" name="Rounded Rectangle 11"/>
          <p:cNvSpPr/>
          <p:nvPr/>
        </p:nvSpPr>
        <p:spPr>
          <a:xfrm>
            <a:off x="640080" y="1737360"/>
            <a:ext cx="2615184" cy="4261104"/>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13" name="Rounded Rectangle 12"/>
          <p:cNvSpPr/>
          <p:nvPr/>
        </p:nvSpPr>
        <p:spPr>
          <a:xfrm>
            <a:off x="640080" y="1737360"/>
            <a:ext cx="2615184" cy="64008"/>
          </a:xfrm>
          <a:prstGeom prst="roundRect">
            <a:avLst>
              <a:gd name="adj" fmla="val 5000"/>
            </a:avLst>
          </a:prstGeom>
          <a:solidFill>
            <a:srgbClr val="0EA5E9"/>
          </a:solidFill>
          <a:ln>
            <a:noFill/>
          </a:ln>
          <a:effectLst/>
        </p:spPr>
        <p:txBody>
          <a:bodyPr rtlCol="0" anchor="ctr" wrap="square"/>
          <a:lstStyle/>
          <a:p>
            <a:pPr algn="ctr"/>
          </a:p>
        </p:txBody>
      </p:sp>
      <p:sp>
        <p:nvSpPr>
          <p:cNvPr id="14" name="TextBox 13"/>
          <p:cNvSpPr txBox="1"/>
          <p:nvPr/>
        </p:nvSpPr>
        <p:spPr>
          <a:xfrm>
            <a:off x="822959" y="1901952"/>
            <a:ext cx="1645920" cy="182880"/>
          </a:xfrm>
          <a:prstGeom prst="rect">
            <a:avLst/>
          </a:prstGeom>
          <a:noFill/>
        </p:spPr>
        <p:txBody>
          <a:bodyPr wrap="square" anchor="t" lIns="0" rIns="0" tIns="0" bIns="0">
            <a:noAutofit/>
          </a:bodyPr>
          <a:lstStyle/>
          <a:p>
            <a:pPr algn="l">
              <a:lnSpc>
                <a:spcPct val="112000"/>
              </a:lnSpc>
              <a:spcAft>
                <a:spcPts val="0"/>
              </a:spcAft>
            </a:pPr>
            <a:r>
              <a:rPr sz="880" b="1" i="0">
                <a:solidFill>
                  <a:srgbClr val="0EA5E9"/>
                </a:solidFill>
                <a:latin typeface="Segoe UI"/>
              </a:rPr>
              <a:t>SET THE STAGE</a:t>
            </a:r>
          </a:p>
        </p:txBody>
      </p:sp>
      <p:sp>
        <p:nvSpPr>
          <p:cNvPr id="15" name="TextBox 14"/>
          <p:cNvSpPr txBox="1"/>
          <p:nvPr/>
        </p:nvSpPr>
        <p:spPr>
          <a:xfrm>
            <a:off x="2377439" y="1901952"/>
            <a:ext cx="694944" cy="164592"/>
          </a:xfrm>
          <a:prstGeom prst="rect">
            <a:avLst/>
          </a:prstGeom>
          <a:noFill/>
        </p:spPr>
        <p:txBody>
          <a:bodyPr wrap="square" anchor="t" lIns="0" rIns="0" tIns="0" bIns="0">
            <a:noAutofit/>
          </a:bodyPr>
          <a:lstStyle/>
          <a:p>
            <a:pPr algn="r">
              <a:lnSpc>
                <a:spcPct val="112000"/>
              </a:lnSpc>
              <a:spcAft>
                <a:spcPts val="0"/>
              </a:spcAft>
            </a:pPr>
            <a:r>
              <a:rPr sz="750" b="1" i="0">
                <a:solidFill>
                  <a:srgbClr val="7C8AA3"/>
                </a:solidFill>
                <a:latin typeface="Segoe UI"/>
              </a:rPr>
              <a:t>01–04</a:t>
            </a:r>
          </a:p>
        </p:txBody>
      </p:sp>
      <p:sp>
        <p:nvSpPr>
          <p:cNvPr id="16" name="Oval 15"/>
          <p:cNvSpPr/>
          <p:nvPr/>
        </p:nvSpPr>
        <p:spPr>
          <a:xfrm>
            <a:off x="822959" y="2304288"/>
            <a:ext cx="292608" cy="292608"/>
          </a:xfrm>
          <a:prstGeom prst="ellipse">
            <a:avLst/>
          </a:prstGeom>
          <a:solidFill>
            <a:srgbClr val="E0F2FE"/>
          </a:solidFill>
          <a:ln>
            <a:noFill/>
          </a:ln>
          <a:effectLst/>
        </p:spPr>
        <p:txBody>
          <a:bodyPr rtlCol="0" anchor="ctr" lIns="0" rIns="0" tIns="0" bIns="0"/>
          <a:lstStyle/>
          <a:p>
            <a:pPr algn="ctr"/>
            <a:r>
              <a:rPr sz="819" b="1">
                <a:solidFill>
                  <a:srgbClr val="0EA5E9"/>
                </a:solidFill>
                <a:latin typeface="Segoe UI"/>
              </a:rPr>
              <a:t>01</a:t>
            </a:r>
          </a:p>
        </p:txBody>
      </p:sp>
      <p:sp>
        <p:nvSpPr>
          <p:cNvPr id="17" name="TextBox 16"/>
          <p:cNvSpPr txBox="1"/>
          <p:nvPr/>
        </p:nvSpPr>
        <p:spPr>
          <a:xfrm>
            <a:off x="1188719" y="2267712"/>
            <a:ext cx="1956816" cy="402336"/>
          </a:xfrm>
          <a:prstGeom prst="rect">
            <a:avLst/>
          </a:prstGeom>
          <a:noFill/>
        </p:spPr>
        <p:txBody>
          <a:bodyPr wrap="square" anchor="t" lIns="0" rIns="0" tIns="0" bIns="0">
            <a:noAutofit/>
          </a:bodyPr>
          <a:lstStyle/>
          <a:p>
            <a:pPr algn="l">
              <a:lnSpc>
                <a:spcPct val="100000"/>
              </a:lnSpc>
              <a:spcAft>
                <a:spcPts val="0"/>
              </a:spcAft>
            </a:pPr>
            <a:r>
              <a:rPr sz="1190" b="1" i="0">
                <a:solidFill>
                  <a:srgbClr val="0F172A"/>
                </a:solidFill>
                <a:latin typeface="Segoe UI"/>
              </a:rPr>
              <a:t>Title</a:t>
            </a:r>
          </a:p>
        </p:txBody>
      </p:sp>
      <p:sp>
        <p:nvSpPr>
          <p:cNvPr id="18" name="TextBox 17"/>
          <p:cNvSpPr txBox="1"/>
          <p:nvPr/>
        </p:nvSpPr>
        <p:spPr>
          <a:xfrm>
            <a:off x="1188719" y="2633472"/>
            <a:ext cx="1956816" cy="182880"/>
          </a:xfrm>
          <a:prstGeom prst="rect">
            <a:avLst/>
          </a:prstGeom>
          <a:noFill/>
        </p:spPr>
        <p:txBody>
          <a:bodyPr wrap="square" anchor="t" lIns="0" rIns="0" tIns="0" bIns="0">
            <a:noAutofit/>
          </a:bodyPr>
          <a:lstStyle/>
          <a:p>
            <a:pPr algn="l">
              <a:lnSpc>
                <a:spcPct val="112000"/>
              </a:lnSpc>
              <a:spcAft>
                <a:spcPts val="0"/>
              </a:spcAft>
            </a:pPr>
            <a:r>
              <a:rPr sz="840" b="0" i="0">
                <a:solidFill>
                  <a:srgbClr val="7C8AA3"/>
                </a:solidFill>
                <a:latin typeface="Segoe UI"/>
              </a:rPr>
              <a:t>project, team, guide</a:t>
            </a:r>
          </a:p>
        </p:txBody>
      </p:sp>
      <p:sp>
        <p:nvSpPr>
          <p:cNvPr id="19" name="Oval 18"/>
          <p:cNvSpPr/>
          <p:nvPr/>
        </p:nvSpPr>
        <p:spPr>
          <a:xfrm>
            <a:off x="822959" y="3115818"/>
            <a:ext cx="292608" cy="292608"/>
          </a:xfrm>
          <a:prstGeom prst="ellipse">
            <a:avLst/>
          </a:prstGeom>
          <a:solidFill>
            <a:srgbClr val="E0F2FE"/>
          </a:solidFill>
          <a:ln>
            <a:noFill/>
          </a:ln>
          <a:effectLst/>
        </p:spPr>
        <p:txBody>
          <a:bodyPr rtlCol="0" anchor="ctr" lIns="0" rIns="0" tIns="0" bIns="0"/>
          <a:lstStyle/>
          <a:p>
            <a:pPr algn="ctr"/>
            <a:r>
              <a:rPr sz="819" b="1">
                <a:solidFill>
                  <a:srgbClr val="0EA5E9"/>
                </a:solidFill>
                <a:latin typeface="Segoe UI"/>
              </a:rPr>
              <a:t>02</a:t>
            </a:r>
          </a:p>
        </p:txBody>
      </p:sp>
      <p:sp>
        <p:nvSpPr>
          <p:cNvPr id="20" name="TextBox 19"/>
          <p:cNvSpPr txBox="1"/>
          <p:nvPr/>
        </p:nvSpPr>
        <p:spPr>
          <a:xfrm>
            <a:off x="1188719" y="3079242"/>
            <a:ext cx="1956816" cy="402336"/>
          </a:xfrm>
          <a:prstGeom prst="rect">
            <a:avLst/>
          </a:prstGeom>
          <a:noFill/>
        </p:spPr>
        <p:txBody>
          <a:bodyPr wrap="square" anchor="t" lIns="0" rIns="0" tIns="0" bIns="0">
            <a:noAutofit/>
          </a:bodyPr>
          <a:lstStyle/>
          <a:p>
            <a:pPr algn="l">
              <a:lnSpc>
                <a:spcPct val="100000"/>
              </a:lnSpc>
              <a:spcAft>
                <a:spcPts val="0"/>
              </a:spcAft>
            </a:pPr>
            <a:r>
              <a:rPr sz="1190" b="1" i="0">
                <a:solidFill>
                  <a:srgbClr val="0F172A"/>
                </a:solidFill>
                <a:latin typeface="Segoe UI"/>
              </a:rPr>
              <a:t>Agenda</a:t>
            </a:r>
          </a:p>
        </p:txBody>
      </p:sp>
      <p:sp>
        <p:nvSpPr>
          <p:cNvPr id="21" name="TextBox 20"/>
          <p:cNvSpPr txBox="1"/>
          <p:nvPr/>
        </p:nvSpPr>
        <p:spPr>
          <a:xfrm>
            <a:off x="1188719" y="3445002"/>
            <a:ext cx="1956816" cy="182880"/>
          </a:xfrm>
          <a:prstGeom prst="rect">
            <a:avLst/>
          </a:prstGeom>
          <a:noFill/>
        </p:spPr>
        <p:txBody>
          <a:bodyPr wrap="square" anchor="t" lIns="0" rIns="0" tIns="0" bIns="0">
            <a:noAutofit/>
          </a:bodyPr>
          <a:lstStyle/>
          <a:p>
            <a:pPr algn="l">
              <a:lnSpc>
                <a:spcPct val="112000"/>
              </a:lnSpc>
              <a:spcAft>
                <a:spcPts val="0"/>
              </a:spcAft>
            </a:pPr>
            <a:r>
              <a:rPr sz="840" b="0" i="0">
                <a:solidFill>
                  <a:srgbClr val="7C8AA3"/>
                </a:solidFill>
                <a:latin typeface="Segoe UI"/>
              </a:rPr>
              <a:t>the route through 13</a:t>
            </a:r>
          </a:p>
        </p:txBody>
      </p:sp>
      <p:sp>
        <p:nvSpPr>
          <p:cNvPr id="22" name="Oval 21"/>
          <p:cNvSpPr/>
          <p:nvPr/>
        </p:nvSpPr>
        <p:spPr>
          <a:xfrm>
            <a:off x="822959" y="3927348"/>
            <a:ext cx="292608" cy="292608"/>
          </a:xfrm>
          <a:prstGeom prst="ellipse">
            <a:avLst/>
          </a:prstGeom>
          <a:solidFill>
            <a:srgbClr val="E0F2FE"/>
          </a:solidFill>
          <a:ln>
            <a:noFill/>
          </a:ln>
          <a:effectLst/>
        </p:spPr>
        <p:txBody>
          <a:bodyPr rtlCol="0" anchor="ctr" lIns="0" rIns="0" tIns="0" bIns="0"/>
          <a:lstStyle/>
          <a:p>
            <a:pPr algn="ctr"/>
            <a:r>
              <a:rPr sz="819" b="1">
                <a:solidFill>
                  <a:srgbClr val="0EA5E9"/>
                </a:solidFill>
                <a:latin typeface="Segoe UI"/>
              </a:rPr>
              <a:t>03</a:t>
            </a:r>
          </a:p>
        </p:txBody>
      </p:sp>
      <p:sp>
        <p:nvSpPr>
          <p:cNvPr id="23" name="TextBox 22"/>
          <p:cNvSpPr txBox="1"/>
          <p:nvPr/>
        </p:nvSpPr>
        <p:spPr>
          <a:xfrm>
            <a:off x="1188719" y="3890772"/>
            <a:ext cx="1956816" cy="402336"/>
          </a:xfrm>
          <a:prstGeom prst="rect">
            <a:avLst/>
          </a:prstGeom>
          <a:noFill/>
        </p:spPr>
        <p:txBody>
          <a:bodyPr wrap="square" anchor="t" lIns="0" rIns="0" tIns="0" bIns="0">
            <a:noAutofit/>
          </a:bodyPr>
          <a:lstStyle/>
          <a:p>
            <a:pPr algn="l">
              <a:lnSpc>
                <a:spcPct val="100000"/>
              </a:lnSpc>
              <a:spcAft>
                <a:spcPts val="0"/>
              </a:spcAft>
            </a:pPr>
            <a:r>
              <a:rPr sz="1190" b="1" i="0">
                <a:solidFill>
                  <a:srgbClr val="0F172A"/>
                </a:solidFill>
                <a:latin typeface="Segoe UI"/>
              </a:rPr>
              <a:t>Abstract &amp; Motivation</a:t>
            </a:r>
          </a:p>
        </p:txBody>
      </p:sp>
      <p:sp>
        <p:nvSpPr>
          <p:cNvPr id="24" name="TextBox 23"/>
          <p:cNvSpPr txBox="1"/>
          <p:nvPr/>
        </p:nvSpPr>
        <p:spPr>
          <a:xfrm>
            <a:off x="1188719" y="4256532"/>
            <a:ext cx="1956816" cy="182880"/>
          </a:xfrm>
          <a:prstGeom prst="rect">
            <a:avLst/>
          </a:prstGeom>
          <a:noFill/>
        </p:spPr>
        <p:txBody>
          <a:bodyPr wrap="square" anchor="t" lIns="0" rIns="0" tIns="0" bIns="0">
            <a:noAutofit/>
          </a:bodyPr>
          <a:lstStyle/>
          <a:p>
            <a:pPr algn="l">
              <a:lnSpc>
                <a:spcPct val="112000"/>
              </a:lnSpc>
              <a:spcAft>
                <a:spcPts val="0"/>
              </a:spcAft>
            </a:pPr>
            <a:r>
              <a:rPr sz="840" b="0" i="0">
                <a:solidFill>
                  <a:srgbClr val="7C8AA3"/>
                </a:solidFill>
                <a:latin typeface="Segoe UI"/>
              </a:rPr>
              <a:t>why it exists</a:t>
            </a:r>
          </a:p>
        </p:txBody>
      </p:sp>
      <p:sp>
        <p:nvSpPr>
          <p:cNvPr id="25" name="Oval 24"/>
          <p:cNvSpPr/>
          <p:nvPr/>
        </p:nvSpPr>
        <p:spPr>
          <a:xfrm>
            <a:off x="822959" y="4738877"/>
            <a:ext cx="292608" cy="292608"/>
          </a:xfrm>
          <a:prstGeom prst="ellipse">
            <a:avLst/>
          </a:prstGeom>
          <a:solidFill>
            <a:srgbClr val="E0F2FE"/>
          </a:solidFill>
          <a:ln>
            <a:noFill/>
          </a:ln>
          <a:effectLst/>
        </p:spPr>
        <p:txBody>
          <a:bodyPr rtlCol="0" anchor="ctr" lIns="0" rIns="0" tIns="0" bIns="0"/>
          <a:lstStyle/>
          <a:p>
            <a:pPr algn="ctr"/>
            <a:r>
              <a:rPr sz="819" b="1">
                <a:solidFill>
                  <a:srgbClr val="0EA5E9"/>
                </a:solidFill>
                <a:latin typeface="Segoe UI"/>
              </a:rPr>
              <a:t>04</a:t>
            </a:r>
          </a:p>
        </p:txBody>
      </p:sp>
      <p:sp>
        <p:nvSpPr>
          <p:cNvPr id="26" name="TextBox 25"/>
          <p:cNvSpPr txBox="1"/>
          <p:nvPr/>
        </p:nvSpPr>
        <p:spPr>
          <a:xfrm>
            <a:off x="1188719" y="4702302"/>
            <a:ext cx="1956816" cy="402336"/>
          </a:xfrm>
          <a:prstGeom prst="rect">
            <a:avLst/>
          </a:prstGeom>
          <a:noFill/>
        </p:spPr>
        <p:txBody>
          <a:bodyPr wrap="square" anchor="t" lIns="0" rIns="0" tIns="0" bIns="0">
            <a:noAutofit/>
          </a:bodyPr>
          <a:lstStyle/>
          <a:p>
            <a:pPr algn="l">
              <a:lnSpc>
                <a:spcPct val="100000"/>
              </a:lnSpc>
              <a:spcAft>
                <a:spcPts val="0"/>
              </a:spcAft>
            </a:pPr>
            <a:r>
              <a:rPr sz="1190" b="1" i="0">
                <a:solidFill>
                  <a:srgbClr val="0F172A"/>
                </a:solidFill>
                <a:latin typeface="Segoe UI"/>
              </a:rPr>
              <a:t>Problem Statement</a:t>
            </a:r>
          </a:p>
        </p:txBody>
      </p:sp>
      <p:sp>
        <p:nvSpPr>
          <p:cNvPr id="27" name="TextBox 26"/>
          <p:cNvSpPr txBox="1"/>
          <p:nvPr/>
        </p:nvSpPr>
        <p:spPr>
          <a:xfrm>
            <a:off x="1188719" y="5068062"/>
            <a:ext cx="1956816" cy="182880"/>
          </a:xfrm>
          <a:prstGeom prst="rect">
            <a:avLst/>
          </a:prstGeom>
          <a:noFill/>
        </p:spPr>
        <p:txBody>
          <a:bodyPr wrap="square" anchor="t" lIns="0" rIns="0" tIns="0" bIns="0">
            <a:noAutofit/>
          </a:bodyPr>
          <a:lstStyle/>
          <a:p>
            <a:pPr algn="l">
              <a:lnSpc>
                <a:spcPct val="112000"/>
              </a:lnSpc>
              <a:spcAft>
                <a:spcPts val="0"/>
              </a:spcAft>
            </a:pPr>
            <a:r>
              <a:rPr sz="840" b="0" i="0">
                <a:solidFill>
                  <a:srgbClr val="7C8AA3"/>
                </a:solidFill>
                <a:latin typeface="Segoe UI"/>
              </a:rPr>
              <a:t>what is broken</a:t>
            </a:r>
          </a:p>
        </p:txBody>
      </p:sp>
      <p:sp>
        <p:nvSpPr>
          <p:cNvPr id="28" name="TextBox 27"/>
          <p:cNvSpPr txBox="1"/>
          <p:nvPr/>
        </p:nvSpPr>
        <p:spPr>
          <a:xfrm>
            <a:off x="822959" y="5596128"/>
            <a:ext cx="2240280" cy="201168"/>
          </a:xfrm>
          <a:prstGeom prst="rect">
            <a:avLst/>
          </a:prstGeom>
          <a:noFill/>
        </p:spPr>
        <p:txBody>
          <a:bodyPr wrap="square" anchor="t" lIns="0" rIns="0" tIns="0" bIns="0">
            <a:noAutofit/>
          </a:bodyPr>
          <a:lstStyle/>
          <a:p>
            <a:pPr algn="l">
              <a:lnSpc>
                <a:spcPct val="112000"/>
              </a:lnSpc>
              <a:spcAft>
                <a:spcPts val="0"/>
              </a:spcAft>
            </a:pPr>
            <a:r>
              <a:rPr sz="880" b="1" i="1">
                <a:solidFill>
                  <a:srgbClr val="0EA5E9"/>
                </a:solidFill>
                <a:latin typeface="Segoe UI"/>
              </a:rPr>
              <a:t>Why does it exist?</a:t>
            </a:r>
          </a:p>
        </p:txBody>
      </p:sp>
      <p:sp>
        <p:nvSpPr>
          <p:cNvPr id="29" name="Rounded Rectangle 28"/>
          <p:cNvSpPr/>
          <p:nvPr/>
        </p:nvSpPr>
        <p:spPr>
          <a:xfrm>
            <a:off x="3451860" y="1783080"/>
            <a:ext cx="2615184" cy="4261104"/>
          </a:xfrm>
          <a:prstGeom prst="roundRect">
            <a:avLst>
              <a:gd name="adj" fmla="val 5000"/>
            </a:avLst>
          </a:prstGeom>
          <a:solidFill>
            <a:srgbClr val="E8ECF8"/>
          </a:solidFill>
          <a:ln>
            <a:noFill/>
          </a:ln>
          <a:effectLst/>
        </p:spPr>
        <p:txBody>
          <a:bodyPr rtlCol="0" anchor="ctr" wrap="square"/>
          <a:lstStyle/>
          <a:p>
            <a:pPr algn="ctr"/>
          </a:p>
        </p:txBody>
      </p:sp>
      <p:sp>
        <p:nvSpPr>
          <p:cNvPr id="30" name="Rounded Rectangle 29"/>
          <p:cNvSpPr/>
          <p:nvPr/>
        </p:nvSpPr>
        <p:spPr>
          <a:xfrm>
            <a:off x="3419856" y="1737360"/>
            <a:ext cx="2615184" cy="4261104"/>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31" name="Rounded Rectangle 30"/>
          <p:cNvSpPr/>
          <p:nvPr/>
        </p:nvSpPr>
        <p:spPr>
          <a:xfrm>
            <a:off x="3419856" y="1737360"/>
            <a:ext cx="2615184" cy="64008"/>
          </a:xfrm>
          <a:prstGeom prst="roundRect">
            <a:avLst>
              <a:gd name="adj" fmla="val 5000"/>
            </a:avLst>
          </a:prstGeom>
          <a:solidFill>
            <a:srgbClr val="4F5BD5"/>
          </a:solidFill>
          <a:ln>
            <a:noFill/>
          </a:ln>
          <a:effectLst/>
        </p:spPr>
        <p:txBody>
          <a:bodyPr rtlCol="0" anchor="ctr" wrap="square"/>
          <a:lstStyle/>
          <a:p>
            <a:pPr algn="ctr"/>
          </a:p>
        </p:txBody>
      </p:sp>
      <p:sp>
        <p:nvSpPr>
          <p:cNvPr id="32" name="TextBox 31"/>
          <p:cNvSpPr txBox="1"/>
          <p:nvPr/>
        </p:nvSpPr>
        <p:spPr>
          <a:xfrm>
            <a:off x="3602736" y="1901952"/>
            <a:ext cx="1645920" cy="182880"/>
          </a:xfrm>
          <a:prstGeom prst="rect">
            <a:avLst/>
          </a:prstGeom>
          <a:noFill/>
        </p:spPr>
        <p:txBody>
          <a:bodyPr wrap="square" anchor="t" lIns="0" rIns="0" tIns="0" bIns="0">
            <a:noAutofit/>
          </a:bodyPr>
          <a:lstStyle/>
          <a:p>
            <a:pPr algn="l">
              <a:lnSpc>
                <a:spcPct val="112000"/>
              </a:lnSpc>
              <a:spcAft>
                <a:spcPts val="0"/>
              </a:spcAft>
            </a:pPr>
            <a:r>
              <a:rPr sz="880" b="1" i="0">
                <a:solidFill>
                  <a:srgbClr val="4F5BD5"/>
                </a:solidFill>
                <a:latin typeface="Segoe UI"/>
              </a:rPr>
              <a:t>AIM &amp; DESIGN</a:t>
            </a:r>
          </a:p>
        </p:txBody>
      </p:sp>
      <p:sp>
        <p:nvSpPr>
          <p:cNvPr id="33" name="TextBox 32"/>
          <p:cNvSpPr txBox="1"/>
          <p:nvPr/>
        </p:nvSpPr>
        <p:spPr>
          <a:xfrm>
            <a:off x="5157216" y="1901952"/>
            <a:ext cx="694944" cy="164592"/>
          </a:xfrm>
          <a:prstGeom prst="rect">
            <a:avLst/>
          </a:prstGeom>
          <a:noFill/>
        </p:spPr>
        <p:txBody>
          <a:bodyPr wrap="square" anchor="t" lIns="0" rIns="0" tIns="0" bIns="0">
            <a:noAutofit/>
          </a:bodyPr>
          <a:lstStyle/>
          <a:p>
            <a:pPr algn="r">
              <a:lnSpc>
                <a:spcPct val="112000"/>
              </a:lnSpc>
              <a:spcAft>
                <a:spcPts val="0"/>
              </a:spcAft>
            </a:pPr>
            <a:r>
              <a:rPr sz="750" b="1" i="0">
                <a:solidFill>
                  <a:srgbClr val="7C8AA3"/>
                </a:solidFill>
                <a:latin typeface="Segoe UI"/>
              </a:rPr>
              <a:t>05–07</a:t>
            </a:r>
          </a:p>
        </p:txBody>
      </p:sp>
      <p:sp>
        <p:nvSpPr>
          <p:cNvPr id="34" name="Oval 33"/>
          <p:cNvSpPr/>
          <p:nvPr/>
        </p:nvSpPr>
        <p:spPr>
          <a:xfrm>
            <a:off x="3602736" y="2304288"/>
            <a:ext cx="292608" cy="292608"/>
          </a:xfrm>
          <a:prstGeom prst="ellipse">
            <a:avLst/>
          </a:prstGeom>
          <a:solidFill>
            <a:srgbClr val="EEF0FF"/>
          </a:solidFill>
          <a:ln>
            <a:noFill/>
          </a:ln>
          <a:effectLst/>
        </p:spPr>
        <p:txBody>
          <a:bodyPr rtlCol="0" anchor="ctr" lIns="0" rIns="0" tIns="0" bIns="0"/>
          <a:lstStyle/>
          <a:p>
            <a:pPr algn="ctr"/>
            <a:r>
              <a:rPr sz="819" b="1">
                <a:solidFill>
                  <a:srgbClr val="4F5BD5"/>
                </a:solidFill>
                <a:latin typeface="Segoe UI"/>
              </a:rPr>
              <a:t>05</a:t>
            </a:r>
          </a:p>
        </p:txBody>
      </p:sp>
      <p:sp>
        <p:nvSpPr>
          <p:cNvPr id="35" name="TextBox 34"/>
          <p:cNvSpPr txBox="1"/>
          <p:nvPr/>
        </p:nvSpPr>
        <p:spPr>
          <a:xfrm>
            <a:off x="3968496" y="2267712"/>
            <a:ext cx="1956816" cy="402336"/>
          </a:xfrm>
          <a:prstGeom prst="rect">
            <a:avLst/>
          </a:prstGeom>
          <a:noFill/>
        </p:spPr>
        <p:txBody>
          <a:bodyPr wrap="square" anchor="t" lIns="0" rIns="0" tIns="0" bIns="0">
            <a:noAutofit/>
          </a:bodyPr>
          <a:lstStyle/>
          <a:p>
            <a:pPr algn="l">
              <a:lnSpc>
                <a:spcPct val="100000"/>
              </a:lnSpc>
              <a:spcAft>
                <a:spcPts val="0"/>
              </a:spcAft>
            </a:pPr>
            <a:r>
              <a:rPr sz="1190" b="1" i="0">
                <a:solidFill>
                  <a:srgbClr val="0F172A"/>
                </a:solidFill>
                <a:latin typeface="Segoe UI"/>
              </a:rPr>
              <a:t>Project Objectives</a:t>
            </a:r>
          </a:p>
        </p:txBody>
      </p:sp>
      <p:sp>
        <p:nvSpPr>
          <p:cNvPr id="36" name="TextBox 35"/>
          <p:cNvSpPr txBox="1"/>
          <p:nvPr/>
        </p:nvSpPr>
        <p:spPr>
          <a:xfrm>
            <a:off x="3968496" y="2633472"/>
            <a:ext cx="1956816" cy="182880"/>
          </a:xfrm>
          <a:prstGeom prst="rect">
            <a:avLst/>
          </a:prstGeom>
          <a:noFill/>
        </p:spPr>
        <p:txBody>
          <a:bodyPr wrap="square" anchor="t" lIns="0" rIns="0" tIns="0" bIns="0">
            <a:noAutofit/>
          </a:bodyPr>
          <a:lstStyle/>
          <a:p>
            <a:pPr algn="l">
              <a:lnSpc>
                <a:spcPct val="112000"/>
              </a:lnSpc>
              <a:spcAft>
                <a:spcPts val="0"/>
              </a:spcAft>
            </a:pPr>
            <a:r>
              <a:rPr sz="840" b="0" i="0">
                <a:solidFill>
                  <a:srgbClr val="7C8AA3"/>
                </a:solidFill>
                <a:latin typeface="Segoe UI"/>
              </a:rPr>
              <a:t>what it must do</a:t>
            </a:r>
          </a:p>
        </p:txBody>
      </p:sp>
      <p:sp>
        <p:nvSpPr>
          <p:cNvPr id="37" name="Oval 36"/>
          <p:cNvSpPr/>
          <p:nvPr/>
        </p:nvSpPr>
        <p:spPr>
          <a:xfrm>
            <a:off x="3602736" y="3386328"/>
            <a:ext cx="292608" cy="292608"/>
          </a:xfrm>
          <a:prstGeom prst="ellipse">
            <a:avLst/>
          </a:prstGeom>
          <a:solidFill>
            <a:srgbClr val="EEF0FF"/>
          </a:solidFill>
          <a:ln>
            <a:noFill/>
          </a:ln>
          <a:effectLst/>
        </p:spPr>
        <p:txBody>
          <a:bodyPr rtlCol="0" anchor="ctr" lIns="0" rIns="0" tIns="0" bIns="0"/>
          <a:lstStyle/>
          <a:p>
            <a:pPr algn="ctr"/>
            <a:r>
              <a:rPr sz="819" b="1">
                <a:solidFill>
                  <a:srgbClr val="4F5BD5"/>
                </a:solidFill>
                <a:latin typeface="Segoe UI"/>
              </a:rPr>
              <a:t>06</a:t>
            </a:r>
          </a:p>
        </p:txBody>
      </p:sp>
      <p:sp>
        <p:nvSpPr>
          <p:cNvPr id="38" name="TextBox 37"/>
          <p:cNvSpPr txBox="1"/>
          <p:nvPr/>
        </p:nvSpPr>
        <p:spPr>
          <a:xfrm>
            <a:off x="3968496" y="3349752"/>
            <a:ext cx="1956816" cy="402336"/>
          </a:xfrm>
          <a:prstGeom prst="rect">
            <a:avLst/>
          </a:prstGeom>
          <a:noFill/>
        </p:spPr>
        <p:txBody>
          <a:bodyPr wrap="square" anchor="t" lIns="0" rIns="0" tIns="0" bIns="0">
            <a:noAutofit/>
          </a:bodyPr>
          <a:lstStyle/>
          <a:p>
            <a:pPr algn="l">
              <a:lnSpc>
                <a:spcPct val="100000"/>
              </a:lnSpc>
              <a:spcAft>
                <a:spcPts val="0"/>
              </a:spcAft>
            </a:pPr>
            <a:r>
              <a:rPr sz="1190" b="1" i="0">
                <a:solidFill>
                  <a:srgbClr val="0F172A"/>
                </a:solidFill>
                <a:latin typeface="Segoe UI"/>
              </a:rPr>
              <a:t>Literature Survey</a:t>
            </a:r>
          </a:p>
        </p:txBody>
      </p:sp>
      <p:sp>
        <p:nvSpPr>
          <p:cNvPr id="39" name="TextBox 38"/>
          <p:cNvSpPr txBox="1"/>
          <p:nvPr/>
        </p:nvSpPr>
        <p:spPr>
          <a:xfrm>
            <a:off x="3968496" y="3715512"/>
            <a:ext cx="1956816" cy="182880"/>
          </a:xfrm>
          <a:prstGeom prst="rect">
            <a:avLst/>
          </a:prstGeom>
          <a:noFill/>
        </p:spPr>
        <p:txBody>
          <a:bodyPr wrap="square" anchor="t" lIns="0" rIns="0" tIns="0" bIns="0">
            <a:noAutofit/>
          </a:bodyPr>
          <a:lstStyle/>
          <a:p>
            <a:pPr algn="l">
              <a:lnSpc>
                <a:spcPct val="112000"/>
              </a:lnSpc>
              <a:spcAft>
                <a:spcPts val="0"/>
              </a:spcAft>
            </a:pPr>
            <a:r>
              <a:rPr sz="840" b="0" i="0">
                <a:solidFill>
                  <a:srgbClr val="7C8AA3"/>
                </a:solidFill>
                <a:latin typeface="Segoe UI"/>
              </a:rPr>
              <a:t>what others miss</a:t>
            </a:r>
          </a:p>
        </p:txBody>
      </p:sp>
      <p:sp>
        <p:nvSpPr>
          <p:cNvPr id="40" name="Oval 39"/>
          <p:cNvSpPr/>
          <p:nvPr/>
        </p:nvSpPr>
        <p:spPr>
          <a:xfrm>
            <a:off x="3602736" y="4468368"/>
            <a:ext cx="292608" cy="292608"/>
          </a:xfrm>
          <a:prstGeom prst="ellipse">
            <a:avLst/>
          </a:prstGeom>
          <a:solidFill>
            <a:srgbClr val="EEF0FF"/>
          </a:solidFill>
          <a:ln>
            <a:noFill/>
          </a:ln>
          <a:effectLst/>
        </p:spPr>
        <p:txBody>
          <a:bodyPr rtlCol="0" anchor="ctr" lIns="0" rIns="0" tIns="0" bIns="0"/>
          <a:lstStyle/>
          <a:p>
            <a:pPr algn="ctr"/>
            <a:r>
              <a:rPr sz="819" b="1">
                <a:solidFill>
                  <a:srgbClr val="4F5BD5"/>
                </a:solidFill>
                <a:latin typeface="Segoe UI"/>
              </a:rPr>
              <a:t>07</a:t>
            </a:r>
          </a:p>
        </p:txBody>
      </p:sp>
      <p:sp>
        <p:nvSpPr>
          <p:cNvPr id="41" name="TextBox 40"/>
          <p:cNvSpPr txBox="1"/>
          <p:nvPr/>
        </p:nvSpPr>
        <p:spPr>
          <a:xfrm>
            <a:off x="3968496" y="4431792"/>
            <a:ext cx="1956816" cy="402336"/>
          </a:xfrm>
          <a:prstGeom prst="rect">
            <a:avLst/>
          </a:prstGeom>
          <a:noFill/>
        </p:spPr>
        <p:txBody>
          <a:bodyPr wrap="square" anchor="t" lIns="0" rIns="0" tIns="0" bIns="0">
            <a:noAutofit/>
          </a:bodyPr>
          <a:lstStyle/>
          <a:p>
            <a:pPr algn="l">
              <a:lnSpc>
                <a:spcPct val="100000"/>
              </a:lnSpc>
              <a:spcAft>
                <a:spcPts val="0"/>
              </a:spcAft>
            </a:pPr>
            <a:r>
              <a:rPr sz="1190" b="1" i="0">
                <a:solidFill>
                  <a:srgbClr val="0F172A"/>
                </a:solidFill>
                <a:latin typeface="Segoe UI"/>
              </a:rPr>
              <a:t>System Architecture</a:t>
            </a:r>
          </a:p>
        </p:txBody>
      </p:sp>
      <p:sp>
        <p:nvSpPr>
          <p:cNvPr id="42" name="TextBox 41"/>
          <p:cNvSpPr txBox="1"/>
          <p:nvPr/>
        </p:nvSpPr>
        <p:spPr>
          <a:xfrm>
            <a:off x="3968496" y="4797552"/>
            <a:ext cx="1956816" cy="182880"/>
          </a:xfrm>
          <a:prstGeom prst="rect">
            <a:avLst/>
          </a:prstGeom>
          <a:noFill/>
        </p:spPr>
        <p:txBody>
          <a:bodyPr wrap="square" anchor="t" lIns="0" rIns="0" tIns="0" bIns="0">
            <a:noAutofit/>
          </a:bodyPr>
          <a:lstStyle/>
          <a:p>
            <a:pPr algn="l">
              <a:lnSpc>
                <a:spcPct val="112000"/>
              </a:lnSpc>
              <a:spcAft>
                <a:spcPts val="0"/>
              </a:spcAft>
            </a:pPr>
            <a:r>
              <a:rPr sz="840" b="0" i="0">
                <a:solidFill>
                  <a:srgbClr val="7C8AA3"/>
                </a:solidFill>
                <a:latin typeface="Segoe UI"/>
              </a:rPr>
              <a:t>how the parts connect</a:t>
            </a:r>
          </a:p>
        </p:txBody>
      </p:sp>
      <p:sp>
        <p:nvSpPr>
          <p:cNvPr id="43" name="TextBox 42"/>
          <p:cNvSpPr txBox="1"/>
          <p:nvPr/>
        </p:nvSpPr>
        <p:spPr>
          <a:xfrm>
            <a:off x="3602736" y="5596128"/>
            <a:ext cx="2240280" cy="201168"/>
          </a:xfrm>
          <a:prstGeom prst="rect">
            <a:avLst/>
          </a:prstGeom>
          <a:noFill/>
        </p:spPr>
        <p:txBody>
          <a:bodyPr wrap="square" anchor="t" lIns="0" rIns="0" tIns="0" bIns="0">
            <a:noAutofit/>
          </a:bodyPr>
          <a:lstStyle/>
          <a:p>
            <a:pPr algn="l">
              <a:lnSpc>
                <a:spcPct val="112000"/>
              </a:lnSpc>
              <a:spcAft>
                <a:spcPts val="0"/>
              </a:spcAft>
            </a:pPr>
            <a:r>
              <a:rPr sz="880" b="1" i="1">
                <a:solidFill>
                  <a:srgbClr val="4F5BD5"/>
                </a:solidFill>
                <a:latin typeface="Segoe UI"/>
              </a:rPr>
              <a:t>What should it do?</a:t>
            </a:r>
          </a:p>
        </p:txBody>
      </p:sp>
      <p:sp>
        <p:nvSpPr>
          <p:cNvPr id="44" name="Rounded Rectangle 43"/>
          <p:cNvSpPr/>
          <p:nvPr/>
        </p:nvSpPr>
        <p:spPr>
          <a:xfrm>
            <a:off x="6231636" y="1783080"/>
            <a:ext cx="2615184" cy="4261104"/>
          </a:xfrm>
          <a:prstGeom prst="roundRect">
            <a:avLst>
              <a:gd name="adj" fmla="val 5000"/>
            </a:avLst>
          </a:prstGeom>
          <a:solidFill>
            <a:srgbClr val="E8ECF8"/>
          </a:solidFill>
          <a:ln>
            <a:noFill/>
          </a:ln>
          <a:effectLst/>
        </p:spPr>
        <p:txBody>
          <a:bodyPr rtlCol="0" anchor="ctr" wrap="square"/>
          <a:lstStyle/>
          <a:p>
            <a:pPr algn="ctr"/>
          </a:p>
        </p:txBody>
      </p:sp>
      <p:sp>
        <p:nvSpPr>
          <p:cNvPr id="45" name="Rounded Rectangle 44"/>
          <p:cNvSpPr/>
          <p:nvPr/>
        </p:nvSpPr>
        <p:spPr>
          <a:xfrm>
            <a:off x="6199632" y="1737360"/>
            <a:ext cx="2615184" cy="4261104"/>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46" name="Rounded Rectangle 45"/>
          <p:cNvSpPr/>
          <p:nvPr/>
        </p:nvSpPr>
        <p:spPr>
          <a:xfrm>
            <a:off x="6199632" y="1737360"/>
            <a:ext cx="2615184" cy="64008"/>
          </a:xfrm>
          <a:prstGeom prst="roundRect">
            <a:avLst>
              <a:gd name="adj" fmla="val 5000"/>
            </a:avLst>
          </a:prstGeom>
          <a:solidFill>
            <a:srgbClr val="F59E0B"/>
          </a:solidFill>
          <a:ln>
            <a:noFill/>
          </a:ln>
          <a:effectLst/>
        </p:spPr>
        <p:txBody>
          <a:bodyPr rtlCol="0" anchor="ctr" wrap="square"/>
          <a:lstStyle/>
          <a:p>
            <a:pPr algn="ctr"/>
          </a:p>
        </p:txBody>
      </p:sp>
      <p:sp>
        <p:nvSpPr>
          <p:cNvPr id="47" name="TextBox 46"/>
          <p:cNvSpPr txBox="1"/>
          <p:nvPr/>
        </p:nvSpPr>
        <p:spPr>
          <a:xfrm>
            <a:off x="6382512" y="1901952"/>
            <a:ext cx="1645920" cy="182880"/>
          </a:xfrm>
          <a:prstGeom prst="rect">
            <a:avLst/>
          </a:prstGeom>
          <a:noFill/>
        </p:spPr>
        <p:txBody>
          <a:bodyPr wrap="square" anchor="t" lIns="0" rIns="0" tIns="0" bIns="0">
            <a:noAutofit/>
          </a:bodyPr>
          <a:lstStyle/>
          <a:p>
            <a:pPr algn="l">
              <a:lnSpc>
                <a:spcPct val="112000"/>
              </a:lnSpc>
              <a:spcAft>
                <a:spcPts val="0"/>
              </a:spcAft>
            </a:pPr>
            <a:r>
              <a:rPr sz="880" b="1" i="0">
                <a:solidFill>
                  <a:srgbClr val="F59E0B"/>
                </a:solidFill>
                <a:latin typeface="Segoe UI"/>
              </a:rPr>
              <a:t>BUILD &amp; PROVE</a:t>
            </a:r>
          </a:p>
        </p:txBody>
      </p:sp>
      <p:sp>
        <p:nvSpPr>
          <p:cNvPr id="48" name="TextBox 47"/>
          <p:cNvSpPr txBox="1"/>
          <p:nvPr/>
        </p:nvSpPr>
        <p:spPr>
          <a:xfrm>
            <a:off x="7936992" y="1901952"/>
            <a:ext cx="694944" cy="164592"/>
          </a:xfrm>
          <a:prstGeom prst="rect">
            <a:avLst/>
          </a:prstGeom>
          <a:noFill/>
        </p:spPr>
        <p:txBody>
          <a:bodyPr wrap="square" anchor="t" lIns="0" rIns="0" tIns="0" bIns="0">
            <a:noAutofit/>
          </a:bodyPr>
          <a:lstStyle/>
          <a:p>
            <a:pPr algn="r">
              <a:lnSpc>
                <a:spcPct val="112000"/>
              </a:lnSpc>
              <a:spcAft>
                <a:spcPts val="0"/>
              </a:spcAft>
            </a:pPr>
            <a:r>
              <a:rPr sz="750" b="1" i="0">
                <a:solidFill>
                  <a:srgbClr val="7C8AA3"/>
                </a:solidFill>
                <a:latin typeface="Segoe UI"/>
              </a:rPr>
              <a:t>08–10</a:t>
            </a:r>
          </a:p>
        </p:txBody>
      </p:sp>
      <p:sp>
        <p:nvSpPr>
          <p:cNvPr id="49" name="Oval 48"/>
          <p:cNvSpPr/>
          <p:nvPr/>
        </p:nvSpPr>
        <p:spPr>
          <a:xfrm>
            <a:off x="6382512" y="2304288"/>
            <a:ext cx="292608" cy="292608"/>
          </a:xfrm>
          <a:prstGeom prst="ellipse">
            <a:avLst/>
          </a:prstGeom>
          <a:solidFill>
            <a:srgbClr val="FFF7E6"/>
          </a:solidFill>
          <a:ln>
            <a:noFill/>
          </a:ln>
          <a:effectLst/>
        </p:spPr>
        <p:txBody>
          <a:bodyPr rtlCol="0" anchor="ctr" lIns="0" rIns="0" tIns="0" bIns="0"/>
          <a:lstStyle/>
          <a:p>
            <a:pPr algn="ctr"/>
            <a:r>
              <a:rPr sz="819" b="1">
                <a:solidFill>
                  <a:srgbClr val="F59E0B"/>
                </a:solidFill>
                <a:latin typeface="Segoe UI"/>
              </a:rPr>
              <a:t>08</a:t>
            </a:r>
          </a:p>
        </p:txBody>
      </p:sp>
      <p:sp>
        <p:nvSpPr>
          <p:cNvPr id="50" name="TextBox 49"/>
          <p:cNvSpPr txBox="1"/>
          <p:nvPr/>
        </p:nvSpPr>
        <p:spPr>
          <a:xfrm>
            <a:off x="6748272" y="2267712"/>
            <a:ext cx="1956816" cy="402336"/>
          </a:xfrm>
          <a:prstGeom prst="rect">
            <a:avLst/>
          </a:prstGeom>
          <a:noFill/>
        </p:spPr>
        <p:txBody>
          <a:bodyPr wrap="square" anchor="t" lIns="0" rIns="0" tIns="0" bIns="0">
            <a:noAutofit/>
          </a:bodyPr>
          <a:lstStyle/>
          <a:p>
            <a:pPr algn="l">
              <a:lnSpc>
                <a:spcPct val="100000"/>
              </a:lnSpc>
              <a:spcAft>
                <a:spcPts val="0"/>
              </a:spcAft>
            </a:pPr>
            <a:r>
              <a:rPr sz="1190" b="1" i="0">
                <a:solidFill>
                  <a:srgbClr val="0F172A"/>
                </a:solidFill>
                <a:latin typeface="Segoe UI"/>
              </a:rPr>
              <a:t>Methodology &amp; Algorithm</a:t>
            </a:r>
          </a:p>
        </p:txBody>
      </p:sp>
      <p:sp>
        <p:nvSpPr>
          <p:cNvPr id="51" name="TextBox 50"/>
          <p:cNvSpPr txBox="1"/>
          <p:nvPr/>
        </p:nvSpPr>
        <p:spPr>
          <a:xfrm>
            <a:off x="6748272" y="2633472"/>
            <a:ext cx="1956816" cy="182880"/>
          </a:xfrm>
          <a:prstGeom prst="rect">
            <a:avLst/>
          </a:prstGeom>
          <a:noFill/>
        </p:spPr>
        <p:txBody>
          <a:bodyPr wrap="square" anchor="t" lIns="0" rIns="0" tIns="0" bIns="0">
            <a:noAutofit/>
          </a:bodyPr>
          <a:lstStyle/>
          <a:p>
            <a:pPr algn="l">
              <a:lnSpc>
                <a:spcPct val="112000"/>
              </a:lnSpc>
              <a:spcAft>
                <a:spcPts val="0"/>
              </a:spcAft>
            </a:pPr>
            <a:r>
              <a:rPr sz="840" b="0" i="0">
                <a:solidFill>
                  <a:srgbClr val="7C8AA3"/>
                </a:solidFill>
                <a:latin typeface="Segoe UI"/>
              </a:rPr>
              <a:t>how it decides</a:t>
            </a:r>
          </a:p>
        </p:txBody>
      </p:sp>
      <p:sp>
        <p:nvSpPr>
          <p:cNvPr id="52" name="Oval 51"/>
          <p:cNvSpPr/>
          <p:nvPr/>
        </p:nvSpPr>
        <p:spPr>
          <a:xfrm>
            <a:off x="6382512" y="3386328"/>
            <a:ext cx="292608" cy="292608"/>
          </a:xfrm>
          <a:prstGeom prst="ellipse">
            <a:avLst/>
          </a:prstGeom>
          <a:solidFill>
            <a:srgbClr val="FFF7E6"/>
          </a:solidFill>
          <a:ln>
            <a:noFill/>
          </a:ln>
          <a:effectLst/>
        </p:spPr>
        <p:txBody>
          <a:bodyPr rtlCol="0" anchor="ctr" lIns="0" rIns="0" tIns="0" bIns="0"/>
          <a:lstStyle/>
          <a:p>
            <a:pPr algn="ctr"/>
            <a:r>
              <a:rPr sz="819" b="1">
                <a:solidFill>
                  <a:srgbClr val="F59E0B"/>
                </a:solidFill>
                <a:latin typeface="Segoe UI"/>
              </a:rPr>
              <a:t>09</a:t>
            </a:r>
          </a:p>
        </p:txBody>
      </p:sp>
      <p:sp>
        <p:nvSpPr>
          <p:cNvPr id="53" name="TextBox 52"/>
          <p:cNvSpPr txBox="1"/>
          <p:nvPr/>
        </p:nvSpPr>
        <p:spPr>
          <a:xfrm>
            <a:off x="6748272" y="3349752"/>
            <a:ext cx="1956816" cy="402336"/>
          </a:xfrm>
          <a:prstGeom prst="rect">
            <a:avLst/>
          </a:prstGeom>
          <a:noFill/>
        </p:spPr>
        <p:txBody>
          <a:bodyPr wrap="square" anchor="t" lIns="0" rIns="0" tIns="0" bIns="0">
            <a:noAutofit/>
          </a:bodyPr>
          <a:lstStyle/>
          <a:p>
            <a:pPr algn="l">
              <a:lnSpc>
                <a:spcPct val="100000"/>
              </a:lnSpc>
              <a:spcAft>
                <a:spcPts val="0"/>
              </a:spcAft>
            </a:pPr>
            <a:r>
              <a:rPr sz="1190" b="1" i="0">
                <a:solidFill>
                  <a:srgbClr val="0F172A"/>
                </a:solidFill>
                <a:latin typeface="Segoe UI"/>
              </a:rPr>
              <a:t>Implementation Details</a:t>
            </a:r>
          </a:p>
        </p:txBody>
      </p:sp>
      <p:sp>
        <p:nvSpPr>
          <p:cNvPr id="54" name="TextBox 53"/>
          <p:cNvSpPr txBox="1"/>
          <p:nvPr/>
        </p:nvSpPr>
        <p:spPr>
          <a:xfrm>
            <a:off x="6748272" y="3715512"/>
            <a:ext cx="1956816" cy="182880"/>
          </a:xfrm>
          <a:prstGeom prst="rect">
            <a:avLst/>
          </a:prstGeom>
          <a:noFill/>
        </p:spPr>
        <p:txBody>
          <a:bodyPr wrap="square" anchor="t" lIns="0" rIns="0" tIns="0" bIns="0">
            <a:noAutofit/>
          </a:bodyPr>
          <a:lstStyle/>
          <a:p>
            <a:pPr algn="l">
              <a:lnSpc>
                <a:spcPct val="112000"/>
              </a:lnSpc>
              <a:spcAft>
                <a:spcPts val="0"/>
              </a:spcAft>
            </a:pPr>
            <a:r>
              <a:rPr sz="840" b="0" i="0">
                <a:solidFill>
                  <a:srgbClr val="7C8AA3"/>
                </a:solidFill>
                <a:latin typeface="Segoe UI"/>
              </a:rPr>
              <a:t>what it runs on</a:t>
            </a:r>
          </a:p>
        </p:txBody>
      </p:sp>
      <p:sp>
        <p:nvSpPr>
          <p:cNvPr id="55" name="Oval 54"/>
          <p:cNvSpPr/>
          <p:nvPr/>
        </p:nvSpPr>
        <p:spPr>
          <a:xfrm>
            <a:off x="6382512" y="4468368"/>
            <a:ext cx="292608" cy="292608"/>
          </a:xfrm>
          <a:prstGeom prst="ellipse">
            <a:avLst/>
          </a:prstGeom>
          <a:solidFill>
            <a:srgbClr val="FFF7E6"/>
          </a:solidFill>
          <a:ln>
            <a:noFill/>
          </a:ln>
          <a:effectLst/>
        </p:spPr>
        <p:txBody>
          <a:bodyPr rtlCol="0" anchor="ctr" lIns="0" rIns="0" tIns="0" bIns="0"/>
          <a:lstStyle/>
          <a:p>
            <a:pPr algn="ctr"/>
            <a:r>
              <a:rPr sz="819" b="1">
                <a:solidFill>
                  <a:srgbClr val="F59E0B"/>
                </a:solidFill>
                <a:latin typeface="Segoe UI"/>
              </a:rPr>
              <a:t>10</a:t>
            </a:r>
          </a:p>
        </p:txBody>
      </p:sp>
      <p:sp>
        <p:nvSpPr>
          <p:cNvPr id="56" name="TextBox 55"/>
          <p:cNvSpPr txBox="1"/>
          <p:nvPr/>
        </p:nvSpPr>
        <p:spPr>
          <a:xfrm>
            <a:off x="6748272" y="4431792"/>
            <a:ext cx="1956816" cy="402336"/>
          </a:xfrm>
          <a:prstGeom prst="rect">
            <a:avLst/>
          </a:prstGeom>
          <a:noFill/>
        </p:spPr>
        <p:txBody>
          <a:bodyPr wrap="square" anchor="t" lIns="0" rIns="0" tIns="0" bIns="0">
            <a:noAutofit/>
          </a:bodyPr>
          <a:lstStyle/>
          <a:p>
            <a:pPr algn="l">
              <a:lnSpc>
                <a:spcPct val="100000"/>
              </a:lnSpc>
              <a:spcAft>
                <a:spcPts val="0"/>
              </a:spcAft>
            </a:pPr>
            <a:r>
              <a:rPr sz="1190" b="1" i="0">
                <a:solidFill>
                  <a:srgbClr val="0F172A"/>
                </a:solidFill>
                <a:latin typeface="Segoe UI"/>
              </a:rPr>
              <a:t>Results &amp; Analysis</a:t>
            </a:r>
          </a:p>
        </p:txBody>
      </p:sp>
      <p:sp>
        <p:nvSpPr>
          <p:cNvPr id="57" name="TextBox 56"/>
          <p:cNvSpPr txBox="1"/>
          <p:nvPr/>
        </p:nvSpPr>
        <p:spPr>
          <a:xfrm>
            <a:off x="6748272" y="4797552"/>
            <a:ext cx="1956816" cy="182880"/>
          </a:xfrm>
          <a:prstGeom prst="rect">
            <a:avLst/>
          </a:prstGeom>
          <a:noFill/>
        </p:spPr>
        <p:txBody>
          <a:bodyPr wrap="square" anchor="t" lIns="0" rIns="0" tIns="0" bIns="0">
            <a:noAutofit/>
          </a:bodyPr>
          <a:lstStyle/>
          <a:p>
            <a:pPr algn="l">
              <a:lnSpc>
                <a:spcPct val="112000"/>
              </a:lnSpc>
              <a:spcAft>
                <a:spcPts val="0"/>
              </a:spcAft>
            </a:pPr>
            <a:r>
              <a:rPr sz="840" b="0" i="0">
                <a:solidFill>
                  <a:srgbClr val="7C8AA3"/>
                </a:solidFill>
                <a:latin typeface="Segoe UI"/>
              </a:rPr>
              <a:t>what is verified</a:t>
            </a:r>
          </a:p>
        </p:txBody>
      </p:sp>
      <p:sp>
        <p:nvSpPr>
          <p:cNvPr id="58" name="TextBox 57"/>
          <p:cNvSpPr txBox="1"/>
          <p:nvPr/>
        </p:nvSpPr>
        <p:spPr>
          <a:xfrm>
            <a:off x="6382512" y="5596128"/>
            <a:ext cx="2240280" cy="201168"/>
          </a:xfrm>
          <a:prstGeom prst="rect">
            <a:avLst/>
          </a:prstGeom>
          <a:noFill/>
        </p:spPr>
        <p:txBody>
          <a:bodyPr wrap="square" anchor="t" lIns="0" rIns="0" tIns="0" bIns="0">
            <a:noAutofit/>
          </a:bodyPr>
          <a:lstStyle/>
          <a:p>
            <a:pPr algn="l">
              <a:lnSpc>
                <a:spcPct val="112000"/>
              </a:lnSpc>
              <a:spcAft>
                <a:spcPts val="0"/>
              </a:spcAft>
            </a:pPr>
            <a:r>
              <a:rPr sz="880" b="1" i="1">
                <a:solidFill>
                  <a:srgbClr val="F59E0B"/>
                </a:solidFill>
                <a:latin typeface="Segoe UI"/>
              </a:rPr>
              <a:t>How is it built and checked?</a:t>
            </a:r>
          </a:p>
        </p:txBody>
      </p:sp>
      <p:sp>
        <p:nvSpPr>
          <p:cNvPr id="59" name="Rounded Rectangle 58"/>
          <p:cNvSpPr/>
          <p:nvPr/>
        </p:nvSpPr>
        <p:spPr>
          <a:xfrm>
            <a:off x="9011412" y="1783080"/>
            <a:ext cx="2615184" cy="4261104"/>
          </a:xfrm>
          <a:prstGeom prst="roundRect">
            <a:avLst>
              <a:gd name="adj" fmla="val 5000"/>
            </a:avLst>
          </a:prstGeom>
          <a:solidFill>
            <a:srgbClr val="E8ECF8"/>
          </a:solidFill>
          <a:ln>
            <a:noFill/>
          </a:ln>
          <a:effectLst/>
        </p:spPr>
        <p:txBody>
          <a:bodyPr rtlCol="0" anchor="ctr" wrap="square"/>
          <a:lstStyle/>
          <a:p>
            <a:pPr algn="ctr"/>
          </a:p>
        </p:txBody>
      </p:sp>
      <p:sp>
        <p:nvSpPr>
          <p:cNvPr id="60" name="Rounded Rectangle 59"/>
          <p:cNvSpPr/>
          <p:nvPr/>
        </p:nvSpPr>
        <p:spPr>
          <a:xfrm>
            <a:off x="8979408" y="1737360"/>
            <a:ext cx="2615184" cy="4261104"/>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61" name="Rounded Rectangle 60"/>
          <p:cNvSpPr/>
          <p:nvPr/>
        </p:nvSpPr>
        <p:spPr>
          <a:xfrm>
            <a:off x="8979408" y="1737360"/>
            <a:ext cx="2615184" cy="64008"/>
          </a:xfrm>
          <a:prstGeom prst="roundRect">
            <a:avLst>
              <a:gd name="adj" fmla="val 5000"/>
            </a:avLst>
          </a:prstGeom>
          <a:solidFill>
            <a:srgbClr val="10B981"/>
          </a:solidFill>
          <a:ln>
            <a:noFill/>
          </a:ln>
          <a:effectLst/>
        </p:spPr>
        <p:txBody>
          <a:bodyPr rtlCol="0" anchor="ctr" wrap="square"/>
          <a:lstStyle/>
          <a:p>
            <a:pPr algn="ctr"/>
          </a:p>
        </p:txBody>
      </p:sp>
      <p:sp>
        <p:nvSpPr>
          <p:cNvPr id="62" name="TextBox 61"/>
          <p:cNvSpPr txBox="1"/>
          <p:nvPr/>
        </p:nvSpPr>
        <p:spPr>
          <a:xfrm>
            <a:off x="9162288" y="1901952"/>
            <a:ext cx="1645920" cy="182880"/>
          </a:xfrm>
          <a:prstGeom prst="rect">
            <a:avLst/>
          </a:prstGeom>
          <a:noFill/>
        </p:spPr>
        <p:txBody>
          <a:bodyPr wrap="square" anchor="t" lIns="0" rIns="0" tIns="0" bIns="0">
            <a:noAutofit/>
          </a:bodyPr>
          <a:lstStyle/>
          <a:p>
            <a:pPr algn="l">
              <a:lnSpc>
                <a:spcPct val="112000"/>
              </a:lnSpc>
              <a:spcAft>
                <a:spcPts val="0"/>
              </a:spcAft>
            </a:pPr>
            <a:r>
              <a:rPr sz="880" b="1" i="0">
                <a:solidFill>
                  <a:srgbClr val="10B981"/>
                </a:solidFill>
                <a:latin typeface="Segoe UI"/>
              </a:rPr>
              <a:t>CLOSE</a:t>
            </a:r>
          </a:p>
        </p:txBody>
      </p:sp>
      <p:sp>
        <p:nvSpPr>
          <p:cNvPr id="63" name="TextBox 62"/>
          <p:cNvSpPr txBox="1"/>
          <p:nvPr/>
        </p:nvSpPr>
        <p:spPr>
          <a:xfrm>
            <a:off x="10716768" y="1901952"/>
            <a:ext cx="694944" cy="164592"/>
          </a:xfrm>
          <a:prstGeom prst="rect">
            <a:avLst/>
          </a:prstGeom>
          <a:noFill/>
        </p:spPr>
        <p:txBody>
          <a:bodyPr wrap="square" anchor="t" lIns="0" rIns="0" tIns="0" bIns="0">
            <a:noAutofit/>
          </a:bodyPr>
          <a:lstStyle/>
          <a:p>
            <a:pPr algn="r">
              <a:lnSpc>
                <a:spcPct val="112000"/>
              </a:lnSpc>
              <a:spcAft>
                <a:spcPts val="0"/>
              </a:spcAft>
            </a:pPr>
            <a:r>
              <a:rPr sz="750" b="1" i="0">
                <a:solidFill>
                  <a:srgbClr val="7C8AA3"/>
                </a:solidFill>
                <a:latin typeface="Segoe UI"/>
              </a:rPr>
              <a:t>11–13</a:t>
            </a:r>
          </a:p>
        </p:txBody>
      </p:sp>
      <p:sp>
        <p:nvSpPr>
          <p:cNvPr id="64" name="Oval 63"/>
          <p:cNvSpPr/>
          <p:nvPr/>
        </p:nvSpPr>
        <p:spPr>
          <a:xfrm>
            <a:off x="9162288" y="2304288"/>
            <a:ext cx="292608" cy="292608"/>
          </a:xfrm>
          <a:prstGeom prst="ellipse">
            <a:avLst/>
          </a:prstGeom>
          <a:solidFill>
            <a:srgbClr val="E7FBF3"/>
          </a:solidFill>
          <a:ln>
            <a:noFill/>
          </a:ln>
          <a:effectLst/>
        </p:spPr>
        <p:txBody>
          <a:bodyPr rtlCol="0" anchor="ctr" lIns="0" rIns="0" tIns="0" bIns="0"/>
          <a:lstStyle/>
          <a:p>
            <a:pPr algn="ctr"/>
            <a:r>
              <a:rPr sz="819" b="1">
                <a:solidFill>
                  <a:srgbClr val="10B981"/>
                </a:solidFill>
                <a:latin typeface="Segoe UI"/>
              </a:rPr>
              <a:t>11</a:t>
            </a:r>
          </a:p>
        </p:txBody>
      </p:sp>
      <p:sp>
        <p:nvSpPr>
          <p:cNvPr id="65" name="TextBox 64"/>
          <p:cNvSpPr txBox="1"/>
          <p:nvPr/>
        </p:nvSpPr>
        <p:spPr>
          <a:xfrm>
            <a:off x="9528048" y="2267712"/>
            <a:ext cx="1956816" cy="402336"/>
          </a:xfrm>
          <a:prstGeom prst="rect">
            <a:avLst/>
          </a:prstGeom>
          <a:noFill/>
        </p:spPr>
        <p:txBody>
          <a:bodyPr wrap="square" anchor="t" lIns="0" rIns="0" tIns="0" bIns="0">
            <a:noAutofit/>
          </a:bodyPr>
          <a:lstStyle/>
          <a:p>
            <a:pPr algn="l">
              <a:lnSpc>
                <a:spcPct val="100000"/>
              </a:lnSpc>
              <a:spcAft>
                <a:spcPts val="0"/>
              </a:spcAft>
            </a:pPr>
            <a:r>
              <a:rPr sz="1190" b="1" i="0">
                <a:solidFill>
                  <a:srgbClr val="0F172A"/>
                </a:solidFill>
                <a:latin typeface="Segoe UI"/>
              </a:rPr>
              <a:t>Conclusion</a:t>
            </a:r>
          </a:p>
        </p:txBody>
      </p:sp>
      <p:sp>
        <p:nvSpPr>
          <p:cNvPr id="66" name="TextBox 65"/>
          <p:cNvSpPr txBox="1"/>
          <p:nvPr/>
        </p:nvSpPr>
        <p:spPr>
          <a:xfrm>
            <a:off x="9528048" y="2633472"/>
            <a:ext cx="1956816" cy="182880"/>
          </a:xfrm>
          <a:prstGeom prst="rect">
            <a:avLst/>
          </a:prstGeom>
          <a:noFill/>
        </p:spPr>
        <p:txBody>
          <a:bodyPr wrap="square" anchor="t" lIns="0" rIns="0" tIns="0" bIns="0">
            <a:noAutofit/>
          </a:bodyPr>
          <a:lstStyle/>
          <a:p>
            <a:pPr algn="l">
              <a:lnSpc>
                <a:spcPct val="112000"/>
              </a:lnSpc>
              <a:spcAft>
                <a:spcPts val="0"/>
              </a:spcAft>
            </a:pPr>
            <a:r>
              <a:rPr sz="840" b="0" i="0">
                <a:solidFill>
                  <a:srgbClr val="7C8AA3"/>
                </a:solidFill>
                <a:latin typeface="Segoe UI"/>
              </a:rPr>
              <a:t>what it contributes</a:t>
            </a:r>
          </a:p>
        </p:txBody>
      </p:sp>
      <p:sp>
        <p:nvSpPr>
          <p:cNvPr id="67" name="Oval 66"/>
          <p:cNvSpPr/>
          <p:nvPr/>
        </p:nvSpPr>
        <p:spPr>
          <a:xfrm>
            <a:off x="9162288" y="3386328"/>
            <a:ext cx="292608" cy="292608"/>
          </a:xfrm>
          <a:prstGeom prst="ellipse">
            <a:avLst/>
          </a:prstGeom>
          <a:solidFill>
            <a:srgbClr val="E7FBF3"/>
          </a:solidFill>
          <a:ln>
            <a:noFill/>
          </a:ln>
          <a:effectLst/>
        </p:spPr>
        <p:txBody>
          <a:bodyPr rtlCol="0" anchor="ctr" lIns="0" rIns="0" tIns="0" bIns="0"/>
          <a:lstStyle/>
          <a:p>
            <a:pPr algn="ctr"/>
            <a:r>
              <a:rPr sz="819" b="1">
                <a:solidFill>
                  <a:srgbClr val="10B981"/>
                </a:solidFill>
                <a:latin typeface="Segoe UI"/>
              </a:rPr>
              <a:t>12</a:t>
            </a:r>
          </a:p>
        </p:txBody>
      </p:sp>
      <p:sp>
        <p:nvSpPr>
          <p:cNvPr id="68" name="TextBox 67"/>
          <p:cNvSpPr txBox="1"/>
          <p:nvPr/>
        </p:nvSpPr>
        <p:spPr>
          <a:xfrm>
            <a:off x="9528048" y="3349752"/>
            <a:ext cx="1956816" cy="402336"/>
          </a:xfrm>
          <a:prstGeom prst="rect">
            <a:avLst/>
          </a:prstGeom>
          <a:noFill/>
        </p:spPr>
        <p:txBody>
          <a:bodyPr wrap="square" anchor="t" lIns="0" rIns="0" tIns="0" bIns="0">
            <a:noAutofit/>
          </a:bodyPr>
          <a:lstStyle/>
          <a:p>
            <a:pPr algn="l">
              <a:lnSpc>
                <a:spcPct val="100000"/>
              </a:lnSpc>
              <a:spcAft>
                <a:spcPts val="0"/>
              </a:spcAft>
            </a:pPr>
            <a:r>
              <a:rPr sz="1190" b="1" i="0">
                <a:solidFill>
                  <a:srgbClr val="0F172A"/>
                </a:solidFill>
                <a:latin typeface="Segoe UI"/>
              </a:rPr>
              <a:t>Future Scope</a:t>
            </a:r>
          </a:p>
        </p:txBody>
      </p:sp>
      <p:sp>
        <p:nvSpPr>
          <p:cNvPr id="69" name="TextBox 68"/>
          <p:cNvSpPr txBox="1"/>
          <p:nvPr/>
        </p:nvSpPr>
        <p:spPr>
          <a:xfrm>
            <a:off x="9528048" y="3715512"/>
            <a:ext cx="1956816" cy="182880"/>
          </a:xfrm>
          <a:prstGeom prst="rect">
            <a:avLst/>
          </a:prstGeom>
          <a:noFill/>
        </p:spPr>
        <p:txBody>
          <a:bodyPr wrap="square" anchor="t" lIns="0" rIns="0" tIns="0" bIns="0">
            <a:noAutofit/>
          </a:bodyPr>
          <a:lstStyle/>
          <a:p>
            <a:pPr algn="l">
              <a:lnSpc>
                <a:spcPct val="112000"/>
              </a:lnSpc>
              <a:spcAft>
                <a:spcPts val="0"/>
              </a:spcAft>
            </a:pPr>
            <a:r>
              <a:rPr sz="840" b="0" i="0">
                <a:solidFill>
                  <a:srgbClr val="7C8AA3"/>
                </a:solidFill>
                <a:latin typeface="Segoe UI"/>
              </a:rPr>
              <a:t>what comes next</a:t>
            </a:r>
          </a:p>
        </p:txBody>
      </p:sp>
      <p:sp>
        <p:nvSpPr>
          <p:cNvPr id="70" name="Oval 69"/>
          <p:cNvSpPr/>
          <p:nvPr/>
        </p:nvSpPr>
        <p:spPr>
          <a:xfrm>
            <a:off x="9162288" y="4468368"/>
            <a:ext cx="292608" cy="292608"/>
          </a:xfrm>
          <a:prstGeom prst="ellipse">
            <a:avLst/>
          </a:prstGeom>
          <a:solidFill>
            <a:srgbClr val="E7FBF3"/>
          </a:solidFill>
          <a:ln>
            <a:noFill/>
          </a:ln>
          <a:effectLst/>
        </p:spPr>
        <p:txBody>
          <a:bodyPr rtlCol="0" anchor="ctr" lIns="0" rIns="0" tIns="0" bIns="0"/>
          <a:lstStyle/>
          <a:p>
            <a:pPr algn="ctr"/>
            <a:r>
              <a:rPr sz="819" b="1">
                <a:solidFill>
                  <a:srgbClr val="10B981"/>
                </a:solidFill>
                <a:latin typeface="Segoe UI"/>
              </a:rPr>
              <a:t>13</a:t>
            </a:r>
          </a:p>
        </p:txBody>
      </p:sp>
      <p:sp>
        <p:nvSpPr>
          <p:cNvPr id="71" name="TextBox 70"/>
          <p:cNvSpPr txBox="1"/>
          <p:nvPr/>
        </p:nvSpPr>
        <p:spPr>
          <a:xfrm>
            <a:off x="9528048" y="4431792"/>
            <a:ext cx="1956816" cy="402336"/>
          </a:xfrm>
          <a:prstGeom prst="rect">
            <a:avLst/>
          </a:prstGeom>
          <a:noFill/>
        </p:spPr>
        <p:txBody>
          <a:bodyPr wrap="square" anchor="t" lIns="0" rIns="0" tIns="0" bIns="0">
            <a:noAutofit/>
          </a:bodyPr>
          <a:lstStyle/>
          <a:p>
            <a:pPr algn="l">
              <a:lnSpc>
                <a:spcPct val="100000"/>
              </a:lnSpc>
              <a:spcAft>
                <a:spcPts val="0"/>
              </a:spcAft>
            </a:pPr>
            <a:r>
              <a:rPr sz="1190" b="1" i="0">
                <a:solidFill>
                  <a:srgbClr val="0F172A"/>
                </a:solidFill>
                <a:latin typeface="Segoe UI"/>
              </a:rPr>
              <a:t>References</a:t>
            </a:r>
          </a:p>
        </p:txBody>
      </p:sp>
      <p:sp>
        <p:nvSpPr>
          <p:cNvPr id="72" name="TextBox 71"/>
          <p:cNvSpPr txBox="1"/>
          <p:nvPr/>
        </p:nvSpPr>
        <p:spPr>
          <a:xfrm>
            <a:off x="9528048" y="4797552"/>
            <a:ext cx="1956816" cy="182880"/>
          </a:xfrm>
          <a:prstGeom prst="rect">
            <a:avLst/>
          </a:prstGeom>
          <a:noFill/>
        </p:spPr>
        <p:txBody>
          <a:bodyPr wrap="square" anchor="t" lIns="0" rIns="0" tIns="0" bIns="0">
            <a:noAutofit/>
          </a:bodyPr>
          <a:lstStyle/>
          <a:p>
            <a:pPr algn="l">
              <a:lnSpc>
                <a:spcPct val="112000"/>
              </a:lnSpc>
              <a:spcAft>
                <a:spcPts val="0"/>
              </a:spcAft>
            </a:pPr>
            <a:r>
              <a:rPr sz="840" b="0" i="0">
                <a:solidFill>
                  <a:srgbClr val="7C8AA3"/>
                </a:solidFill>
                <a:latin typeface="Segoe UI"/>
              </a:rPr>
              <a:t>what it rests on</a:t>
            </a:r>
          </a:p>
        </p:txBody>
      </p:sp>
      <p:sp>
        <p:nvSpPr>
          <p:cNvPr id="73" name="TextBox 72"/>
          <p:cNvSpPr txBox="1"/>
          <p:nvPr/>
        </p:nvSpPr>
        <p:spPr>
          <a:xfrm>
            <a:off x="9162288" y="5596128"/>
            <a:ext cx="2240280" cy="201168"/>
          </a:xfrm>
          <a:prstGeom prst="rect">
            <a:avLst/>
          </a:prstGeom>
          <a:noFill/>
        </p:spPr>
        <p:txBody>
          <a:bodyPr wrap="square" anchor="t" lIns="0" rIns="0" tIns="0" bIns="0">
            <a:noAutofit/>
          </a:bodyPr>
          <a:lstStyle/>
          <a:p>
            <a:pPr algn="l">
              <a:lnSpc>
                <a:spcPct val="112000"/>
              </a:lnSpc>
              <a:spcAft>
                <a:spcPts val="0"/>
              </a:spcAft>
            </a:pPr>
            <a:r>
              <a:rPr sz="880" b="1" i="1">
                <a:solidFill>
                  <a:srgbClr val="10B981"/>
                </a:solidFill>
                <a:latin typeface="Segoe UI"/>
              </a:rPr>
              <a:t>What does it mean?</a:t>
            </a:r>
          </a:p>
        </p:txBody>
      </p:sp>
      <p:sp>
        <p:nvSpPr>
          <p:cNvPr id="74" name="TextBox 73"/>
          <p:cNvSpPr txBox="1"/>
          <p:nvPr/>
        </p:nvSpPr>
        <p:spPr>
          <a:xfrm>
            <a:off x="640080" y="6181344"/>
            <a:ext cx="10881360" cy="201168"/>
          </a:xfrm>
          <a:prstGeom prst="rect">
            <a:avLst/>
          </a:prstGeom>
          <a:noFill/>
        </p:spPr>
        <p:txBody>
          <a:bodyPr wrap="square" anchor="t" lIns="0" rIns="0" tIns="0" bIns="0">
            <a:noAutofit/>
          </a:bodyPr>
          <a:lstStyle/>
          <a:p>
            <a:pPr algn="l">
              <a:lnSpc>
                <a:spcPct val="112000"/>
              </a:lnSpc>
              <a:spcAft>
                <a:spcPts val="0"/>
              </a:spcAft>
            </a:pPr>
            <a:r>
              <a:rPr sz="1050" b="0" i="0">
                <a:solidFill>
                  <a:srgbClr val="7C8AA3"/>
                </a:solidFill>
                <a:latin typeface="Segoe UI"/>
              </a:rPr>
              <a:t>About twelve minutes, then questions. Every slide has one job.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g_aurora.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40080" y="411480"/>
            <a:ext cx="164592" cy="164592"/>
          </a:xfrm>
          <a:prstGeom prst="roundRect">
            <a:avLst>
              <a:gd name="adj" fmla="val 25000"/>
            </a:avLst>
          </a:prstGeom>
          <a:gradFill rotWithShape="1">
            <a:gsLst>
              <a:gs pos="0">
                <a:srgbClr val="0EA5E9"/>
              </a:gs>
              <a:gs pos="100000">
                <a:srgbClr val="4F5BD5"/>
              </a:gs>
            </a:gsLst>
            <a:lin scaled="0" ang="19500000"/>
          </a:gradFill>
          <a:ln>
            <a:noFill/>
          </a:ln>
          <a:effectLst/>
        </p:spPr>
        <p:txBody>
          <a:bodyPr rtlCol="0" anchor="ctr"/>
          <a:lstStyle/>
          <a:p>
            <a:pPr algn="ctr"/>
          </a:p>
        </p:txBody>
      </p:sp>
      <p:sp>
        <p:nvSpPr>
          <p:cNvPr id="4" name="TextBox 3"/>
          <p:cNvSpPr txBox="1"/>
          <p:nvPr/>
        </p:nvSpPr>
        <p:spPr>
          <a:xfrm>
            <a:off x="886968" y="365760"/>
            <a:ext cx="1828800" cy="219456"/>
          </a:xfrm>
          <a:prstGeom prst="rect">
            <a:avLst/>
          </a:prstGeom>
          <a:noFill/>
        </p:spPr>
        <p:txBody>
          <a:bodyPr wrap="square" anchor="t" lIns="0" rIns="0" tIns="0" bIns="0">
            <a:noAutofit/>
          </a:bodyPr>
          <a:lstStyle/>
          <a:p>
            <a:pPr algn="l">
              <a:lnSpc>
                <a:spcPct val="112000"/>
              </a:lnSpc>
              <a:spcAft>
                <a:spcPts val="0"/>
              </a:spcAft>
            </a:pPr>
            <a:r>
              <a:rPr sz="950" b="1" i="0">
                <a:solidFill>
                  <a:srgbClr val="0F172A"/>
                </a:solidFill>
                <a:latin typeface="Segoe UI"/>
              </a:rPr>
              <a:t>StudyMapper</a:t>
            </a:r>
          </a:p>
        </p:txBody>
      </p:sp>
      <p:sp>
        <p:nvSpPr>
          <p:cNvPr id="5" name="TextBox 4"/>
          <p:cNvSpPr txBox="1"/>
          <p:nvPr/>
        </p:nvSpPr>
        <p:spPr>
          <a:xfrm>
            <a:off x="6035040" y="374904"/>
            <a:ext cx="5513832" cy="201168"/>
          </a:xfrm>
          <a:prstGeom prst="rect">
            <a:avLst/>
          </a:prstGeom>
          <a:noFill/>
        </p:spPr>
        <p:txBody>
          <a:bodyPr wrap="square" anchor="t" lIns="0" rIns="0" tIns="0" bIns="0">
            <a:noAutofit/>
          </a:bodyPr>
          <a:lstStyle/>
          <a:p>
            <a:pPr algn="r">
              <a:lnSpc>
                <a:spcPct val="112000"/>
              </a:lnSpc>
              <a:spcAft>
                <a:spcPts val="0"/>
              </a:spcAft>
            </a:pPr>
            <a:r>
              <a:rPr sz="950" b="1" i="0">
                <a:solidFill>
                  <a:srgbClr val="4F5BD5"/>
                </a:solidFill>
                <a:latin typeface="Segoe UI"/>
              </a:rPr>
              <a:t>02 · ABSTRACT &amp; MOTIVATION</a:t>
            </a:r>
          </a:p>
        </p:txBody>
      </p:sp>
      <p:sp>
        <p:nvSpPr>
          <p:cNvPr id="6" name="TextBox 5"/>
          <p:cNvSpPr txBox="1"/>
          <p:nvPr/>
        </p:nvSpPr>
        <p:spPr>
          <a:xfrm>
            <a:off x="640080" y="658368"/>
            <a:ext cx="10908792" cy="566928"/>
          </a:xfrm>
          <a:prstGeom prst="rect">
            <a:avLst/>
          </a:prstGeom>
          <a:noFill/>
        </p:spPr>
        <p:txBody>
          <a:bodyPr wrap="square" anchor="t" lIns="0" rIns="0" tIns="0" bIns="0">
            <a:noAutofit/>
          </a:bodyPr>
          <a:lstStyle/>
          <a:p>
            <a:pPr algn="l">
              <a:lnSpc>
                <a:spcPct val="98000"/>
              </a:lnSpc>
              <a:spcAft>
                <a:spcPts val="0"/>
              </a:spcAft>
            </a:pPr>
            <a:r>
              <a:rPr sz="3300" b="1" i="0">
                <a:solidFill>
                  <a:srgbClr val="0F172A"/>
                </a:solidFill>
                <a:latin typeface="Segoe UI"/>
              </a:rPr>
              <a:t>From syllabus to next action</a:t>
            </a:r>
          </a:p>
        </p:txBody>
      </p:sp>
      <p:sp>
        <p:nvSpPr>
          <p:cNvPr id="7" name="TextBox 6"/>
          <p:cNvSpPr txBox="1"/>
          <p:nvPr/>
        </p:nvSpPr>
        <p:spPr>
          <a:xfrm>
            <a:off x="640080" y="1243584"/>
            <a:ext cx="10469880" cy="438912"/>
          </a:xfrm>
          <a:prstGeom prst="rect">
            <a:avLst/>
          </a:prstGeom>
          <a:noFill/>
        </p:spPr>
        <p:txBody>
          <a:bodyPr wrap="square" anchor="t" lIns="0" rIns="0" tIns="0" bIns="0">
            <a:noAutofit/>
          </a:bodyPr>
          <a:lstStyle/>
          <a:p>
            <a:pPr algn="l">
              <a:lnSpc>
                <a:spcPct val="114000"/>
              </a:lnSpc>
              <a:spcAft>
                <a:spcPts val="0"/>
              </a:spcAft>
            </a:pPr>
            <a:r>
              <a:rPr sz="1450" b="0" i="0">
                <a:solidFill>
                  <a:srgbClr val="475569"/>
                </a:solidFill>
                <a:latin typeface="Segoe UI"/>
              </a:rPr>
              <a:t>Four screens from the running build — the same records feed every one of them.</a:t>
            </a:r>
          </a:p>
        </p:txBody>
      </p:sp>
      <p:sp>
        <p:nvSpPr>
          <p:cNvPr id="8" name="Rectangle 7"/>
          <p:cNvSpPr/>
          <p:nvPr/>
        </p:nvSpPr>
        <p:spPr>
          <a:xfrm>
            <a:off x="640080" y="6437376"/>
            <a:ext cx="10908792" cy="7315"/>
          </a:xfrm>
          <a:prstGeom prst="rect">
            <a:avLst/>
          </a:prstGeom>
          <a:solidFill>
            <a:srgbClr val="D5DCEE"/>
          </a:solidFill>
          <a:ln>
            <a:noFill/>
          </a:ln>
          <a:effectLst/>
        </p:spPr>
        <p:txBody>
          <a:bodyPr rtlCol="0" anchor="ctr" wrap="square"/>
          <a:lstStyle/>
          <a:p>
            <a:pPr algn="ctr"/>
          </a:p>
        </p:txBody>
      </p:sp>
      <p:sp>
        <p:nvSpPr>
          <p:cNvPr id="9" name="TextBox 8"/>
          <p:cNvSpPr txBox="1"/>
          <p:nvPr/>
        </p:nvSpPr>
        <p:spPr>
          <a:xfrm>
            <a:off x="640080" y="6519672"/>
            <a:ext cx="7863840" cy="164592"/>
          </a:xfrm>
          <a:prstGeom prst="rect">
            <a:avLst/>
          </a:prstGeom>
          <a:noFill/>
        </p:spPr>
        <p:txBody>
          <a:bodyPr wrap="square" anchor="t" lIns="0" rIns="0" tIns="0" bIns="0">
            <a:noAutofit/>
          </a:bodyPr>
          <a:lstStyle/>
          <a:p>
            <a:pPr algn="l">
              <a:lnSpc>
                <a:spcPct val="112000"/>
              </a:lnSpc>
              <a:spcAft>
                <a:spcPts val="0"/>
              </a:spcAft>
            </a:pPr>
            <a:r>
              <a:rPr sz="800" b="0" i="0">
                <a:solidFill>
                  <a:srgbClr val="7C8AA3"/>
                </a:solidFill>
                <a:latin typeface="Segoe UI"/>
              </a:rPr>
              <a:t>StudyMapper  ·  AI-Driven Personalized Learning &amp; Academic Management</a:t>
            </a:r>
          </a:p>
        </p:txBody>
      </p:sp>
      <p:sp>
        <p:nvSpPr>
          <p:cNvPr id="10" name="TextBox 9"/>
          <p:cNvSpPr txBox="1"/>
          <p:nvPr/>
        </p:nvSpPr>
        <p:spPr>
          <a:xfrm>
            <a:off x="10058400" y="6510528"/>
            <a:ext cx="1490472" cy="182880"/>
          </a:xfrm>
          <a:prstGeom prst="rect">
            <a:avLst/>
          </a:prstGeom>
          <a:noFill/>
        </p:spPr>
        <p:txBody>
          <a:bodyPr wrap="square" anchor="t" lIns="0" rIns="0" tIns="0" bIns="0">
            <a:noAutofit/>
          </a:bodyPr>
          <a:lstStyle/>
          <a:p>
            <a:pPr algn="r">
              <a:lnSpc>
                <a:spcPct val="112000"/>
              </a:lnSpc>
              <a:spcAft>
                <a:spcPts val="0"/>
              </a:spcAft>
            </a:pPr>
            <a:r>
              <a:rPr sz="880" b="1" i="0">
                <a:solidFill>
                  <a:srgbClr val="7C8AA3"/>
                </a:solidFill>
                <a:latin typeface="Segoe UI"/>
              </a:rPr>
              <a:t>03 / 13</a:t>
            </a:r>
          </a:p>
        </p:txBody>
      </p:sp>
      <p:sp>
        <p:nvSpPr>
          <p:cNvPr id="11" name="TextBox 10"/>
          <p:cNvSpPr txBox="1"/>
          <p:nvPr/>
        </p:nvSpPr>
        <p:spPr>
          <a:xfrm>
            <a:off x="7863840" y="1554480"/>
            <a:ext cx="3685032" cy="164592"/>
          </a:xfrm>
          <a:prstGeom prst="rect">
            <a:avLst/>
          </a:prstGeom>
          <a:noFill/>
        </p:spPr>
        <p:txBody>
          <a:bodyPr wrap="square" anchor="t" lIns="0" rIns="0" tIns="0" bIns="0">
            <a:noAutofit/>
          </a:bodyPr>
          <a:lstStyle/>
          <a:p>
            <a:pPr algn="r">
              <a:lnSpc>
                <a:spcPct val="112000"/>
              </a:lnSpc>
              <a:spcAft>
                <a:spcPts val="0"/>
              </a:spcAft>
            </a:pPr>
            <a:r>
              <a:rPr sz="750" b="1" i="0">
                <a:solidFill>
                  <a:srgbClr val="7C8AA3"/>
                </a:solidFill>
                <a:latin typeface="Segoe UI"/>
              </a:rPr>
              <a:t>RUNNING BUILD  ·  1440 × 900</a:t>
            </a:r>
          </a:p>
        </p:txBody>
      </p:sp>
      <p:sp>
        <p:nvSpPr>
          <p:cNvPr id="12" name="Rounded Rectangle 11"/>
          <p:cNvSpPr/>
          <p:nvPr/>
        </p:nvSpPr>
        <p:spPr>
          <a:xfrm>
            <a:off x="672084" y="1819656"/>
            <a:ext cx="2651760" cy="2121408"/>
          </a:xfrm>
          <a:prstGeom prst="roundRect">
            <a:avLst>
              <a:gd name="adj" fmla="val 5000"/>
            </a:avLst>
          </a:prstGeom>
          <a:solidFill>
            <a:srgbClr val="E8ECF8"/>
          </a:solidFill>
          <a:ln>
            <a:noFill/>
          </a:ln>
          <a:effectLst/>
        </p:spPr>
        <p:txBody>
          <a:bodyPr rtlCol="0" anchor="ctr" wrap="square"/>
          <a:lstStyle/>
          <a:p>
            <a:pPr algn="ctr"/>
          </a:p>
        </p:txBody>
      </p:sp>
      <p:sp>
        <p:nvSpPr>
          <p:cNvPr id="13" name="Rounded Rectangle 12"/>
          <p:cNvSpPr/>
          <p:nvPr/>
        </p:nvSpPr>
        <p:spPr>
          <a:xfrm>
            <a:off x="640080" y="1773936"/>
            <a:ext cx="2651760" cy="2121408"/>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pic>
        <p:nvPicPr>
          <p:cNvPr id="14" name="Picture 13" descr="shot_dashboard10.png"/>
          <p:cNvPicPr>
            <a:picLocks noChangeAspect="1"/>
          </p:cNvPicPr>
          <p:nvPr/>
        </p:nvPicPr>
        <p:blipFill>
          <a:blip r:embed="rId3"/>
          <a:srcRect l="431" r="431"/>
          <a:stretch>
            <a:fillRect/>
          </a:stretch>
        </p:blipFill>
        <p:spPr>
          <a:xfrm>
            <a:off x="704088" y="1837943"/>
            <a:ext cx="2523744" cy="1591056"/>
          </a:xfrm>
          <a:prstGeom prst="rect">
            <a:avLst/>
          </a:prstGeom>
          <a:effectLst/>
        </p:spPr>
      </p:pic>
      <p:sp>
        <p:nvSpPr>
          <p:cNvPr id="15" name="Rectangle 14"/>
          <p:cNvSpPr/>
          <p:nvPr/>
        </p:nvSpPr>
        <p:spPr>
          <a:xfrm>
            <a:off x="704088" y="3493008"/>
            <a:ext cx="2523744" cy="25603"/>
          </a:xfrm>
          <a:prstGeom prst="rect">
            <a:avLst/>
          </a:prstGeom>
          <a:solidFill>
            <a:srgbClr val="4F5BD5"/>
          </a:solidFill>
          <a:ln>
            <a:noFill/>
          </a:ln>
          <a:effectLst/>
        </p:spPr>
        <p:txBody>
          <a:bodyPr rtlCol="0" anchor="ctr" wrap="square"/>
          <a:lstStyle/>
          <a:p>
            <a:pPr algn="ctr"/>
          </a:p>
        </p:txBody>
      </p:sp>
      <p:sp>
        <p:nvSpPr>
          <p:cNvPr id="16" name="TextBox 15"/>
          <p:cNvSpPr txBox="1"/>
          <p:nvPr/>
        </p:nvSpPr>
        <p:spPr>
          <a:xfrm>
            <a:off x="731519" y="3493008"/>
            <a:ext cx="2487168" cy="201168"/>
          </a:xfrm>
          <a:prstGeom prst="rect">
            <a:avLst/>
          </a:prstGeom>
          <a:noFill/>
        </p:spPr>
        <p:txBody>
          <a:bodyPr wrap="square" anchor="t" lIns="0" rIns="0" tIns="0" bIns="0">
            <a:noAutofit/>
          </a:bodyPr>
          <a:lstStyle/>
          <a:p>
            <a:pPr algn="l">
              <a:lnSpc>
                <a:spcPct val="112000"/>
              </a:lnSpc>
              <a:spcAft>
                <a:spcPts val="0"/>
              </a:spcAft>
            </a:pPr>
            <a:r>
              <a:rPr sz="1050" b="1" i="0">
                <a:solidFill>
                  <a:srgbClr val="0F172A"/>
                </a:solidFill>
                <a:latin typeface="Segoe UI"/>
              </a:rPr>
              <a:t>Dashboard</a:t>
            </a:r>
          </a:p>
        </p:txBody>
      </p:sp>
      <p:sp>
        <p:nvSpPr>
          <p:cNvPr id="17" name="TextBox 16"/>
          <p:cNvSpPr txBox="1"/>
          <p:nvPr/>
        </p:nvSpPr>
        <p:spPr>
          <a:xfrm>
            <a:off x="731519" y="3694176"/>
            <a:ext cx="2487168" cy="182880"/>
          </a:xfrm>
          <a:prstGeom prst="rect">
            <a:avLst/>
          </a:prstGeom>
          <a:noFill/>
        </p:spPr>
        <p:txBody>
          <a:bodyPr wrap="square" anchor="t" lIns="0" rIns="0" tIns="0" bIns="0">
            <a:noAutofit/>
          </a:bodyPr>
          <a:lstStyle/>
          <a:p>
            <a:pPr algn="l">
              <a:lnSpc>
                <a:spcPct val="112000"/>
              </a:lnSpc>
              <a:spcAft>
                <a:spcPts val="0"/>
              </a:spcAft>
            </a:pPr>
            <a:r>
              <a:rPr sz="860" b="0" i="0">
                <a:solidFill>
                  <a:srgbClr val="7C8AA3"/>
                </a:solidFill>
                <a:latin typeface="Segoe UI"/>
              </a:rPr>
              <a:t>subjects + question banks</a:t>
            </a:r>
          </a:p>
        </p:txBody>
      </p:sp>
      <p:sp>
        <p:nvSpPr>
          <p:cNvPr id="18" name="Rounded Rectangle 17"/>
          <p:cNvSpPr/>
          <p:nvPr/>
        </p:nvSpPr>
        <p:spPr>
          <a:xfrm>
            <a:off x="3424428" y="1819656"/>
            <a:ext cx="2651760" cy="2121408"/>
          </a:xfrm>
          <a:prstGeom prst="roundRect">
            <a:avLst>
              <a:gd name="adj" fmla="val 5000"/>
            </a:avLst>
          </a:prstGeom>
          <a:solidFill>
            <a:srgbClr val="E8ECF8"/>
          </a:solidFill>
          <a:ln>
            <a:noFill/>
          </a:ln>
          <a:effectLst/>
        </p:spPr>
        <p:txBody>
          <a:bodyPr rtlCol="0" anchor="ctr" wrap="square"/>
          <a:lstStyle/>
          <a:p>
            <a:pPr algn="ctr"/>
          </a:p>
        </p:txBody>
      </p:sp>
      <p:sp>
        <p:nvSpPr>
          <p:cNvPr id="19" name="Rounded Rectangle 18"/>
          <p:cNvSpPr/>
          <p:nvPr/>
        </p:nvSpPr>
        <p:spPr>
          <a:xfrm>
            <a:off x="3392424" y="1773936"/>
            <a:ext cx="2651760" cy="2121408"/>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pic>
        <p:nvPicPr>
          <p:cNvPr id="20" name="Picture 19" descr="roadmap-light.png"/>
          <p:cNvPicPr>
            <a:picLocks noChangeAspect="1"/>
          </p:cNvPicPr>
          <p:nvPr/>
        </p:nvPicPr>
        <p:blipFill>
          <a:blip r:embed="rId4"/>
          <a:srcRect l="431" r="431"/>
          <a:stretch>
            <a:fillRect/>
          </a:stretch>
        </p:blipFill>
        <p:spPr>
          <a:xfrm>
            <a:off x="3456432" y="1837943"/>
            <a:ext cx="2523744" cy="1591056"/>
          </a:xfrm>
          <a:prstGeom prst="rect">
            <a:avLst/>
          </a:prstGeom>
          <a:effectLst/>
        </p:spPr>
      </p:pic>
      <p:sp>
        <p:nvSpPr>
          <p:cNvPr id="21" name="Rectangle 20"/>
          <p:cNvSpPr/>
          <p:nvPr/>
        </p:nvSpPr>
        <p:spPr>
          <a:xfrm>
            <a:off x="3456432" y="3493008"/>
            <a:ext cx="2523744" cy="25603"/>
          </a:xfrm>
          <a:prstGeom prst="rect">
            <a:avLst/>
          </a:prstGeom>
          <a:solidFill>
            <a:srgbClr val="0EA5E9"/>
          </a:solidFill>
          <a:ln>
            <a:noFill/>
          </a:ln>
          <a:effectLst/>
        </p:spPr>
        <p:txBody>
          <a:bodyPr rtlCol="0" anchor="ctr" wrap="square"/>
          <a:lstStyle/>
          <a:p>
            <a:pPr algn="ctr"/>
          </a:p>
        </p:txBody>
      </p:sp>
      <p:sp>
        <p:nvSpPr>
          <p:cNvPr id="22" name="TextBox 21"/>
          <p:cNvSpPr txBox="1"/>
          <p:nvPr/>
        </p:nvSpPr>
        <p:spPr>
          <a:xfrm>
            <a:off x="3483864" y="3493008"/>
            <a:ext cx="2487168" cy="201168"/>
          </a:xfrm>
          <a:prstGeom prst="rect">
            <a:avLst/>
          </a:prstGeom>
          <a:noFill/>
        </p:spPr>
        <p:txBody>
          <a:bodyPr wrap="square" anchor="t" lIns="0" rIns="0" tIns="0" bIns="0">
            <a:noAutofit/>
          </a:bodyPr>
          <a:lstStyle/>
          <a:p>
            <a:pPr algn="l">
              <a:lnSpc>
                <a:spcPct val="112000"/>
              </a:lnSpc>
              <a:spcAft>
                <a:spcPts val="0"/>
              </a:spcAft>
            </a:pPr>
            <a:r>
              <a:rPr sz="1050" b="1" i="0">
                <a:solidFill>
                  <a:srgbClr val="0F172A"/>
                </a:solidFill>
                <a:latin typeface="Segoe UI"/>
              </a:rPr>
              <a:t>Skill roadmap</a:t>
            </a:r>
          </a:p>
        </p:txBody>
      </p:sp>
      <p:sp>
        <p:nvSpPr>
          <p:cNvPr id="23" name="TextBox 22"/>
          <p:cNvSpPr txBox="1"/>
          <p:nvPr/>
        </p:nvSpPr>
        <p:spPr>
          <a:xfrm>
            <a:off x="3483864" y="3694176"/>
            <a:ext cx="2487168" cy="182880"/>
          </a:xfrm>
          <a:prstGeom prst="rect">
            <a:avLst/>
          </a:prstGeom>
          <a:noFill/>
        </p:spPr>
        <p:txBody>
          <a:bodyPr wrap="square" anchor="t" lIns="0" rIns="0" tIns="0" bIns="0">
            <a:noAutofit/>
          </a:bodyPr>
          <a:lstStyle/>
          <a:p>
            <a:pPr algn="l">
              <a:lnSpc>
                <a:spcPct val="112000"/>
              </a:lnSpc>
              <a:spcAft>
                <a:spcPts val="0"/>
              </a:spcAft>
            </a:pPr>
            <a:r>
              <a:rPr sz="860" b="0" i="0">
                <a:solidFill>
                  <a:srgbClr val="7C8AA3"/>
                </a:solidFill>
                <a:latin typeface="Segoe UI"/>
              </a:rPr>
              <a:t>91 roadmaps, progress saved</a:t>
            </a:r>
          </a:p>
        </p:txBody>
      </p:sp>
      <p:sp>
        <p:nvSpPr>
          <p:cNvPr id="24" name="Rounded Rectangle 23"/>
          <p:cNvSpPr/>
          <p:nvPr/>
        </p:nvSpPr>
        <p:spPr>
          <a:xfrm>
            <a:off x="6176772" y="1819656"/>
            <a:ext cx="2651760" cy="2121408"/>
          </a:xfrm>
          <a:prstGeom prst="roundRect">
            <a:avLst>
              <a:gd name="adj" fmla="val 5000"/>
            </a:avLst>
          </a:prstGeom>
          <a:solidFill>
            <a:srgbClr val="E8ECF8"/>
          </a:solidFill>
          <a:ln>
            <a:noFill/>
          </a:ln>
          <a:effectLst/>
        </p:spPr>
        <p:txBody>
          <a:bodyPr rtlCol="0" anchor="ctr" wrap="square"/>
          <a:lstStyle/>
          <a:p>
            <a:pPr algn="ctr"/>
          </a:p>
        </p:txBody>
      </p:sp>
      <p:sp>
        <p:nvSpPr>
          <p:cNvPr id="25" name="Rounded Rectangle 24"/>
          <p:cNvSpPr/>
          <p:nvPr/>
        </p:nvSpPr>
        <p:spPr>
          <a:xfrm>
            <a:off x="6144768" y="1773936"/>
            <a:ext cx="2651760" cy="2121408"/>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pic>
        <p:nvPicPr>
          <p:cNvPr id="26" name="Picture 25" descr="coding-light.png"/>
          <p:cNvPicPr>
            <a:picLocks noChangeAspect="1"/>
          </p:cNvPicPr>
          <p:nvPr/>
        </p:nvPicPr>
        <p:blipFill>
          <a:blip r:embed="rId5"/>
          <a:srcRect l="431" r="431"/>
          <a:stretch>
            <a:fillRect/>
          </a:stretch>
        </p:blipFill>
        <p:spPr>
          <a:xfrm>
            <a:off x="6208776" y="1837943"/>
            <a:ext cx="2523744" cy="1591056"/>
          </a:xfrm>
          <a:prstGeom prst="rect">
            <a:avLst/>
          </a:prstGeom>
          <a:effectLst/>
        </p:spPr>
      </p:pic>
      <p:sp>
        <p:nvSpPr>
          <p:cNvPr id="27" name="Rectangle 26"/>
          <p:cNvSpPr/>
          <p:nvPr/>
        </p:nvSpPr>
        <p:spPr>
          <a:xfrm>
            <a:off x="6208776" y="3493008"/>
            <a:ext cx="2523744" cy="25603"/>
          </a:xfrm>
          <a:prstGeom prst="rect">
            <a:avLst/>
          </a:prstGeom>
          <a:solidFill>
            <a:srgbClr val="10B981"/>
          </a:solidFill>
          <a:ln>
            <a:noFill/>
          </a:ln>
          <a:effectLst/>
        </p:spPr>
        <p:txBody>
          <a:bodyPr rtlCol="0" anchor="ctr" wrap="square"/>
          <a:lstStyle/>
          <a:p>
            <a:pPr algn="ctr"/>
          </a:p>
        </p:txBody>
      </p:sp>
      <p:sp>
        <p:nvSpPr>
          <p:cNvPr id="28" name="TextBox 27"/>
          <p:cNvSpPr txBox="1"/>
          <p:nvPr/>
        </p:nvSpPr>
        <p:spPr>
          <a:xfrm>
            <a:off x="6236207" y="3493008"/>
            <a:ext cx="2487168" cy="201168"/>
          </a:xfrm>
          <a:prstGeom prst="rect">
            <a:avLst/>
          </a:prstGeom>
          <a:noFill/>
        </p:spPr>
        <p:txBody>
          <a:bodyPr wrap="square" anchor="t" lIns="0" rIns="0" tIns="0" bIns="0">
            <a:noAutofit/>
          </a:bodyPr>
          <a:lstStyle/>
          <a:p>
            <a:pPr algn="l">
              <a:lnSpc>
                <a:spcPct val="112000"/>
              </a:lnSpc>
              <a:spcAft>
                <a:spcPts val="0"/>
              </a:spcAft>
            </a:pPr>
            <a:r>
              <a:rPr sz="1050" b="1" i="0">
                <a:solidFill>
                  <a:srgbClr val="0F172A"/>
                </a:solidFill>
                <a:latin typeface="Segoe UI"/>
              </a:rPr>
              <a:t>Coding practice</a:t>
            </a:r>
          </a:p>
        </p:txBody>
      </p:sp>
      <p:sp>
        <p:nvSpPr>
          <p:cNvPr id="29" name="TextBox 28"/>
          <p:cNvSpPr txBox="1"/>
          <p:nvPr/>
        </p:nvSpPr>
        <p:spPr>
          <a:xfrm>
            <a:off x="6236207" y="3694176"/>
            <a:ext cx="2487168" cy="182880"/>
          </a:xfrm>
          <a:prstGeom prst="rect">
            <a:avLst/>
          </a:prstGeom>
          <a:noFill/>
        </p:spPr>
        <p:txBody>
          <a:bodyPr wrap="square" anchor="t" lIns="0" rIns="0" tIns="0" bIns="0">
            <a:noAutofit/>
          </a:bodyPr>
          <a:lstStyle/>
          <a:p>
            <a:pPr algn="l">
              <a:lnSpc>
                <a:spcPct val="112000"/>
              </a:lnSpc>
              <a:spcAft>
                <a:spcPts val="0"/>
              </a:spcAft>
            </a:pPr>
            <a:r>
              <a:rPr sz="860" b="0" i="0">
                <a:solidFill>
                  <a:srgbClr val="7C8AA3"/>
                </a:solidFill>
                <a:latin typeface="Segoe UI"/>
              </a:rPr>
              <a:t>Python runs in the browser</a:t>
            </a:r>
          </a:p>
        </p:txBody>
      </p:sp>
      <p:sp>
        <p:nvSpPr>
          <p:cNvPr id="30" name="Rounded Rectangle 29"/>
          <p:cNvSpPr/>
          <p:nvPr/>
        </p:nvSpPr>
        <p:spPr>
          <a:xfrm>
            <a:off x="8929115" y="1819656"/>
            <a:ext cx="2651760" cy="2121408"/>
          </a:xfrm>
          <a:prstGeom prst="roundRect">
            <a:avLst>
              <a:gd name="adj" fmla="val 5000"/>
            </a:avLst>
          </a:prstGeom>
          <a:solidFill>
            <a:srgbClr val="E8ECF8"/>
          </a:solidFill>
          <a:ln>
            <a:noFill/>
          </a:ln>
          <a:effectLst/>
        </p:spPr>
        <p:txBody>
          <a:bodyPr rtlCol="0" anchor="ctr" wrap="square"/>
          <a:lstStyle/>
          <a:p>
            <a:pPr algn="ctr"/>
          </a:p>
        </p:txBody>
      </p:sp>
      <p:sp>
        <p:nvSpPr>
          <p:cNvPr id="31" name="Rounded Rectangle 30"/>
          <p:cNvSpPr/>
          <p:nvPr/>
        </p:nvSpPr>
        <p:spPr>
          <a:xfrm>
            <a:off x="8897111" y="1773936"/>
            <a:ext cx="2651760" cy="2121408"/>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pic>
        <p:nvPicPr>
          <p:cNvPr id="32" name="Picture 31" descr="placement-light.png"/>
          <p:cNvPicPr>
            <a:picLocks noChangeAspect="1"/>
          </p:cNvPicPr>
          <p:nvPr/>
        </p:nvPicPr>
        <p:blipFill>
          <a:blip r:embed="rId6"/>
          <a:srcRect l="431" r="431"/>
          <a:stretch>
            <a:fillRect/>
          </a:stretch>
        </p:blipFill>
        <p:spPr>
          <a:xfrm>
            <a:off x="8961119" y="1837943"/>
            <a:ext cx="2523744" cy="1591056"/>
          </a:xfrm>
          <a:prstGeom prst="rect">
            <a:avLst/>
          </a:prstGeom>
          <a:effectLst/>
        </p:spPr>
      </p:pic>
      <p:sp>
        <p:nvSpPr>
          <p:cNvPr id="33" name="Rectangle 32"/>
          <p:cNvSpPr/>
          <p:nvPr/>
        </p:nvSpPr>
        <p:spPr>
          <a:xfrm>
            <a:off x="8961119" y="3493008"/>
            <a:ext cx="2523744" cy="25603"/>
          </a:xfrm>
          <a:prstGeom prst="rect">
            <a:avLst/>
          </a:prstGeom>
          <a:solidFill>
            <a:srgbClr val="F59E0B"/>
          </a:solidFill>
          <a:ln>
            <a:noFill/>
          </a:ln>
          <a:effectLst/>
        </p:spPr>
        <p:txBody>
          <a:bodyPr rtlCol="0" anchor="ctr" wrap="square"/>
          <a:lstStyle/>
          <a:p>
            <a:pPr algn="ctr"/>
          </a:p>
        </p:txBody>
      </p:sp>
      <p:sp>
        <p:nvSpPr>
          <p:cNvPr id="34" name="TextBox 33"/>
          <p:cNvSpPr txBox="1"/>
          <p:nvPr/>
        </p:nvSpPr>
        <p:spPr>
          <a:xfrm>
            <a:off x="8988551" y="3493008"/>
            <a:ext cx="2487168" cy="201168"/>
          </a:xfrm>
          <a:prstGeom prst="rect">
            <a:avLst/>
          </a:prstGeom>
          <a:noFill/>
        </p:spPr>
        <p:txBody>
          <a:bodyPr wrap="square" anchor="t" lIns="0" rIns="0" tIns="0" bIns="0">
            <a:noAutofit/>
          </a:bodyPr>
          <a:lstStyle/>
          <a:p>
            <a:pPr algn="l">
              <a:lnSpc>
                <a:spcPct val="112000"/>
              </a:lnSpc>
              <a:spcAft>
                <a:spcPts val="0"/>
              </a:spcAft>
            </a:pPr>
            <a:r>
              <a:rPr sz="1050" b="1" i="0">
                <a:solidFill>
                  <a:srgbClr val="0F172A"/>
                </a:solidFill>
                <a:latin typeface="Segoe UI"/>
              </a:rPr>
              <a:t>Placement prep</a:t>
            </a:r>
          </a:p>
        </p:txBody>
      </p:sp>
      <p:sp>
        <p:nvSpPr>
          <p:cNvPr id="35" name="TextBox 34"/>
          <p:cNvSpPr txBox="1"/>
          <p:nvPr/>
        </p:nvSpPr>
        <p:spPr>
          <a:xfrm>
            <a:off x="8988551" y="3694176"/>
            <a:ext cx="2487168" cy="182880"/>
          </a:xfrm>
          <a:prstGeom prst="rect">
            <a:avLst/>
          </a:prstGeom>
          <a:noFill/>
        </p:spPr>
        <p:txBody>
          <a:bodyPr wrap="square" anchor="t" lIns="0" rIns="0" tIns="0" bIns="0">
            <a:noAutofit/>
          </a:bodyPr>
          <a:lstStyle/>
          <a:p>
            <a:pPr algn="l">
              <a:lnSpc>
                <a:spcPct val="112000"/>
              </a:lnSpc>
              <a:spcAft>
                <a:spcPts val="0"/>
              </a:spcAft>
            </a:pPr>
            <a:r>
              <a:rPr sz="860" b="0" i="0">
                <a:solidFill>
                  <a:srgbClr val="7C8AA3"/>
                </a:solidFill>
                <a:latin typeface="Segoe UI"/>
              </a:rPr>
              <a:t>aptitude, technical, HR</a:t>
            </a:r>
          </a:p>
        </p:txBody>
      </p:sp>
      <p:sp>
        <p:nvSpPr>
          <p:cNvPr id="36" name="Rounded Rectangle 35"/>
          <p:cNvSpPr/>
          <p:nvPr/>
        </p:nvSpPr>
        <p:spPr>
          <a:xfrm>
            <a:off x="672084" y="4160520"/>
            <a:ext cx="10908792" cy="731520"/>
          </a:xfrm>
          <a:prstGeom prst="roundRect">
            <a:avLst>
              <a:gd name="adj" fmla="val 5000"/>
            </a:avLst>
          </a:prstGeom>
          <a:solidFill>
            <a:srgbClr val="E8ECF8"/>
          </a:solidFill>
          <a:ln>
            <a:noFill/>
          </a:ln>
          <a:effectLst/>
        </p:spPr>
        <p:txBody>
          <a:bodyPr rtlCol="0" anchor="ctr" wrap="square"/>
          <a:lstStyle/>
          <a:p>
            <a:pPr algn="ctr"/>
          </a:p>
        </p:txBody>
      </p:sp>
      <p:sp>
        <p:nvSpPr>
          <p:cNvPr id="37" name="Rounded Rectangle 36"/>
          <p:cNvSpPr/>
          <p:nvPr/>
        </p:nvSpPr>
        <p:spPr>
          <a:xfrm>
            <a:off x="640080" y="4114800"/>
            <a:ext cx="10908792" cy="731520"/>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38" name="Rounded Rectangle 37"/>
          <p:cNvSpPr/>
          <p:nvPr/>
        </p:nvSpPr>
        <p:spPr>
          <a:xfrm>
            <a:off x="640080" y="4114800"/>
            <a:ext cx="64008" cy="731520"/>
          </a:xfrm>
          <a:prstGeom prst="roundRect">
            <a:avLst>
              <a:gd name="adj" fmla="val 5000"/>
            </a:avLst>
          </a:prstGeom>
          <a:solidFill>
            <a:srgbClr val="4F5BD5"/>
          </a:solidFill>
          <a:ln>
            <a:noFill/>
          </a:ln>
          <a:effectLst/>
        </p:spPr>
        <p:txBody>
          <a:bodyPr rtlCol="0" anchor="ctr" wrap="square"/>
          <a:lstStyle/>
          <a:p>
            <a:pPr algn="ctr"/>
          </a:p>
        </p:txBody>
      </p:sp>
      <p:sp>
        <p:nvSpPr>
          <p:cNvPr id="39" name="TextBox 38"/>
          <p:cNvSpPr txBox="1"/>
          <p:nvPr/>
        </p:nvSpPr>
        <p:spPr>
          <a:xfrm>
            <a:off x="868680" y="4206240"/>
            <a:ext cx="2011680" cy="182880"/>
          </a:xfrm>
          <a:prstGeom prst="rect">
            <a:avLst/>
          </a:prstGeom>
          <a:noFill/>
        </p:spPr>
        <p:txBody>
          <a:bodyPr wrap="square" anchor="t" lIns="0" rIns="0" tIns="0" bIns="0">
            <a:noAutofit/>
          </a:bodyPr>
          <a:lstStyle/>
          <a:p>
            <a:pPr algn="l">
              <a:lnSpc>
                <a:spcPct val="112000"/>
              </a:lnSpc>
              <a:spcAft>
                <a:spcPts val="0"/>
              </a:spcAft>
            </a:pPr>
            <a:r>
              <a:rPr sz="800" b="1" i="0">
                <a:solidFill>
                  <a:srgbClr val="4F5BD5"/>
                </a:solidFill>
                <a:latin typeface="Segoe UI"/>
              </a:rPr>
              <a:t>THE QUESTION</a:t>
            </a:r>
          </a:p>
        </p:txBody>
      </p:sp>
      <p:sp>
        <p:nvSpPr>
          <p:cNvPr id="40" name="TextBox 39"/>
          <p:cNvSpPr txBox="1"/>
          <p:nvPr/>
        </p:nvSpPr>
        <p:spPr>
          <a:xfrm>
            <a:off x="868680" y="4379976"/>
            <a:ext cx="10241280" cy="365760"/>
          </a:xfrm>
          <a:prstGeom prst="rect">
            <a:avLst/>
          </a:prstGeom>
          <a:noFill/>
        </p:spPr>
        <p:txBody>
          <a:bodyPr wrap="square" anchor="t" lIns="0" rIns="0" tIns="0" bIns="0">
            <a:noAutofit/>
          </a:bodyPr>
          <a:lstStyle/>
          <a:p>
            <a:pPr algn="l">
              <a:lnSpc>
                <a:spcPct val="112000"/>
              </a:lnSpc>
              <a:spcAft>
                <a:spcPts val="0"/>
              </a:spcAft>
            </a:pPr>
            <a:r>
              <a:rPr sz="2100" b="1" i="0">
                <a:solidFill>
                  <a:srgbClr val="0F172A"/>
                </a:solidFill>
                <a:latin typeface="Segoe UI"/>
              </a:rPr>
              <a:t>Can a student's own activity produce the next study plan?</a:t>
            </a:r>
          </a:p>
        </p:txBody>
      </p:sp>
      <p:sp>
        <p:nvSpPr>
          <p:cNvPr id="41" name="Rounded Rectangle 40"/>
          <p:cNvSpPr/>
          <p:nvPr/>
        </p:nvSpPr>
        <p:spPr>
          <a:xfrm>
            <a:off x="672084" y="5120640"/>
            <a:ext cx="3520440" cy="1097280"/>
          </a:xfrm>
          <a:prstGeom prst="roundRect">
            <a:avLst>
              <a:gd name="adj" fmla="val 5000"/>
            </a:avLst>
          </a:prstGeom>
          <a:solidFill>
            <a:srgbClr val="E8ECF8"/>
          </a:solidFill>
          <a:ln>
            <a:noFill/>
          </a:ln>
          <a:effectLst/>
        </p:spPr>
        <p:txBody>
          <a:bodyPr rtlCol="0" anchor="ctr" wrap="square"/>
          <a:lstStyle/>
          <a:p>
            <a:pPr algn="ctr"/>
          </a:p>
        </p:txBody>
      </p:sp>
      <p:sp>
        <p:nvSpPr>
          <p:cNvPr id="42" name="Rounded Rectangle 41"/>
          <p:cNvSpPr/>
          <p:nvPr/>
        </p:nvSpPr>
        <p:spPr>
          <a:xfrm>
            <a:off x="640080" y="5074920"/>
            <a:ext cx="3520440" cy="1097280"/>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43" name="Rounded Rectangle 42"/>
          <p:cNvSpPr/>
          <p:nvPr/>
        </p:nvSpPr>
        <p:spPr>
          <a:xfrm>
            <a:off x="804671" y="5212080"/>
            <a:ext cx="91440" cy="91440"/>
          </a:xfrm>
          <a:prstGeom prst="roundRect">
            <a:avLst>
              <a:gd name="adj" fmla="val 50000"/>
            </a:avLst>
          </a:prstGeom>
          <a:solidFill>
            <a:srgbClr val="0EA5E9"/>
          </a:solidFill>
          <a:ln>
            <a:noFill/>
          </a:ln>
          <a:effectLst/>
        </p:spPr>
        <p:txBody>
          <a:bodyPr rtlCol="0" anchor="ctr" wrap="square"/>
          <a:lstStyle/>
          <a:p>
            <a:pPr algn="ctr"/>
          </a:p>
        </p:txBody>
      </p:sp>
      <p:sp>
        <p:nvSpPr>
          <p:cNvPr id="44" name="TextBox 43"/>
          <p:cNvSpPr txBox="1"/>
          <p:nvPr/>
        </p:nvSpPr>
        <p:spPr>
          <a:xfrm>
            <a:off x="969264" y="5148072"/>
            <a:ext cx="3017520" cy="219456"/>
          </a:xfrm>
          <a:prstGeom prst="rect">
            <a:avLst/>
          </a:prstGeom>
          <a:noFill/>
        </p:spPr>
        <p:txBody>
          <a:bodyPr wrap="square" anchor="t" lIns="0" rIns="0" tIns="0" bIns="0">
            <a:noAutofit/>
          </a:bodyPr>
          <a:lstStyle/>
          <a:p>
            <a:pPr algn="l">
              <a:lnSpc>
                <a:spcPct val="112000"/>
              </a:lnSpc>
              <a:spcAft>
                <a:spcPts val="0"/>
              </a:spcAft>
            </a:pPr>
            <a:r>
              <a:rPr sz="1240" b="1" i="0">
                <a:solidFill>
                  <a:srgbClr val="0F172A"/>
                </a:solidFill>
                <a:latin typeface="Segoe UI"/>
              </a:rPr>
              <a:t>One workspace</a:t>
            </a:r>
          </a:p>
        </p:txBody>
      </p:sp>
      <p:sp>
        <p:nvSpPr>
          <p:cNvPr id="45" name="TextBox 44"/>
          <p:cNvSpPr txBox="1"/>
          <p:nvPr/>
        </p:nvSpPr>
        <p:spPr>
          <a:xfrm>
            <a:off x="969264" y="5394960"/>
            <a:ext cx="3017520" cy="658368"/>
          </a:xfrm>
          <a:prstGeom prst="rect">
            <a:avLst/>
          </a:prstGeom>
          <a:noFill/>
        </p:spPr>
        <p:txBody>
          <a:bodyPr wrap="square" anchor="t" lIns="0" rIns="0" tIns="0" bIns="0">
            <a:noAutofit/>
          </a:bodyPr>
          <a:lstStyle/>
          <a:p>
            <a:pPr algn="l">
              <a:lnSpc>
                <a:spcPct val="118000"/>
              </a:lnSpc>
              <a:spcAft>
                <a:spcPts val="0"/>
              </a:spcAft>
            </a:pPr>
            <a:r>
              <a:rPr sz="940" b="0" i="0">
                <a:solidFill>
                  <a:srgbClr val="7C8AA3"/>
                </a:solidFill>
                <a:latin typeface="Segoe UI"/>
              </a:rPr>
              <a:t>Notes, deadlines, tests and progress stop living in different apps.</a:t>
            </a:r>
          </a:p>
        </p:txBody>
      </p:sp>
      <p:sp>
        <p:nvSpPr>
          <p:cNvPr id="46" name="Rounded Rectangle 45"/>
          <p:cNvSpPr/>
          <p:nvPr/>
        </p:nvSpPr>
        <p:spPr>
          <a:xfrm>
            <a:off x="4366260" y="5120640"/>
            <a:ext cx="3520440" cy="1097280"/>
          </a:xfrm>
          <a:prstGeom prst="roundRect">
            <a:avLst>
              <a:gd name="adj" fmla="val 5000"/>
            </a:avLst>
          </a:prstGeom>
          <a:solidFill>
            <a:srgbClr val="E8ECF8"/>
          </a:solidFill>
          <a:ln>
            <a:noFill/>
          </a:ln>
          <a:effectLst/>
        </p:spPr>
        <p:txBody>
          <a:bodyPr rtlCol="0" anchor="ctr" wrap="square"/>
          <a:lstStyle/>
          <a:p>
            <a:pPr algn="ctr"/>
          </a:p>
        </p:txBody>
      </p:sp>
      <p:sp>
        <p:nvSpPr>
          <p:cNvPr id="47" name="Rounded Rectangle 46"/>
          <p:cNvSpPr/>
          <p:nvPr/>
        </p:nvSpPr>
        <p:spPr>
          <a:xfrm>
            <a:off x="4334256" y="5074920"/>
            <a:ext cx="3520440" cy="1097280"/>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48" name="Rounded Rectangle 47"/>
          <p:cNvSpPr/>
          <p:nvPr/>
        </p:nvSpPr>
        <p:spPr>
          <a:xfrm>
            <a:off x="4498848" y="5212080"/>
            <a:ext cx="91440" cy="91440"/>
          </a:xfrm>
          <a:prstGeom prst="roundRect">
            <a:avLst>
              <a:gd name="adj" fmla="val 50000"/>
            </a:avLst>
          </a:prstGeom>
          <a:solidFill>
            <a:srgbClr val="4F5BD5"/>
          </a:solidFill>
          <a:ln>
            <a:noFill/>
          </a:ln>
          <a:effectLst/>
        </p:spPr>
        <p:txBody>
          <a:bodyPr rtlCol="0" anchor="ctr" wrap="square"/>
          <a:lstStyle/>
          <a:p>
            <a:pPr algn="ctr"/>
          </a:p>
        </p:txBody>
      </p:sp>
      <p:sp>
        <p:nvSpPr>
          <p:cNvPr id="49" name="TextBox 48"/>
          <p:cNvSpPr txBox="1"/>
          <p:nvPr/>
        </p:nvSpPr>
        <p:spPr>
          <a:xfrm>
            <a:off x="4663440" y="5148072"/>
            <a:ext cx="3017520" cy="219456"/>
          </a:xfrm>
          <a:prstGeom prst="rect">
            <a:avLst/>
          </a:prstGeom>
          <a:noFill/>
        </p:spPr>
        <p:txBody>
          <a:bodyPr wrap="square" anchor="t" lIns="0" rIns="0" tIns="0" bIns="0">
            <a:noAutofit/>
          </a:bodyPr>
          <a:lstStyle/>
          <a:p>
            <a:pPr algn="l">
              <a:lnSpc>
                <a:spcPct val="112000"/>
              </a:lnSpc>
              <a:spcAft>
                <a:spcPts val="0"/>
              </a:spcAft>
            </a:pPr>
            <a:r>
              <a:rPr sz="1240" b="1" i="0">
                <a:solidFill>
                  <a:srgbClr val="0F172A"/>
                </a:solidFill>
                <a:latin typeface="Segoe UI"/>
              </a:rPr>
              <a:t>Evidence, not guesswork</a:t>
            </a:r>
          </a:p>
        </p:txBody>
      </p:sp>
      <p:sp>
        <p:nvSpPr>
          <p:cNvPr id="50" name="TextBox 49"/>
          <p:cNvSpPr txBox="1"/>
          <p:nvPr/>
        </p:nvSpPr>
        <p:spPr>
          <a:xfrm>
            <a:off x="4663440" y="5394960"/>
            <a:ext cx="3017520" cy="658368"/>
          </a:xfrm>
          <a:prstGeom prst="rect">
            <a:avLst/>
          </a:prstGeom>
          <a:noFill/>
        </p:spPr>
        <p:txBody>
          <a:bodyPr wrap="square" anchor="t" lIns="0" rIns="0" tIns="0" bIns="0">
            <a:noAutofit/>
          </a:bodyPr>
          <a:lstStyle/>
          <a:p>
            <a:pPr algn="l">
              <a:lnSpc>
                <a:spcPct val="118000"/>
              </a:lnSpc>
              <a:spcAft>
                <a:spcPts val="0"/>
              </a:spcAft>
            </a:pPr>
            <a:r>
              <a:rPr sz="940" b="0" i="0">
                <a:solidFill>
                  <a:srgbClr val="7C8AA3"/>
                </a:solidFill>
                <a:latin typeface="Segoe UI"/>
              </a:rPr>
              <a:t>Study activity updates a weakness score that shows what to revisit next.</a:t>
            </a:r>
          </a:p>
        </p:txBody>
      </p:sp>
      <p:sp>
        <p:nvSpPr>
          <p:cNvPr id="51" name="Rounded Rectangle 50"/>
          <p:cNvSpPr/>
          <p:nvPr/>
        </p:nvSpPr>
        <p:spPr>
          <a:xfrm>
            <a:off x="8060436" y="5120640"/>
            <a:ext cx="3520440" cy="1097280"/>
          </a:xfrm>
          <a:prstGeom prst="roundRect">
            <a:avLst>
              <a:gd name="adj" fmla="val 5000"/>
            </a:avLst>
          </a:prstGeom>
          <a:solidFill>
            <a:srgbClr val="E8ECF8"/>
          </a:solidFill>
          <a:ln>
            <a:noFill/>
          </a:ln>
          <a:effectLst/>
        </p:spPr>
        <p:txBody>
          <a:bodyPr rtlCol="0" anchor="ctr" wrap="square"/>
          <a:lstStyle/>
          <a:p>
            <a:pPr algn="ctr"/>
          </a:p>
        </p:txBody>
      </p:sp>
      <p:sp>
        <p:nvSpPr>
          <p:cNvPr id="52" name="Rounded Rectangle 51"/>
          <p:cNvSpPr/>
          <p:nvPr/>
        </p:nvSpPr>
        <p:spPr>
          <a:xfrm>
            <a:off x="8028431" y="5074920"/>
            <a:ext cx="3520440" cy="1097280"/>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53" name="Rounded Rectangle 52"/>
          <p:cNvSpPr/>
          <p:nvPr/>
        </p:nvSpPr>
        <p:spPr>
          <a:xfrm>
            <a:off x="8193023" y="5212080"/>
            <a:ext cx="91440" cy="91440"/>
          </a:xfrm>
          <a:prstGeom prst="roundRect">
            <a:avLst>
              <a:gd name="adj" fmla="val 50000"/>
            </a:avLst>
          </a:prstGeom>
          <a:solidFill>
            <a:srgbClr val="10B981"/>
          </a:solidFill>
          <a:ln>
            <a:noFill/>
          </a:ln>
          <a:effectLst/>
        </p:spPr>
        <p:txBody>
          <a:bodyPr rtlCol="0" anchor="ctr" wrap="square"/>
          <a:lstStyle/>
          <a:p>
            <a:pPr algn="ctr"/>
          </a:p>
        </p:txBody>
      </p:sp>
      <p:sp>
        <p:nvSpPr>
          <p:cNvPr id="54" name="TextBox 53"/>
          <p:cNvSpPr txBox="1"/>
          <p:nvPr/>
        </p:nvSpPr>
        <p:spPr>
          <a:xfrm>
            <a:off x="8357615" y="5148072"/>
            <a:ext cx="3017520" cy="219456"/>
          </a:xfrm>
          <a:prstGeom prst="rect">
            <a:avLst/>
          </a:prstGeom>
          <a:noFill/>
        </p:spPr>
        <p:txBody>
          <a:bodyPr wrap="square" anchor="t" lIns="0" rIns="0" tIns="0" bIns="0">
            <a:noAutofit/>
          </a:bodyPr>
          <a:lstStyle/>
          <a:p>
            <a:pPr algn="l">
              <a:lnSpc>
                <a:spcPct val="112000"/>
              </a:lnSpc>
              <a:spcAft>
                <a:spcPts val="0"/>
              </a:spcAft>
            </a:pPr>
            <a:r>
              <a:rPr sz="1240" b="1" i="0">
                <a:solidFill>
                  <a:srgbClr val="0F172A"/>
                </a:solidFill>
                <a:latin typeface="Segoe UI"/>
              </a:rPr>
              <a:t>Works offline</a:t>
            </a:r>
          </a:p>
        </p:txBody>
      </p:sp>
      <p:sp>
        <p:nvSpPr>
          <p:cNvPr id="55" name="TextBox 54"/>
          <p:cNvSpPr txBox="1"/>
          <p:nvPr/>
        </p:nvSpPr>
        <p:spPr>
          <a:xfrm>
            <a:off x="8357615" y="5394960"/>
            <a:ext cx="3017520" cy="658368"/>
          </a:xfrm>
          <a:prstGeom prst="rect">
            <a:avLst/>
          </a:prstGeom>
          <a:noFill/>
        </p:spPr>
        <p:txBody>
          <a:bodyPr wrap="square" anchor="t" lIns="0" rIns="0" tIns="0" bIns="0">
            <a:noAutofit/>
          </a:bodyPr>
          <a:lstStyle/>
          <a:p>
            <a:pPr algn="l">
              <a:lnSpc>
                <a:spcPct val="118000"/>
              </a:lnSpc>
              <a:spcAft>
                <a:spcPts val="0"/>
              </a:spcAft>
            </a:pPr>
            <a:r>
              <a:rPr sz="940" b="0" i="0">
                <a:solidFill>
                  <a:srgbClr val="7C8AA3"/>
                </a:solidFill>
                <a:latin typeface="Segoe UI"/>
              </a:rPr>
              <a:t>The core loop runs in the browser; AI and sign-in are optional.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g_aurora.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40080" y="411480"/>
            <a:ext cx="164592" cy="164592"/>
          </a:xfrm>
          <a:prstGeom prst="roundRect">
            <a:avLst>
              <a:gd name="adj" fmla="val 25000"/>
            </a:avLst>
          </a:prstGeom>
          <a:gradFill rotWithShape="1">
            <a:gsLst>
              <a:gs pos="0">
                <a:srgbClr val="0EA5E9"/>
              </a:gs>
              <a:gs pos="100000">
                <a:srgbClr val="4F5BD5"/>
              </a:gs>
            </a:gsLst>
            <a:lin scaled="0" ang="19500000"/>
          </a:gradFill>
          <a:ln>
            <a:noFill/>
          </a:ln>
          <a:effectLst/>
        </p:spPr>
        <p:txBody>
          <a:bodyPr rtlCol="0" anchor="ctr"/>
          <a:lstStyle/>
          <a:p>
            <a:pPr algn="ctr"/>
          </a:p>
        </p:txBody>
      </p:sp>
      <p:sp>
        <p:nvSpPr>
          <p:cNvPr id="4" name="TextBox 3"/>
          <p:cNvSpPr txBox="1"/>
          <p:nvPr/>
        </p:nvSpPr>
        <p:spPr>
          <a:xfrm>
            <a:off x="886968" y="365760"/>
            <a:ext cx="1828800" cy="219456"/>
          </a:xfrm>
          <a:prstGeom prst="rect">
            <a:avLst/>
          </a:prstGeom>
          <a:noFill/>
        </p:spPr>
        <p:txBody>
          <a:bodyPr wrap="square" anchor="t" lIns="0" rIns="0" tIns="0" bIns="0">
            <a:noAutofit/>
          </a:bodyPr>
          <a:lstStyle/>
          <a:p>
            <a:pPr algn="l">
              <a:lnSpc>
                <a:spcPct val="112000"/>
              </a:lnSpc>
              <a:spcAft>
                <a:spcPts val="0"/>
              </a:spcAft>
            </a:pPr>
            <a:r>
              <a:rPr sz="950" b="1" i="0">
                <a:solidFill>
                  <a:srgbClr val="0F172A"/>
                </a:solidFill>
                <a:latin typeface="Segoe UI"/>
              </a:rPr>
              <a:t>StudyMapper</a:t>
            </a:r>
          </a:p>
        </p:txBody>
      </p:sp>
      <p:sp>
        <p:nvSpPr>
          <p:cNvPr id="5" name="TextBox 4"/>
          <p:cNvSpPr txBox="1"/>
          <p:nvPr/>
        </p:nvSpPr>
        <p:spPr>
          <a:xfrm>
            <a:off x="6035040" y="374904"/>
            <a:ext cx="5513832" cy="201168"/>
          </a:xfrm>
          <a:prstGeom prst="rect">
            <a:avLst/>
          </a:prstGeom>
          <a:noFill/>
        </p:spPr>
        <p:txBody>
          <a:bodyPr wrap="square" anchor="t" lIns="0" rIns="0" tIns="0" bIns="0">
            <a:noAutofit/>
          </a:bodyPr>
          <a:lstStyle/>
          <a:p>
            <a:pPr algn="r">
              <a:lnSpc>
                <a:spcPct val="112000"/>
              </a:lnSpc>
              <a:spcAft>
                <a:spcPts val="0"/>
              </a:spcAft>
            </a:pPr>
            <a:r>
              <a:rPr sz="950" b="1" i="0">
                <a:solidFill>
                  <a:srgbClr val="4F5BD5"/>
                </a:solidFill>
                <a:latin typeface="Segoe UI"/>
              </a:rPr>
              <a:t>03 · PROBLEM STATEMENT</a:t>
            </a:r>
          </a:p>
        </p:txBody>
      </p:sp>
      <p:sp>
        <p:nvSpPr>
          <p:cNvPr id="6" name="TextBox 5"/>
          <p:cNvSpPr txBox="1"/>
          <p:nvPr/>
        </p:nvSpPr>
        <p:spPr>
          <a:xfrm>
            <a:off x="640080" y="658368"/>
            <a:ext cx="10908792" cy="566928"/>
          </a:xfrm>
          <a:prstGeom prst="rect">
            <a:avLst/>
          </a:prstGeom>
          <a:noFill/>
        </p:spPr>
        <p:txBody>
          <a:bodyPr wrap="square" anchor="t" lIns="0" rIns="0" tIns="0" bIns="0">
            <a:noAutofit/>
          </a:bodyPr>
          <a:lstStyle/>
          <a:p>
            <a:pPr algn="l">
              <a:lnSpc>
                <a:spcPct val="98000"/>
              </a:lnSpc>
              <a:spcAft>
                <a:spcPts val="0"/>
              </a:spcAft>
            </a:pPr>
            <a:r>
              <a:rPr sz="3300" b="1" i="0">
                <a:solidFill>
                  <a:srgbClr val="0F172A"/>
                </a:solidFill>
                <a:latin typeface="Segoe UI"/>
              </a:rPr>
              <a:t>The gap is response, not content</a:t>
            </a:r>
          </a:p>
        </p:txBody>
      </p:sp>
      <p:sp>
        <p:nvSpPr>
          <p:cNvPr id="7" name="TextBox 6"/>
          <p:cNvSpPr txBox="1"/>
          <p:nvPr/>
        </p:nvSpPr>
        <p:spPr>
          <a:xfrm>
            <a:off x="640080" y="1243584"/>
            <a:ext cx="10469880" cy="438912"/>
          </a:xfrm>
          <a:prstGeom prst="rect">
            <a:avLst/>
          </a:prstGeom>
          <a:noFill/>
        </p:spPr>
        <p:txBody>
          <a:bodyPr wrap="square" anchor="t" lIns="0" rIns="0" tIns="0" bIns="0">
            <a:noAutofit/>
          </a:bodyPr>
          <a:lstStyle/>
          <a:p>
            <a:pPr algn="l">
              <a:lnSpc>
                <a:spcPct val="114000"/>
              </a:lnSpc>
              <a:spcAft>
                <a:spcPts val="0"/>
              </a:spcAft>
            </a:pPr>
            <a:r>
              <a:rPr sz="1450" b="0" i="0">
                <a:solidFill>
                  <a:srgbClr val="475569"/>
                </a:solidFill>
                <a:latin typeface="Segoe UI"/>
              </a:rPr>
              <a:t>Students do not lack material. They lack a system that reacts to their week.</a:t>
            </a:r>
          </a:p>
        </p:txBody>
      </p:sp>
      <p:sp>
        <p:nvSpPr>
          <p:cNvPr id="8" name="Rectangle 7"/>
          <p:cNvSpPr/>
          <p:nvPr/>
        </p:nvSpPr>
        <p:spPr>
          <a:xfrm>
            <a:off x="640080" y="6437376"/>
            <a:ext cx="10908792" cy="7315"/>
          </a:xfrm>
          <a:prstGeom prst="rect">
            <a:avLst/>
          </a:prstGeom>
          <a:solidFill>
            <a:srgbClr val="D5DCEE"/>
          </a:solidFill>
          <a:ln>
            <a:noFill/>
          </a:ln>
          <a:effectLst/>
        </p:spPr>
        <p:txBody>
          <a:bodyPr rtlCol="0" anchor="ctr" wrap="square"/>
          <a:lstStyle/>
          <a:p>
            <a:pPr algn="ctr"/>
          </a:p>
        </p:txBody>
      </p:sp>
      <p:sp>
        <p:nvSpPr>
          <p:cNvPr id="9" name="TextBox 8"/>
          <p:cNvSpPr txBox="1"/>
          <p:nvPr/>
        </p:nvSpPr>
        <p:spPr>
          <a:xfrm>
            <a:off x="640080" y="6519672"/>
            <a:ext cx="7863840" cy="164592"/>
          </a:xfrm>
          <a:prstGeom prst="rect">
            <a:avLst/>
          </a:prstGeom>
          <a:noFill/>
        </p:spPr>
        <p:txBody>
          <a:bodyPr wrap="square" anchor="t" lIns="0" rIns="0" tIns="0" bIns="0">
            <a:noAutofit/>
          </a:bodyPr>
          <a:lstStyle/>
          <a:p>
            <a:pPr algn="l">
              <a:lnSpc>
                <a:spcPct val="112000"/>
              </a:lnSpc>
              <a:spcAft>
                <a:spcPts val="0"/>
              </a:spcAft>
            </a:pPr>
            <a:r>
              <a:rPr sz="800" b="0" i="0">
                <a:solidFill>
                  <a:srgbClr val="7C8AA3"/>
                </a:solidFill>
                <a:latin typeface="Segoe UI"/>
              </a:rPr>
              <a:t>StudyMapper  ·  AI-Driven Personalized Learning &amp; Academic Management</a:t>
            </a:r>
          </a:p>
        </p:txBody>
      </p:sp>
      <p:sp>
        <p:nvSpPr>
          <p:cNvPr id="10" name="TextBox 9"/>
          <p:cNvSpPr txBox="1"/>
          <p:nvPr/>
        </p:nvSpPr>
        <p:spPr>
          <a:xfrm>
            <a:off x="10058400" y="6510528"/>
            <a:ext cx="1490472" cy="182880"/>
          </a:xfrm>
          <a:prstGeom prst="rect">
            <a:avLst/>
          </a:prstGeom>
          <a:noFill/>
        </p:spPr>
        <p:txBody>
          <a:bodyPr wrap="square" anchor="t" lIns="0" rIns="0" tIns="0" bIns="0">
            <a:noAutofit/>
          </a:bodyPr>
          <a:lstStyle/>
          <a:p>
            <a:pPr algn="r">
              <a:lnSpc>
                <a:spcPct val="112000"/>
              </a:lnSpc>
              <a:spcAft>
                <a:spcPts val="0"/>
              </a:spcAft>
            </a:pPr>
            <a:r>
              <a:rPr sz="880" b="1" i="0">
                <a:solidFill>
                  <a:srgbClr val="7C8AA3"/>
                </a:solidFill>
                <a:latin typeface="Segoe UI"/>
              </a:rPr>
              <a:t>04 / 13</a:t>
            </a:r>
          </a:p>
        </p:txBody>
      </p:sp>
      <p:sp>
        <p:nvSpPr>
          <p:cNvPr id="11" name="Rounded Rectangle 10"/>
          <p:cNvSpPr/>
          <p:nvPr/>
        </p:nvSpPr>
        <p:spPr>
          <a:xfrm>
            <a:off x="672084" y="1801368"/>
            <a:ext cx="6675120" cy="1097280"/>
          </a:xfrm>
          <a:prstGeom prst="roundRect">
            <a:avLst>
              <a:gd name="adj" fmla="val 5000"/>
            </a:avLst>
          </a:prstGeom>
          <a:solidFill>
            <a:srgbClr val="E8ECF8"/>
          </a:solidFill>
          <a:ln>
            <a:noFill/>
          </a:ln>
          <a:effectLst/>
        </p:spPr>
        <p:txBody>
          <a:bodyPr rtlCol="0" anchor="ctr" wrap="square"/>
          <a:lstStyle/>
          <a:p>
            <a:pPr algn="ctr"/>
          </a:p>
        </p:txBody>
      </p:sp>
      <p:sp>
        <p:nvSpPr>
          <p:cNvPr id="12" name="Rounded Rectangle 11"/>
          <p:cNvSpPr/>
          <p:nvPr/>
        </p:nvSpPr>
        <p:spPr>
          <a:xfrm>
            <a:off x="640080" y="1755648"/>
            <a:ext cx="6675120" cy="1097280"/>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13" name="Oval 12"/>
          <p:cNvSpPr/>
          <p:nvPr/>
        </p:nvSpPr>
        <p:spPr>
          <a:xfrm>
            <a:off x="841248" y="1920240"/>
            <a:ext cx="347472" cy="347472"/>
          </a:xfrm>
          <a:prstGeom prst="ellipse">
            <a:avLst/>
          </a:prstGeom>
          <a:solidFill>
            <a:srgbClr val="FEECEC"/>
          </a:solidFill>
          <a:ln>
            <a:noFill/>
          </a:ln>
          <a:effectLst/>
        </p:spPr>
        <p:txBody>
          <a:bodyPr rtlCol="0" anchor="ctr" lIns="0" rIns="0" tIns="0" bIns="0"/>
          <a:lstStyle/>
          <a:p>
            <a:pPr algn="ctr"/>
            <a:r>
              <a:rPr sz="900" b="1">
                <a:solidFill>
                  <a:srgbClr val="EF4444"/>
                </a:solidFill>
                <a:latin typeface="Segoe UI"/>
              </a:rPr>
              <a:t>01</a:t>
            </a:r>
          </a:p>
        </p:txBody>
      </p:sp>
      <p:sp>
        <p:nvSpPr>
          <p:cNvPr id="14" name="TextBox 13"/>
          <p:cNvSpPr txBox="1"/>
          <p:nvPr/>
        </p:nvSpPr>
        <p:spPr>
          <a:xfrm>
            <a:off x="1316736" y="1865376"/>
            <a:ext cx="4572000" cy="237744"/>
          </a:xfrm>
          <a:prstGeom prst="rect">
            <a:avLst/>
          </a:prstGeom>
          <a:noFill/>
        </p:spPr>
        <p:txBody>
          <a:bodyPr wrap="square" anchor="t" lIns="0" rIns="0" tIns="0" bIns="0">
            <a:noAutofit/>
          </a:bodyPr>
          <a:lstStyle/>
          <a:p>
            <a:pPr algn="l">
              <a:lnSpc>
                <a:spcPct val="112000"/>
              </a:lnSpc>
              <a:spcAft>
                <a:spcPts val="0"/>
              </a:spcAft>
            </a:pPr>
            <a:r>
              <a:rPr sz="1550" b="1" i="0">
                <a:solidFill>
                  <a:srgbClr val="0F172A"/>
                </a:solidFill>
                <a:latin typeface="Segoe UI"/>
              </a:rPr>
              <a:t>Fragmented tools</a:t>
            </a:r>
          </a:p>
        </p:txBody>
      </p:sp>
      <p:sp>
        <p:nvSpPr>
          <p:cNvPr id="15" name="TextBox 14"/>
          <p:cNvSpPr txBox="1"/>
          <p:nvPr/>
        </p:nvSpPr>
        <p:spPr>
          <a:xfrm>
            <a:off x="1316736" y="2148840"/>
            <a:ext cx="4983480" cy="603504"/>
          </a:xfrm>
          <a:prstGeom prst="rect">
            <a:avLst/>
          </a:prstGeom>
          <a:noFill/>
        </p:spPr>
        <p:txBody>
          <a:bodyPr wrap="square" anchor="t" lIns="0" rIns="0" tIns="0" bIns="0">
            <a:noAutofit/>
          </a:bodyPr>
          <a:lstStyle/>
          <a:p>
            <a:pPr algn="l">
              <a:lnSpc>
                <a:spcPct val="118000"/>
              </a:lnSpc>
              <a:spcAft>
                <a:spcPts val="0"/>
              </a:spcAft>
            </a:pPr>
            <a:r>
              <a:rPr sz="1060" b="0" i="0">
                <a:solidFill>
                  <a:srgbClr val="7C8AA3"/>
                </a:solidFill>
                <a:latin typeface="Segoe UI"/>
              </a:rPr>
              <a:t>Notes, deadlines, tests and progress live in different apps, so context is rebuilt every day.</a:t>
            </a:r>
          </a:p>
        </p:txBody>
      </p:sp>
      <p:sp>
        <p:nvSpPr>
          <p:cNvPr id="16" name="Rounded Rectangle 15"/>
          <p:cNvSpPr/>
          <p:nvPr/>
        </p:nvSpPr>
        <p:spPr>
          <a:xfrm>
            <a:off x="5779008" y="1901952"/>
            <a:ext cx="1353312" cy="274320"/>
          </a:xfrm>
          <a:prstGeom prst="roundRect">
            <a:avLst>
              <a:gd name="adj" fmla="val 50000"/>
            </a:avLst>
          </a:prstGeom>
          <a:solidFill>
            <a:srgbClr val="FEECEC"/>
          </a:solidFill>
          <a:ln>
            <a:noFill/>
          </a:ln>
          <a:effectLst/>
        </p:spPr>
        <p:txBody>
          <a:bodyPr rtlCol="0" anchor="ctr" wrap="square" lIns="54864" rIns="54864" tIns="0" bIns="0"/>
          <a:lstStyle/>
          <a:p>
            <a:pPr algn="ctr"/>
            <a:r>
              <a:rPr sz="819" b="1">
                <a:solidFill>
                  <a:srgbClr val="EF4444"/>
                </a:solidFill>
                <a:latin typeface="Segoe UI"/>
              </a:rPr>
              <a:t>4 apps</a:t>
            </a:r>
          </a:p>
        </p:txBody>
      </p:sp>
      <p:sp>
        <p:nvSpPr>
          <p:cNvPr id="17" name="Rounded Rectangle 16"/>
          <p:cNvSpPr/>
          <p:nvPr/>
        </p:nvSpPr>
        <p:spPr>
          <a:xfrm>
            <a:off x="672084" y="3044952"/>
            <a:ext cx="6675120" cy="1097280"/>
          </a:xfrm>
          <a:prstGeom prst="roundRect">
            <a:avLst>
              <a:gd name="adj" fmla="val 5000"/>
            </a:avLst>
          </a:prstGeom>
          <a:solidFill>
            <a:srgbClr val="E8ECF8"/>
          </a:solidFill>
          <a:ln>
            <a:noFill/>
          </a:ln>
          <a:effectLst/>
        </p:spPr>
        <p:txBody>
          <a:bodyPr rtlCol="0" anchor="ctr" wrap="square"/>
          <a:lstStyle/>
          <a:p>
            <a:pPr algn="ctr"/>
          </a:p>
        </p:txBody>
      </p:sp>
      <p:sp>
        <p:nvSpPr>
          <p:cNvPr id="18" name="Rounded Rectangle 17"/>
          <p:cNvSpPr/>
          <p:nvPr/>
        </p:nvSpPr>
        <p:spPr>
          <a:xfrm>
            <a:off x="640080" y="2999232"/>
            <a:ext cx="6675120" cy="1097280"/>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19" name="Oval 18"/>
          <p:cNvSpPr/>
          <p:nvPr/>
        </p:nvSpPr>
        <p:spPr>
          <a:xfrm>
            <a:off x="841248" y="3163824"/>
            <a:ext cx="347472" cy="347472"/>
          </a:xfrm>
          <a:prstGeom prst="ellipse">
            <a:avLst/>
          </a:prstGeom>
          <a:solidFill>
            <a:srgbClr val="FFF7E6"/>
          </a:solidFill>
          <a:ln>
            <a:noFill/>
          </a:ln>
          <a:effectLst/>
        </p:spPr>
        <p:txBody>
          <a:bodyPr rtlCol="0" anchor="ctr" lIns="0" rIns="0" tIns="0" bIns="0"/>
          <a:lstStyle/>
          <a:p>
            <a:pPr algn="ctr"/>
            <a:r>
              <a:rPr sz="900" b="1">
                <a:solidFill>
                  <a:srgbClr val="F59E0B"/>
                </a:solidFill>
                <a:latin typeface="Segoe UI"/>
              </a:rPr>
              <a:t>02</a:t>
            </a:r>
          </a:p>
        </p:txBody>
      </p:sp>
      <p:sp>
        <p:nvSpPr>
          <p:cNvPr id="20" name="TextBox 19"/>
          <p:cNvSpPr txBox="1"/>
          <p:nvPr/>
        </p:nvSpPr>
        <p:spPr>
          <a:xfrm>
            <a:off x="1316736" y="3108960"/>
            <a:ext cx="4572000" cy="237744"/>
          </a:xfrm>
          <a:prstGeom prst="rect">
            <a:avLst/>
          </a:prstGeom>
          <a:noFill/>
        </p:spPr>
        <p:txBody>
          <a:bodyPr wrap="square" anchor="t" lIns="0" rIns="0" tIns="0" bIns="0">
            <a:noAutofit/>
          </a:bodyPr>
          <a:lstStyle/>
          <a:p>
            <a:pPr algn="l">
              <a:lnSpc>
                <a:spcPct val="112000"/>
              </a:lnSpc>
              <a:spcAft>
                <a:spcPts val="0"/>
              </a:spcAft>
            </a:pPr>
            <a:r>
              <a:rPr sz="1550" b="1" i="0">
                <a:solidFill>
                  <a:srgbClr val="0F172A"/>
                </a:solidFill>
                <a:latin typeface="Segoe UI"/>
              </a:rPr>
              <a:t>Static plans</a:t>
            </a:r>
          </a:p>
        </p:txBody>
      </p:sp>
      <p:sp>
        <p:nvSpPr>
          <p:cNvPr id="21" name="TextBox 20"/>
          <p:cNvSpPr txBox="1"/>
          <p:nvPr/>
        </p:nvSpPr>
        <p:spPr>
          <a:xfrm>
            <a:off x="1316736" y="3392424"/>
            <a:ext cx="4983480" cy="603504"/>
          </a:xfrm>
          <a:prstGeom prst="rect">
            <a:avLst/>
          </a:prstGeom>
          <a:noFill/>
        </p:spPr>
        <p:txBody>
          <a:bodyPr wrap="square" anchor="t" lIns="0" rIns="0" tIns="0" bIns="0">
            <a:noAutofit/>
          </a:bodyPr>
          <a:lstStyle/>
          <a:p>
            <a:pPr algn="l">
              <a:lnSpc>
                <a:spcPct val="118000"/>
              </a:lnSpc>
              <a:spcAft>
                <a:spcPts val="0"/>
              </a:spcAft>
            </a:pPr>
            <a:r>
              <a:rPr sz="1060" b="0" i="0">
                <a:solidFill>
                  <a:srgbClr val="7C8AA3"/>
                </a:solidFill>
                <a:latin typeface="Segoe UI"/>
              </a:rPr>
              <a:t>One plan is made once and survives every missed week, whatever the topic's difficulty.</a:t>
            </a:r>
          </a:p>
        </p:txBody>
      </p:sp>
      <p:sp>
        <p:nvSpPr>
          <p:cNvPr id="22" name="Rounded Rectangle 21"/>
          <p:cNvSpPr/>
          <p:nvPr/>
        </p:nvSpPr>
        <p:spPr>
          <a:xfrm>
            <a:off x="5779008" y="3145536"/>
            <a:ext cx="1353312" cy="274320"/>
          </a:xfrm>
          <a:prstGeom prst="roundRect">
            <a:avLst>
              <a:gd name="adj" fmla="val 50000"/>
            </a:avLst>
          </a:prstGeom>
          <a:solidFill>
            <a:srgbClr val="FFF7E6"/>
          </a:solidFill>
          <a:ln>
            <a:noFill/>
          </a:ln>
          <a:effectLst/>
        </p:spPr>
        <p:txBody>
          <a:bodyPr rtlCol="0" anchor="ctr" wrap="square" lIns="54864" rIns="54864" tIns="0" bIns="0"/>
          <a:lstStyle/>
          <a:p>
            <a:pPr algn="ctr"/>
            <a:r>
              <a:rPr sz="819" b="1">
                <a:solidFill>
                  <a:srgbClr val="F59E0B"/>
                </a:solidFill>
                <a:latin typeface="Segoe UI"/>
              </a:rPr>
              <a:t>1 plan</a:t>
            </a:r>
          </a:p>
        </p:txBody>
      </p:sp>
      <p:sp>
        <p:nvSpPr>
          <p:cNvPr id="23" name="Rounded Rectangle 22"/>
          <p:cNvSpPr/>
          <p:nvPr/>
        </p:nvSpPr>
        <p:spPr>
          <a:xfrm>
            <a:off x="672084" y="4288536"/>
            <a:ext cx="6675120" cy="1097280"/>
          </a:xfrm>
          <a:prstGeom prst="roundRect">
            <a:avLst>
              <a:gd name="adj" fmla="val 5000"/>
            </a:avLst>
          </a:prstGeom>
          <a:solidFill>
            <a:srgbClr val="E8ECF8"/>
          </a:solidFill>
          <a:ln>
            <a:noFill/>
          </a:ln>
          <a:effectLst/>
        </p:spPr>
        <p:txBody>
          <a:bodyPr rtlCol="0" anchor="ctr" wrap="square"/>
          <a:lstStyle/>
          <a:p>
            <a:pPr algn="ctr"/>
          </a:p>
        </p:txBody>
      </p:sp>
      <p:sp>
        <p:nvSpPr>
          <p:cNvPr id="24" name="Rounded Rectangle 23"/>
          <p:cNvSpPr/>
          <p:nvPr/>
        </p:nvSpPr>
        <p:spPr>
          <a:xfrm>
            <a:off x="640080" y="4242816"/>
            <a:ext cx="6675120" cy="1097280"/>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25" name="Oval 24"/>
          <p:cNvSpPr/>
          <p:nvPr/>
        </p:nvSpPr>
        <p:spPr>
          <a:xfrm>
            <a:off x="841248" y="4407408"/>
            <a:ext cx="347472" cy="347472"/>
          </a:xfrm>
          <a:prstGeom prst="ellipse">
            <a:avLst/>
          </a:prstGeom>
          <a:solidFill>
            <a:srgbClr val="FEECEC"/>
          </a:solidFill>
          <a:ln>
            <a:noFill/>
          </a:ln>
          <a:effectLst/>
        </p:spPr>
        <p:txBody>
          <a:bodyPr rtlCol="0" anchor="ctr" lIns="0" rIns="0" tIns="0" bIns="0"/>
          <a:lstStyle/>
          <a:p>
            <a:pPr algn="ctr"/>
            <a:r>
              <a:rPr sz="900" b="1">
                <a:solidFill>
                  <a:srgbClr val="EF4444"/>
                </a:solidFill>
                <a:latin typeface="Segoe UI"/>
              </a:rPr>
              <a:t>03</a:t>
            </a:r>
          </a:p>
        </p:txBody>
      </p:sp>
      <p:sp>
        <p:nvSpPr>
          <p:cNvPr id="26" name="TextBox 25"/>
          <p:cNvSpPr txBox="1"/>
          <p:nvPr/>
        </p:nvSpPr>
        <p:spPr>
          <a:xfrm>
            <a:off x="1316736" y="4352544"/>
            <a:ext cx="4572000" cy="237744"/>
          </a:xfrm>
          <a:prstGeom prst="rect">
            <a:avLst/>
          </a:prstGeom>
          <a:noFill/>
        </p:spPr>
        <p:txBody>
          <a:bodyPr wrap="square" anchor="t" lIns="0" rIns="0" tIns="0" bIns="0">
            <a:noAutofit/>
          </a:bodyPr>
          <a:lstStyle/>
          <a:p>
            <a:pPr algn="l">
              <a:lnSpc>
                <a:spcPct val="112000"/>
              </a:lnSpc>
              <a:spcAft>
                <a:spcPts val="0"/>
              </a:spcAft>
            </a:pPr>
            <a:r>
              <a:rPr sz="1550" b="1" i="0">
                <a:solidFill>
                  <a:srgbClr val="0F172A"/>
                </a:solidFill>
                <a:latin typeface="Segoe UI"/>
              </a:rPr>
              <a:t>Late feedback</a:t>
            </a:r>
          </a:p>
        </p:txBody>
      </p:sp>
      <p:sp>
        <p:nvSpPr>
          <p:cNvPr id="27" name="TextBox 26"/>
          <p:cNvSpPr txBox="1"/>
          <p:nvPr/>
        </p:nvSpPr>
        <p:spPr>
          <a:xfrm>
            <a:off x="1316736" y="4636008"/>
            <a:ext cx="4983480" cy="603504"/>
          </a:xfrm>
          <a:prstGeom prst="rect">
            <a:avLst/>
          </a:prstGeom>
          <a:noFill/>
        </p:spPr>
        <p:txBody>
          <a:bodyPr wrap="square" anchor="t" lIns="0" rIns="0" tIns="0" bIns="0">
            <a:noAutofit/>
          </a:bodyPr>
          <a:lstStyle/>
          <a:p>
            <a:pPr algn="l">
              <a:lnSpc>
                <a:spcPct val="118000"/>
              </a:lnSpc>
              <a:spcAft>
                <a:spcPts val="0"/>
              </a:spcAft>
            </a:pPr>
            <a:r>
              <a:rPr sz="1060" b="0" i="0">
                <a:solidFill>
                  <a:srgbClr val="7C8AA3"/>
                </a:solidFill>
                <a:latin typeface="Segoe UI"/>
              </a:rPr>
              <a:t>Mistakes surface at the exam, not during practice, so the next study session cannot respond.</a:t>
            </a:r>
          </a:p>
        </p:txBody>
      </p:sp>
      <p:sp>
        <p:nvSpPr>
          <p:cNvPr id="28" name="Rounded Rectangle 27"/>
          <p:cNvSpPr/>
          <p:nvPr/>
        </p:nvSpPr>
        <p:spPr>
          <a:xfrm>
            <a:off x="5779008" y="4389120"/>
            <a:ext cx="1353312" cy="274320"/>
          </a:xfrm>
          <a:prstGeom prst="roundRect">
            <a:avLst>
              <a:gd name="adj" fmla="val 50000"/>
            </a:avLst>
          </a:prstGeom>
          <a:solidFill>
            <a:srgbClr val="FEECEC"/>
          </a:solidFill>
          <a:ln>
            <a:noFill/>
          </a:ln>
          <a:effectLst/>
        </p:spPr>
        <p:txBody>
          <a:bodyPr rtlCol="0" anchor="ctr" wrap="square" lIns="54864" rIns="54864" tIns="0" bIns="0"/>
          <a:lstStyle/>
          <a:p>
            <a:pPr algn="ctr"/>
            <a:r>
              <a:rPr sz="819" b="1">
                <a:solidFill>
                  <a:srgbClr val="EF4444"/>
                </a:solidFill>
                <a:latin typeface="Segoe UI"/>
              </a:rPr>
              <a:t>exam day</a:t>
            </a:r>
          </a:p>
        </p:txBody>
      </p:sp>
      <p:sp>
        <p:nvSpPr>
          <p:cNvPr id="29" name="Rounded Rectangle 28"/>
          <p:cNvSpPr/>
          <p:nvPr/>
        </p:nvSpPr>
        <p:spPr>
          <a:xfrm>
            <a:off x="7621524" y="1801368"/>
            <a:ext cx="3959352" cy="3584448"/>
          </a:xfrm>
          <a:prstGeom prst="roundRect">
            <a:avLst>
              <a:gd name="adj" fmla="val 5000"/>
            </a:avLst>
          </a:prstGeom>
          <a:solidFill>
            <a:srgbClr val="E8ECF8"/>
          </a:solidFill>
          <a:ln>
            <a:noFill/>
          </a:ln>
          <a:effectLst/>
        </p:spPr>
        <p:txBody>
          <a:bodyPr rtlCol="0" anchor="ctr" wrap="square"/>
          <a:lstStyle/>
          <a:p>
            <a:pPr algn="ctr"/>
          </a:p>
        </p:txBody>
      </p:sp>
      <p:sp>
        <p:nvSpPr>
          <p:cNvPr id="30" name="Rounded Rectangle 29"/>
          <p:cNvSpPr/>
          <p:nvPr/>
        </p:nvSpPr>
        <p:spPr>
          <a:xfrm>
            <a:off x="7589520" y="1755648"/>
            <a:ext cx="3959352" cy="3584448"/>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31" name="TextBox 30"/>
          <p:cNvSpPr txBox="1"/>
          <p:nvPr/>
        </p:nvSpPr>
        <p:spPr>
          <a:xfrm>
            <a:off x="7808975" y="1901952"/>
            <a:ext cx="2926080" cy="182880"/>
          </a:xfrm>
          <a:prstGeom prst="rect">
            <a:avLst/>
          </a:prstGeom>
          <a:noFill/>
        </p:spPr>
        <p:txBody>
          <a:bodyPr wrap="square" anchor="t" lIns="0" rIns="0" tIns="0" bIns="0">
            <a:noAutofit/>
          </a:bodyPr>
          <a:lstStyle/>
          <a:p>
            <a:pPr algn="l">
              <a:lnSpc>
                <a:spcPct val="112000"/>
              </a:lnSpc>
              <a:spcAft>
                <a:spcPts val="0"/>
              </a:spcAft>
            </a:pPr>
            <a:r>
              <a:rPr sz="880" b="1" i="0">
                <a:solidFill>
                  <a:srgbClr val="EF4444"/>
                </a:solidFill>
                <a:latin typeface="Segoe UI"/>
              </a:rPr>
              <a:t>TODAY'S STUDY WEEK</a:t>
            </a:r>
          </a:p>
        </p:txBody>
      </p:sp>
      <p:sp>
        <p:nvSpPr>
          <p:cNvPr id="32" name="TextBox 31"/>
          <p:cNvSpPr txBox="1"/>
          <p:nvPr/>
        </p:nvSpPr>
        <p:spPr>
          <a:xfrm>
            <a:off x="7808975" y="2103120"/>
            <a:ext cx="3474720" cy="182880"/>
          </a:xfrm>
          <a:prstGeom prst="rect">
            <a:avLst/>
          </a:prstGeom>
          <a:noFill/>
        </p:spPr>
        <p:txBody>
          <a:bodyPr wrap="square" anchor="t" lIns="0" rIns="0" tIns="0" bIns="0">
            <a:noAutofit/>
          </a:bodyPr>
          <a:lstStyle/>
          <a:p>
            <a:pPr algn="l">
              <a:lnSpc>
                <a:spcPct val="112000"/>
              </a:lnSpc>
              <a:spcAft>
                <a:spcPts val="0"/>
              </a:spcAft>
            </a:pPr>
            <a:r>
              <a:rPr sz="880" b="0" i="0">
                <a:solidFill>
                  <a:srgbClr val="7C8AA3"/>
                </a:solidFill>
                <a:latin typeface="Segoe UI"/>
              </a:rPr>
              <a:t>four tools, no shared record</a:t>
            </a:r>
          </a:p>
        </p:txBody>
      </p:sp>
      <p:sp>
        <p:nvSpPr>
          <p:cNvPr id="33" name="Rounded Rectangle 32"/>
          <p:cNvSpPr/>
          <p:nvPr/>
        </p:nvSpPr>
        <p:spPr>
          <a:xfrm>
            <a:off x="7808975" y="2395728"/>
            <a:ext cx="1517904" cy="713232"/>
          </a:xfrm>
          <a:prstGeom prst="roundRect">
            <a:avLst>
              <a:gd name="adj" fmla="val 10000"/>
            </a:avLst>
          </a:prstGeom>
          <a:solidFill>
            <a:srgbClr val="F5F7FE"/>
          </a:solidFill>
          <a:ln w="9525">
            <a:solidFill>
              <a:srgbClr val="D5DCEE"/>
            </a:solidFill>
          </a:ln>
          <a:effectLst/>
        </p:spPr>
        <p:txBody>
          <a:bodyPr rtlCol="0" anchor="ctr" wrap="square"/>
          <a:lstStyle/>
          <a:p>
            <a:pPr algn="ctr"/>
          </a:p>
        </p:txBody>
      </p:sp>
      <p:sp>
        <p:nvSpPr>
          <p:cNvPr id="34" name="TextBox 33"/>
          <p:cNvSpPr txBox="1"/>
          <p:nvPr/>
        </p:nvSpPr>
        <p:spPr>
          <a:xfrm>
            <a:off x="7808975" y="2651760"/>
            <a:ext cx="1517904" cy="201168"/>
          </a:xfrm>
          <a:prstGeom prst="rect">
            <a:avLst/>
          </a:prstGeom>
          <a:noFill/>
        </p:spPr>
        <p:txBody>
          <a:bodyPr wrap="square" anchor="t" lIns="0" rIns="0" tIns="0" bIns="0">
            <a:noAutofit/>
          </a:bodyPr>
          <a:lstStyle/>
          <a:p>
            <a:pPr algn="ctr">
              <a:lnSpc>
                <a:spcPct val="112000"/>
              </a:lnSpc>
              <a:spcAft>
                <a:spcPts val="0"/>
              </a:spcAft>
            </a:pPr>
            <a:r>
              <a:rPr sz="1000" b="1" i="0">
                <a:solidFill>
                  <a:srgbClr val="475569"/>
                </a:solidFill>
                <a:latin typeface="Segoe UI"/>
              </a:rPr>
              <a:t>Notes</a:t>
            </a:r>
          </a:p>
        </p:txBody>
      </p:sp>
      <p:sp>
        <p:nvSpPr>
          <p:cNvPr id="35" name="Rounded Rectangle 34"/>
          <p:cNvSpPr/>
          <p:nvPr/>
        </p:nvSpPr>
        <p:spPr>
          <a:xfrm>
            <a:off x="9528048" y="2395728"/>
            <a:ext cx="1517904" cy="713232"/>
          </a:xfrm>
          <a:prstGeom prst="roundRect">
            <a:avLst>
              <a:gd name="adj" fmla="val 10000"/>
            </a:avLst>
          </a:prstGeom>
          <a:solidFill>
            <a:srgbClr val="F5F7FE"/>
          </a:solidFill>
          <a:ln w="9525">
            <a:solidFill>
              <a:srgbClr val="D5DCEE"/>
            </a:solidFill>
          </a:ln>
          <a:effectLst/>
        </p:spPr>
        <p:txBody>
          <a:bodyPr rtlCol="0" anchor="ctr" wrap="square"/>
          <a:lstStyle/>
          <a:p>
            <a:pPr algn="ctr"/>
          </a:p>
        </p:txBody>
      </p:sp>
      <p:sp>
        <p:nvSpPr>
          <p:cNvPr id="36" name="TextBox 35"/>
          <p:cNvSpPr txBox="1"/>
          <p:nvPr/>
        </p:nvSpPr>
        <p:spPr>
          <a:xfrm>
            <a:off x="9528048" y="2651760"/>
            <a:ext cx="1517904" cy="201168"/>
          </a:xfrm>
          <a:prstGeom prst="rect">
            <a:avLst/>
          </a:prstGeom>
          <a:noFill/>
        </p:spPr>
        <p:txBody>
          <a:bodyPr wrap="square" anchor="t" lIns="0" rIns="0" tIns="0" bIns="0">
            <a:noAutofit/>
          </a:bodyPr>
          <a:lstStyle/>
          <a:p>
            <a:pPr algn="ctr">
              <a:lnSpc>
                <a:spcPct val="112000"/>
              </a:lnSpc>
              <a:spcAft>
                <a:spcPts val="0"/>
              </a:spcAft>
            </a:pPr>
            <a:r>
              <a:rPr sz="1000" b="1" i="0">
                <a:solidFill>
                  <a:srgbClr val="475569"/>
                </a:solidFill>
                <a:latin typeface="Segoe UI"/>
              </a:rPr>
              <a:t>Calendar</a:t>
            </a:r>
          </a:p>
        </p:txBody>
      </p:sp>
      <p:sp>
        <p:nvSpPr>
          <p:cNvPr id="37" name="Rounded Rectangle 36"/>
          <p:cNvSpPr/>
          <p:nvPr/>
        </p:nvSpPr>
        <p:spPr>
          <a:xfrm>
            <a:off x="7808975" y="3291840"/>
            <a:ext cx="1517904" cy="713232"/>
          </a:xfrm>
          <a:prstGeom prst="roundRect">
            <a:avLst>
              <a:gd name="adj" fmla="val 10000"/>
            </a:avLst>
          </a:prstGeom>
          <a:solidFill>
            <a:srgbClr val="F5F7FE"/>
          </a:solidFill>
          <a:ln w="9525">
            <a:solidFill>
              <a:srgbClr val="D5DCEE"/>
            </a:solidFill>
          </a:ln>
          <a:effectLst/>
        </p:spPr>
        <p:txBody>
          <a:bodyPr rtlCol="0" anchor="ctr" wrap="square"/>
          <a:lstStyle/>
          <a:p>
            <a:pPr algn="ctr"/>
          </a:p>
        </p:txBody>
      </p:sp>
      <p:sp>
        <p:nvSpPr>
          <p:cNvPr id="38" name="TextBox 37"/>
          <p:cNvSpPr txBox="1"/>
          <p:nvPr/>
        </p:nvSpPr>
        <p:spPr>
          <a:xfrm>
            <a:off x="7808975" y="3547872"/>
            <a:ext cx="1517904" cy="201168"/>
          </a:xfrm>
          <a:prstGeom prst="rect">
            <a:avLst/>
          </a:prstGeom>
          <a:noFill/>
        </p:spPr>
        <p:txBody>
          <a:bodyPr wrap="square" anchor="t" lIns="0" rIns="0" tIns="0" bIns="0">
            <a:noAutofit/>
          </a:bodyPr>
          <a:lstStyle/>
          <a:p>
            <a:pPr algn="ctr">
              <a:lnSpc>
                <a:spcPct val="112000"/>
              </a:lnSpc>
              <a:spcAft>
                <a:spcPts val="0"/>
              </a:spcAft>
            </a:pPr>
            <a:r>
              <a:rPr sz="1000" b="1" i="0">
                <a:solidFill>
                  <a:srgbClr val="475569"/>
                </a:solidFill>
                <a:latin typeface="Segoe UI"/>
              </a:rPr>
              <a:t>Tests</a:t>
            </a:r>
          </a:p>
        </p:txBody>
      </p:sp>
      <p:sp>
        <p:nvSpPr>
          <p:cNvPr id="39" name="Rounded Rectangle 38"/>
          <p:cNvSpPr/>
          <p:nvPr/>
        </p:nvSpPr>
        <p:spPr>
          <a:xfrm>
            <a:off x="9528048" y="3291840"/>
            <a:ext cx="1517904" cy="713232"/>
          </a:xfrm>
          <a:prstGeom prst="roundRect">
            <a:avLst>
              <a:gd name="adj" fmla="val 10000"/>
            </a:avLst>
          </a:prstGeom>
          <a:solidFill>
            <a:srgbClr val="F5F7FE"/>
          </a:solidFill>
          <a:ln w="9525">
            <a:solidFill>
              <a:srgbClr val="D5DCEE"/>
            </a:solidFill>
          </a:ln>
          <a:effectLst/>
        </p:spPr>
        <p:txBody>
          <a:bodyPr rtlCol="0" anchor="ctr" wrap="square"/>
          <a:lstStyle/>
          <a:p>
            <a:pPr algn="ctr"/>
          </a:p>
        </p:txBody>
      </p:sp>
      <p:sp>
        <p:nvSpPr>
          <p:cNvPr id="40" name="TextBox 39"/>
          <p:cNvSpPr txBox="1"/>
          <p:nvPr/>
        </p:nvSpPr>
        <p:spPr>
          <a:xfrm>
            <a:off x="9528048" y="3547872"/>
            <a:ext cx="1517904" cy="201168"/>
          </a:xfrm>
          <a:prstGeom prst="rect">
            <a:avLst/>
          </a:prstGeom>
          <a:noFill/>
        </p:spPr>
        <p:txBody>
          <a:bodyPr wrap="square" anchor="t" lIns="0" rIns="0" tIns="0" bIns="0">
            <a:noAutofit/>
          </a:bodyPr>
          <a:lstStyle/>
          <a:p>
            <a:pPr algn="ctr">
              <a:lnSpc>
                <a:spcPct val="112000"/>
              </a:lnSpc>
              <a:spcAft>
                <a:spcPts val="0"/>
              </a:spcAft>
            </a:pPr>
            <a:r>
              <a:rPr sz="1000" b="1" i="0">
                <a:solidFill>
                  <a:srgbClr val="475569"/>
                </a:solidFill>
                <a:latin typeface="Segoe UI"/>
              </a:rPr>
              <a:t>Videos</a:t>
            </a:r>
          </a:p>
        </p:txBody>
      </p:sp>
      <p:sp>
        <p:nvSpPr>
          <p:cNvPr id="41" name="Oval 40"/>
          <p:cNvSpPr/>
          <p:nvPr/>
        </p:nvSpPr>
        <p:spPr>
          <a:xfrm>
            <a:off x="9153144" y="2971800"/>
            <a:ext cx="457200" cy="457200"/>
          </a:xfrm>
          <a:prstGeom prst="ellipse">
            <a:avLst/>
          </a:prstGeom>
          <a:solidFill>
            <a:srgbClr val="FEECEC"/>
          </a:solidFill>
          <a:ln>
            <a:noFill/>
          </a:ln>
          <a:effectLst/>
        </p:spPr>
        <p:txBody>
          <a:bodyPr rtlCol="0" anchor="ctr" lIns="0" rIns="0" tIns="0" bIns="0"/>
          <a:lstStyle/>
          <a:p>
            <a:pPr algn="ctr"/>
            <a:r>
              <a:rPr sz="1400" b="1">
                <a:solidFill>
                  <a:srgbClr val="EF4444"/>
                </a:solidFill>
                <a:latin typeface="Segoe UI"/>
              </a:rPr>
              <a:t>?</a:t>
            </a:r>
          </a:p>
        </p:txBody>
      </p:sp>
      <p:cxnSp>
        <p:nvCxnSpPr>
          <p:cNvPr id="42" name="Connector 41"/>
          <p:cNvCxnSpPr/>
          <p:nvPr/>
        </p:nvCxnSpPr>
        <p:spPr>
          <a:xfrm flipH="1">
            <a:off x="9162288" y="2788920"/>
            <a:ext cx="164592" cy="320040"/>
          </a:xfrm>
          <a:prstGeom prst="line">
            <a:avLst/>
          </a:prstGeom>
          <a:ln w="12700">
            <a:solidFill>
              <a:srgbClr val="EF4444"/>
            </a:solidFill>
            <a:prstDash val="dash"/>
            <a:tailEnd type="triangle" w="med" len="med"/>
          </a:ln>
          <a:effectLst/>
        </p:spPr>
      </p:cxnSp>
      <p:cxnSp>
        <p:nvCxnSpPr>
          <p:cNvPr id="43" name="Connector 42"/>
          <p:cNvCxnSpPr/>
          <p:nvPr/>
        </p:nvCxnSpPr>
        <p:spPr>
          <a:xfrm>
            <a:off x="9528048" y="2788920"/>
            <a:ext cx="73152" cy="320040"/>
          </a:xfrm>
          <a:prstGeom prst="line">
            <a:avLst/>
          </a:prstGeom>
          <a:ln w="12700">
            <a:solidFill>
              <a:srgbClr val="EF4444"/>
            </a:solidFill>
            <a:prstDash val="dash"/>
            <a:tailEnd type="triangle" w="med" len="med"/>
          </a:ln>
          <a:effectLst/>
        </p:spPr>
      </p:cxnSp>
      <p:cxnSp>
        <p:nvCxnSpPr>
          <p:cNvPr id="44" name="Connector 43"/>
          <p:cNvCxnSpPr/>
          <p:nvPr/>
        </p:nvCxnSpPr>
        <p:spPr>
          <a:xfrm flipH="1" flipV="1">
            <a:off x="9162288" y="3291840"/>
            <a:ext cx="164592" cy="320040"/>
          </a:xfrm>
          <a:prstGeom prst="line">
            <a:avLst/>
          </a:prstGeom>
          <a:ln w="12700">
            <a:solidFill>
              <a:srgbClr val="EF4444"/>
            </a:solidFill>
            <a:prstDash val="dash"/>
            <a:tailEnd type="triangle" w="med" len="med"/>
          </a:ln>
          <a:effectLst/>
        </p:spPr>
      </p:cxnSp>
      <p:cxnSp>
        <p:nvCxnSpPr>
          <p:cNvPr id="45" name="Connector 44"/>
          <p:cNvCxnSpPr/>
          <p:nvPr/>
        </p:nvCxnSpPr>
        <p:spPr>
          <a:xfrm flipV="1">
            <a:off x="9528048" y="3291840"/>
            <a:ext cx="73152" cy="320040"/>
          </a:xfrm>
          <a:prstGeom prst="line">
            <a:avLst/>
          </a:prstGeom>
          <a:ln w="12700">
            <a:solidFill>
              <a:srgbClr val="EF4444"/>
            </a:solidFill>
            <a:prstDash val="dash"/>
            <a:tailEnd type="triangle" w="med" len="med"/>
          </a:ln>
          <a:effectLst/>
        </p:spPr>
      </p:cxnSp>
      <p:sp>
        <p:nvSpPr>
          <p:cNvPr id="46" name="TextBox 45"/>
          <p:cNvSpPr txBox="1"/>
          <p:nvPr/>
        </p:nvSpPr>
        <p:spPr>
          <a:xfrm>
            <a:off x="7808975" y="4160520"/>
            <a:ext cx="3529584" cy="402336"/>
          </a:xfrm>
          <a:prstGeom prst="rect">
            <a:avLst/>
          </a:prstGeom>
          <a:noFill/>
        </p:spPr>
        <p:txBody>
          <a:bodyPr wrap="square" anchor="t" lIns="0" rIns="0" tIns="0" bIns="0">
            <a:noAutofit/>
          </a:bodyPr>
          <a:lstStyle/>
          <a:p>
            <a:pPr algn="l">
              <a:lnSpc>
                <a:spcPct val="118000"/>
              </a:lnSpc>
              <a:spcAft>
                <a:spcPts val="0"/>
              </a:spcAft>
            </a:pPr>
            <a:r>
              <a:rPr sz="1000" b="1" i="0">
                <a:solidFill>
                  <a:srgbClr val="B91C1C"/>
                </a:solidFill>
                <a:latin typeface="Segoe UI"/>
              </a:rPr>
              <a:t>No shared record — context is lost at every switch.</a:t>
            </a:r>
          </a:p>
        </p:txBody>
      </p:sp>
      <p:sp>
        <p:nvSpPr>
          <p:cNvPr id="47" name="Rounded Rectangle 46"/>
          <p:cNvSpPr/>
          <p:nvPr/>
        </p:nvSpPr>
        <p:spPr>
          <a:xfrm>
            <a:off x="7808975" y="4608576"/>
            <a:ext cx="3529584" cy="566928"/>
          </a:xfrm>
          <a:prstGeom prst="roundRect">
            <a:avLst>
              <a:gd name="adj" fmla="val 8000"/>
            </a:avLst>
          </a:prstGeom>
          <a:solidFill>
            <a:srgbClr val="FEECEC"/>
          </a:solidFill>
          <a:ln>
            <a:noFill/>
          </a:ln>
          <a:effectLst/>
        </p:spPr>
        <p:txBody>
          <a:bodyPr rtlCol="0" anchor="ctr" wrap="square"/>
          <a:lstStyle/>
          <a:p>
            <a:pPr algn="ctr"/>
          </a:p>
        </p:txBody>
      </p:sp>
      <p:sp>
        <p:nvSpPr>
          <p:cNvPr id="48" name="TextBox 47"/>
          <p:cNvSpPr txBox="1"/>
          <p:nvPr/>
        </p:nvSpPr>
        <p:spPr>
          <a:xfrm>
            <a:off x="7955279" y="4672584"/>
            <a:ext cx="3291840" cy="237744"/>
          </a:xfrm>
          <a:prstGeom prst="rect">
            <a:avLst/>
          </a:prstGeom>
          <a:noFill/>
        </p:spPr>
        <p:txBody>
          <a:bodyPr wrap="square" anchor="t" lIns="0" rIns="0" tIns="0" bIns="0">
            <a:noAutofit/>
          </a:bodyPr>
          <a:lstStyle/>
          <a:p>
            <a:pPr algn="l">
              <a:lnSpc>
                <a:spcPct val="112000"/>
              </a:lnSpc>
              <a:spcAft>
                <a:spcPts val="0"/>
              </a:spcAft>
            </a:pPr>
            <a:r>
              <a:rPr sz="1320" b="1" i="0">
                <a:solidFill>
                  <a:srgbClr val="B91C1C"/>
                </a:solidFill>
                <a:latin typeface="Segoe UI"/>
              </a:rPr>
              <a:t>4 tools  ·  0 shared records</a:t>
            </a:r>
          </a:p>
        </p:txBody>
      </p:sp>
      <p:sp>
        <p:nvSpPr>
          <p:cNvPr id="49" name="TextBox 48"/>
          <p:cNvSpPr txBox="1"/>
          <p:nvPr/>
        </p:nvSpPr>
        <p:spPr>
          <a:xfrm>
            <a:off x="7955279" y="4910328"/>
            <a:ext cx="3246120" cy="164592"/>
          </a:xfrm>
          <a:prstGeom prst="rect">
            <a:avLst/>
          </a:prstGeom>
          <a:noFill/>
        </p:spPr>
        <p:txBody>
          <a:bodyPr wrap="square" anchor="t" lIns="0" rIns="0" tIns="0" bIns="0">
            <a:noAutofit/>
          </a:bodyPr>
          <a:lstStyle/>
          <a:p>
            <a:pPr algn="l">
              <a:lnSpc>
                <a:spcPct val="112000"/>
              </a:lnSpc>
              <a:spcAft>
                <a:spcPts val="0"/>
              </a:spcAft>
            </a:pPr>
            <a:r>
              <a:rPr sz="760" b="0" i="0">
                <a:solidFill>
                  <a:srgbClr val="EF4444"/>
                </a:solidFill>
                <a:latin typeface="Segoe UI"/>
              </a:rPr>
              <a:t>the week cannot compound</a:t>
            </a:r>
          </a:p>
        </p:txBody>
      </p:sp>
      <p:sp>
        <p:nvSpPr>
          <p:cNvPr id="50" name="Rounded Rectangle 49"/>
          <p:cNvSpPr/>
          <p:nvPr/>
        </p:nvSpPr>
        <p:spPr>
          <a:xfrm>
            <a:off x="672084" y="5550407"/>
            <a:ext cx="10908792" cy="621792"/>
          </a:xfrm>
          <a:prstGeom prst="roundRect">
            <a:avLst>
              <a:gd name="adj" fmla="val 5000"/>
            </a:avLst>
          </a:prstGeom>
          <a:solidFill>
            <a:srgbClr val="E8ECF8"/>
          </a:solidFill>
          <a:ln>
            <a:noFill/>
          </a:ln>
          <a:effectLst/>
        </p:spPr>
        <p:txBody>
          <a:bodyPr rtlCol="0" anchor="ctr" wrap="square"/>
          <a:lstStyle/>
          <a:p>
            <a:pPr algn="ctr"/>
          </a:p>
        </p:txBody>
      </p:sp>
      <p:sp>
        <p:nvSpPr>
          <p:cNvPr id="51" name="Rounded Rectangle 50"/>
          <p:cNvSpPr/>
          <p:nvPr/>
        </p:nvSpPr>
        <p:spPr>
          <a:xfrm>
            <a:off x="640080" y="5504688"/>
            <a:ext cx="10908792" cy="621792"/>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52" name="Rounded Rectangle 51"/>
          <p:cNvSpPr/>
          <p:nvPr/>
        </p:nvSpPr>
        <p:spPr>
          <a:xfrm>
            <a:off x="640080" y="5504688"/>
            <a:ext cx="64008" cy="621792"/>
          </a:xfrm>
          <a:prstGeom prst="roundRect">
            <a:avLst>
              <a:gd name="adj" fmla="val 5000"/>
            </a:avLst>
          </a:prstGeom>
          <a:solidFill>
            <a:srgbClr val="EF4444"/>
          </a:solidFill>
          <a:ln>
            <a:noFill/>
          </a:ln>
          <a:effectLst/>
        </p:spPr>
        <p:txBody>
          <a:bodyPr rtlCol="0" anchor="ctr" wrap="square"/>
          <a:lstStyle/>
          <a:p>
            <a:pPr algn="ctr"/>
          </a:p>
        </p:txBody>
      </p:sp>
      <p:sp>
        <p:nvSpPr>
          <p:cNvPr id="53" name="TextBox 52"/>
          <p:cNvSpPr txBox="1"/>
          <p:nvPr/>
        </p:nvSpPr>
        <p:spPr>
          <a:xfrm>
            <a:off x="877824" y="5596128"/>
            <a:ext cx="3657600" cy="182880"/>
          </a:xfrm>
          <a:prstGeom prst="rect">
            <a:avLst/>
          </a:prstGeom>
          <a:noFill/>
        </p:spPr>
        <p:txBody>
          <a:bodyPr wrap="square" anchor="t" lIns="0" rIns="0" tIns="0" bIns="0">
            <a:noAutofit/>
          </a:bodyPr>
          <a:lstStyle/>
          <a:p>
            <a:pPr algn="l">
              <a:lnSpc>
                <a:spcPct val="112000"/>
              </a:lnSpc>
              <a:spcAft>
                <a:spcPts val="0"/>
              </a:spcAft>
            </a:pPr>
            <a:r>
              <a:rPr sz="780" b="1" i="0">
                <a:solidFill>
                  <a:srgbClr val="EF4444"/>
                </a:solidFill>
                <a:latin typeface="Segoe UI"/>
              </a:rPr>
              <a:t>THE CONSEQUENCE</a:t>
            </a:r>
          </a:p>
        </p:txBody>
      </p:sp>
      <p:sp>
        <p:nvSpPr>
          <p:cNvPr id="54" name="TextBox 53"/>
          <p:cNvSpPr txBox="1"/>
          <p:nvPr/>
        </p:nvSpPr>
        <p:spPr>
          <a:xfrm>
            <a:off x="877824" y="5769864"/>
            <a:ext cx="10058400" cy="274320"/>
          </a:xfrm>
          <a:prstGeom prst="rect">
            <a:avLst/>
          </a:prstGeom>
          <a:noFill/>
        </p:spPr>
        <p:txBody>
          <a:bodyPr wrap="square" anchor="t" lIns="0" rIns="0" tIns="0" bIns="0">
            <a:noAutofit/>
          </a:bodyPr>
          <a:lstStyle/>
          <a:p>
            <a:pPr algn="l">
              <a:lnSpc>
                <a:spcPct val="112000"/>
              </a:lnSpc>
              <a:spcAft>
                <a:spcPts val="0"/>
              </a:spcAft>
            </a:pPr>
            <a:r>
              <a:rPr sz="1320" b="1" i="0">
                <a:solidFill>
                  <a:srgbClr val="0F172A"/>
                </a:solidFill>
                <a:latin typeface="Segoe UI"/>
              </a:rPr>
              <a:t>The same hours are spent on every topic, and the plan never learns from the week.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g_aurora.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40080" y="411480"/>
            <a:ext cx="164592" cy="164592"/>
          </a:xfrm>
          <a:prstGeom prst="roundRect">
            <a:avLst>
              <a:gd name="adj" fmla="val 25000"/>
            </a:avLst>
          </a:prstGeom>
          <a:gradFill rotWithShape="1">
            <a:gsLst>
              <a:gs pos="0">
                <a:srgbClr val="0EA5E9"/>
              </a:gs>
              <a:gs pos="100000">
                <a:srgbClr val="4F5BD5"/>
              </a:gs>
            </a:gsLst>
            <a:lin scaled="0" ang="19500000"/>
          </a:gradFill>
          <a:ln>
            <a:noFill/>
          </a:ln>
          <a:effectLst/>
        </p:spPr>
        <p:txBody>
          <a:bodyPr rtlCol="0" anchor="ctr"/>
          <a:lstStyle/>
          <a:p>
            <a:pPr algn="ctr"/>
          </a:p>
        </p:txBody>
      </p:sp>
      <p:sp>
        <p:nvSpPr>
          <p:cNvPr id="4" name="TextBox 3"/>
          <p:cNvSpPr txBox="1"/>
          <p:nvPr/>
        </p:nvSpPr>
        <p:spPr>
          <a:xfrm>
            <a:off x="886968" y="365760"/>
            <a:ext cx="1828800" cy="219456"/>
          </a:xfrm>
          <a:prstGeom prst="rect">
            <a:avLst/>
          </a:prstGeom>
          <a:noFill/>
        </p:spPr>
        <p:txBody>
          <a:bodyPr wrap="square" anchor="t" lIns="0" rIns="0" tIns="0" bIns="0">
            <a:noAutofit/>
          </a:bodyPr>
          <a:lstStyle/>
          <a:p>
            <a:pPr algn="l">
              <a:lnSpc>
                <a:spcPct val="112000"/>
              </a:lnSpc>
              <a:spcAft>
                <a:spcPts val="0"/>
              </a:spcAft>
            </a:pPr>
            <a:r>
              <a:rPr sz="950" b="1" i="0">
                <a:solidFill>
                  <a:srgbClr val="0F172A"/>
                </a:solidFill>
                <a:latin typeface="Segoe UI"/>
              </a:rPr>
              <a:t>StudyMapper</a:t>
            </a:r>
          </a:p>
        </p:txBody>
      </p:sp>
      <p:sp>
        <p:nvSpPr>
          <p:cNvPr id="5" name="TextBox 4"/>
          <p:cNvSpPr txBox="1"/>
          <p:nvPr/>
        </p:nvSpPr>
        <p:spPr>
          <a:xfrm>
            <a:off x="6035040" y="374904"/>
            <a:ext cx="5513832" cy="201168"/>
          </a:xfrm>
          <a:prstGeom prst="rect">
            <a:avLst/>
          </a:prstGeom>
          <a:noFill/>
        </p:spPr>
        <p:txBody>
          <a:bodyPr wrap="square" anchor="t" lIns="0" rIns="0" tIns="0" bIns="0">
            <a:noAutofit/>
          </a:bodyPr>
          <a:lstStyle/>
          <a:p>
            <a:pPr algn="r">
              <a:lnSpc>
                <a:spcPct val="112000"/>
              </a:lnSpc>
              <a:spcAft>
                <a:spcPts val="0"/>
              </a:spcAft>
            </a:pPr>
            <a:r>
              <a:rPr sz="950" b="1" i="0">
                <a:solidFill>
                  <a:srgbClr val="4F5BD5"/>
                </a:solidFill>
                <a:latin typeface="Segoe UI"/>
              </a:rPr>
              <a:t>04 · PROJECT OBJECTIVES</a:t>
            </a:r>
          </a:p>
        </p:txBody>
      </p:sp>
      <p:sp>
        <p:nvSpPr>
          <p:cNvPr id="6" name="TextBox 5"/>
          <p:cNvSpPr txBox="1"/>
          <p:nvPr/>
        </p:nvSpPr>
        <p:spPr>
          <a:xfrm>
            <a:off x="640080" y="658368"/>
            <a:ext cx="10908792" cy="566928"/>
          </a:xfrm>
          <a:prstGeom prst="rect">
            <a:avLst/>
          </a:prstGeom>
          <a:noFill/>
        </p:spPr>
        <p:txBody>
          <a:bodyPr wrap="square" anchor="t" lIns="0" rIns="0" tIns="0" bIns="0">
            <a:noAutofit/>
          </a:bodyPr>
          <a:lstStyle/>
          <a:p>
            <a:pPr algn="l">
              <a:lnSpc>
                <a:spcPct val="98000"/>
              </a:lnSpc>
              <a:spcAft>
                <a:spcPts val="0"/>
              </a:spcAft>
            </a:pPr>
            <a:r>
              <a:rPr sz="3300" b="1" i="0">
                <a:solidFill>
                  <a:srgbClr val="0F172A"/>
                </a:solidFill>
                <a:latin typeface="Segoe UI"/>
              </a:rPr>
              <a:t>Make the whole week one system</a:t>
            </a:r>
          </a:p>
        </p:txBody>
      </p:sp>
      <p:sp>
        <p:nvSpPr>
          <p:cNvPr id="7" name="TextBox 6"/>
          <p:cNvSpPr txBox="1"/>
          <p:nvPr/>
        </p:nvSpPr>
        <p:spPr>
          <a:xfrm>
            <a:off x="640080" y="1243584"/>
            <a:ext cx="10469880" cy="438912"/>
          </a:xfrm>
          <a:prstGeom prst="rect">
            <a:avLst/>
          </a:prstGeom>
          <a:noFill/>
        </p:spPr>
        <p:txBody>
          <a:bodyPr wrap="square" anchor="t" lIns="0" rIns="0" tIns="0" bIns="0">
            <a:noAutofit/>
          </a:bodyPr>
          <a:lstStyle/>
          <a:p>
            <a:pPr algn="l">
              <a:lnSpc>
                <a:spcPct val="114000"/>
              </a:lnSpc>
              <a:spcAft>
                <a:spcPts val="0"/>
              </a:spcAft>
            </a:pPr>
            <a:r>
              <a:rPr sz="1450" b="0" i="0">
                <a:solidFill>
                  <a:srgbClr val="475569"/>
                </a:solidFill>
                <a:latin typeface="Segoe UI"/>
              </a:rPr>
              <a:t>Four goals, one test: a student can run a full study week inside one app.</a:t>
            </a:r>
          </a:p>
        </p:txBody>
      </p:sp>
      <p:sp>
        <p:nvSpPr>
          <p:cNvPr id="8" name="Rectangle 7"/>
          <p:cNvSpPr/>
          <p:nvPr/>
        </p:nvSpPr>
        <p:spPr>
          <a:xfrm>
            <a:off x="640080" y="6437376"/>
            <a:ext cx="10908792" cy="7315"/>
          </a:xfrm>
          <a:prstGeom prst="rect">
            <a:avLst/>
          </a:prstGeom>
          <a:solidFill>
            <a:srgbClr val="D5DCEE"/>
          </a:solidFill>
          <a:ln>
            <a:noFill/>
          </a:ln>
          <a:effectLst/>
        </p:spPr>
        <p:txBody>
          <a:bodyPr rtlCol="0" anchor="ctr" wrap="square"/>
          <a:lstStyle/>
          <a:p>
            <a:pPr algn="ctr"/>
          </a:p>
        </p:txBody>
      </p:sp>
      <p:sp>
        <p:nvSpPr>
          <p:cNvPr id="9" name="TextBox 8"/>
          <p:cNvSpPr txBox="1"/>
          <p:nvPr/>
        </p:nvSpPr>
        <p:spPr>
          <a:xfrm>
            <a:off x="640080" y="6519672"/>
            <a:ext cx="7863840" cy="164592"/>
          </a:xfrm>
          <a:prstGeom prst="rect">
            <a:avLst/>
          </a:prstGeom>
          <a:noFill/>
        </p:spPr>
        <p:txBody>
          <a:bodyPr wrap="square" anchor="t" lIns="0" rIns="0" tIns="0" bIns="0">
            <a:noAutofit/>
          </a:bodyPr>
          <a:lstStyle/>
          <a:p>
            <a:pPr algn="l">
              <a:lnSpc>
                <a:spcPct val="112000"/>
              </a:lnSpc>
              <a:spcAft>
                <a:spcPts val="0"/>
              </a:spcAft>
            </a:pPr>
            <a:r>
              <a:rPr sz="800" b="0" i="0">
                <a:solidFill>
                  <a:srgbClr val="7C8AA3"/>
                </a:solidFill>
                <a:latin typeface="Segoe UI"/>
              </a:rPr>
              <a:t>StudyMapper  ·  AI-Driven Personalized Learning &amp; Academic Management</a:t>
            </a:r>
          </a:p>
        </p:txBody>
      </p:sp>
      <p:sp>
        <p:nvSpPr>
          <p:cNvPr id="10" name="TextBox 9"/>
          <p:cNvSpPr txBox="1"/>
          <p:nvPr/>
        </p:nvSpPr>
        <p:spPr>
          <a:xfrm>
            <a:off x="10058400" y="6510528"/>
            <a:ext cx="1490472" cy="182880"/>
          </a:xfrm>
          <a:prstGeom prst="rect">
            <a:avLst/>
          </a:prstGeom>
          <a:noFill/>
        </p:spPr>
        <p:txBody>
          <a:bodyPr wrap="square" anchor="t" lIns="0" rIns="0" tIns="0" bIns="0">
            <a:noAutofit/>
          </a:bodyPr>
          <a:lstStyle/>
          <a:p>
            <a:pPr algn="r">
              <a:lnSpc>
                <a:spcPct val="112000"/>
              </a:lnSpc>
              <a:spcAft>
                <a:spcPts val="0"/>
              </a:spcAft>
            </a:pPr>
            <a:r>
              <a:rPr sz="880" b="1" i="0">
                <a:solidFill>
                  <a:srgbClr val="7C8AA3"/>
                </a:solidFill>
                <a:latin typeface="Segoe UI"/>
              </a:rPr>
              <a:t>05 / 13</a:t>
            </a:r>
          </a:p>
        </p:txBody>
      </p:sp>
      <p:sp>
        <p:nvSpPr>
          <p:cNvPr id="11" name="Rounded Rectangle 10"/>
          <p:cNvSpPr/>
          <p:nvPr/>
        </p:nvSpPr>
        <p:spPr>
          <a:xfrm>
            <a:off x="672084" y="1801368"/>
            <a:ext cx="2615184" cy="2048256"/>
          </a:xfrm>
          <a:prstGeom prst="roundRect">
            <a:avLst>
              <a:gd name="adj" fmla="val 5000"/>
            </a:avLst>
          </a:prstGeom>
          <a:solidFill>
            <a:srgbClr val="E8ECF8"/>
          </a:solidFill>
          <a:ln>
            <a:noFill/>
          </a:ln>
          <a:effectLst/>
        </p:spPr>
        <p:txBody>
          <a:bodyPr rtlCol="0" anchor="ctr" wrap="square"/>
          <a:lstStyle/>
          <a:p>
            <a:pPr algn="ctr"/>
          </a:p>
        </p:txBody>
      </p:sp>
      <p:sp>
        <p:nvSpPr>
          <p:cNvPr id="12" name="Rounded Rectangle 11"/>
          <p:cNvSpPr/>
          <p:nvPr/>
        </p:nvSpPr>
        <p:spPr>
          <a:xfrm>
            <a:off x="640080" y="1755648"/>
            <a:ext cx="2615184" cy="2048256"/>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13" name="Oval 12"/>
          <p:cNvSpPr/>
          <p:nvPr/>
        </p:nvSpPr>
        <p:spPr>
          <a:xfrm>
            <a:off x="822959" y="1901952"/>
            <a:ext cx="347472" cy="347472"/>
          </a:xfrm>
          <a:prstGeom prst="ellipse">
            <a:avLst/>
          </a:prstGeom>
          <a:solidFill>
            <a:srgbClr val="EEF0FF"/>
          </a:solidFill>
          <a:ln>
            <a:noFill/>
          </a:ln>
          <a:effectLst/>
        </p:spPr>
        <p:txBody>
          <a:bodyPr rtlCol="0" anchor="ctr" lIns="0" rIns="0" tIns="0" bIns="0"/>
          <a:lstStyle/>
          <a:p>
            <a:pPr algn="ctr"/>
            <a:r>
              <a:rPr sz="900" b="1">
                <a:solidFill>
                  <a:srgbClr val="4F5BD5"/>
                </a:solidFill>
                <a:latin typeface="Segoe UI"/>
              </a:rPr>
              <a:t>01</a:t>
            </a:r>
          </a:p>
        </p:txBody>
      </p:sp>
      <p:sp>
        <p:nvSpPr>
          <p:cNvPr id="14" name="TextBox 13"/>
          <p:cNvSpPr txBox="1"/>
          <p:nvPr/>
        </p:nvSpPr>
        <p:spPr>
          <a:xfrm>
            <a:off x="822959" y="2377440"/>
            <a:ext cx="2240280" cy="493776"/>
          </a:xfrm>
          <a:prstGeom prst="rect">
            <a:avLst/>
          </a:prstGeom>
          <a:noFill/>
        </p:spPr>
        <p:txBody>
          <a:bodyPr wrap="square" anchor="t" lIns="0" rIns="0" tIns="0" bIns="0">
            <a:noAutofit/>
          </a:bodyPr>
          <a:lstStyle/>
          <a:p>
            <a:pPr algn="l">
              <a:lnSpc>
                <a:spcPct val="102000"/>
              </a:lnSpc>
              <a:spcAft>
                <a:spcPts val="0"/>
              </a:spcAft>
            </a:pPr>
            <a:r>
              <a:rPr sz="1420" b="1" i="0">
                <a:solidFill>
                  <a:srgbClr val="0F172A"/>
                </a:solidFill>
                <a:latin typeface="Segoe UI"/>
              </a:rPr>
              <a:t>A plan that recomputes</a:t>
            </a:r>
          </a:p>
        </p:txBody>
      </p:sp>
      <p:sp>
        <p:nvSpPr>
          <p:cNvPr id="15" name="TextBox 14"/>
          <p:cNvSpPr txBox="1"/>
          <p:nvPr/>
        </p:nvSpPr>
        <p:spPr>
          <a:xfrm>
            <a:off x="822959" y="2871216"/>
            <a:ext cx="2249424" cy="658368"/>
          </a:xfrm>
          <a:prstGeom prst="rect">
            <a:avLst/>
          </a:prstGeom>
          <a:noFill/>
        </p:spPr>
        <p:txBody>
          <a:bodyPr wrap="square" anchor="t" lIns="0" rIns="0" tIns="0" bIns="0">
            <a:noAutofit/>
          </a:bodyPr>
          <a:lstStyle/>
          <a:p>
            <a:pPr algn="l">
              <a:lnSpc>
                <a:spcPct val="118000"/>
              </a:lnSpc>
              <a:spcAft>
                <a:spcPts val="0"/>
              </a:spcAft>
            </a:pPr>
            <a:r>
              <a:rPr sz="940" b="0" i="0">
                <a:solidFill>
                  <a:srgbClr val="7C8AA3"/>
                </a:solidFill>
                <a:latin typeface="Segoe UI"/>
              </a:rPr>
              <a:t>Build the schedule from the exam date, topic difficulty and available days — then compress it in panic mode.</a:t>
            </a:r>
          </a:p>
        </p:txBody>
      </p:sp>
      <p:sp>
        <p:nvSpPr>
          <p:cNvPr id="16" name="TextBox 15"/>
          <p:cNvSpPr txBox="1"/>
          <p:nvPr/>
        </p:nvSpPr>
        <p:spPr>
          <a:xfrm>
            <a:off x="822959" y="3547872"/>
            <a:ext cx="2249424" cy="182880"/>
          </a:xfrm>
          <a:prstGeom prst="rect">
            <a:avLst/>
          </a:prstGeom>
          <a:noFill/>
        </p:spPr>
        <p:txBody>
          <a:bodyPr wrap="square" anchor="t" lIns="0" rIns="0" tIns="0" bIns="0">
            <a:noAutofit/>
          </a:bodyPr>
          <a:lstStyle/>
          <a:p>
            <a:pPr algn="l">
              <a:lnSpc>
                <a:spcPct val="112000"/>
              </a:lnSpc>
              <a:spcAft>
                <a:spcPts val="0"/>
              </a:spcAft>
            </a:pPr>
            <a:r>
              <a:rPr sz="780" b="1" i="1">
                <a:solidFill>
                  <a:srgbClr val="4F5BD5"/>
                </a:solidFill>
                <a:latin typeface="Segoe UI"/>
              </a:rPr>
              <a:t>exam date + difficulty + panic mode</a:t>
            </a:r>
          </a:p>
        </p:txBody>
      </p:sp>
      <p:sp>
        <p:nvSpPr>
          <p:cNvPr id="17" name="Rounded Rectangle 16"/>
          <p:cNvSpPr/>
          <p:nvPr/>
        </p:nvSpPr>
        <p:spPr>
          <a:xfrm>
            <a:off x="3451860" y="1801368"/>
            <a:ext cx="2615184" cy="2048256"/>
          </a:xfrm>
          <a:prstGeom prst="roundRect">
            <a:avLst>
              <a:gd name="adj" fmla="val 5000"/>
            </a:avLst>
          </a:prstGeom>
          <a:solidFill>
            <a:srgbClr val="E8ECF8"/>
          </a:solidFill>
          <a:ln>
            <a:noFill/>
          </a:ln>
          <a:effectLst/>
        </p:spPr>
        <p:txBody>
          <a:bodyPr rtlCol="0" anchor="ctr" wrap="square"/>
          <a:lstStyle/>
          <a:p>
            <a:pPr algn="ctr"/>
          </a:p>
        </p:txBody>
      </p:sp>
      <p:sp>
        <p:nvSpPr>
          <p:cNvPr id="18" name="Rounded Rectangle 17"/>
          <p:cNvSpPr/>
          <p:nvPr/>
        </p:nvSpPr>
        <p:spPr>
          <a:xfrm>
            <a:off x="3419856" y="1755648"/>
            <a:ext cx="2615184" cy="2048256"/>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19" name="Oval 18"/>
          <p:cNvSpPr/>
          <p:nvPr/>
        </p:nvSpPr>
        <p:spPr>
          <a:xfrm>
            <a:off x="3602736" y="1901952"/>
            <a:ext cx="347472" cy="347472"/>
          </a:xfrm>
          <a:prstGeom prst="ellipse">
            <a:avLst/>
          </a:prstGeom>
          <a:solidFill>
            <a:srgbClr val="E0F2FE"/>
          </a:solidFill>
          <a:ln>
            <a:noFill/>
          </a:ln>
          <a:effectLst/>
        </p:spPr>
        <p:txBody>
          <a:bodyPr rtlCol="0" anchor="ctr" lIns="0" rIns="0" tIns="0" bIns="0"/>
          <a:lstStyle/>
          <a:p>
            <a:pPr algn="ctr"/>
            <a:r>
              <a:rPr sz="900" b="1">
                <a:solidFill>
                  <a:srgbClr val="0EA5E9"/>
                </a:solidFill>
                <a:latin typeface="Segoe UI"/>
              </a:rPr>
              <a:t>02</a:t>
            </a:r>
          </a:p>
        </p:txBody>
      </p:sp>
      <p:sp>
        <p:nvSpPr>
          <p:cNvPr id="20" name="TextBox 19"/>
          <p:cNvSpPr txBox="1"/>
          <p:nvPr/>
        </p:nvSpPr>
        <p:spPr>
          <a:xfrm>
            <a:off x="3602736" y="2377440"/>
            <a:ext cx="2240280" cy="493776"/>
          </a:xfrm>
          <a:prstGeom prst="rect">
            <a:avLst/>
          </a:prstGeom>
          <a:noFill/>
        </p:spPr>
        <p:txBody>
          <a:bodyPr wrap="square" anchor="t" lIns="0" rIns="0" tIns="0" bIns="0">
            <a:noAutofit/>
          </a:bodyPr>
          <a:lstStyle/>
          <a:p>
            <a:pPr algn="l">
              <a:lnSpc>
                <a:spcPct val="102000"/>
              </a:lnSpc>
              <a:spcAft>
                <a:spcPts val="0"/>
              </a:spcAft>
            </a:pPr>
            <a:r>
              <a:rPr sz="1420" b="1" i="0">
                <a:solidFill>
                  <a:srgbClr val="0F172A"/>
                </a:solidFill>
                <a:latin typeface="Segoe UI"/>
              </a:rPr>
              <a:t>Material on demand</a:t>
            </a:r>
          </a:p>
        </p:txBody>
      </p:sp>
      <p:sp>
        <p:nvSpPr>
          <p:cNvPr id="21" name="TextBox 20"/>
          <p:cNvSpPr txBox="1"/>
          <p:nvPr/>
        </p:nvSpPr>
        <p:spPr>
          <a:xfrm>
            <a:off x="3602736" y="2871216"/>
            <a:ext cx="2249424" cy="658368"/>
          </a:xfrm>
          <a:prstGeom prst="rect">
            <a:avLst/>
          </a:prstGeom>
          <a:noFill/>
        </p:spPr>
        <p:txBody>
          <a:bodyPr wrap="square" anchor="t" lIns="0" rIns="0" tIns="0" bIns="0">
            <a:noAutofit/>
          </a:bodyPr>
          <a:lstStyle/>
          <a:p>
            <a:pPr algn="l">
              <a:lnSpc>
                <a:spcPct val="118000"/>
              </a:lnSpc>
              <a:spcAft>
                <a:spcPts val="0"/>
              </a:spcAft>
            </a:pPr>
            <a:r>
              <a:rPr sz="940" b="0" i="0">
                <a:solidFill>
                  <a:srgbClr val="7C8AA3"/>
                </a:solidFill>
                <a:latin typeface="Segoe UI"/>
              </a:rPr>
              <a:t>Generate notes, diagrams, question banks and model answers that the student can edit, not opaque output.</a:t>
            </a:r>
          </a:p>
        </p:txBody>
      </p:sp>
      <p:sp>
        <p:nvSpPr>
          <p:cNvPr id="22" name="TextBox 21"/>
          <p:cNvSpPr txBox="1"/>
          <p:nvPr/>
        </p:nvSpPr>
        <p:spPr>
          <a:xfrm>
            <a:off x="3602736" y="3547872"/>
            <a:ext cx="2249424" cy="182880"/>
          </a:xfrm>
          <a:prstGeom prst="rect">
            <a:avLst/>
          </a:prstGeom>
          <a:noFill/>
        </p:spPr>
        <p:txBody>
          <a:bodyPr wrap="square" anchor="t" lIns="0" rIns="0" tIns="0" bIns="0">
            <a:noAutofit/>
          </a:bodyPr>
          <a:lstStyle/>
          <a:p>
            <a:pPr algn="l">
              <a:lnSpc>
                <a:spcPct val="112000"/>
              </a:lnSpc>
              <a:spcAft>
                <a:spcPts val="0"/>
              </a:spcAft>
            </a:pPr>
            <a:r>
              <a:rPr sz="780" b="1" i="1">
                <a:solidFill>
                  <a:srgbClr val="0EA5E9"/>
                </a:solidFill>
                <a:latin typeface="Segoe UI"/>
              </a:rPr>
              <a:t>editable, source-linked</a:t>
            </a:r>
          </a:p>
        </p:txBody>
      </p:sp>
      <p:sp>
        <p:nvSpPr>
          <p:cNvPr id="23" name="Rounded Rectangle 22"/>
          <p:cNvSpPr/>
          <p:nvPr/>
        </p:nvSpPr>
        <p:spPr>
          <a:xfrm>
            <a:off x="6231636" y="1801368"/>
            <a:ext cx="2615184" cy="2048256"/>
          </a:xfrm>
          <a:prstGeom prst="roundRect">
            <a:avLst>
              <a:gd name="adj" fmla="val 5000"/>
            </a:avLst>
          </a:prstGeom>
          <a:solidFill>
            <a:srgbClr val="E8ECF8"/>
          </a:solidFill>
          <a:ln>
            <a:noFill/>
          </a:ln>
          <a:effectLst/>
        </p:spPr>
        <p:txBody>
          <a:bodyPr rtlCol="0" anchor="ctr" wrap="square"/>
          <a:lstStyle/>
          <a:p>
            <a:pPr algn="ctr"/>
          </a:p>
        </p:txBody>
      </p:sp>
      <p:sp>
        <p:nvSpPr>
          <p:cNvPr id="24" name="Rounded Rectangle 23"/>
          <p:cNvSpPr/>
          <p:nvPr/>
        </p:nvSpPr>
        <p:spPr>
          <a:xfrm>
            <a:off x="6199632" y="1755648"/>
            <a:ext cx="2615184" cy="2048256"/>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25" name="Oval 24"/>
          <p:cNvSpPr/>
          <p:nvPr/>
        </p:nvSpPr>
        <p:spPr>
          <a:xfrm>
            <a:off x="6382512" y="1901952"/>
            <a:ext cx="347472" cy="347472"/>
          </a:xfrm>
          <a:prstGeom prst="ellipse">
            <a:avLst/>
          </a:prstGeom>
          <a:solidFill>
            <a:srgbClr val="FFF7E6"/>
          </a:solidFill>
          <a:ln>
            <a:noFill/>
          </a:ln>
          <a:effectLst/>
        </p:spPr>
        <p:txBody>
          <a:bodyPr rtlCol="0" anchor="ctr" lIns="0" rIns="0" tIns="0" bIns="0"/>
          <a:lstStyle/>
          <a:p>
            <a:pPr algn="ctr"/>
            <a:r>
              <a:rPr sz="900" b="1">
                <a:solidFill>
                  <a:srgbClr val="F59E0B"/>
                </a:solidFill>
                <a:latin typeface="Segoe UI"/>
              </a:rPr>
              <a:t>03</a:t>
            </a:r>
          </a:p>
        </p:txBody>
      </p:sp>
      <p:sp>
        <p:nvSpPr>
          <p:cNvPr id="26" name="TextBox 25"/>
          <p:cNvSpPr txBox="1"/>
          <p:nvPr/>
        </p:nvSpPr>
        <p:spPr>
          <a:xfrm>
            <a:off x="6382512" y="2377440"/>
            <a:ext cx="2240280" cy="493776"/>
          </a:xfrm>
          <a:prstGeom prst="rect">
            <a:avLst/>
          </a:prstGeom>
          <a:noFill/>
        </p:spPr>
        <p:txBody>
          <a:bodyPr wrap="square" anchor="t" lIns="0" rIns="0" tIns="0" bIns="0">
            <a:noAutofit/>
          </a:bodyPr>
          <a:lstStyle/>
          <a:p>
            <a:pPr algn="l">
              <a:lnSpc>
                <a:spcPct val="102000"/>
              </a:lnSpc>
              <a:spcAft>
                <a:spcPts val="0"/>
              </a:spcAft>
            </a:pPr>
            <a:r>
              <a:rPr sz="1420" b="1" i="0">
                <a:solidFill>
                  <a:srgbClr val="0F172A"/>
                </a:solidFill>
                <a:latin typeface="Segoe UI"/>
              </a:rPr>
              <a:t>Practice that measures</a:t>
            </a:r>
          </a:p>
        </p:txBody>
      </p:sp>
      <p:sp>
        <p:nvSpPr>
          <p:cNvPr id="27" name="TextBox 26"/>
          <p:cNvSpPr txBox="1"/>
          <p:nvPr/>
        </p:nvSpPr>
        <p:spPr>
          <a:xfrm>
            <a:off x="6382512" y="2871216"/>
            <a:ext cx="2249424" cy="658368"/>
          </a:xfrm>
          <a:prstGeom prst="rect">
            <a:avLst/>
          </a:prstGeom>
          <a:noFill/>
        </p:spPr>
        <p:txBody>
          <a:bodyPr wrap="square" anchor="t" lIns="0" rIns="0" tIns="0" bIns="0">
            <a:noAutofit/>
          </a:bodyPr>
          <a:lstStyle/>
          <a:p>
            <a:pPr algn="l">
              <a:lnSpc>
                <a:spcPct val="118000"/>
              </a:lnSpc>
              <a:spcAft>
                <a:spcPts val="0"/>
              </a:spcAft>
            </a:pPr>
            <a:r>
              <a:rPr sz="940" b="0" i="0">
                <a:solidFill>
                  <a:srgbClr val="7C8AA3"/>
                </a:solidFill>
                <a:latin typeface="Segoe UI"/>
              </a:rPr>
              <a:t>Turn stored study events into a 0–100 weakness score rather than a single mark at the end.</a:t>
            </a:r>
          </a:p>
        </p:txBody>
      </p:sp>
      <p:sp>
        <p:nvSpPr>
          <p:cNvPr id="28" name="TextBox 27"/>
          <p:cNvSpPr txBox="1"/>
          <p:nvPr/>
        </p:nvSpPr>
        <p:spPr>
          <a:xfrm>
            <a:off x="6382512" y="3547872"/>
            <a:ext cx="2249424" cy="182880"/>
          </a:xfrm>
          <a:prstGeom prst="rect">
            <a:avLst/>
          </a:prstGeom>
          <a:noFill/>
        </p:spPr>
        <p:txBody>
          <a:bodyPr wrap="square" anchor="t" lIns="0" rIns="0" tIns="0" bIns="0">
            <a:noAutofit/>
          </a:bodyPr>
          <a:lstStyle/>
          <a:p>
            <a:pPr algn="l">
              <a:lnSpc>
                <a:spcPct val="112000"/>
              </a:lnSpc>
              <a:spcAft>
                <a:spcPts val="0"/>
              </a:spcAft>
            </a:pPr>
            <a:r>
              <a:rPr sz="780" b="1" i="1">
                <a:solidFill>
                  <a:srgbClr val="F59E0B"/>
                </a:solidFill>
                <a:latin typeface="Segoe UI"/>
              </a:rPr>
              <a:t>events → weakness</a:t>
            </a:r>
          </a:p>
        </p:txBody>
      </p:sp>
      <p:sp>
        <p:nvSpPr>
          <p:cNvPr id="29" name="Rounded Rectangle 28"/>
          <p:cNvSpPr/>
          <p:nvPr/>
        </p:nvSpPr>
        <p:spPr>
          <a:xfrm>
            <a:off x="9011412" y="1801368"/>
            <a:ext cx="2615184" cy="2048256"/>
          </a:xfrm>
          <a:prstGeom prst="roundRect">
            <a:avLst>
              <a:gd name="adj" fmla="val 5000"/>
            </a:avLst>
          </a:prstGeom>
          <a:solidFill>
            <a:srgbClr val="E8ECF8"/>
          </a:solidFill>
          <a:ln>
            <a:noFill/>
          </a:ln>
          <a:effectLst/>
        </p:spPr>
        <p:txBody>
          <a:bodyPr rtlCol="0" anchor="ctr" wrap="square"/>
          <a:lstStyle/>
          <a:p>
            <a:pPr algn="ctr"/>
          </a:p>
        </p:txBody>
      </p:sp>
      <p:sp>
        <p:nvSpPr>
          <p:cNvPr id="30" name="Rounded Rectangle 29"/>
          <p:cNvSpPr/>
          <p:nvPr/>
        </p:nvSpPr>
        <p:spPr>
          <a:xfrm>
            <a:off x="8979408" y="1755648"/>
            <a:ext cx="2615184" cy="2048256"/>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31" name="Oval 30"/>
          <p:cNvSpPr/>
          <p:nvPr/>
        </p:nvSpPr>
        <p:spPr>
          <a:xfrm>
            <a:off x="9162288" y="1901952"/>
            <a:ext cx="347472" cy="347472"/>
          </a:xfrm>
          <a:prstGeom prst="ellipse">
            <a:avLst/>
          </a:prstGeom>
          <a:solidFill>
            <a:srgbClr val="E7FBF3"/>
          </a:solidFill>
          <a:ln>
            <a:noFill/>
          </a:ln>
          <a:effectLst/>
        </p:spPr>
        <p:txBody>
          <a:bodyPr rtlCol="0" anchor="ctr" lIns="0" rIns="0" tIns="0" bIns="0"/>
          <a:lstStyle/>
          <a:p>
            <a:pPr algn="ctr"/>
            <a:r>
              <a:rPr sz="900" b="1">
                <a:solidFill>
                  <a:srgbClr val="10B981"/>
                </a:solidFill>
                <a:latin typeface="Segoe UI"/>
              </a:rPr>
              <a:t>04</a:t>
            </a:r>
          </a:p>
        </p:txBody>
      </p:sp>
      <p:sp>
        <p:nvSpPr>
          <p:cNvPr id="32" name="TextBox 31"/>
          <p:cNvSpPr txBox="1"/>
          <p:nvPr/>
        </p:nvSpPr>
        <p:spPr>
          <a:xfrm>
            <a:off x="9162288" y="2377440"/>
            <a:ext cx="2240280" cy="493776"/>
          </a:xfrm>
          <a:prstGeom prst="rect">
            <a:avLst/>
          </a:prstGeom>
          <a:noFill/>
        </p:spPr>
        <p:txBody>
          <a:bodyPr wrap="square" anchor="t" lIns="0" rIns="0" tIns="0" bIns="0">
            <a:noAutofit/>
          </a:bodyPr>
          <a:lstStyle/>
          <a:p>
            <a:pPr algn="l">
              <a:lnSpc>
                <a:spcPct val="102000"/>
              </a:lnSpc>
              <a:spcAft>
                <a:spcPts val="0"/>
              </a:spcAft>
            </a:pPr>
            <a:r>
              <a:rPr sz="1420" b="1" i="0">
                <a:solidFill>
                  <a:srgbClr val="0F172A"/>
                </a:solidFill>
                <a:latin typeface="Segoe UI"/>
              </a:rPr>
              <a:t>One local record</a:t>
            </a:r>
          </a:p>
        </p:txBody>
      </p:sp>
      <p:sp>
        <p:nvSpPr>
          <p:cNvPr id="33" name="TextBox 32"/>
          <p:cNvSpPr txBox="1"/>
          <p:nvPr/>
        </p:nvSpPr>
        <p:spPr>
          <a:xfrm>
            <a:off x="9162288" y="2871216"/>
            <a:ext cx="2249424" cy="658368"/>
          </a:xfrm>
          <a:prstGeom prst="rect">
            <a:avLst/>
          </a:prstGeom>
          <a:noFill/>
        </p:spPr>
        <p:txBody>
          <a:bodyPr wrap="square" anchor="t" lIns="0" rIns="0" tIns="0" bIns="0">
            <a:noAutofit/>
          </a:bodyPr>
          <a:lstStyle/>
          <a:p>
            <a:pPr algn="l">
              <a:lnSpc>
                <a:spcPct val="118000"/>
              </a:lnSpc>
              <a:spcAft>
                <a:spcPts val="0"/>
              </a:spcAft>
            </a:pPr>
            <a:r>
              <a:rPr sz="940" b="0" i="0">
                <a:solidFill>
                  <a:srgbClr val="7C8AA3"/>
                </a:solidFill>
                <a:latin typeface="Segoe UI"/>
              </a:rPr>
              <a:t>Keep the study loop in the browser: no server required, AI optional, identity optional.</a:t>
            </a:r>
          </a:p>
        </p:txBody>
      </p:sp>
      <p:sp>
        <p:nvSpPr>
          <p:cNvPr id="34" name="TextBox 33"/>
          <p:cNvSpPr txBox="1"/>
          <p:nvPr/>
        </p:nvSpPr>
        <p:spPr>
          <a:xfrm>
            <a:off x="9162288" y="3547872"/>
            <a:ext cx="2249424" cy="182880"/>
          </a:xfrm>
          <a:prstGeom prst="rect">
            <a:avLst/>
          </a:prstGeom>
          <a:noFill/>
        </p:spPr>
        <p:txBody>
          <a:bodyPr wrap="square" anchor="t" lIns="0" rIns="0" tIns="0" bIns="0">
            <a:noAutofit/>
          </a:bodyPr>
          <a:lstStyle/>
          <a:p>
            <a:pPr algn="l">
              <a:lnSpc>
                <a:spcPct val="112000"/>
              </a:lnSpc>
              <a:spcAft>
                <a:spcPts val="0"/>
              </a:spcAft>
            </a:pPr>
            <a:r>
              <a:rPr sz="780" b="1" i="1">
                <a:solidFill>
                  <a:srgbClr val="10B981"/>
                </a:solidFill>
                <a:latin typeface="Segoe UI"/>
              </a:rPr>
              <a:t>Dexie · offline</a:t>
            </a:r>
          </a:p>
        </p:txBody>
      </p:sp>
      <p:sp>
        <p:nvSpPr>
          <p:cNvPr id="35" name="Rounded Rectangle 34"/>
          <p:cNvSpPr/>
          <p:nvPr/>
        </p:nvSpPr>
        <p:spPr>
          <a:xfrm>
            <a:off x="672084" y="4087368"/>
            <a:ext cx="6766560" cy="1920240"/>
          </a:xfrm>
          <a:prstGeom prst="roundRect">
            <a:avLst>
              <a:gd name="adj" fmla="val 5000"/>
            </a:avLst>
          </a:prstGeom>
          <a:solidFill>
            <a:srgbClr val="E8ECF8"/>
          </a:solidFill>
          <a:ln>
            <a:noFill/>
          </a:ln>
          <a:effectLst/>
        </p:spPr>
        <p:txBody>
          <a:bodyPr rtlCol="0" anchor="ctr" wrap="square"/>
          <a:lstStyle/>
          <a:p>
            <a:pPr algn="ctr"/>
          </a:p>
        </p:txBody>
      </p:sp>
      <p:sp>
        <p:nvSpPr>
          <p:cNvPr id="36" name="Rounded Rectangle 35"/>
          <p:cNvSpPr/>
          <p:nvPr/>
        </p:nvSpPr>
        <p:spPr>
          <a:xfrm>
            <a:off x="640080" y="4041648"/>
            <a:ext cx="6766560" cy="1920240"/>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37" name="TextBox 36"/>
          <p:cNvSpPr txBox="1"/>
          <p:nvPr/>
        </p:nvSpPr>
        <p:spPr>
          <a:xfrm>
            <a:off x="841248" y="4169663"/>
            <a:ext cx="2377440" cy="182880"/>
          </a:xfrm>
          <a:prstGeom prst="rect">
            <a:avLst/>
          </a:prstGeom>
          <a:noFill/>
        </p:spPr>
        <p:txBody>
          <a:bodyPr wrap="square" anchor="t" lIns="0" rIns="0" tIns="0" bIns="0">
            <a:noAutofit/>
          </a:bodyPr>
          <a:lstStyle/>
          <a:p>
            <a:pPr algn="l">
              <a:lnSpc>
                <a:spcPct val="112000"/>
              </a:lnSpc>
              <a:spcAft>
                <a:spcPts val="0"/>
              </a:spcAft>
            </a:pPr>
            <a:r>
              <a:rPr sz="880" b="1" i="0">
                <a:solidFill>
                  <a:srgbClr val="047857"/>
                </a:solidFill>
                <a:latin typeface="Segoe UI"/>
              </a:rPr>
              <a:t>IN SCOPE</a:t>
            </a:r>
          </a:p>
        </p:txBody>
      </p:sp>
      <p:sp>
        <p:nvSpPr>
          <p:cNvPr id="38" name="TextBox 37"/>
          <p:cNvSpPr txBox="1"/>
          <p:nvPr/>
        </p:nvSpPr>
        <p:spPr>
          <a:xfrm>
            <a:off x="841248" y="4352544"/>
            <a:ext cx="6217920" cy="182880"/>
          </a:xfrm>
          <a:prstGeom prst="rect">
            <a:avLst/>
          </a:prstGeom>
          <a:noFill/>
        </p:spPr>
        <p:txBody>
          <a:bodyPr wrap="square" anchor="t" lIns="0" rIns="0" tIns="0" bIns="0">
            <a:noAutofit/>
          </a:bodyPr>
          <a:lstStyle/>
          <a:p>
            <a:pPr algn="l">
              <a:lnSpc>
                <a:spcPct val="112000"/>
              </a:lnSpc>
              <a:spcAft>
                <a:spcPts val="0"/>
              </a:spcAft>
            </a:pPr>
            <a:r>
              <a:rPr sz="840" b="0" i="0">
                <a:solidFill>
                  <a:srgbClr val="7C8AA3"/>
                </a:solidFill>
                <a:latin typeface="Segoe UI"/>
              </a:rPr>
              <a:t>what this build actually does</a:t>
            </a:r>
          </a:p>
        </p:txBody>
      </p:sp>
      <p:sp>
        <p:nvSpPr>
          <p:cNvPr id="39" name="Rounded Rectangle 38"/>
          <p:cNvSpPr/>
          <p:nvPr/>
        </p:nvSpPr>
        <p:spPr>
          <a:xfrm>
            <a:off x="841248" y="4645152"/>
            <a:ext cx="2048256" cy="329184"/>
          </a:xfrm>
          <a:prstGeom prst="roundRect">
            <a:avLst>
              <a:gd name="adj" fmla="val 50000"/>
            </a:avLst>
          </a:prstGeom>
          <a:solidFill>
            <a:srgbClr val="E7FBF3"/>
          </a:solidFill>
          <a:ln>
            <a:noFill/>
          </a:ln>
          <a:effectLst/>
        </p:spPr>
        <p:txBody>
          <a:bodyPr rtlCol="0" anchor="ctr" wrap="square" lIns="54864" rIns="54864" tIns="0" bIns="0"/>
          <a:lstStyle/>
          <a:p>
            <a:pPr algn="ctr"/>
            <a:r>
              <a:rPr sz="840" b="1">
                <a:solidFill>
                  <a:srgbClr val="047857"/>
                </a:solidFill>
                <a:latin typeface="Segoe UI"/>
              </a:rPr>
              <a:t>Adaptive planner</a:t>
            </a:r>
          </a:p>
        </p:txBody>
      </p:sp>
      <p:sp>
        <p:nvSpPr>
          <p:cNvPr id="40" name="Rounded Rectangle 39"/>
          <p:cNvSpPr/>
          <p:nvPr/>
        </p:nvSpPr>
        <p:spPr>
          <a:xfrm>
            <a:off x="3017520" y="4645152"/>
            <a:ext cx="2048256" cy="329184"/>
          </a:xfrm>
          <a:prstGeom prst="roundRect">
            <a:avLst>
              <a:gd name="adj" fmla="val 50000"/>
            </a:avLst>
          </a:prstGeom>
          <a:solidFill>
            <a:srgbClr val="E7FBF3"/>
          </a:solidFill>
          <a:ln>
            <a:noFill/>
          </a:ln>
          <a:effectLst/>
        </p:spPr>
        <p:txBody>
          <a:bodyPr rtlCol="0" anchor="ctr" wrap="square" lIns="54864" rIns="54864" tIns="0" bIns="0"/>
          <a:lstStyle/>
          <a:p>
            <a:pPr algn="ctr"/>
            <a:r>
              <a:rPr sz="840" b="1">
                <a:solidFill>
                  <a:srgbClr val="047857"/>
                </a:solidFill>
                <a:latin typeface="Segoe UI"/>
              </a:rPr>
              <a:t>Generated notes &amp; questions</a:t>
            </a:r>
          </a:p>
        </p:txBody>
      </p:sp>
      <p:sp>
        <p:nvSpPr>
          <p:cNvPr id="41" name="Rounded Rectangle 40"/>
          <p:cNvSpPr/>
          <p:nvPr/>
        </p:nvSpPr>
        <p:spPr>
          <a:xfrm>
            <a:off x="5193792" y="4645152"/>
            <a:ext cx="2048256" cy="329184"/>
          </a:xfrm>
          <a:prstGeom prst="roundRect">
            <a:avLst>
              <a:gd name="adj" fmla="val 50000"/>
            </a:avLst>
          </a:prstGeom>
          <a:solidFill>
            <a:srgbClr val="E7FBF3"/>
          </a:solidFill>
          <a:ln>
            <a:noFill/>
          </a:ln>
          <a:effectLst/>
        </p:spPr>
        <p:txBody>
          <a:bodyPr rtlCol="0" anchor="ctr" wrap="square" lIns="54864" rIns="54864" tIns="0" bIns="0"/>
          <a:lstStyle/>
          <a:p>
            <a:pPr algn="ctr"/>
            <a:r>
              <a:rPr sz="840" b="1">
                <a:solidFill>
                  <a:srgbClr val="047857"/>
                </a:solidFill>
                <a:latin typeface="Segoe UI"/>
              </a:rPr>
              <a:t>Mock exams</a:t>
            </a:r>
          </a:p>
        </p:txBody>
      </p:sp>
      <p:sp>
        <p:nvSpPr>
          <p:cNvPr id="42" name="Rounded Rectangle 41"/>
          <p:cNvSpPr/>
          <p:nvPr/>
        </p:nvSpPr>
        <p:spPr>
          <a:xfrm>
            <a:off x="841248" y="5120640"/>
            <a:ext cx="2048256" cy="329184"/>
          </a:xfrm>
          <a:prstGeom prst="roundRect">
            <a:avLst>
              <a:gd name="adj" fmla="val 50000"/>
            </a:avLst>
          </a:prstGeom>
          <a:solidFill>
            <a:srgbClr val="E7FBF3"/>
          </a:solidFill>
          <a:ln>
            <a:noFill/>
          </a:ln>
          <a:effectLst/>
        </p:spPr>
        <p:txBody>
          <a:bodyPr rtlCol="0" anchor="ctr" wrap="square" lIns="54864" rIns="54864" tIns="0" bIns="0"/>
          <a:lstStyle/>
          <a:p>
            <a:pPr algn="ctr"/>
            <a:r>
              <a:rPr sz="840" b="1">
                <a:solidFill>
                  <a:srgbClr val="047857"/>
                </a:solidFill>
                <a:latin typeface="Segoe UI"/>
              </a:rPr>
              <a:t>Coding practice</a:t>
            </a:r>
          </a:p>
        </p:txBody>
      </p:sp>
      <p:sp>
        <p:nvSpPr>
          <p:cNvPr id="43" name="Rounded Rectangle 42"/>
          <p:cNvSpPr/>
          <p:nvPr/>
        </p:nvSpPr>
        <p:spPr>
          <a:xfrm>
            <a:off x="3017520" y="5120640"/>
            <a:ext cx="2048256" cy="329184"/>
          </a:xfrm>
          <a:prstGeom prst="roundRect">
            <a:avLst>
              <a:gd name="adj" fmla="val 50000"/>
            </a:avLst>
          </a:prstGeom>
          <a:solidFill>
            <a:srgbClr val="E7FBF3"/>
          </a:solidFill>
          <a:ln>
            <a:noFill/>
          </a:ln>
          <a:effectLst/>
        </p:spPr>
        <p:txBody>
          <a:bodyPr rtlCol="0" anchor="ctr" wrap="square" lIns="54864" rIns="54864" tIns="0" bIns="0"/>
          <a:lstStyle/>
          <a:p>
            <a:pPr algn="ctr"/>
            <a:r>
              <a:rPr sz="840" b="1">
                <a:solidFill>
                  <a:srgbClr val="047857"/>
                </a:solidFill>
                <a:latin typeface="Segoe UI"/>
              </a:rPr>
              <a:t>Weakness analytics</a:t>
            </a:r>
          </a:p>
        </p:txBody>
      </p:sp>
      <p:sp>
        <p:nvSpPr>
          <p:cNvPr id="44" name="Rounded Rectangle 43"/>
          <p:cNvSpPr/>
          <p:nvPr/>
        </p:nvSpPr>
        <p:spPr>
          <a:xfrm>
            <a:off x="5193792" y="5120640"/>
            <a:ext cx="2048256" cy="329184"/>
          </a:xfrm>
          <a:prstGeom prst="roundRect">
            <a:avLst>
              <a:gd name="adj" fmla="val 50000"/>
            </a:avLst>
          </a:prstGeom>
          <a:solidFill>
            <a:srgbClr val="E7FBF3"/>
          </a:solidFill>
          <a:ln>
            <a:noFill/>
          </a:ln>
          <a:effectLst/>
        </p:spPr>
        <p:txBody>
          <a:bodyPr rtlCol="0" anchor="ctr" wrap="square" lIns="54864" rIns="54864" tIns="0" bIns="0"/>
          <a:lstStyle/>
          <a:p>
            <a:pPr algn="ctr"/>
            <a:r>
              <a:rPr sz="840" b="1">
                <a:solidFill>
                  <a:srgbClr val="047857"/>
                </a:solidFill>
                <a:latin typeface="Segoe UI"/>
              </a:rPr>
              <a:t>Offline study</a:t>
            </a:r>
          </a:p>
        </p:txBody>
      </p:sp>
      <p:sp>
        <p:nvSpPr>
          <p:cNvPr id="45" name="TextBox 44"/>
          <p:cNvSpPr txBox="1"/>
          <p:nvPr/>
        </p:nvSpPr>
        <p:spPr>
          <a:xfrm>
            <a:off x="841248" y="5632704"/>
            <a:ext cx="6126480" cy="201168"/>
          </a:xfrm>
          <a:prstGeom prst="rect">
            <a:avLst/>
          </a:prstGeom>
          <a:noFill/>
        </p:spPr>
        <p:txBody>
          <a:bodyPr wrap="square" anchor="t" lIns="0" rIns="0" tIns="0" bIns="0">
            <a:noAutofit/>
          </a:bodyPr>
          <a:lstStyle/>
          <a:p>
            <a:pPr algn="l">
              <a:lnSpc>
                <a:spcPct val="112000"/>
              </a:lnSpc>
              <a:spcAft>
                <a:spcPts val="0"/>
              </a:spcAft>
            </a:pPr>
            <a:r>
              <a:rPr sz="940" b="1" i="1">
                <a:solidFill>
                  <a:srgbClr val="047857"/>
                </a:solidFill>
                <a:latin typeface="Segoe UI"/>
              </a:rPr>
              <a:t>One test: a full study week without leaving the app.</a:t>
            </a:r>
          </a:p>
        </p:txBody>
      </p:sp>
      <p:sp>
        <p:nvSpPr>
          <p:cNvPr id="46" name="Rounded Rectangle 45"/>
          <p:cNvSpPr/>
          <p:nvPr/>
        </p:nvSpPr>
        <p:spPr>
          <a:xfrm>
            <a:off x="7621524" y="4087368"/>
            <a:ext cx="3959352" cy="1920240"/>
          </a:xfrm>
          <a:prstGeom prst="roundRect">
            <a:avLst>
              <a:gd name="adj" fmla="val 5000"/>
            </a:avLst>
          </a:prstGeom>
          <a:solidFill>
            <a:srgbClr val="E8ECF8"/>
          </a:solidFill>
          <a:ln>
            <a:noFill/>
          </a:ln>
          <a:effectLst/>
        </p:spPr>
        <p:txBody>
          <a:bodyPr rtlCol="0" anchor="ctr" wrap="square"/>
          <a:lstStyle/>
          <a:p>
            <a:pPr algn="ctr"/>
          </a:p>
        </p:txBody>
      </p:sp>
      <p:sp>
        <p:nvSpPr>
          <p:cNvPr id="47" name="Rounded Rectangle 46"/>
          <p:cNvSpPr/>
          <p:nvPr/>
        </p:nvSpPr>
        <p:spPr>
          <a:xfrm>
            <a:off x="7589520" y="4041648"/>
            <a:ext cx="3959352" cy="1920240"/>
          </a:xfrm>
          <a:prstGeom prst="roundRect">
            <a:avLst>
              <a:gd name="adj" fmla="val 5000"/>
            </a:avLst>
          </a:prstGeom>
          <a:solidFill>
            <a:srgbClr val="F5F7FE"/>
          </a:solidFill>
          <a:ln w="9525">
            <a:solidFill>
              <a:srgbClr val="E3E8F5"/>
            </a:solidFill>
          </a:ln>
          <a:effectLst/>
        </p:spPr>
        <p:txBody>
          <a:bodyPr rtlCol="0" anchor="ctr" wrap="square"/>
          <a:lstStyle/>
          <a:p>
            <a:pPr algn="ctr"/>
          </a:p>
        </p:txBody>
      </p:sp>
      <p:sp>
        <p:nvSpPr>
          <p:cNvPr id="48" name="TextBox 47"/>
          <p:cNvSpPr txBox="1"/>
          <p:nvPr/>
        </p:nvSpPr>
        <p:spPr>
          <a:xfrm>
            <a:off x="7790688" y="4169663"/>
            <a:ext cx="3108960" cy="182880"/>
          </a:xfrm>
          <a:prstGeom prst="rect">
            <a:avLst/>
          </a:prstGeom>
          <a:noFill/>
        </p:spPr>
        <p:txBody>
          <a:bodyPr wrap="square" anchor="t" lIns="0" rIns="0" tIns="0" bIns="0">
            <a:noAutofit/>
          </a:bodyPr>
          <a:lstStyle/>
          <a:p>
            <a:pPr algn="l">
              <a:lnSpc>
                <a:spcPct val="112000"/>
              </a:lnSpc>
              <a:spcAft>
                <a:spcPts val="0"/>
              </a:spcAft>
            </a:pPr>
            <a:r>
              <a:rPr sz="880" b="1" i="0">
                <a:solidFill>
                  <a:srgbClr val="7C8AA3"/>
                </a:solidFill>
                <a:latin typeface="Segoe UI"/>
              </a:rPr>
              <a:t>OUT OF SCOPE</a:t>
            </a:r>
          </a:p>
        </p:txBody>
      </p:sp>
      <p:sp>
        <p:nvSpPr>
          <p:cNvPr id="49" name="TextBox 48"/>
          <p:cNvSpPr txBox="1"/>
          <p:nvPr/>
        </p:nvSpPr>
        <p:spPr>
          <a:xfrm>
            <a:off x="7790688" y="4352544"/>
            <a:ext cx="3474720" cy="182880"/>
          </a:xfrm>
          <a:prstGeom prst="rect">
            <a:avLst/>
          </a:prstGeom>
          <a:noFill/>
        </p:spPr>
        <p:txBody>
          <a:bodyPr wrap="square" anchor="t" lIns="0" rIns="0" tIns="0" bIns="0">
            <a:noAutofit/>
          </a:bodyPr>
          <a:lstStyle/>
          <a:p>
            <a:pPr algn="l">
              <a:lnSpc>
                <a:spcPct val="112000"/>
              </a:lnSpc>
              <a:spcAft>
                <a:spcPts val="0"/>
              </a:spcAft>
            </a:pPr>
            <a:r>
              <a:rPr sz="840" b="0" i="0">
                <a:solidFill>
                  <a:srgbClr val="7C8AA3"/>
                </a:solidFill>
                <a:latin typeface="Segoe UI"/>
              </a:rPr>
              <a:t>scope decisions, not missing pieces</a:t>
            </a:r>
          </a:p>
        </p:txBody>
      </p:sp>
      <p:sp>
        <p:nvSpPr>
          <p:cNvPr id="50" name="TextBox 49"/>
          <p:cNvSpPr txBox="1"/>
          <p:nvPr/>
        </p:nvSpPr>
        <p:spPr>
          <a:xfrm>
            <a:off x="7790688" y="4626864"/>
            <a:ext cx="3474720" cy="182880"/>
          </a:xfrm>
          <a:prstGeom prst="rect">
            <a:avLst/>
          </a:prstGeom>
          <a:noFill/>
        </p:spPr>
        <p:txBody>
          <a:bodyPr wrap="square" anchor="t" lIns="0" rIns="0" tIns="0" bIns="0">
            <a:noAutofit/>
          </a:bodyPr>
          <a:lstStyle/>
          <a:p>
            <a:pPr algn="l">
              <a:lnSpc>
                <a:spcPct val="112000"/>
              </a:lnSpc>
              <a:spcAft>
                <a:spcPts val="0"/>
              </a:spcAft>
            </a:pPr>
            <a:r>
              <a:rPr sz="919" b="0" i="0">
                <a:solidFill>
                  <a:srgbClr val="475569"/>
                </a:solidFill>
                <a:latin typeface="Segoe UI"/>
              </a:rPr>
              <a:t>·  Institutional timetabling</a:t>
            </a:r>
          </a:p>
        </p:txBody>
      </p:sp>
      <p:sp>
        <p:nvSpPr>
          <p:cNvPr id="51" name="TextBox 50"/>
          <p:cNvSpPr txBox="1"/>
          <p:nvPr/>
        </p:nvSpPr>
        <p:spPr>
          <a:xfrm>
            <a:off x="7790688" y="4882896"/>
            <a:ext cx="3474720" cy="182880"/>
          </a:xfrm>
          <a:prstGeom prst="rect">
            <a:avLst/>
          </a:prstGeom>
          <a:noFill/>
        </p:spPr>
        <p:txBody>
          <a:bodyPr wrap="square" anchor="t" lIns="0" rIns="0" tIns="0" bIns="0">
            <a:noAutofit/>
          </a:bodyPr>
          <a:lstStyle/>
          <a:p>
            <a:pPr algn="l">
              <a:lnSpc>
                <a:spcPct val="112000"/>
              </a:lnSpc>
              <a:spcAft>
                <a:spcPts val="0"/>
              </a:spcAft>
            </a:pPr>
            <a:r>
              <a:rPr sz="919" b="0" i="0">
                <a:solidFill>
                  <a:srgbClr val="475569"/>
                </a:solidFill>
                <a:latin typeface="Segoe UI"/>
              </a:rPr>
              <a:t>·  Proctored exams</a:t>
            </a:r>
          </a:p>
        </p:txBody>
      </p:sp>
      <p:sp>
        <p:nvSpPr>
          <p:cNvPr id="52" name="TextBox 51"/>
          <p:cNvSpPr txBox="1"/>
          <p:nvPr/>
        </p:nvSpPr>
        <p:spPr>
          <a:xfrm>
            <a:off x="7790688" y="5138927"/>
            <a:ext cx="3474720" cy="182880"/>
          </a:xfrm>
          <a:prstGeom prst="rect">
            <a:avLst/>
          </a:prstGeom>
          <a:noFill/>
        </p:spPr>
        <p:txBody>
          <a:bodyPr wrap="square" anchor="t" lIns="0" rIns="0" tIns="0" bIns="0">
            <a:noAutofit/>
          </a:bodyPr>
          <a:lstStyle/>
          <a:p>
            <a:pPr algn="l">
              <a:lnSpc>
                <a:spcPct val="112000"/>
              </a:lnSpc>
              <a:spcAft>
                <a:spcPts val="0"/>
              </a:spcAft>
            </a:pPr>
            <a:r>
              <a:rPr sz="919" b="0" i="0">
                <a:solidFill>
                  <a:srgbClr val="475569"/>
                </a:solidFill>
                <a:latin typeface="Segoe UI"/>
              </a:rPr>
              <a:t>·  Teacher dashboard</a:t>
            </a:r>
          </a:p>
        </p:txBody>
      </p:sp>
      <p:sp>
        <p:nvSpPr>
          <p:cNvPr id="53" name="TextBox 52"/>
          <p:cNvSpPr txBox="1"/>
          <p:nvPr/>
        </p:nvSpPr>
        <p:spPr>
          <a:xfrm>
            <a:off x="7790688" y="5394959"/>
            <a:ext cx="3474720" cy="182880"/>
          </a:xfrm>
          <a:prstGeom prst="rect">
            <a:avLst/>
          </a:prstGeom>
          <a:noFill/>
        </p:spPr>
        <p:txBody>
          <a:bodyPr wrap="square" anchor="t" lIns="0" rIns="0" tIns="0" bIns="0">
            <a:noAutofit/>
          </a:bodyPr>
          <a:lstStyle/>
          <a:p>
            <a:pPr algn="l">
              <a:lnSpc>
                <a:spcPct val="112000"/>
              </a:lnSpc>
              <a:spcAft>
                <a:spcPts val="0"/>
              </a:spcAft>
            </a:pPr>
            <a:r>
              <a:rPr sz="919" b="0" i="0">
                <a:solidFill>
                  <a:srgbClr val="475569"/>
                </a:solidFill>
                <a:latin typeface="Segoe UI"/>
              </a:rPr>
              <a:t>·  Native mobile app</a:t>
            </a:r>
          </a:p>
        </p:txBody>
      </p:sp>
      <p:sp>
        <p:nvSpPr>
          <p:cNvPr id="54" name="TextBox 53"/>
          <p:cNvSpPr txBox="1"/>
          <p:nvPr/>
        </p:nvSpPr>
        <p:spPr>
          <a:xfrm>
            <a:off x="7790688" y="5650992"/>
            <a:ext cx="3474720" cy="182880"/>
          </a:xfrm>
          <a:prstGeom prst="rect">
            <a:avLst/>
          </a:prstGeom>
          <a:noFill/>
        </p:spPr>
        <p:txBody>
          <a:bodyPr wrap="square" anchor="t" lIns="0" rIns="0" tIns="0" bIns="0">
            <a:noAutofit/>
          </a:bodyPr>
          <a:lstStyle/>
          <a:p>
            <a:pPr algn="l">
              <a:lnSpc>
                <a:spcPct val="112000"/>
              </a:lnSpc>
              <a:spcAft>
                <a:spcPts val="0"/>
              </a:spcAft>
            </a:pPr>
            <a:r>
              <a:rPr sz="919" b="0" i="0">
                <a:solidFill>
                  <a:srgbClr val="475569"/>
                </a:solidFill>
                <a:latin typeface="Segoe UI"/>
              </a:rPr>
              <a:t>·  Cross-device sync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g_aurora.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40080" y="411480"/>
            <a:ext cx="164592" cy="164592"/>
          </a:xfrm>
          <a:prstGeom prst="roundRect">
            <a:avLst>
              <a:gd name="adj" fmla="val 25000"/>
            </a:avLst>
          </a:prstGeom>
          <a:gradFill rotWithShape="1">
            <a:gsLst>
              <a:gs pos="0">
                <a:srgbClr val="0EA5E9"/>
              </a:gs>
              <a:gs pos="100000">
                <a:srgbClr val="4F5BD5"/>
              </a:gs>
            </a:gsLst>
            <a:lin scaled="0" ang="19500000"/>
          </a:gradFill>
          <a:ln>
            <a:noFill/>
          </a:ln>
          <a:effectLst/>
        </p:spPr>
        <p:txBody>
          <a:bodyPr rtlCol="0" anchor="ctr"/>
          <a:lstStyle/>
          <a:p>
            <a:pPr algn="ctr"/>
          </a:p>
        </p:txBody>
      </p:sp>
      <p:sp>
        <p:nvSpPr>
          <p:cNvPr id="4" name="TextBox 3"/>
          <p:cNvSpPr txBox="1"/>
          <p:nvPr/>
        </p:nvSpPr>
        <p:spPr>
          <a:xfrm>
            <a:off x="886968" y="365760"/>
            <a:ext cx="1828800" cy="219456"/>
          </a:xfrm>
          <a:prstGeom prst="rect">
            <a:avLst/>
          </a:prstGeom>
          <a:noFill/>
        </p:spPr>
        <p:txBody>
          <a:bodyPr wrap="square" anchor="t" lIns="0" rIns="0" tIns="0" bIns="0">
            <a:noAutofit/>
          </a:bodyPr>
          <a:lstStyle/>
          <a:p>
            <a:pPr algn="l">
              <a:lnSpc>
                <a:spcPct val="112000"/>
              </a:lnSpc>
              <a:spcAft>
                <a:spcPts val="0"/>
              </a:spcAft>
            </a:pPr>
            <a:r>
              <a:rPr sz="950" b="1" i="0">
                <a:solidFill>
                  <a:srgbClr val="0F172A"/>
                </a:solidFill>
                <a:latin typeface="Segoe UI"/>
              </a:rPr>
              <a:t>StudyMapper</a:t>
            </a:r>
          </a:p>
        </p:txBody>
      </p:sp>
      <p:sp>
        <p:nvSpPr>
          <p:cNvPr id="5" name="TextBox 4"/>
          <p:cNvSpPr txBox="1"/>
          <p:nvPr/>
        </p:nvSpPr>
        <p:spPr>
          <a:xfrm>
            <a:off x="6035040" y="374904"/>
            <a:ext cx="5513832" cy="201168"/>
          </a:xfrm>
          <a:prstGeom prst="rect">
            <a:avLst/>
          </a:prstGeom>
          <a:noFill/>
        </p:spPr>
        <p:txBody>
          <a:bodyPr wrap="square" anchor="t" lIns="0" rIns="0" tIns="0" bIns="0">
            <a:noAutofit/>
          </a:bodyPr>
          <a:lstStyle/>
          <a:p>
            <a:pPr algn="r">
              <a:lnSpc>
                <a:spcPct val="112000"/>
              </a:lnSpc>
              <a:spcAft>
                <a:spcPts val="0"/>
              </a:spcAft>
            </a:pPr>
            <a:r>
              <a:rPr sz="950" b="1" i="0">
                <a:solidFill>
                  <a:srgbClr val="4F5BD5"/>
                </a:solidFill>
                <a:latin typeface="Segoe UI"/>
              </a:rPr>
              <a:t>05 · LITERATURE SURVEY</a:t>
            </a:r>
          </a:p>
        </p:txBody>
      </p:sp>
      <p:sp>
        <p:nvSpPr>
          <p:cNvPr id="6" name="TextBox 5"/>
          <p:cNvSpPr txBox="1"/>
          <p:nvPr/>
        </p:nvSpPr>
        <p:spPr>
          <a:xfrm>
            <a:off x="640080" y="658368"/>
            <a:ext cx="10908792" cy="566928"/>
          </a:xfrm>
          <a:prstGeom prst="rect">
            <a:avLst/>
          </a:prstGeom>
          <a:noFill/>
        </p:spPr>
        <p:txBody>
          <a:bodyPr wrap="square" anchor="t" lIns="0" rIns="0" tIns="0" bIns="0">
            <a:noAutofit/>
          </a:bodyPr>
          <a:lstStyle/>
          <a:p>
            <a:pPr algn="l">
              <a:lnSpc>
                <a:spcPct val="98000"/>
              </a:lnSpc>
              <a:spcAft>
                <a:spcPts val="0"/>
              </a:spcAft>
            </a:pPr>
            <a:r>
              <a:rPr sz="3300" b="1" i="0">
                <a:solidFill>
                  <a:srgbClr val="0F172A"/>
                </a:solidFill>
                <a:latin typeface="Segoe UI"/>
              </a:rPr>
              <a:t>Five approaches, one missing loop</a:t>
            </a:r>
          </a:p>
        </p:txBody>
      </p:sp>
      <p:sp>
        <p:nvSpPr>
          <p:cNvPr id="7" name="TextBox 6"/>
          <p:cNvSpPr txBox="1"/>
          <p:nvPr/>
        </p:nvSpPr>
        <p:spPr>
          <a:xfrm>
            <a:off x="640080" y="1243584"/>
            <a:ext cx="10469880" cy="438912"/>
          </a:xfrm>
          <a:prstGeom prst="rect">
            <a:avLst/>
          </a:prstGeom>
          <a:noFill/>
        </p:spPr>
        <p:txBody>
          <a:bodyPr wrap="square" anchor="t" lIns="0" rIns="0" tIns="0" bIns="0">
            <a:noAutofit/>
          </a:bodyPr>
          <a:lstStyle/>
          <a:p>
            <a:pPr algn="l">
              <a:lnSpc>
                <a:spcPct val="114000"/>
              </a:lnSpc>
              <a:spcAft>
                <a:spcPts val="0"/>
              </a:spcAft>
            </a:pPr>
            <a:r>
              <a:rPr sz="1450" b="0" i="0">
                <a:solidFill>
                  <a:srgbClr val="475569"/>
                </a:solidFill>
                <a:latin typeface="Segoe UI"/>
              </a:rPr>
              <a:t>Each category solves part of the problem. None closes the loop for one student.</a:t>
            </a:r>
          </a:p>
        </p:txBody>
      </p:sp>
      <p:sp>
        <p:nvSpPr>
          <p:cNvPr id="8" name="Rectangle 7"/>
          <p:cNvSpPr/>
          <p:nvPr/>
        </p:nvSpPr>
        <p:spPr>
          <a:xfrm>
            <a:off x="640080" y="6437376"/>
            <a:ext cx="10908792" cy="7315"/>
          </a:xfrm>
          <a:prstGeom prst="rect">
            <a:avLst/>
          </a:prstGeom>
          <a:solidFill>
            <a:srgbClr val="D5DCEE"/>
          </a:solidFill>
          <a:ln>
            <a:noFill/>
          </a:ln>
          <a:effectLst/>
        </p:spPr>
        <p:txBody>
          <a:bodyPr rtlCol="0" anchor="ctr" wrap="square"/>
          <a:lstStyle/>
          <a:p>
            <a:pPr algn="ctr"/>
          </a:p>
        </p:txBody>
      </p:sp>
      <p:sp>
        <p:nvSpPr>
          <p:cNvPr id="9" name="TextBox 8"/>
          <p:cNvSpPr txBox="1"/>
          <p:nvPr/>
        </p:nvSpPr>
        <p:spPr>
          <a:xfrm>
            <a:off x="640080" y="6519672"/>
            <a:ext cx="7863840" cy="164592"/>
          </a:xfrm>
          <a:prstGeom prst="rect">
            <a:avLst/>
          </a:prstGeom>
          <a:noFill/>
        </p:spPr>
        <p:txBody>
          <a:bodyPr wrap="square" anchor="t" lIns="0" rIns="0" tIns="0" bIns="0">
            <a:noAutofit/>
          </a:bodyPr>
          <a:lstStyle/>
          <a:p>
            <a:pPr algn="l">
              <a:lnSpc>
                <a:spcPct val="112000"/>
              </a:lnSpc>
              <a:spcAft>
                <a:spcPts val="0"/>
              </a:spcAft>
            </a:pPr>
            <a:r>
              <a:rPr sz="800" b="0" i="0">
                <a:solidFill>
                  <a:srgbClr val="7C8AA3"/>
                </a:solidFill>
                <a:latin typeface="Segoe UI"/>
              </a:rPr>
              <a:t>StudyMapper  ·  AI-Driven Personalized Learning &amp; Academic Management</a:t>
            </a:r>
          </a:p>
        </p:txBody>
      </p:sp>
      <p:sp>
        <p:nvSpPr>
          <p:cNvPr id="10" name="TextBox 9"/>
          <p:cNvSpPr txBox="1"/>
          <p:nvPr/>
        </p:nvSpPr>
        <p:spPr>
          <a:xfrm>
            <a:off x="10058400" y="6510528"/>
            <a:ext cx="1490472" cy="182880"/>
          </a:xfrm>
          <a:prstGeom prst="rect">
            <a:avLst/>
          </a:prstGeom>
          <a:noFill/>
        </p:spPr>
        <p:txBody>
          <a:bodyPr wrap="square" anchor="t" lIns="0" rIns="0" tIns="0" bIns="0">
            <a:noAutofit/>
          </a:bodyPr>
          <a:lstStyle/>
          <a:p>
            <a:pPr algn="r">
              <a:lnSpc>
                <a:spcPct val="112000"/>
              </a:lnSpc>
              <a:spcAft>
                <a:spcPts val="0"/>
              </a:spcAft>
            </a:pPr>
            <a:r>
              <a:rPr sz="880" b="1" i="0">
                <a:solidFill>
                  <a:srgbClr val="7C8AA3"/>
                </a:solidFill>
                <a:latin typeface="Segoe UI"/>
              </a:rPr>
              <a:t>06 / 13</a:t>
            </a:r>
          </a:p>
        </p:txBody>
      </p:sp>
      <p:sp>
        <p:nvSpPr>
          <p:cNvPr id="11" name="Rounded Rectangle 10"/>
          <p:cNvSpPr/>
          <p:nvPr/>
        </p:nvSpPr>
        <p:spPr>
          <a:xfrm>
            <a:off x="672084" y="1783080"/>
            <a:ext cx="3520440" cy="1810512"/>
          </a:xfrm>
          <a:prstGeom prst="roundRect">
            <a:avLst>
              <a:gd name="adj" fmla="val 5000"/>
            </a:avLst>
          </a:prstGeom>
          <a:solidFill>
            <a:srgbClr val="E8ECF8"/>
          </a:solidFill>
          <a:ln>
            <a:noFill/>
          </a:ln>
          <a:effectLst/>
        </p:spPr>
        <p:txBody>
          <a:bodyPr rtlCol="0" anchor="ctr" wrap="square"/>
          <a:lstStyle/>
          <a:p>
            <a:pPr algn="ctr"/>
          </a:p>
        </p:txBody>
      </p:sp>
      <p:sp>
        <p:nvSpPr>
          <p:cNvPr id="12" name="Rounded Rectangle 11"/>
          <p:cNvSpPr/>
          <p:nvPr/>
        </p:nvSpPr>
        <p:spPr>
          <a:xfrm>
            <a:off x="640080" y="1737360"/>
            <a:ext cx="3520440" cy="1810512"/>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13" name="Oval 12"/>
          <p:cNvSpPr/>
          <p:nvPr/>
        </p:nvSpPr>
        <p:spPr>
          <a:xfrm>
            <a:off x="822959" y="1901952"/>
            <a:ext cx="310896" cy="310896"/>
          </a:xfrm>
          <a:prstGeom prst="ellipse">
            <a:avLst/>
          </a:prstGeom>
          <a:solidFill>
            <a:srgbClr val="EEF0FF"/>
          </a:solidFill>
          <a:ln>
            <a:noFill/>
          </a:ln>
          <a:effectLst/>
        </p:spPr>
        <p:txBody>
          <a:bodyPr rtlCol="0" anchor="ctr" lIns="0" rIns="0" tIns="0" bIns="0"/>
          <a:lstStyle/>
          <a:p>
            <a:pPr algn="ctr"/>
            <a:r>
              <a:rPr sz="840" b="1">
                <a:solidFill>
                  <a:srgbClr val="4F5BD5"/>
                </a:solidFill>
                <a:latin typeface="Segoe UI"/>
              </a:rPr>
              <a:t>01</a:t>
            </a:r>
          </a:p>
        </p:txBody>
      </p:sp>
      <p:sp>
        <p:nvSpPr>
          <p:cNvPr id="14" name="TextBox 13"/>
          <p:cNvSpPr txBox="1"/>
          <p:nvPr/>
        </p:nvSpPr>
        <p:spPr>
          <a:xfrm>
            <a:off x="1225295" y="1883664"/>
            <a:ext cx="2743200" cy="237744"/>
          </a:xfrm>
          <a:prstGeom prst="rect">
            <a:avLst/>
          </a:prstGeom>
          <a:noFill/>
        </p:spPr>
        <p:txBody>
          <a:bodyPr wrap="square" anchor="t" lIns="0" rIns="0" tIns="0" bIns="0">
            <a:noAutofit/>
          </a:bodyPr>
          <a:lstStyle/>
          <a:p>
            <a:pPr algn="l">
              <a:lnSpc>
                <a:spcPct val="112000"/>
              </a:lnSpc>
              <a:spcAft>
                <a:spcPts val="0"/>
              </a:spcAft>
            </a:pPr>
            <a:r>
              <a:rPr sz="1360" b="1" i="0">
                <a:solidFill>
                  <a:srgbClr val="0F172A"/>
                </a:solidFill>
                <a:latin typeface="Segoe UI"/>
              </a:rPr>
              <a:t>Adaptive platforms</a:t>
            </a:r>
          </a:p>
        </p:txBody>
      </p:sp>
      <p:sp>
        <p:nvSpPr>
          <p:cNvPr id="15" name="TextBox 14"/>
          <p:cNvSpPr txBox="1"/>
          <p:nvPr/>
        </p:nvSpPr>
        <p:spPr>
          <a:xfrm>
            <a:off x="822959" y="2304288"/>
            <a:ext cx="3108960" cy="164592"/>
          </a:xfrm>
          <a:prstGeom prst="rect">
            <a:avLst/>
          </a:prstGeom>
          <a:noFill/>
        </p:spPr>
        <p:txBody>
          <a:bodyPr wrap="square" anchor="t" lIns="0" rIns="0" tIns="0" bIns="0">
            <a:noAutofit/>
          </a:bodyPr>
          <a:lstStyle/>
          <a:p>
            <a:pPr algn="l">
              <a:lnSpc>
                <a:spcPct val="112000"/>
              </a:lnSpc>
              <a:spcAft>
                <a:spcPts val="0"/>
              </a:spcAft>
            </a:pPr>
            <a:r>
              <a:rPr sz="720" b="1" i="0">
                <a:solidFill>
                  <a:srgbClr val="047857"/>
                </a:solidFill>
                <a:latin typeface="Segoe UI"/>
              </a:rPr>
              <a:t>DOES WELL</a:t>
            </a:r>
          </a:p>
        </p:txBody>
      </p:sp>
      <p:sp>
        <p:nvSpPr>
          <p:cNvPr id="16" name="TextBox 15"/>
          <p:cNvSpPr txBox="1"/>
          <p:nvPr/>
        </p:nvSpPr>
        <p:spPr>
          <a:xfrm>
            <a:off x="822959" y="2468880"/>
            <a:ext cx="3154680" cy="365760"/>
          </a:xfrm>
          <a:prstGeom prst="rect">
            <a:avLst/>
          </a:prstGeom>
          <a:noFill/>
        </p:spPr>
        <p:txBody>
          <a:bodyPr wrap="square" anchor="t" lIns="0" rIns="0" tIns="0" bIns="0">
            <a:noAutofit/>
          </a:bodyPr>
          <a:lstStyle/>
          <a:p>
            <a:pPr algn="l">
              <a:lnSpc>
                <a:spcPct val="116000"/>
              </a:lnSpc>
              <a:spcAft>
                <a:spcPts val="0"/>
              </a:spcAft>
            </a:pPr>
            <a:r>
              <a:rPr sz="980" b="0" i="0">
                <a:solidFill>
                  <a:srgbClr val="475569"/>
                </a:solidFill>
                <a:latin typeface="Segoe UI"/>
              </a:rPr>
              <a:t>Sequence content by mastery and difficulty.</a:t>
            </a:r>
          </a:p>
        </p:txBody>
      </p:sp>
      <p:sp>
        <p:nvSpPr>
          <p:cNvPr id="17" name="TextBox 16"/>
          <p:cNvSpPr txBox="1"/>
          <p:nvPr/>
        </p:nvSpPr>
        <p:spPr>
          <a:xfrm>
            <a:off x="822959" y="2889504"/>
            <a:ext cx="3108960" cy="164592"/>
          </a:xfrm>
          <a:prstGeom prst="rect">
            <a:avLst/>
          </a:prstGeom>
          <a:noFill/>
        </p:spPr>
        <p:txBody>
          <a:bodyPr wrap="square" anchor="t" lIns="0" rIns="0" tIns="0" bIns="0">
            <a:noAutofit/>
          </a:bodyPr>
          <a:lstStyle/>
          <a:p>
            <a:pPr algn="l">
              <a:lnSpc>
                <a:spcPct val="112000"/>
              </a:lnSpc>
              <a:spcAft>
                <a:spcPts val="0"/>
              </a:spcAft>
            </a:pPr>
            <a:r>
              <a:rPr sz="720" b="1" i="0">
                <a:solidFill>
                  <a:srgbClr val="EF4444"/>
                </a:solidFill>
                <a:latin typeface="Segoe UI"/>
              </a:rPr>
              <a:t>MISSES</a:t>
            </a:r>
          </a:p>
        </p:txBody>
      </p:sp>
      <p:sp>
        <p:nvSpPr>
          <p:cNvPr id="18" name="TextBox 17"/>
          <p:cNvSpPr txBox="1"/>
          <p:nvPr/>
        </p:nvSpPr>
        <p:spPr>
          <a:xfrm>
            <a:off x="822959" y="3054096"/>
            <a:ext cx="3154680" cy="365760"/>
          </a:xfrm>
          <a:prstGeom prst="rect">
            <a:avLst/>
          </a:prstGeom>
          <a:noFill/>
        </p:spPr>
        <p:txBody>
          <a:bodyPr wrap="square" anchor="t" lIns="0" rIns="0" tIns="0" bIns="0">
            <a:noAutofit/>
          </a:bodyPr>
          <a:lstStyle/>
          <a:p>
            <a:pPr algn="l">
              <a:lnSpc>
                <a:spcPct val="116000"/>
              </a:lnSpc>
              <a:spcAft>
                <a:spcPts val="0"/>
              </a:spcAft>
            </a:pPr>
            <a:r>
              <a:rPr sz="980" b="0" i="0">
                <a:solidFill>
                  <a:srgbClr val="B91C1C"/>
                </a:solidFill>
                <a:latin typeface="Segoe UI"/>
              </a:rPr>
              <a:t>Rarely react to one student's week.</a:t>
            </a:r>
          </a:p>
        </p:txBody>
      </p:sp>
      <p:sp>
        <p:nvSpPr>
          <p:cNvPr id="19" name="Rounded Rectangle 18"/>
          <p:cNvSpPr/>
          <p:nvPr/>
        </p:nvSpPr>
        <p:spPr>
          <a:xfrm>
            <a:off x="4375404" y="1783080"/>
            <a:ext cx="3520440" cy="1810512"/>
          </a:xfrm>
          <a:prstGeom prst="roundRect">
            <a:avLst>
              <a:gd name="adj" fmla="val 5000"/>
            </a:avLst>
          </a:prstGeom>
          <a:solidFill>
            <a:srgbClr val="E8ECF8"/>
          </a:solidFill>
          <a:ln>
            <a:noFill/>
          </a:ln>
          <a:effectLst/>
        </p:spPr>
        <p:txBody>
          <a:bodyPr rtlCol="0" anchor="ctr" wrap="square"/>
          <a:lstStyle/>
          <a:p>
            <a:pPr algn="ctr"/>
          </a:p>
        </p:txBody>
      </p:sp>
      <p:sp>
        <p:nvSpPr>
          <p:cNvPr id="20" name="Rounded Rectangle 19"/>
          <p:cNvSpPr/>
          <p:nvPr/>
        </p:nvSpPr>
        <p:spPr>
          <a:xfrm>
            <a:off x="4343400" y="1737360"/>
            <a:ext cx="3520440" cy="1810512"/>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21" name="Oval 20"/>
          <p:cNvSpPr/>
          <p:nvPr/>
        </p:nvSpPr>
        <p:spPr>
          <a:xfrm>
            <a:off x="4526280" y="1901952"/>
            <a:ext cx="310896" cy="310896"/>
          </a:xfrm>
          <a:prstGeom prst="ellipse">
            <a:avLst/>
          </a:prstGeom>
          <a:solidFill>
            <a:srgbClr val="E0F2FE"/>
          </a:solidFill>
          <a:ln>
            <a:noFill/>
          </a:ln>
          <a:effectLst/>
        </p:spPr>
        <p:txBody>
          <a:bodyPr rtlCol="0" anchor="ctr" lIns="0" rIns="0" tIns="0" bIns="0"/>
          <a:lstStyle/>
          <a:p>
            <a:pPr algn="ctr"/>
            <a:r>
              <a:rPr sz="840" b="1">
                <a:solidFill>
                  <a:srgbClr val="0EA5E9"/>
                </a:solidFill>
                <a:latin typeface="Segoe UI"/>
              </a:rPr>
              <a:t>02</a:t>
            </a:r>
          </a:p>
        </p:txBody>
      </p:sp>
      <p:sp>
        <p:nvSpPr>
          <p:cNvPr id="22" name="TextBox 21"/>
          <p:cNvSpPr txBox="1"/>
          <p:nvPr/>
        </p:nvSpPr>
        <p:spPr>
          <a:xfrm>
            <a:off x="4928616" y="1883664"/>
            <a:ext cx="2743200" cy="237744"/>
          </a:xfrm>
          <a:prstGeom prst="rect">
            <a:avLst/>
          </a:prstGeom>
          <a:noFill/>
        </p:spPr>
        <p:txBody>
          <a:bodyPr wrap="square" anchor="t" lIns="0" rIns="0" tIns="0" bIns="0">
            <a:noAutofit/>
          </a:bodyPr>
          <a:lstStyle/>
          <a:p>
            <a:pPr algn="l">
              <a:lnSpc>
                <a:spcPct val="112000"/>
              </a:lnSpc>
              <a:spcAft>
                <a:spcPts val="0"/>
              </a:spcAft>
            </a:pPr>
            <a:r>
              <a:rPr sz="1360" b="1" i="0">
                <a:solidFill>
                  <a:srgbClr val="0F172A"/>
                </a:solidFill>
                <a:latin typeface="Segoe UI"/>
              </a:rPr>
              <a:t>AI tutors</a:t>
            </a:r>
          </a:p>
        </p:txBody>
      </p:sp>
      <p:sp>
        <p:nvSpPr>
          <p:cNvPr id="23" name="TextBox 22"/>
          <p:cNvSpPr txBox="1"/>
          <p:nvPr/>
        </p:nvSpPr>
        <p:spPr>
          <a:xfrm>
            <a:off x="4526280" y="2304288"/>
            <a:ext cx="3108960" cy="164592"/>
          </a:xfrm>
          <a:prstGeom prst="rect">
            <a:avLst/>
          </a:prstGeom>
          <a:noFill/>
        </p:spPr>
        <p:txBody>
          <a:bodyPr wrap="square" anchor="t" lIns="0" rIns="0" tIns="0" bIns="0">
            <a:noAutofit/>
          </a:bodyPr>
          <a:lstStyle/>
          <a:p>
            <a:pPr algn="l">
              <a:lnSpc>
                <a:spcPct val="112000"/>
              </a:lnSpc>
              <a:spcAft>
                <a:spcPts val="0"/>
              </a:spcAft>
            </a:pPr>
            <a:r>
              <a:rPr sz="720" b="1" i="0">
                <a:solidFill>
                  <a:srgbClr val="047857"/>
                </a:solidFill>
                <a:latin typeface="Segoe UI"/>
              </a:rPr>
              <a:t>DOES WELL</a:t>
            </a:r>
          </a:p>
        </p:txBody>
      </p:sp>
      <p:sp>
        <p:nvSpPr>
          <p:cNvPr id="24" name="TextBox 23"/>
          <p:cNvSpPr txBox="1"/>
          <p:nvPr/>
        </p:nvSpPr>
        <p:spPr>
          <a:xfrm>
            <a:off x="4526280" y="2468880"/>
            <a:ext cx="3154680" cy="365760"/>
          </a:xfrm>
          <a:prstGeom prst="rect">
            <a:avLst/>
          </a:prstGeom>
          <a:noFill/>
        </p:spPr>
        <p:txBody>
          <a:bodyPr wrap="square" anchor="t" lIns="0" rIns="0" tIns="0" bIns="0">
            <a:noAutofit/>
          </a:bodyPr>
          <a:lstStyle/>
          <a:p>
            <a:pPr algn="l">
              <a:lnSpc>
                <a:spcPct val="116000"/>
              </a:lnSpc>
              <a:spcAft>
                <a:spcPts val="0"/>
              </a:spcAft>
            </a:pPr>
            <a:r>
              <a:rPr sz="980" b="0" i="0">
                <a:solidFill>
                  <a:srgbClr val="475569"/>
                </a:solidFill>
                <a:latin typeface="Segoe UI"/>
              </a:rPr>
              <a:t>Generate explanations and practice on demand.</a:t>
            </a:r>
          </a:p>
        </p:txBody>
      </p:sp>
      <p:sp>
        <p:nvSpPr>
          <p:cNvPr id="25" name="TextBox 24"/>
          <p:cNvSpPr txBox="1"/>
          <p:nvPr/>
        </p:nvSpPr>
        <p:spPr>
          <a:xfrm>
            <a:off x="4526280" y="2889504"/>
            <a:ext cx="3108960" cy="164592"/>
          </a:xfrm>
          <a:prstGeom prst="rect">
            <a:avLst/>
          </a:prstGeom>
          <a:noFill/>
        </p:spPr>
        <p:txBody>
          <a:bodyPr wrap="square" anchor="t" lIns="0" rIns="0" tIns="0" bIns="0">
            <a:noAutofit/>
          </a:bodyPr>
          <a:lstStyle/>
          <a:p>
            <a:pPr algn="l">
              <a:lnSpc>
                <a:spcPct val="112000"/>
              </a:lnSpc>
              <a:spcAft>
                <a:spcPts val="0"/>
              </a:spcAft>
            </a:pPr>
            <a:r>
              <a:rPr sz="720" b="1" i="0">
                <a:solidFill>
                  <a:srgbClr val="EF4444"/>
                </a:solidFill>
                <a:latin typeface="Segoe UI"/>
              </a:rPr>
              <a:t>MISSES</a:t>
            </a:r>
          </a:p>
        </p:txBody>
      </p:sp>
      <p:sp>
        <p:nvSpPr>
          <p:cNvPr id="26" name="TextBox 25"/>
          <p:cNvSpPr txBox="1"/>
          <p:nvPr/>
        </p:nvSpPr>
        <p:spPr>
          <a:xfrm>
            <a:off x="4526280" y="3054096"/>
            <a:ext cx="3154680" cy="365760"/>
          </a:xfrm>
          <a:prstGeom prst="rect">
            <a:avLst/>
          </a:prstGeom>
          <a:noFill/>
        </p:spPr>
        <p:txBody>
          <a:bodyPr wrap="square" anchor="t" lIns="0" rIns="0" tIns="0" bIns="0">
            <a:noAutofit/>
          </a:bodyPr>
          <a:lstStyle/>
          <a:p>
            <a:pPr algn="l">
              <a:lnSpc>
                <a:spcPct val="116000"/>
              </a:lnSpc>
              <a:spcAft>
                <a:spcPts val="0"/>
              </a:spcAft>
            </a:pPr>
            <a:r>
              <a:rPr sz="980" b="0" i="0">
                <a:solidFill>
                  <a:srgbClr val="B91C1C"/>
                </a:solidFill>
                <a:latin typeface="Segoe UI"/>
              </a:rPr>
              <a:t>Cloud-only, disconnected from stored work.</a:t>
            </a:r>
          </a:p>
        </p:txBody>
      </p:sp>
      <p:sp>
        <p:nvSpPr>
          <p:cNvPr id="27" name="Rounded Rectangle 26"/>
          <p:cNvSpPr/>
          <p:nvPr/>
        </p:nvSpPr>
        <p:spPr>
          <a:xfrm>
            <a:off x="8078723" y="1783080"/>
            <a:ext cx="3520440" cy="1810512"/>
          </a:xfrm>
          <a:prstGeom prst="roundRect">
            <a:avLst>
              <a:gd name="adj" fmla="val 5000"/>
            </a:avLst>
          </a:prstGeom>
          <a:solidFill>
            <a:srgbClr val="E8ECF8"/>
          </a:solidFill>
          <a:ln>
            <a:noFill/>
          </a:ln>
          <a:effectLst/>
        </p:spPr>
        <p:txBody>
          <a:bodyPr rtlCol="0" anchor="ctr" wrap="square"/>
          <a:lstStyle/>
          <a:p>
            <a:pPr algn="ctr"/>
          </a:p>
        </p:txBody>
      </p:sp>
      <p:sp>
        <p:nvSpPr>
          <p:cNvPr id="28" name="Rounded Rectangle 27"/>
          <p:cNvSpPr/>
          <p:nvPr/>
        </p:nvSpPr>
        <p:spPr>
          <a:xfrm>
            <a:off x="8046719" y="1737360"/>
            <a:ext cx="3520440" cy="1810512"/>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29" name="Oval 28"/>
          <p:cNvSpPr/>
          <p:nvPr/>
        </p:nvSpPr>
        <p:spPr>
          <a:xfrm>
            <a:off x="8229599" y="1901952"/>
            <a:ext cx="310896" cy="310896"/>
          </a:xfrm>
          <a:prstGeom prst="ellipse">
            <a:avLst/>
          </a:prstGeom>
          <a:solidFill>
            <a:srgbClr val="FFF7E6"/>
          </a:solidFill>
          <a:ln>
            <a:noFill/>
          </a:ln>
          <a:effectLst/>
        </p:spPr>
        <p:txBody>
          <a:bodyPr rtlCol="0" anchor="ctr" lIns="0" rIns="0" tIns="0" bIns="0"/>
          <a:lstStyle/>
          <a:p>
            <a:pPr algn="ctr"/>
            <a:r>
              <a:rPr sz="840" b="1">
                <a:solidFill>
                  <a:srgbClr val="F59E0B"/>
                </a:solidFill>
                <a:latin typeface="Segoe UI"/>
              </a:rPr>
              <a:t>03</a:t>
            </a:r>
          </a:p>
        </p:txBody>
      </p:sp>
      <p:sp>
        <p:nvSpPr>
          <p:cNvPr id="30" name="TextBox 29"/>
          <p:cNvSpPr txBox="1"/>
          <p:nvPr/>
        </p:nvSpPr>
        <p:spPr>
          <a:xfrm>
            <a:off x="8631936" y="1883664"/>
            <a:ext cx="2743200" cy="237744"/>
          </a:xfrm>
          <a:prstGeom prst="rect">
            <a:avLst/>
          </a:prstGeom>
          <a:noFill/>
        </p:spPr>
        <p:txBody>
          <a:bodyPr wrap="square" anchor="t" lIns="0" rIns="0" tIns="0" bIns="0">
            <a:noAutofit/>
          </a:bodyPr>
          <a:lstStyle/>
          <a:p>
            <a:pPr algn="l">
              <a:lnSpc>
                <a:spcPct val="112000"/>
              </a:lnSpc>
              <a:spcAft>
                <a:spcPts val="0"/>
              </a:spcAft>
            </a:pPr>
            <a:r>
              <a:rPr sz="1360" b="1" i="0">
                <a:solidFill>
                  <a:srgbClr val="0F172A"/>
                </a:solidFill>
                <a:latin typeface="Segoe UI"/>
              </a:rPr>
              <a:t>LMS analytics</a:t>
            </a:r>
          </a:p>
        </p:txBody>
      </p:sp>
      <p:sp>
        <p:nvSpPr>
          <p:cNvPr id="31" name="TextBox 30"/>
          <p:cNvSpPr txBox="1"/>
          <p:nvPr/>
        </p:nvSpPr>
        <p:spPr>
          <a:xfrm>
            <a:off x="8229599" y="2304288"/>
            <a:ext cx="3108960" cy="164592"/>
          </a:xfrm>
          <a:prstGeom prst="rect">
            <a:avLst/>
          </a:prstGeom>
          <a:noFill/>
        </p:spPr>
        <p:txBody>
          <a:bodyPr wrap="square" anchor="t" lIns="0" rIns="0" tIns="0" bIns="0">
            <a:noAutofit/>
          </a:bodyPr>
          <a:lstStyle/>
          <a:p>
            <a:pPr algn="l">
              <a:lnSpc>
                <a:spcPct val="112000"/>
              </a:lnSpc>
              <a:spcAft>
                <a:spcPts val="0"/>
              </a:spcAft>
            </a:pPr>
            <a:r>
              <a:rPr sz="720" b="1" i="0">
                <a:solidFill>
                  <a:srgbClr val="047857"/>
                </a:solidFill>
                <a:latin typeface="Segoe UI"/>
              </a:rPr>
              <a:t>DOES WELL</a:t>
            </a:r>
          </a:p>
        </p:txBody>
      </p:sp>
      <p:sp>
        <p:nvSpPr>
          <p:cNvPr id="32" name="TextBox 31"/>
          <p:cNvSpPr txBox="1"/>
          <p:nvPr/>
        </p:nvSpPr>
        <p:spPr>
          <a:xfrm>
            <a:off x="8229599" y="2468880"/>
            <a:ext cx="3154680" cy="365760"/>
          </a:xfrm>
          <a:prstGeom prst="rect">
            <a:avLst/>
          </a:prstGeom>
          <a:noFill/>
        </p:spPr>
        <p:txBody>
          <a:bodyPr wrap="square" anchor="t" lIns="0" rIns="0" tIns="0" bIns="0">
            <a:noAutofit/>
          </a:bodyPr>
          <a:lstStyle/>
          <a:p>
            <a:pPr algn="l">
              <a:lnSpc>
                <a:spcPct val="116000"/>
              </a:lnSpc>
              <a:spcAft>
                <a:spcPts val="0"/>
              </a:spcAft>
            </a:pPr>
            <a:r>
              <a:rPr sz="980" b="0" i="0">
                <a:solidFill>
                  <a:srgbClr val="475569"/>
                </a:solidFill>
                <a:latin typeface="Segoe UI"/>
              </a:rPr>
              <a:t>Track cohort performance and completion.</a:t>
            </a:r>
          </a:p>
        </p:txBody>
      </p:sp>
      <p:sp>
        <p:nvSpPr>
          <p:cNvPr id="33" name="TextBox 32"/>
          <p:cNvSpPr txBox="1"/>
          <p:nvPr/>
        </p:nvSpPr>
        <p:spPr>
          <a:xfrm>
            <a:off x="8229599" y="2889504"/>
            <a:ext cx="3108960" cy="164592"/>
          </a:xfrm>
          <a:prstGeom prst="rect">
            <a:avLst/>
          </a:prstGeom>
          <a:noFill/>
        </p:spPr>
        <p:txBody>
          <a:bodyPr wrap="square" anchor="t" lIns="0" rIns="0" tIns="0" bIns="0">
            <a:noAutofit/>
          </a:bodyPr>
          <a:lstStyle/>
          <a:p>
            <a:pPr algn="l">
              <a:lnSpc>
                <a:spcPct val="112000"/>
              </a:lnSpc>
              <a:spcAft>
                <a:spcPts val="0"/>
              </a:spcAft>
            </a:pPr>
            <a:r>
              <a:rPr sz="720" b="1" i="0">
                <a:solidFill>
                  <a:srgbClr val="EF4444"/>
                </a:solidFill>
                <a:latin typeface="Segoe UI"/>
              </a:rPr>
              <a:t>MISSES</a:t>
            </a:r>
          </a:p>
        </p:txBody>
      </p:sp>
      <p:sp>
        <p:nvSpPr>
          <p:cNvPr id="34" name="TextBox 33"/>
          <p:cNvSpPr txBox="1"/>
          <p:nvPr/>
        </p:nvSpPr>
        <p:spPr>
          <a:xfrm>
            <a:off x="8229599" y="3054096"/>
            <a:ext cx="3154680" cy="365760"/>
          </a:xfrm>
          <a:prstGeom prst="rect">
            <a:avLst/>
          </a:prstGeom>
          <a:noFill/>
        </p:spPr>
        <p:txBody>
          <a:bodyPr wrap="square" anchor="t" lIns="0" rIns="0" tIns="0" bIns="0">
            <a:noAutofit/>
          </a:bodyPr>
          <a:lstStyle/>
          <a:p>
            <a:pPr algn="l">
              <a:lnSpc>
                <a:spcPct val="116000"/>
              </a:lnSpc>
              <a:spcAft>
                <a:spcPts val="0"/>
              </a:spcAft>
            </a:pPr>
            <a:r>
              <a:rPr sz="980" b="0" i="0">
                <a:solidFill>
                  <a:srgbClr val="B91C1C"/>
                </a:solidFill>
                <a:latin typeface="Segoe UI"/>
              </a:rPr>
              <a:t>Serve the institution, not the individual plan.</a:t>
            </a:r>
          </a:p>
        </p:txBody>
      </p:sp>
      <p:sp>
        <p:nvSpPr>
          <p:cNvPr id="35" name="Rounded Rectangle 34"/>
          <p:cNvSpPr/>
          <p:nvPr/>
        </p:nvSpPr>
        <p:spPr>
          <a:xfrm>
            <a:off x="672084" y="3739896"/>
            <a:ext cx="3520440" cy="1810512"/>
          </a:xfrm>
          <a:prstGeom prst="roundRect">
            <a:avLst>
              <a:gd name="adj" fmla="val 5000"/>
            </a:avLst>
          </a:prstGeom>
          <a:solidFill>
            <a:srgbClr val="E8ECF8"/>
          </a:solidFill>
          <a:ln>
            <a:noFill/>
          </a:ln>
          <a:effectLst/>
        </p:spPr>
        <p:txBody>
          <a:bodyPr rtlCol="0" anchor="ctr" wrap="square"/>
          <a:lstStyle/>
          <a:p>
            <a:pPr algn="ctr"/>
          </a:p>
        </p:txBody>
      </p:sp>
      <p:sp>
        <p:nvSpPr>
          <p:cNvPr id="36" name="Rounded Rectangle 35"/>
          <p:cNvSpPr/>
          <p:nvPr/>
        </p:nvSpPr>
        <p:spPr>
          <a:xfrm>
            <a:off x="640080" y="3694176"/>
            <a:ext cx="3520440" cy="1810512"/>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37" name="Oval 36"/>
          <p:cNvSpPr/>
          <p:nvPr/>
        </p:nvSpPr>
        <p:spPr>
          <a:xfrm>
            <a:off x="822959" y="3858768"/>
            <a:ext cx="310896" cy="310896"/>
          </a:xfrm>
          <a:prstGeom prst="ellipse">
            <a:avLst/>
          </a:prstGeom>
          <a:solidFill>
            <a:srgbClr val="E7FBF3"/>
          </a:solidFill>
          <a:ln>
            <a:noFill/>
          </a:ln>
          <a:effectLst/>
        </p:spPr>
        <p:txBody>
          <a:bodyPr rtlCol="0" anchor="ctr" lIns="0" rIns="0" tIns="0" bIns="0"/>
          <a:lstStyle/>
          <a:p>
            <a:pPr algn="ctr"/>
            <a:r>
              <a:rPr sz="840" b="1">
                <a:solidFill>
                  <a:srgbClr val="10B981"/>
                </a:solidFill>
                <a:latin typeface="Segoe UI"/>
              </a:rPr>
              <a:t>04</a:t>
            </a:r>
          </a:p>
        </p:txBody>
      </p:sp>
      <p:sp>
        <p:nvSpPr>
          <p:cNvPr id="38" name="TextBox 37"/>
          <p:cNvSpPr txBox="1"/>
          <p:nvPr/>
        </p:nvSpPr>
        <p:spPr>
          <a:xfrm>
            <a:off x="1225295" y="3840480"/>
            <a:ext cx="2743200" cy="237744"/>
          </a:xfrm>
          <a:prstGeom prst="rect">
            <a:avLst/>
          </a:prstGeom>
          <a:noFill/>
        </p:spPr>
        <p:txBody>
          <a:bodyPr wrap="square" anchor="t" lIns="0" rIns="0" tIns="0" bIns="0">
            <a:noAutofit/>
          </a:bodyPr>
          <a:lstStyle/>
          <a:p>
            <a:pPr algn="l">
              <a:lnSpc>
                <a:spcPct val="112000"/>
              </a:lnSpc>
              <a:spcAft>
                <a:spcPts val="0"/>
              </a:spcAft>
            </a:pPr>
            <a:r>
              <a:rPr sz="1360" b="1" i="0">
                <a:solidFill>
                  <a:srgbClr val="0F172A"/>
                </a:solidFill>
                <a:latin typeface="Segoe UI"/>
              </a:rPr>
              <a:t>Spaced repetition</a:t>
            </a:r>
          </a:p>
        </p:txBody>
      </p:sp>
      <p:sp>
        <p:nvSpPr>
          <p:cNvPr id="39" name="TextBox 38"/>
          <p:cNvSpPr txBox="1"/>
          <p:nvPr/>
        </p:nvSpPr>
        <p:spPr>
          <a:xfrm>
            <a:off x="822959" y="4261104"/>
            <a:ext cx="3108960" cy="164592"/>
          </a:xfrm>
          <a:prstGeom prst="rect">
            <a:avLst/>
          </a:prstGeom>
          <a:noFill/>
        </p:spPr>
        <p:txBody>
          <a:bodyPr wrap="square" anchor="t" lIns="0" rIns="0" tIns="0" bIns="0">
            <a:noAutofit/>
          </a:bodyPr>
          <a:lstStyle/>
          <a:p>
            <a:pPr algn="l">
              <a:lnSpc>
                <a:spcPct val="112000"/>
              </a:lnSpc>
              <a:spcAft>
                <a:spcPts val="0"/>
              </a:spcAft>
            </a:pPr>
            <a:r>
              <a:rPr sz="720" b="1" i="0">
                <a:solidFill>
                  <a:srgbClr val="047857"/>
                </a:solidFill>
                <a:latin typeface="Segoe UI"/>
              </a:rPr>
              <a:t>DOES WELL</a:t>
            </a:r>
          </a:p>
        </p:txBody>
      </p:sp>
      <p:sp>
        <p:nvSpPr>
          <p:cNvPr id="40" name="TextBox 39"/>
          <p:cNvSpPr txBox="1"/>
          <p:nvPr/>
        </p:nvSpPr>
        <p:spPr>
          <a:xfrm>
            <a:off x="822959" y="4425696"/>
            <a:ext cx="3154680" cy="365760"/>
          </a:xfrm>
          <a:prstGeom prst="rect">
            <a:avLst/>
          </a:prstGeom>
          <a:noFill/>
        </p:spPr>
        <p:txBody>
          <a:bodyPr wrap="square" anchor="t" lIns="0" rIns="0" tIns="0" bIns="0">
            <a:noAutofit/>
          </a:bodyPr>
          <a:lstStyle/>
          <a:p>
            <a:pPr algn="l">
              <a:lnSpc>
                <a:spcPct val="116000"/>
              </a:lnSpc>
              <a:spcAft>
                <a:spcPts val="0"/>
              </a:spcAft>
            </a:pPr>
            <a:r>
              <a:rPr sz="980" b="0" i="0">
                <a:solidFill>
                  <a:srgbClr val="475569"/>
                </a:solidFill>
                <a:latin typeface="Segoe UI"/>
              </a:rPr>
              <a:t>Schedule review at the edge of recall.</a:t>
            </a:r>
          </a:p>
        </p:txBody>
      </p:sp>
      <p:sp>
        <p:nvSpPr>
          <p:cNvPr id="41" name="TextBox 40"/>
          <p:cNvSpPr txBox="1"/>
          <p:nvPr/>
        </p:nvSpPr>
        <p:spPr>
          <a:xfrm>
            <a:off x="822959" y="4846320"/>
            <a:ext cx="3108960" cy="164592"/>
          </a:xfrm>
          <a:prstGeom prst="rect">
            <a:avLst/>
          </a:prstGeom>
          <a:noFill/>
        </p:spPr>
        <p:txBody>
          <a:bodyPr wrap="square" anchor="t" lIns="0" rIns="0" tIns="0" bIns="0">
            <a:noAutofit/>
          </a:bodyPr>
          <a:lstStyle/>
          <a:p>
            <a:pPr algn="l">
              <a:lnSpc>
                <a:spcPct val="112000"/>
              </a:lnSpc>
              <a:spcAft>
                <a:spcPts val="0"/>
              </a:spcAft>
            </a:pPr>
            <a:r>
              <a:rPr sz="720" b="1" i="0">
                <a:solidFill>
                  <a:srgbClr val="EF4444"/>
                </a:solidFill>
                <a:latin typeface="Segoe UI"/>
              </a:rPr>
              <a:t>MISSES</a:t>
            </a:r>
          </a:p>
        </p:txBody>
      </p:sp>
      <p:sp>
        <p:nvSpPr>
          <p:cNvPr id="42" name="TextBox 41"/>
          <p:cNvSpPr txBox="1"/>
          <p:nvPr/>
        </p:nvSpPr>
        <p:spPr>
          <a:xfrm>
            <a:off x="822959" y="5010912"/>
            <a:ext cx="3154680" cy="365760"/>
          </a:xfrm>
          <a:prstGeom prst="rect">
            <a:avLst/>
          </a:prstGeom>
          <a:noFill/>
        </p:spPr>
        <p:txBody>
          <a:bodyPr wrap="square" anchor="t" lIns="0" rIns="0" tIns="0" bIns="0">
            <a:noAutofit/>
          </a:bodyPr>
          <a:lstStyle/>
          <a:p>
            <a:pPr algn="l">
              <a:lnSpc>
                <a:spcPct val="116000"/>
              </a:lnSpc>
              <a:spcAft>
                <a:spcPts val="0"/>
              </a:spcAft>
            </a:pPr>
            <a:r>
              <a:rPr sz="980" b="0" i="0">
                <a:solidFill>
                  <a:srgbClr val="B91C1C"/>
                </a:solidFill>
                <a:latin typeface="Segoe UI"/>
              </a:rPr>
              <a:t>Isolated from syllabus, notes and practice.</a:t>
            </a:r>
          </a:p>
        </p:txBody>
      </p:sp>
      <p:sp>
        <p:nvSpPr>
          <p:cNvPr id="43" name="Rounded Rectangle 42"/>
          <p:cNvSpPr/>
          <p:nvPr/>
        </p:nvSpPr>
        <p:spPr>
          <a:xfrm>
            <a:off x="4375404" y="3739896"/>
            <a:ext cx="3520440" cy="1810512"/>
          </a:xfrm>
          <a:prstGeom prst="roundRect">
            <a:avLst>
              <a:gd name="adj" fmla="val 5000"/>
            </a:avLst>
          </a:prstGeom>
          <a:solidFill>
            <a:srgbClr val="E8ECF8"/>
          </a:solidFill>
          <a:ln>
            <a:noFill/>
          </a:ln>
          <a:effectLst/>
        </p:spPr>
        <p:txBody>
          <a:bodyPr rtlCol="0" anchor="ctr" wrap="square"/>
          <a:lstStyle/>
          <a:p>
            <a:pPr algn="ctr"/>
          </a:p>
        </p:txBody>
      </p:sp>
      <p:sp>
        <p:nvSpPr>
          <p:cNvPr id="44" name="Rounded Rectangle 43"/>
          <p:cNvSpPr/>
          <p:nvPr/>
        </p:nvSpPr>
        <p:spPr>
          <a:xfrm>
            <a:off x="4343400" y="3694176"/>
            <a:ext cx="3520440" cy="1810512"/>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45" name="Oval 44"/>
          <p:cNvSpPr/>
          <p:nvPr/>
        </p:nvSpPr>
        <p:spPr>
          <a:xfrm>
            <a:off x="4526280" y="3858768"/>
            <a:ext cx="310896" cy="310896"/>
          </a:xfrm>
          <a:prstGeom prst="ellipse">
            <a:avLst/>
          </a:prstGeom>
          <a:solidFill>
            <a:srgbClr val="F3EEFF"/>
          </a:solidFill>
          <a:ln>
            <a:noFill/>
          </a:ln>
          <a:effectLst/>
        </p:spPr>
        <p:txBody>
          <a:bodyPr rtlCol="0" anchor="ctr" lIns="0" rIns="0" tIns="0" bIns="0"/>
          <a:lstStyle/>
          <a:p>
            <a:pPr algn="ctr"/>
            <a:r>
              <a:rPr sz="840" b="1">
                <a:solidFill>
                  <a:srgbClr val="8B5CF6"/>
                </a:solidFill>
                <a:latin typeface="Segoe UI"/>
              </a:rPr>
              <a:t>05</a:t>
            </a:r>
          </a:p>
        </p:txBody>
      </p:sp>
      <p:sp>
        <p:nvSpPr>
          <p:cNvPr id="46" name="TextBox 45"/>
          <p:cNvSpPr txBox="1"/>
          <p:nvPr/>
        </p:nvSpPr>
        <p:spPr>
          <a:xfrm>
            <a:off x="4928616" y="3840480"/>
            <a:ext cx="2743200" cy="237744"/>
          </a:xfrm>
          <a:prstGeom prst="rect">
            <a:avLst/>
          </a:prstGeom>
          <a:noFill/>
        </p:spPr>
        <p:txBody>
          <a:bodyPr wrap="square" anchor="t" lIns="0" rIns="0" tIns="0" bIns="0">
            <a:noAutofit/>
          </a:bodyPr>
          <a:lstStyle/>
          <a:p>
            <a:pPr algn="l">
              <a:lnSpc>
                <a:spcPct val="112000"/>
              </a:lnSpc>
              <a:spcAft>
                <a:spcPts val="0"/>
              </a:spcAft>
            </a:pPr>
            <a:r>
              <a:rPr sz="1360" b="1" i="0">
                <a:solidFill>
                  <a:srgbClr val="0F172A"/>
                </a:solidFill>
                <a:latin typeface="Segoe UI"/>
              </a:rPr>
              <a:t>Gamified apps</a:t>
            </a:r>
          </a:p>
        </p:txBody>
      </p:sp>
      <p:sp>
        <p:nvSpPr>
          <p:cNvPr id="47" name="TextBox 46"/>
          <p:cNvSpPr txBox="1"/>
          <p:nvPr/>
        </p:nvSpPr>
        <p:spPr>
          <a:xfrm>
            <a:off x="4526280" y="4261104"/>
            <a:ext cx="3108960" cy="164592"/>
          </a:xfrm>
          <a:prstGeom prst="rect">
            <a:avLst/>
          </a:prstGeom>
          <a:noFill/>
        </p:spPr>
        <p:txBody>
          <a:bodyPr wrap="square" anchor="t" lIns="0" rIns="0" tIns="0" bIns="0">
            <a:noAutofit/>
          </a:bodyPr>
          <a:lstStyle/>
          <a:p>
            <a:pPr algn="l">
              <a:lnSpc>
                <a:spcPct val="112000"/>
              </a:lnSpc>
              <a:spcAft>
                <a:spcPts val="0"/>
              </a:spcAft>
            </a:pPr>
            <a:r>
              <a:rPr sz="720" b="1" i="0">
                <a:solidFill>
                  <a:srgbClr val="047857"/>
                </a:solidFill>
                <a:latin typeface="Segoe UI"/>
              </a:rPr>
              <a:t>DOES WELL</a:t>
            </a:r>
          </a:p>
        </p:txBody>
      </p:sp>
      <p:sp>
        <p:nvSpPr>
          <p:cNvPr id="48" name="TextBox 47"/>
          <p:cNvSpPr txBox="1"/>
          <p:nvPr/>
        </p:nvSpPr>
        <p:spPr>
          <a:xfrm>
            <a:off x="4526280" y="4425696"/>
            <a:ext cx="3154680" cy="365760"/>
          </a:xfrm>
          <a:prstGeom prst="rect">
            <a:avLst/>
          </a:prstGeom>
          <a:noFill/>
        </p:spPr>
        <p:txBody>
          <a:bodyPr wrap="square" anchor="t" lIns="0" rIns="0" tIns="0" bIns="0">
            <a:noAutofit/>
          </a:bodyPr>
          <a:lstStyle/>
          <a:p>
            <a:pPr algn="l">
              <a:lnSpc>
                <a:spcPct val="116000"/>
              </a:lnSpc>
              <a:spcAft>
                <a:spcPts val="0"/>
              </a:spcAft>
            </a:pPr>
            <a:r>
              <a:rPr sz="980" b="0" i="0">
                <a:solidFill>
                  <a:srgbClr val="475569"/>
                </a:solidFill>
                <a:latin typeface="Segoe UI"/>
              </a:rPr>
              <a:t>Sustain daily habit with streaks and rewards.</a:t>
            </a:r>
          </a:p>
        </p:txBody>
      </p:sp>
      <p:sp>
        <p:nvSpPr>
          <p:cNvPr id="49" name="TextBox 48"/>
          <p:cNvSpPr txBox="1"/>
          <p:nvPr/>
        </p:nvSpPr>
        <p:spPr>
          <a:xfrm>
            <a:off x="4526280" y="4846320"/>
            <a:ext cx="3108960" cy="164592"/>
          </a:xfrm>
          <a:prstGeom prst="rect">
            <a:avLst/>
          </a:prstGeom>
          <a:noFill/>
        </p:spPr>
        <p:txBody>
          <a:bodyPr wrap="square" anchor="t" lIns="0" rIns="0" tIns="0" bIns="0">
            <a:noAutofit/>
          </a:bodyPr>
          <a:lstStyle/>
          <a:p>
            <a:pPr algn="l">
              <a:lnSpc>
                <a:spcPct val="112000"/>
              </a:lnSpc>
              <a:spcAft>
                <a:spcPts val="0"/>
              </a:spcAft>
            </a:pPr>
            <a:r>
              <a:rPr sz="720" b="1" i="0">
                <a:solidFill>
                  <a:srgbClr val="EF4444"/>
                </a:solidFill>
                <a:latin typeface="Segoe UI"/>
              </a:rPr>
              <a:t>MISSES</a:t>
            </a:r>
          </a:p>
        </p:txBody>
      </p:sp>
      <p:sp>
        <p:nvSpPr>
          <p:cNvPr id="50" name="TextBox 49"/>
          <p:cNvSpPr txBox="1"/>
          <p:nvPr/>
        </p:nvSpPr>
        <p:spPr>
          <a:xfrm>
            <a:off x="4526280" y="5010912"/>
            <a:ext cx="3154680" cy="365760"/>
          </a:xfrm>
          <a:prstGeom prst="rect">
            <a:avLst/>
          </a:prstGeom>
          <a:noFill/>
        </p:spPr>
        <p:txBody>
          <a:bodyPr wrap="square" anchor="t" lIns="0" rIns="0" tIns="0" bIns="0">
            <a:noAutofit/>
          </a:bodyPr>
          <a:lstStyle/>
          <a:p>
            <a:pPr algn="l">
              <a:lnSpc>
                <a:spcPct val="116000"/>
              </a:lnSpc>
              <a:spcAft>
                <a:spcPts val="0"/>
              </a:spcAft>
            </a:pPr>
            <a:r>
              <a:rPr sz="980" b="0" i="0">
                <a:solidFill>
                  <a:srgbClr val="B91C1C"/>
                </a:solidFill>
                <a:latin typeface="Segoe UI"/>
              </a:rPr>
              <a:t>Reward activity, not understanding.</a:t>
            </a:r>
          </a:p>
        </p:txBody>
      </p:sp>
      <p:sp>
        <p:nvSpPr>
          <p:cNvPr id="51" name="Rounded Rectangle 50"/>
          <p:cNvSpPr/>
          <p:nvPr/>
        </p:nvSpPr>
        <p:spPr>
          <a:xfrm>
            <a:off x="8046719" y="3694176"/>
            <a:ext cx="3520440" cy="1810512"/>
          </a:xfrm>
          <a:prstGeom prst="roundRect">
            <a:avLst>
              <a:gd name="adj" fmla="val 5000"/>
            </a:avLst>
          </a:prstGeom>
          <a:gradFill rotWithShape="1">
            <a:gsLst>
              <a:gs pos="0">
                <a:srgbClr val="4F5BD5"/>
              </a:gs>
              <a:gs pos="100000">
                <a:srgbClr val="8B5CF6"/>
              </a:gs>
            </a:gsLst>
            <a:lin scaled="0" ang="19500000"/>
          </a:gradFill>
          <a:ln>
            <a:noFill/>
          </a:ln>
          <a:effectLst/>
        </p:spPr>
        <p:txBody>
          <a:bodyPr rtlCol="0" anchor="ctr"/>
          <a:lstStyle/>
          <a:p>
            <a:pPr algn="ctr"/>
          </a:p>
        </p:txBody>
      </p:sp>
      <p:sp>
        <p:nvSpPr>
          <p:cNvPr id="52" name="TextBox 51"/>
          <p:cNvSpPr txBox="1"/>
          <p:nvPr/>
        </p:nvSpPr>
        <p:spPr>
          <a:xfrm>
            <a:off x="8247888" y="3877056"/>
            <a:ext cx="3017520" cy="182880"/>
          </a:xfrm>
          <a:prstGeom prst="rect">
            <a:avLst/>
          </a:prstGeom>
          <a:noFill/>
        </p:spPr>
        <p:txBody>
          <a:bodyPr wrap="square" anchor="t" lIns="0" rIns="0" tIns="0" bIns="0">
            <a:noAutofit/>
          </a:bodyPr>
          <a:lstStyle/>
          <a:p>
            <a:pPr algn="l">
              <a:lnSpc>
                <a:spcPct val="112000"/>
              </a:lnSpc>
              <a:spcAft>
                <a:spcPts val="0"/>
              </a:spcAft>
            </a:pPr>
            <a:r>
              <a:rPr sz="819" b="1" i="0">
                <a:solidFill>
                  <a:srgbClr val="FFFFFF"/>
                </a:solidFill>
                <a:latin typeface="Segoe UI"/>
              </a:rPr>
              <a:t>THE GAP</a:t>
            </a:r>
          </a:p>
        </p:txBody>
      </p:sp>
      <p:sp>
        <p:nvSpPr>
          <p:cNvPr id="53" name="TextBox 52"/>
          <p:cNvSpPr txBox="1"/>
          <p:nvPr/>
        </p:nvSpPr>
        <p:spPr>
          <a:xfrm>
            <a:off x="8247888" y="4114800"/>
            <a:ext cx="3127248" cy="1005840"/>
          </a:xfrm>
          <a:prstGeom prst="rect">
            <a:avLst/>
          </a:prstGeom>
          <a:noFill/>
        </p:spPr>
        <p:txBody>
          <a:bodyPr wrap="square" anchor="t" lIns="0" rIns="0" tIns="0" bIns="0">
            <a:noAutofit/>
          </a:bodyPr>
          <a:lstStyle/>
          <a:p>
            <a:pPr algn="l">
              <a:lnSpc>
                <a:spcPct val="116000"/>
              </a:lnSpc>
              <a:spcAft>
                <a:spcPts val="0"/>
              </a:spcAft>
            </a:pPr>
            <a:r>
              <a:rPr sz="1320" b="1" i="0">
                <a:solidFill>
                  <a:srgbClr val="FFFFFF"/>
                </a:solidFill>
                <a:latin typeface="Segoe UI"/>
              </a:rPr>
              <a:t>No category combines planning, generation, measurement and offline study for one learner.</a:t>
            </a:r>
          </a:p>
        </p:txBody>
      </p:sp>
      <p:sp>
        <p:nvSpPr>
          <p:cNvPr id="54" name="TextBox 53"/>
          <p:cNvSpPr txBox="1"/>
          <p:nvPr/>
        </p:nvSpPr>
        <p:spPr>
          <a:xfrm>
            <a:off x="8247888" y="5175504"/>
            <a:ext cx="3108960" cy="182880"/>
          </a:xfrm>
          <a:prstGeom prst="rect">
            <a:avLst/>
          </a:prstGeom>
          <a:noFill/>
        </p:spPr>
        <p:txBody>
          <a:bodyPr wrap="square" anchor="t" lIns="0" rIns="0" tIns="0" bIns="0">
            <a:noAutofit/>
          </a:bodyPr>
          <a:lstStyle/>
          <a:p>
            <a:pPr algn="l">
              <a:lnSpc>
                <a:spcPct val="112000"/>
              </a:lnSpc>
              <a:spcAft>
                <a:spcPts val="0"/>
              </a:spcAft>
            </a:pPr>
            <a:r>
              <a:rPr sz="819" b="0" i="1">
                <a:solidFill>
                  <a:srgbClr val="FFFFFF"/>
                </a:solidFill>
                <a:latin typeface="Segoe UI"/>
              </a:rPr>
              <a:t>that is the space StudyMapper fills</a:t>
            </a:r>
          </a:p>
        </p:txBody>
      </p:sp>
      <p:sp>
        <p:nvSpPr>
          <p:cNvPr id="55" name="TextBox 54"/>
          <p:cNvSpPr txBox="1"/>
          <p:nvPr/>
        </p:nvSpPr>
        <p:spPr>
          <a:xfrm>
            <a:off x="640080" y="5742432"/>
            <a:ext cx="10881360" cy="201168"/>
          </a:xfrm>
          <a:prstGeom prst="rect">
            <a:avLst/>
          </a:prstGeom>
          <a:noFill/>
        </p:spPr>
        <p:txBody>
          <a:bodyPr wrap="square" anchor="t" lIns="0" rIns="0" tIns="0" bIns="0">
            <a:noAutofit/>
          </a:bodyPr>
          <a:lstStyle/>
          <a:p>
            <a:pPr algn="l">
              <a:lnSpc>
                <a:spcPct val="112000"/>
              </a:lnSpc>
              <a:spcAft>
                <a:spcPts val="0"/>
              </a:spcAft>
            </a:pPr>
            <a:r>
              <a:rPr sz="919" b="0" i="1">
                <a:solidFill>
                  <a:srgbClr val="7C8AA3"/>
                </a:solidFill>
                <a:latin typeface="Segoe UI"/>
              </a:rPr>
              <a:t>Design comparison, not a systematic review. No effectiveness claim is attributed to any category.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g_aurora.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40080" y="411480"/>
            <a:ext cx="164592" cy="164592"/>
          </a:xfrm>
          <a:prstGeom prst="roundRect">
            <a:avLst>
              <a:gd name="adj" fmla="val 25000"/>
            </a:avLst>
          </a:prstGeom>
          <a:gradFill rotWithShape="1">
            <a:gsLst>
              <a:gs pos="0">
                <a:srgbClr val="0EA5E9"/>
              </a:gs>
              <a:gs pos="100000">
                <a:srgbClr val="4F5BD5"/>
              </a:gs>
            </a:gsLst>
            <a:lin scaled="0" ang="19500000"/>
          </a:gradFill>
          <a:ln>
            <a:noFill/>
          </a:ln>
          <a:effectLst/>
        </p:spPr>
        <p:txBody>
          <a:bodyPr rtlCol="0" anchor="ctr"/>
          <a:lstStyle/>
          <a:p>
            <a:pPr algn="ctr"/>
          </a:p>
        </p:txBody>
      </p:sp>
      <p:sp>
        <p:nvSpPr>
          <p:cNvPr id="4" name="TextBox 3"/>
          <p:cNvSpPr txBox="1"/>
          <p:nvPr/>
        </p:nvSpPr>
        <p:spPr>
          <a:xfrm>
            <a:off x="886968" y="365760"/>
            <a:ext cx="1828800" cy="219456"/>
          </a:xfrm>
          <a:prstGeom prst="rect">
            <a:avLst/>
          </a:prstGeom>
          <a:noFill/>
        </p:spPr>
        <p:txBody>
          <a:bodyPr wrap="square" anchor="t" lIns="0" rIns="0" tIns="0" bIns="0">
            <a:noAutofit/>
          </a:bodyPr>
          <a:lstStyle/>
          <a:p>
            <a:pPr algn="l">
              <a:lnSpc>
                <a:spcPct val="112000"/>
              </a:lnSpc>
              <a:spcAft>
                <a:spcPts val="0"/>
              </a:spcAft>
            </a:pPr>
            <a:r>
              <a:rPr sz="950" b="1" i="0">
                <a:solidFill>
                  <a:srgbClr val="0F172A"/>
                </a:solidFill>
                <a:latin typeface="Segoe UI"/>
              </a:rPr>
              <a:t>StudyMapper</a:t>
            </a:r>
          </a:p>
        </p:txBody>
      </p:sp>
      <p:sp>
        <p:nvSpPr>
          <p:cNvPr id="5" name="TextBox 4"/>
          <p:cNvSpPr txBox="1"/>
          <p:nvPr/>
        </p:nvSpPr>
        <p:spPr>
          <a:xfrm>
            <a:off x="6035040" y="374904"/>
            <a:ext cx="5513832" cy="201168"/>
          </a:xfrm>
          <a:prstGeom prst="rect">
            <a:avLst/>
          </a:prstGeom>
          <a:noFill/>
        </p:spPr>
        <p:txBody>
          <a:bodyPr wrap="square" anchor="t" lIns="0" rIns="0" tIns="0" bIns="0">
            <a:noAutofit/>
          </a:bodyPr>
          <a:lstStyle/>
          <a:p>
            <a:pPr algn="r">
              <a:lnSpc>
                <a:spcPct val="112000"/>
              </a:lnSpc>
              <a:spcAft>
                <a:spcPts val="0"/>
              </a:spcAft>
            </a:pPr>
            <a:r>
              <a:rPr sz="950" b="1" i="0">
                <a:solidFill>
                  <a:srgbClr val="4F5BD5"/>
                </a:solidFill>
                <a:latin typeface="Segoe UI"/>
              </a:rPr>
              <a:t>06 · SYSTEM ARCHITECTURE</a:t>
            </a:r>
          </a:p>
        </p:txBody>
      </p:sp>
      <p:sp>
        <p:nvSpPr>
          <p:cNvPr id="6" name="TextBox 5"/>
          <p:cNvSpPr txBox="1"/>
          <p:nvPr/>
        </p:nvSpPr>
        <p:spPr>
          <a:xfrm>
            <a:off x="640080" y="658368"/>
            <a:ext cx="10908792" cy="566928"/>
          </a:xfrm>
          <a:prstGeom prst="rect">
            <a:avLst/>
          </a:prstGeom>
          <a:noFill/>
        </p:spPr>
        <p:txBody>
          <a:bodyPr wrap="square" anchor="t" lIns="0" rIns="0" tIns="0" bIns="0">
            <a:noAutofit/>
          </a:bodyPr>
          <a:lstStyle/>
          <a:p>
            <a:pPr algn="l">
              <a:lnSpc>
                <a:spcPct val="98000"/>
              </a:lnSpc>
              <a:spcAft>
                <a:spcPts val="0"/>
              </a:spcAft>
            </a:pPr>
            <a:r>
              <a:rPr sz="3300" b="1" i="0">
                <a:solidFill>
                  <a:srgbClr val="0F172A"/>
                </a:solidFill>
                <a:latin typeface="Segoe UI"/>
              </a:rPr>
              <a:t>Every screen, one local core</a:t>
            </a:r>
          </a:p>
        </p:txBody>
      </p:sp>
      <p:sp>
        <p:nvSpPr>
          <p:cNvPr id="7" name="TextBox 6"/>
          <p:cNvSpPr txBox="1"/>
          <p:nvPr/>
        </p:nvSpPr>
        <p:spPr>
          <a:xfrm>
            <a:off x="640080" y="1243584"/>
            <a:ext cx="10469880" cy="438912"/>
          </a:xfrm>
          <a:prstGeom prst="rect">
            <a:avLst/>
          </a:prstGeom>
          <a:noFill/>
        </p:spPr>
        <p:txBody>
          <a:bodyPr wrap="square" anchor="t" lIns="0" rIns="0" tIns="0" bIns="0">
            <a:noAutofit/>
          </a:bodyPr>
          <a:lstStyle/>
          <a:p>
            <a:pPr algn="l">
              <a:lnSpc>
                <a:spcPct val="114000"/>
              </a:lnSpc>
              <a:spcAft>
                <a:spcPts val="0"/>
              </a:spcAft>
            </a:pPr>
            <a:r>
              <a:rPr sz="1450" b="0" i="0">
                <a:solidFill>
                  <a:srgbClr val="475569"/>
                </a:solidFill>
                <a:latin typeface="Segoe UI"/>
              </a:rPr>
              <a:t>The interface, the rules and the record — with AI and identity as optional edges.</a:t>
            </a:r>
          </a:p>
        </p:txBody>
      </p:sp>
      <p:sp>
        <p:nvSpPr>
          <p:cNvPr id="8" name="Rectangle 7"/>
          <p:cNvSpPr/>
          <p:nvPr/>
        </p:nvSpPr>
        <p:spPr>
          <a:xfrm>
            <a:off x="640080" y="6437376"/>
            <a:ext cx="10908792" cy="7315"/>
          </a:xfrm>
          <a:prstGeom prst="rect">
            <a:avLst/>
          </a:prstGeom>
          <a:solidFill>
            <a:srgbClr val="D5DCEE"/>
          </a:solidFill>
          <a:ln>
            <a:noFill/>
          </a:ln>
          <a:effectLst/>
        </p:spPr>
        <p:txBody>
          <a:bodyPr rtlCol="0" anchor="ctr" wrap="square"/>
          <a:lstStyle/>
          <a:p>
            <a:pPr algn="ctr"/>
          </a:p>
        </p:txBody>
      </p:sp>
      <p:sp>
        <p:nvSpPr>
          <p:cNvPr id="9" name="TextBox 8"/>
          <p:cNvSpPr txBox="1"/>
          <p:nvPr/>
        </p:nvSpPr>
        <p:spPr>
          <a:xfrm>
            <a:off x="640080" y="6519672"/>
            <a:ext cx="7863840" cy="164592"/>
          </a:xfrm>
          <a:prstGeom prst="rect">
            <a:avLst/>
          </a:prstGeom>
          <a:noFill/>
        </p:spPr>
        <p:txBody>
          <a:bodyPr wrap="square" anchor="t" lIns="0" rIns="0" tIns="0" bIns="0">
            <a:noAutofit/>
          </a:bodyPr>
          <a:lstStyle/>
          <a:p>
            <a:pPr algn="l">
              <a:lnSpc>
                <a:spcPct val="112000"/>
              </a:lnSpc>
              <a:spcAft>
                <a:spcPts val="0"/>
              </a:spcAft>
            </a:pPr>
            <a:r>
              <a:rPr sz="800" b="0" i="0">
                <a:solidFill>
                  <a:srgbClr val="7C8AA3"/>
                </a:solidFill>
                <a:latin typeface="Segoe UI"/>
              </a:rPr>
              <a:t>StudyMapper  ·  AI-Driven Personalized Learning &amp; Academic Management</a:t>
            </a:r>
          </a:p>
        </p:txBody>
      </p:sp>
      <p:sp>
        <p:nvSpPr>
          <p:cNvPr id="10" name="TextBox 9"/>
          <p:cNvSpPr txBox="1"/>
          <p:nvPr/>
        </p:nvSpPr>
        <p:spPr>
          <a:xfrm>
            <a:off x="10058400" y="6510528"/>
            <a:ext cx="1490472" cy="182880"/>
          </a:xfrm>
          <a:prstGeom prst="rect">
            <a:avLst/>
          </a:prstGeom>
          <a:noFill/>
        </p:spPr>
        <p:txBody>
          <a:bodyPr wrap="square" anchor="t" lIns="0" rIns="0" tIns="0" bIns="0">
            <a:noAutofit/>
          </a:bodyPr>
          <a:lstStyle/>
          <a:p>
            <a:pPr algn="r">
              <a:lnSpc>
                <a:spcPct val="112000"/>
              </a:lnSpc>
              <a:spcAft>
                <a:spcPts val="0"/>
              </a:spcAft>
            </a:pPr>
            <a:r>
              <a:rPr sz="880" b="1" i="0">
                <a:solidFill>
                  <a:srgbClr val="7C8AA3"/>
                </a:solidFill>
                <a:latin typeface="Segoe UI"/>
              </a:rPr>
              <a:t>07 / 13</a:t>
            </a:r>
          </a:p>
        </p:txBody>
      </p:sp>
      <p:sp>
        <p:nvSpPr>
          <p:cNvPr id="11" name="Rounded Rectangle 10"/>
          <p:cNvSpPr/>
          <p:nvPr/>
        </p:nvSpPr>
        <p:spPr>
          <a:xfrm>
            <a:off x="580644" y="1746504"/>
            <a:ext cx="11109960" cy="3931920"/>
          </a:xfrm>
          <a:prstGeom prst="roundRect">
            <a:avLst>
              <a:gd name="adj" fmla="val 4000"/>
            </a:avLst>
          </a:prstGeom>
          <a:solidFill>
            <a:srgbClr val="E8ECF8"/>
          </a:solidFill>
          <a:ln>
            <a:noFill/>
          </a:ln>
          <a:effectLst/>
        </p:spPr>
        <p:txBody>
          <a:bodyPr rtlCol="0" anchor="ctr" wrap="square"/>
          <a:lstStyle/>
          <a:p>
            <a:pPr algn="ctr"/>
          </a:p>
        </p:txBody>
      </p:sp>
      <p:sp>
        <p:nvSpPr>
          <p:cNvPr id="12" name="Rounded Rectangle 11"/>
          <p:cNvSpPr/>
          <p:nvPr/>
        </p:nvSpPr>
        <p:spPr>
          <a:xfrm>
            <a:off x="548640" y="1700784"/>
            <a:ext cx="11109960" cy="3931920"/>
          </a:xfrm>
          <a:prstGeom prst="roundRect">
            <a:avLst>
              <a:gd name="adj" fmla="val 4000"/>
            </a:avLst>
          </a:prstGeom>
          <a:solidFill>
            <a:srgbClr val="FBFCFE"/>
          </a:solidFill>
          <a:ln w="9525">
            <a:solidFill>
              <a:srgbClr val="E3E8F5"/>
            </a:solidFill>
          </a:ln>
          <a:effectLst/>
        </p:spPr>
        <p:txBody>
          <a:bodyPr rtlCol="0" anchor="ctr" wrap="square"/>
          <a:lstStyle/>
          <a:p>
            <a:pPr algn="ctr"/>
          </a:p>
        </p:txBody>
      </p:sp>
      <p:sp>
        <p:nvSpPr>
          <p:cNvPr id="13" name="TextBox 12"/>
          <p:cNvSpPr txBox="1"/>
          <p:nvPr/>
        </p:nvSpPr>
        <p:spPr>
          <a:xfrm>
            <a:off x="777240" y="1828800"/>
            <a:ext cx="2743200" cy="182880"/>
          </a:xfrm>
          <a:prstGeom prst="rect">
            <a:avLst/>
          </a:prstGeom>
          <a:noFill/>
        </p:spPr>
        <p:txBody>
          <a:bodyPr wrap="square" anchor="t" lIns="0" rIns="0" tIns="0" bIns="0">
            <a:noAutofit/>
          </a:bodyPr>
          <a:lstStyle/>
          <a:p>
            <a:pPr algn="l">
              <a:lnSpc>
                <a:spcPct val="112000"/>
              </a:lnSpc>
              <a:spcAft>
                <a:spcPts val="0"/>
              </a:spcAft>
            </a:pPr>
            <a:r>
              <a:rPr sz="900" b="1" i="0">
                <a:solidFill>
                  <a:srgbClr val="0284C7"/>
                </a:solidFill>
                <a:latin typeface="Segoe UI"/>
              </a:rPr>
              <a:t>1 · INTERFACE</a:t>
            </a:r>
          </a:p>
        </p:txBody>
      </p:sp>
      <p:sp>
        <p:nvSpPr>
          <p:cNvPr id="14" name="TextBox 13"/>
          <p:cNvSpPr txBox="1"/>
          <p:nvPr/>
        </p:nvSpPr>
        <p:spPr>
          <a:xfrm>
            <a:off x="777240" y="2002536"/>
            <a:ext cx="2926080" cy="164592"/>
          </a:xfrm>
          <a:prstGeom prst="rect">
            <a:avLst/>
          </a:prstGeom>
          <a:noFill/>
        </p:spPr>
        <p:txBody>
          <a:bodyPr wrap="square" anchor="t" lIns="0" rIns="0" tIns="0" bIns="0">
            <a:noAutofit/>
          </a:bodyPr>
          <a:lstStyle/>
          <a:p>
            <a:pPr algn="l">
              <a:lnSpc>
                <a:spcPct val="112000"/>
              </a:lnSpc>
              <a:spcAft>
                <a:spcPts val="0"/>
              </a:spcAft>
            </a:pPr>
            <a:r>
              <a:rPr sz="800" b="0" i="0">
                <a:solidFill>
                  <a:srgbClr val="7C8AA3"/>
                </a:solidFill>
                <a:latin typeface="Segoe UI"/>
              </a:rPr>
              <a:t>React 19 SPA  ·  46 routes</a:t>
            </a:r>
          </a:p>
        </p:txBody>
      </p:sp>
      <p:sp>
        <p:nvSpPr>
          <p:cNvPr id="15" name="Rounded Rectangle 14"/>
          <p:cNvSpPr/>
          <p:nvPr/>
        </p:nvSpPr>
        <p:spPr>
          <a:xfrm>
            <a:off x="777240" y="2240280"/>
            <a:ext cx="1664208" cy="384048"/>
          </a:xfrm>
          <a:prstGeom prst="roundRect">
            <a:avLst>
              <a:gd name="adj" fmla="val 14000"/>
            </a:avLst>
          </a:prstGeom>
          <a:solidFill>
            <a:srgbClr val="FFFFFF"/>
          </a:solidFill>
          <a:ln w="9525">
            <a:solidFill>
              <a:srgbClr val="D5DCEE"/>
            </a:solidFill>
          </a:ln>
          <a:effectLst/>
        </p:spPr>
        <p:txBody>
          <a:bodyPr rtlCol="0" anchor="ctr" wrap="square" lIns="54864" rIns="54864" tIns="0" bIns="0"/>
          <a:lstStyle/>
          <a:p>
            <a:pPr algn="ctr"/>
            <a:r>
              <a:rPr sz="860" b="0">
                <a:solidFill>
                  <a:srgbClr val="0F172A"/>
                </a:solidFill>
                <a:latin typeface="Segoe UI"/>
              </a:rPr>
              <a:t>Dashboard</a:t>
            </a:r>
          </a:p>
        </p:txBody>
      </p:sp>
      <p:sp>
        <p:nvSpPr>
          <p:cNvPr id="16" name="Rounded Rectangle 15"/>
          <p:cNvSpPr/>
          <p:nvPr/>
        </p:nvSpPr>
        <p:spPr>
          <a:xfrm>
            <a:off x="2560320" y="2240280"/>
            <a:ext cx="1664208" cy="384048"/>
          </a:xfrm>
          <a:prstGeom prst="roundRect">
            <a:avLst>
              <a:gd name="adj" fmla="val 14000"/>
            </a:avLst>
          </a:prstGeom>
          <a:solidFill>
            <a:srgbClr val="FFFFFF"/>
          </a:solidFill>
          <a:ln w="9525">
            <a:solidFill>
              <a:srgbClr val="D5DCEE"/>
            </a:solidFill>
          </a:ln>
          <a:effectLst/>
        </p:spPr>
        <p:txBody>
          <a:bodyPr rtlCol="0" anchor="ctr" wrap="square" lIns="54864" rIns="54864" tIns="0" bIns="0"/>
          <a:lstStyle/>
          <a:p>
            <a:pPr algn="ctr"/>
            <a:r>
              <a:rPr sz="860" b="0">
                <a:solidFill>
                  <a:srgbClr val="0F172A"/>
                </a:solidFill>
                <a:latin typeface="Segoe UI"/>
              </a:rPr>
              <a:t>Study Planner</a:t>
            </a:r>
          </a:p>
        </p:txBody>
      </p:sp>
      <p:sp>
        <p:nvSpPr>
          <p:cNvPr id="17" name="Rounded Rectangle 16"/>
          <p:cNvSpPr/>
          <p:nvPr/>
        </p:nvSpPr>
        <p:spPr>
          <a:xfrm>
            <a:off x="777240" y="2706624"/>
            <a:ext cx="1664208" cy="384048"/>
          </a:xfrm>
          <a:prstGeom prst="roundRect">
            <a:avLst>
              <a:gd name="adj" fmla="val 14000"/>
            </a:avLst>
          </a:prstGeom>
          <a:solidFill>
            <a:srgbClr val="FFFFFF"/>
          </a:solidFill>
          <a:ln w="9525">
            <a:solidFill>
              <a:srgbClr val="D5DCEE"/>
            </a:solidFill>
          </a:ln>
          <a:effectLst/>
        </p:spPr>
        <p:txBody>
          <a:bodyPr rtlCol="0" anchor="ctr" wrap="square" lIns="54864" rIns="54864" tIns="0" bIns="0"/>
          <a:lstStyle/>
          <a:p>
            <a:pPr algn="ctr"/>
            <a:r>
              <a:rPr sz="860" b="0">
                <a:solidFill>
                  <a:srgbClr val="0F172A"/>
                </a:solidFill>
                <a:latin typeface="Segoe UI"/>
              </a:rPr>
              <a:t>Subjects &amp; Topics</a:t>
            </a:r>
          </a:p>
        </p:txBody>
      </p:sp>
      <p:sp>
        <p:nvSpPr>
          <p:cNvPr id="18" name="Rounded Rectangle 17"/>
          <p:cNvSpPr/>
          <p:nvPr/>
        </p:nvSpPr>
        <p:spPr>
          <a:xfrm>
            <a:off x="2560320" y="2706624"/>
            <a:ext cx="1664208" cy="384048"/>
          </a:xfrm>
          <a:prstGeom prst="roundRect">
            <a:avLst>
              <a:gd name="adj" fmla="val 14000"/>
            </a:avLst>
          </a:prstGeom>
          <a:solidFill>
            <a:srgbClr val="FFFFFF"/>
          </a:solidFill>
          <a:ln w="9525">
            <a:solidFill>
              <a:srgbClr val="D5DCEE"/>
            </a:solidFill>
          </a:ln>
          <a:effectLst/>
        </p:spPr>
        <p:txBody>
          <a:bodyPr rtlCol="0" anchor="ctr" wrap="square" lIns="54864" rIns="54864" tIns="0" bIns="0"/>
          <a:lstStyle/>
          <a:p>
            <a:pPr algn="ctr"/>
            <a:r>
              <a:rPr sz="860" b="0">
                <a:solidFill>
                  <a:srgbClr val="0F172A"/>
                </a:solidFill>
                <a:latin typeface="Segoe UI"/>
              </a:rPr>
              <a:t>Question Banks</a:t>
            </a:r>
          </a:p>
        </p:txBody>
      </p:sp>
      <p:sp>
        <p:nvSpPr>
          <p:cNvPr id="19" name="Rounded Rectangle 18"/>
          <p:cNvSpPr/>
          <p:nvPr/>
        </p:nvSpPr>
        <p:spPr>
          <a:xfrm>
            <a:off x="777240" y="3172968"/>
            <a:ext cx="1664208" cy="384048"/>
          </a:xfrm>
          <a:prstGeom prst="roundRect">
            <a:avLst>
              <a:gd name="adj" fmla="val 14000"/>
            </a:avLst>
          </a:prstGeom>
          <a:solidFill>
            <a:srgbClr val="FFFFFF"/>
          </a:solidFill>
          <a:ln w="9525">
            <a:solidFill>
              <a:srgbClr val="D5DCEE"/>
            </a:solidFill>
          </a:ln>
          <a:effectLst/>
        </p:spPr>
        <p:txBody>
          <a:bodyPr rtlCol="0" anchor="ctr" wrap="square" lIns="54864" rIns="54864" tIns="0" bIns="0"/>
          <a:lstStyle/>
          <a:p>
            <a:pPr algn="ctr"/>
            <a:r>
              <a:rPr sz="860" b="0">
                <a:solidFill>
                  <a:srgbClr val="0F172A"/>
                </a:solidFill>
                <a:latin typeface="Segoe UI"/>
              </a:rPr>
              <a:t>Mock Exams</a:t>
            </a:r>
          </a:p>
        </p:txBody>
      </p:sp>
      <p:sp>
        <p:nvSpPr>
          <p:cNvPr id="20" name="Rounded Rectangle 19"/>
          <p:cNvSpPr/>
          <p:nvPr/>
        </p:nvSpPr>
        <p:spPr>
          <a:xfrm>
            <a:off x="2560320" y="3172968"/>
            <a:ext cx="1664208" cy="384048"/>
          </a:xfrm>
          <a:prstGeom prst="roundRect">
            <a:avLst>
              <a:gd name="adj" fmla="val 14000"/>
            </a:avLst>
          </a:prstGeom>
          <a:solidFill>
            <a:srgbClr val="FFFFFF"/>
          </a:solidFill>
          <a:ln w="9525">
            <a:solidFill>
              <a:srgbClr val="D5DCEE"/>
            </a:solidFill>
          </a:ln>
          <a:effectLst/>
        </p:spPr>
        <p:txBody>
          <a:bodyPr rtlCol="0" anchor="ctr" wrap="square" lIns="54864" rIns="54864" tIns="0" bIns="0"/>
          <a:lstStyle/>
          <a:p>
            <a:pPr algn="ctr"/>
            <a:r>
              <a:rPr sz="860" b="0">
                <a:solidFill>
                  <a:srgbClr val="0F172A"/>
                </a:solidFill>
                <a:latin typeface="Segoe UI"/>
              </a:rPr>
              <a:t>Flashcards</a:t>
            </a:r>
          </a:p>
        </p:txBody>
      </p:sp>
      <p:sp>
        <p:nvSpPr>
          <p:cNvPr id="21" name="Rounded Rectangle 20"/>
          <p:cNvSpPr/>
          <p:nvPr/>
        </p:nvSpPr>
        <p:spPr>
          <a:xfrm>
            <a:off x="777240" y="3639312"/>
            <a:ext cx="1664208" cy="384048"/>
          </a:xfrm>
          <a:prstGeom prst="roundRect">
            <a:avLst>
              <a:gd name="adj" fmla="val 14000"/>
            </a:avLst>
          </a:prstGeom>
          <a:solidFill>
            <a:srgbClr val="FFFFFF"/>
          </a:solidFill>
          <a:ln w="9525">
            <a:solidFill>
              <a:srgbClr val="D5DCEE"/>
            </a:solidFill>
          </a:ln>
          <a:effectLst/>
        </p:spPr>
        <p:txBody>
          <a:bodyPr rtlCol="0" anchor="ctr" wrap="square" lIns="54864" rIns="54864" tIns="0" bIns="0"/>
          <a:lstStyle/>
          <a:p>
            <a:pPr algn="ctr"/>
            <a:r>
              <a:rPr sz="860" b="0">
                <a:solidFill>
                  <a:srgbClr val="0F172A"/>
                </a:solidFill>
                <a:latin typeface="Segoe UI"/>
              </a:rPr>
              <a:t>Coding Practice</a:t>
            </a:r>
          </a:p>
        </p:txBody>
      </p:sp>
      <p:sp>
        <p:nvSpPr>
          <p:cNvPr id="22" name="Rounded Rectangle 21"/>
          <p:cNvSpPr/>
          <p:nvPr/>
        </p:nvSpPr>
        <p:spPr>
          <a:xfrm>
            <a:off x="2560320" y="3639312"/>
            <a:ext cx="1664208" cy="384048"/>
          </a:xfrm>
          <a:prstGeom prst="roundRect">
            <a:avLst>
              <a:gd name="adj" fmla="val 14000"/>
            </a:avLst>
          </a:prstGeom>
          <a:solidFill>
            <a:srgbClr val="FFFFFF"/>
          </a:solidFill>
          <a:ln w="9525">
            <a:solidFill>
              <a:srgbClr val="D5DCEE"/>
            </a:solidFill>
          </a:ln>
          <a:effectLst/>
        </p:spPr>
        <p:txBody>
          <a:bodyPr rtlCol="0" anchor="ctr" wrap="square" lIns="54864" rIns="54864" tIns="0" bIns="0"/>
          <a:lstStyle/>
          <a:p>
            <a:pPr algn="ctr"/>
            <a:r>
              <a:rPr sz="860" b="0">
                <a:solidFill>
                  <a:srgbClr val="0F172A"/>
                </a:solidFill>
                <a:latin typeface="Segoe UI"/>
              </a:rPr>
              <a:t>Skill Roadmap</a:t>
            </a:r>
          </a:p>
        </p:txBody>
      </p:sp>
      <p:sp>
        <p:nvSpPr>
          <p:cNvPr id="23" name="Rounded Rectangle 22"/>
          <p:cNvSpPr/>
          <p:nvPr/>
        </p:nvSpPr>
        <p:spPr>
          <a:xfrm>
            <a:off x="777240" y="4105656"/>
            <a:ext cx="1664208" cy="384048"/>
          </a:xfrm>
          <a:prstGeom prst="roundRect">
            <a:avLst>
              <a:gd name="adj" fmla="val 14000"/>
            </a:avLst>
          </a:prstGeom>
          <a:solidFill>
            <a:srgbClr val="FFFFFF"/>
          </a:solidFill>
          <a:ln w="9525">
            <a:solidFill>
              <a:srgbClr val="D5DCEE"/>
            </a:solidFill>
          </a:ln>
          <a:effectLst/>
        </p:spPr>
        <p:txBody>
          <a:bodyPr rtlCol="0" anchor="ctr" wrap="square" lIns="54864" rIns="54864" tIns="0" bIns="0"/>
          <a:lstStyle/>
          <a:p>
            <a:pPr algn="ctr"/>
            <a:r>
              <a:rPr sz="860" b="0">
                <a:solidFill>
                  <a:srgbClr val="0F172A"/>
                </a:solidFill>
                <a:latin typeface="Segoe UI"/>
              </a:rPr>
              <a:t>Placement Prep</a:t>
            </a:r>
          </a:p>
        </p:txBody>
      </p:sp>
      <p:sp>
        <p:nvSpPr>
          <p:cNvPr id="24" name="Rounded Rectangle 23"/>
          <p:cNvSpPr/>
          <p:nvPr/>
        </p:nvSpPr>
        <p:spPr>
          <a:xfrm>
            <a:off x="2560320" y="4105656"/>
            <a:ext cx="1664208" cy="384048"/>
          </a:xfrm>
          <a:prstGeom prst="roundRect">
            <a:avLst>
              <a:gd name="adj" fmla="val 14000"/>
            </a:avLst>
          </a:prstGeom>
          <a:solidFill>
            <a:srgbClr val="FFFFFF"/>
          </a:solidFill>
          <a:ln w="9525">
            <a:solidFill>
              <a:srgbClr val="D5DCEE"/>
            </a:solidFill>
          </a:ln>
          <a:effectLst/>
        </p:spPr>
        <p:txBody>
          <a:bodyPr rtlCol="0" anchor="ctr" wrap="square" lIns="54864" rIns="54864" tIns="0" bIns="0"/>
          <a:lstStyle/>
          <a:p>
            <a:pPr algn="ctr"/>
            <a:r>
              <a:rPr sz="860" b="0">
                <a:solidFill>
                  <a:srgbClr val="0F172A"/>
                </a:solidFill>
                <a:latin typeface="Segoe UI"/>
              </a:rPr>
              <a:t>Analytics</a:t>
            </a:r>
          </a:p>
        </p:txBody>
      </p:sp>
      <p:sp>
        <p:nvSpPr>
          <p:cNvPr id="25" name="TextBox 24"/>
          <p:cNvSpPr txBox="1"/>
          <p:nvPr/>
        </p:nvSpPr>
        <p:spPr>
          <a:xfrm>
            <a:off x="4800600" y="1828800"/>
            <a:ext cx="2926080" cy="182880"/>
          </a:xfrm>
          <a:prstGeom prst="rect">
            <a:avLst/>
          </a:prstGeom>
          <a:noFill/>
        </p:spPr>
        <p:txBody>
          <a:bodyPr wrap="square" anchor="t" lIns="0" rIns="0" tIns="0" bIns="0">
            <a:noAutofit/>
          </a:bodyPr>
          <a:lstStyle/>
          <a:p>
            <a:pPr algn="l">
              <a:lnSpc>
                <a:spcPct val="112000"/>
              </a:lnSpc>
              <a:spcAft>
                <a:spcPts val="0"/>
              </a:spcAft>
            </a:pPr>
            <a:r>
              <a:rPr sz="900" b="1" i="0">
                <a:solidFill>
                  <a:srgbClr val="4F5BD5"/>
                </a:solidFill>
                <a:latin typeface="Segoe UI"/>
              </a:rPr>
              <a:t>2 · DOMAIN LOGIC</a:t>
            </a:r>
          </a:p>
        </p:txBody>
      </p:sp>
      <p:sp>
        <p:nvSpPr>
          <p:cNvPr id="26" name="TextBox 25"/>
          <p:cNvSpPr txBox="1"/>
          <p:nvPr/>
        </p:nvSpPr>
        <p:spPr>
          <a:xfrm>
            <a:off x="4800600" y="2002536"/>
            <a:ext cx="2926080" cy="164592"/>
          </a:xfrm>
          <a:prstGeom prst="rect">
            <a:avLst/>
          </a:prstGeom>
          <a:noFill/>
        </p:spPr>
        <p:txBody>
          <a:bodyPr wrap="square" anchor="t" lIns="0" rIns="0" tIns="0" bIns="0">
            <a:noAutofit/>
          </a:bodyPr>
          <a:lstStyle/>
          <a:p>
            <a:pPr algn="l">
              <a:lnSpc>
                <a:spcPct val="112000"/>
              </a:lnSpc>
              <a:spcAft>
                <a:spcPts val="0"/>
              </a:spcAft>
            </a:pPr>
            <a:r>
              <a:rPr sz="800" b="0" i="0">
                <a:solidFill>
                  <a:srgbClr val="7C8AA3"/>
                </a:solidFill>
                <a:latin typeface="Segoe UI"/>
              </a:rPr>
              <a:t>local rules  ·  no server</a:t>
            </a:r>
          </a:p>
        </p:txBody>
      </p:sp>
      <p:sp>
        <p:nvSpPr>
          <p:cNvPr id="27" name="Rounded Rectangle 26"/>
          <p:cNvSpPr/>
          <p:nvPr/>
        </p:nvSpPr>
        <p:spPr>
          <a:xfrm>
            <a:off x="4892040" y="2240280"/>
            <a:ext cx="2880360" cy="365760"/>
          </a:xfrm>
          <a:prstGeom prst="roundRect">
            <a:avLst>
              <a:gd name="adj" fmla="val 10000"/>
            </a:avLst>
          </a:prstGeom>
          <a:solidFill>
            <a:srgbClr val="FFFFFF"/>
          </a:solidFill>
          <a:ln w="9525">
            <a:solidFill>
              <a:srgbClr val="D5DCEE"/>
            </a:solidFill>
          </a:ln>
          <a:effectLst/>
        </p:spPr>
        <p:txBody>
          <a:bodyPr rtlCol="0" anchor="ctr" wrap="square"/>
          <a:lstStyle/>
          <a:p>
            <a:pPr algn="ctr"/>
          </a:p>
        </p:txBody>
      </p:sp>
      <p:sp>
        <p:nvSpPr>
          <p:cNvPr id="28" name="Rectangle 27"/>
          <p:cNvSpPr/>
          <p:nvPr/>
        </p:nvSpPr>
        <p:spPr>
          <a:xfrm>
            <a:off x="4892040" y="2295144"/>
            <a:ext cx="41148" cy="246888"/>
          </a:xfrm>
          <a:prstGeom prst="rect">
            <a:avLst/>
          </a:prstGeom>
          <a:solidFill>
            <a:srgbClr val="4F5BD5"/>
          </a:solidFill>
          <a:ln>
            <a:noFill/>
          </a:ln>
          <a:effectLst/>
        </p:spPr>
        <p:txBody>
          <a:bodyPr rtlCol="0" anchor="ctr" wrap="square"/>
          <a:lstStyle/>
          <a:p>
            <a:pPr algn="ctr"/>
          </a:p>
        </p:txBody>
      </p:sp>
      <p:sp>
        <p:nvSpPr>
          <p:cNvPr id="29" name="TextBox 28"/>
          <p:cNvSpPr txBox="1"/>
          <p:nvPr/>
        </p:nvSpPr>
        <p:spPr>
          <a:xfrm>
            <a:off x="5010912" y="2263140"/>
            <a:ext cx="1828800" cy="164592"/>
          </a:xfrm>
          <a:prstGeom prst="rect">
            <a:avLst/>
          </a:prstGeom>
          <a:noFill/>
        </p:spPr>
        <p:txBody>
          <a:bodyPr wrap="square" anchor="t" lIns="0" rIns="0" tIns="0" bIns="0">
            <a:noAutofit/>
          </a:bodyPr>
          <a:lstStyle/>
          <a:p>
            <a:pPr algn="l">
              <a:lnSpc>
                <a:spcPct val="112000"/>
              </a:lnSpc>
              <a:spcAft>
                <a:spcPts val="0"/>
              </a:spcAft>
            </a:pPr>
            <a:r>
              <a:rPr sz="840" b="1" i="0">
                <a:solidFill>
                  <a:srgbClr val="0F172A"/>
                </a:solidFill>
                <a:latin typeface="Segoe UI"/>
              </a:rPr>
              <a:t>Adaptive Planner</a:t>
            </a:r>
          </a:p>
        </p:txBody>
      </p:sp>
      <p:sp>
        <p:nvSpPr>
          <p:cNvPr id="30" name="TextBox 29"/>
          <p:cNvSpPr txBox="1"/>
          <p:nvPr/>
        </p:nvSpPr>
        <p:spPr>
          <a:xfrm>
            <a:off x="5010912" y="2414016"/>
            <a:ext cx="2651760" cy="146304"/>
          </a:xfrm>
          <a:prstGeom prst="rect">
            <a:avLst/>
          </a:prstGeom>
          <a:noFill/>
        </p:spPr>
        <p:txBody>
          <a:bodyPr wrap="square" anchor="t" lIns="0" rIns="0" tIns="0" bIns="0">
            <a:noAutofit/>
          </a:bodyPr>
          <a:lstStyle/>
          <a:p>
            <a:pPr algn="l">
              <a:lnSpc>
                <a:spcPct val="112000"/>
              </a:lnSpc>
              <a:spcAft>
                <a:spcPts val="0"/>
              </a:spcAft>
            </a:pPr>
            <a:r>
              <a:rPr sz="670" b="0" i="0">
                <a:solidFill>
                  <a:srgbClr val="7C8AA3"/>
                </a:solidFill>
                <a:latin typeface="Segoe UI"/>
              </a:rPr>
              <a:t>exam date · difficulty · panic mode</a:t>
            </a:r>
          </a:p>
        </p:txBody>
      </p:sp>
      <p:sp>
        <p:nvSpPr>
          <p:cNvPr id="31" name="Rounded Rectangle 30"/>
          <p:cNvSpPr/>
          <p:nvPr/>
        </p:nvSpPr>
        <p:spPr>
          <a:xfrm>
            <a:off x="4892040" y="2670048"/>
            <a:ext cx="2880360" cy="365760"/>
          </a:xfrm>
          <a:prstGeom prst="roundRect">
            <a:avLst>
              <a:gd name="adj" fmla="val 10000"/>
            </a:avLst>
          </a:prstGeom>
          <a:solidFill>
            <a:srgbClr val="FFFFFF"/>
          </a:solidFill>
          <a:ln w="9525">
            <a:solidFill>
              <a:srgbClr val="D5DCEE"/>
            </a:solidFill>
          </a:ln>
          <a:effectLst/>
        </p:spPr>
        <p:txBody>
          <a:bodyPr rtlCol="0" anchor="ctr" wrap="square"/>
          <a:lstStyle/>
          <a:p>
            <a:pPr algn="ctr"/>
          </a:p>
        </p:txBody>
      </p:sp>
      <p:sp>
        <p:nvSpPr>
          <p:cNvPr id="32" name="Rectangle 31"/>
          <p:cNvSpPr/>
          <p:nvPr/>
        </p:nvSpPr>
        <p:spPr>
          <a:xfrm>
            <a:off x="4892040" y="2724912"/>
            <a:ext cx="41148" cy="246888"/>
          </a:xfrm>
          <a:prstGeom prst="rect">
            <a:avLst/>
          </a:prstGeom>
          <a:solidFill>
            <a:srgbClr val="EF4444"/>
          </a:solidFill>
          <a:ln>
            <a:noFill/>
          </a:ln>
          <a:effectLst/>
        </p:spPr>
        <p:txBody>
          <a:bodyPr rtlCol="0" anchor="ctr" wrap="square"/>
          <a:lstStyle/>
          <a:p>
            <a:pPr algn="ctr"/>
          </a:p>
        </p:txBody>
      </p:sp>
      <p:sp>
        <p:nvSpPr>
          <p:cNvPr id="33" name="TextBox 32"/>
          <p:cNvSpPr txBox="1"/>
          <p:nvPr/>
        </p:nvSpPr>
        <p:spPr>
          <a:xfrm>
            <a:off x="5010912" y="2692908"/>
            <a:ext cx="1828800" cy="164592"/>
          </a:xfrm>
          <a:prstGeom prst="rect">
            <a:avLst/>
          </a:prstGeom>
          <a:noFill/>
        </p:spPr>
        <p:txBody>
          <a:bodyPr wrap="square" anchor="t" lIns="0" rIns="0" tIns="0" bIns="0">
            <a:noAutofit/>
          </a:bodyPr>
          <a:lstStyle/>
          <a:p>
            <a:pPr algn="l">
              <a:lnSpc>
                <a:spcPct val="112000"/>
              </a:lnSpc>
              <a:spcAft>
                <a:spcPts val="0"/>
              </a:spcAft>
            </a:pPr>
            <a:r>
              <a:rPr sz="840" b="1" i="0">
                <a:solidFill>
                  <a:srgbClr val="0F172A"/>
                </a:solidFill>
                <a:latin typeface="Segoe UI"/>
              </a:rPr>
              <a:t>Weakness Detector</a:t>
            </a:r>
          </a:p>
        </p:txBody>
      </p:sp>
      <p:sp>
        <p:nvSpPr>
          <p:cNvPr id="34" name="TextBox 33"/>
          <p:cNvSpPr txBox="1"/>
          <p:nvPr/>
        </p:nvSpPr>
        <p:spPr>
          <a:xfrm>
            <a:off x="5010912" y="2843784"/>
            <a:ext cx="2651760" cy="146304"/>
          </a:xfrm>
          <a:prstGeom prst="rect">
            <a:avLst/>
          </a:prstGeom>
          <a:noFill/>
        </p:spPr>
        <p:txBody>
          <a:bodyPr wrap="square" anchor="t" lIns="0" rIns="0" tIns="0" bIns="0">
            <a:noAutofit/>
          </a:bodyPr>
          <a:lstStyle/>
          <a:p>
            <a:pPr algn="l">
              <a:lnSpc>
                <a:spcPct val="112000"/>
              </a:lnSpc>
              <a:spcAft>
                <a:spcPts val="0"/>
              </a:spcAft>
            </a:pPr>
            <a:r>
              <a:rPr sz="670" b="0" i="0">
                <a:solidFill>
                  <a:srgbClr val="7C8AA3"/>
                </a:solidFill>
                <a:latin typeface="Segoe UI"/>
              </a:rPr>
              <a:t>0–100 · last 7 days</a:t>
            </a:r>
          </a:p>
        </p:txBody>
      </p:sp>
      <p:sp>
        <p:nvSpPr>
          <p:cNvPr id="35" name="Rounded Rectangle 34"/>
          <p:cNvSpPr/>
          <p:nvPr/>
        </p:nvSpPr>
        <p:spPr>
          <a:xfrm>
            <a:off x="4892040" y="3099816"/>
            <a:ext cx="2880360" cy="365760"/>
          </a:xfrm>
          <a:prstGeom prst="roundRect">
            <a:avLst>
              <a:gd name="adj" fmla="val 10000"/>
            </a:avLst>
          </a:prstGeom>
          <a:solidFill>
            <a:srgbClr val="FFFFFF"/>
          </a:solidFill>
          <a:ln w="9525">
            <a:solidFill>
              <a:srgbClr val="D5DCEE"/>
            </a:solidFill>
          </a:ln>
          <a:effectLst/>
        </p:spPr>
        <p:txBody>
          <a:bodyPr rtlCol="0" anchor="ctr" wrap="square"/>
          <a:lstStyle/>
          <a:p>
            <a:pPr algn="ctr"/>
          </a:p>
        </p:txBody>
      </p:sp>
      <p:sp>
        <p:nvSpPr>
          <p:cNvPr id="36" name="Rectangle 35"/>
          <p:cNvSpPr/>
          <p:nvPr/>
        </p:nvSpPr>
        <p:spPr>
          <a:xfrm>
            <a:off x="4892040" y="3154680"/>
            <a:ext cx="41148" cy="246888"/>
          </a:xfrm>
          <a:prstGeom prst="rect">
            <a:avLst/>
          </a:prstGeom>
          <a:solidFill>
            <a:srgbClr val="0EA5E9"/>
          </a:solidFill>
          <a:ln>
            <a:noFill/>
          </a:ln>
          <a:effectLst/>
        </p:spPr>
        <p:txBody>
          <a:bodyPr rtlCol="0" anchor="ctr" wrap="square"/>
          <a:lstStyle/>
          <a:p>
            <a:pPr algn="ctr"/>
          </a:p>
        </p:txBody>
      </p:sp>
      <p:sp>
        <p:nvSpPr>
          <p:cNvPr id="37" name="TextBox 36"/>
          <p:cNvSpPr txBox="1"/>
          <p:nvPr/>
        </p:nvSpPr>
        <p:spPr>
          <a:xfrm>
            <a:off x="5010912" y="3122676"/>
            <a:ext cx="1828800" cy="164592"/>
          </a:xfrm>
          <a:prstGeom prst="rect">
            <a:avLst/>
          </a:prstGeom>
          <a:noFill/>
        </p:spPr>
        <p:txBody>
          <a:bodyPr wrap="square" anchor="t" lIns="0" rIns="0" tIns="0" bIns="0">
            <a:noAutofit/>
          </a:bodyPr>
          <a:lstStyle/>
          <a:p>
            <a:pPr algn="l">
              <a:lnSpc>
                <a:spcPct val="112000"/>
              </a:lnSpc>
              <a:spcAft>
                <a:spcPts val="0"/>
              </a:spcAft>
            </a:pPr>
            <a:r>
              <a:rPr sz="840" b="1" i="0">
                <a:solidFill>
                  <a:srgbClr val="0F172A"/>
                </a:solidFill>
                <a:latin typeface="Segoe UI"/>
              </a:rPr>
              <a:t>SM-2 Scheduler</a:t>
            </a:r>
          </a:p>
        </p:txBody>
      </p:sp>
      <p:sp>
        <p:nvSpPr>
          <p:cNvPr id="38" name="TextBox 37"/>
          <p:cNvSpPr txBox="1"/>
          <p:nvPr/>
        </p:nvSpPr>
        <p:spPr>
          <a:xfrm>
            <a:off x="5010912" y="3273552"/>
            <a:ext cx="2651760" cy="146304"/>
          </a:xfrm>
          <a:prstGeom prst="rect">
            <a:avLst/>
          </a:prstGeom>
          <a:noFill/>
        </p:spPr>
        <p:txBody>
          <a:bodyPr wrap="square" anchor="t" lIns="0" rIns="0" tIns="0" bIns="0">
            <a:noAutofit/>
          </a:bodyPr>
          <a:lstStyle/>
          <a:p>
            <a:pPr algn="l">
              <a:lnSpc>
                <a:spcPct val="112000"/>
              </a:lnSpc>
              <a:spcAft>
                <a:spcPts val="0"/>
              </a:spcAft>
            </a:pPr>
            <a:r>
              <a:rPr sz="670" b="0" i="0">
                <a:solidFill>
                  <a:srgbClr val="7C8AA3"/>
                </a:solidFill>
                <a:latin typeface="Segoe UI"/>
              </a:rPr>
              <a:t>interval × ease factor</a:t>
            </a:r>
          </a:p>
        </p:txBody>
      </p:sp>
      <p:sp>
        <p:nvSpPr>
          <p:cNvPr id="39" name="Rounded Rectangle 38"/>
          <p:cNvSpPr/>
          <p:nvPr/>
        </p:nvSpPr>
        <p:spPr>
          <a:xfrm>
            <a:off x="4892040" y="3529584"/>
            <a:ext cx="2880360" cy="365760"/>
          </a:xfrm>
          <a:prstGeom prst="roundRect">
            <a:avLst>
              <a:gd name="adj" fmla="val 10000"/>
            </a:avLst>
          </a:prstGeom>
          <a:solidFill>
            <a:srgbClr val="FFFFFF"/>
          </a:solidFill>
          <a:ln w="9525">
            <a:solidFill>
              <a:srgbClr val="D5DCEE"/>
            </a:solidFill>
          </a:ln>
          <a:effectLst/>
        </p:spPr>
        <p:txBody>
          <a:bodyPr rtlCol="0" anchor="ctr" wrap="square"/>
          <a:lstStyle/>
          <a:p>
            <a:pPr algn="ctr"/>
          </a:p>
        </p:txBody>
      </p:sp>
      <p:sp>
        <p:nvSpPr>
          <p:cNvPr id="40" name="Rectangle 39"/>
          <p:cNvSpPr/>
          <p:nvPr/>
        </p:nvSpPr>
        <p:spPr>
          <a:xfrm>
            <a:off x="4892040" y="3584448"/>
            <a:ext cx="41148" cy="246888"/>
          </a:xfrm>
          <a:prstGeom prst="rect">
            <a:avLst/>
          </a:prstGeom>
          <a:solidFill>
            <a:srgbClr val="F59E0B"/>
          </a:solidFill>
          <a:ln>
            <a:noFill/>
          </a:ln>
          <a:effectLst/>
        </p:spPr>
        <p:txBody>
          <a:bodyPr rtlCol="0" anchor="ctr" wrap="square"/>
          <a:lstStyle/>
          <a:p>
            <a:pPr algn="ctr"/>
          </a:p>
        </p:txBody>
      </p:sp>
      <p:sp>
        <p:nvSpPr>
          <p:cNvPr id="41" name="TextBox 40"/>
          <p:cNvSpPr txBox="1"/>
          <p:nvPr/>
        </p:nvSpPr>
        <p:spPr>
          <a:xfrm>
            <a:off x="5010912" y="3552444"/>
            <a:ext cx="1828800" cy="164592"/>
          </a:xfrm>
          <a:prstGeom prst="rect">
            <a:avLst/>
          </a:prstGeom>
          <a:noFill/>
        </p:spPr>
        <p:txBody>
          <a:bodyPr wrap="square" anchor="t" lIns="0" rIns="0" tIns="0" bIns="0">
            <a:noAutofit/>
          </a:bodyPr>
          <a:lstStyle/>
          <a:p>
            <a:pPr algn="l">
              <a:lnSpc>
                <a:spcPct val="112000"/>
              </a:lnSpc>
              <a:spcAft>
                <a:spcPts val="0"/>
              </a:spcAft>
            </a:pPr>
            <a:r>
              <a:rPr sz="840" b="1" i="0">
                <a:solidFill>
                  <a:srgbClr val="0F172A"/>
                </a:solidFill>
                <a:latin typeface="Segoe UI"/>
              </a:rPr>
              <a:t>Gamification</a:t>
            </a:r>
          </a:p>
        </p:txBody>
      </p:sp>
      <p:sp>
        <p:nvSpPr>
          <p:cNvPr id="42" name="TextBox 41"/>
          <p:cNvSpPr txBox="1"/>
          <p:nvPr/>
        </p:nvSpPr>
        <p:spPr>
          <a:xfrm>
            <a:off x="5010912" y="3703320"/>
            <a:ext cx="2651760" cy="146304"/>
          </a:xfrm>
          <a:prstGeom prst="rect">
            <a:avLst/>
          </a:prstGeom>
          <a:noFill/>
        </p:spPr>
        <p:txBody>
          <a:bodyPr wrap="square" anchor="t" lIns="0" rIns="0" tIns="0" bIns="0">
            <a:noAutofit/>
          </a:bodyPr>
          <a:lstStyle/>
          <a:p>
            <a:pPr algn="l">
              <a:lnSpc>
                <a:spcPct val="112000"/>
              </a:lnSpc>
              <a:spcAft>
                <a:spcPts val="0"/>
              </a:spcAft>
            </a:pPr>
            <a:r>
              <a:rPr sz="670" b="0" i="0">
                <a:solidFill>
                  <a:srgbClr val="7C8AA3"/>
                </a:solidFill>
                <a:latin typeface="Segoe UI"/>
              </a:rPr>
              <a:t>XP · levels · streaks</a:t>
            </a:r>
          </a:p>
        </p:txBody>
      </p:sp>
      <p:sp>
        <p:nvSpPr>
          <p:cNvPr id="43" name="Rounded Rectangle 42"/>
          <p:cNvSpPr/>
          <p:nvPr/>
        </p:nvSpPr>
        <p:spPr>
          <a:xfrm>
            <a:off x="4892040" y="3959352"/>
            <a:ext cx="2880360" cy="365760"/>
          </a:xfrm>
          <a:prstGeom prst="roundRect">
            <a:avLst>
              <a:gd name="adj" fmla="val 10000"/>
            </a:avLst>
          </a:prstGeom>
          <a:solidFill>
            <a:srgbClr val="FFFFFF"/>
          </a:solidFill>
          <a:ln w="9525">
            <a:solidFill>
              <a:srgbClr val="D5DCEE"/>
            </a:solidFill>
          </a:ln>
          <a:effectLst/>
        </p:spPr>
        <p:txBody>
          <a:bodyPr rtlCol="0" anchor="ctr" wrap="square"/>
          <a:lstStyle/>
          <a:p>
            <a:pPr algn="ctr"/>
          </a:p>
        </p:txBody>
      </p:sp>
      <p:sp>
        <p:nvSpPr>
          <p:cNvPr id="44" name="Rectangle 43"/>
          <p:cNvSpPr/>
          <p:nvPr/>
        </p:nvSpPr>
        <p:spPr>
          <a:xfrm>
            <a:off x="4892040" y="4014215"/>
            <a:ext cx="41148" cy="246888"/>
          </a:xfrm>
          <a:prstGeom prst="rect">
            <a:avLst/>
          </a:prstGeom>
          <a:solidFill>
            <a:srgbClr val="8B5CF6"/>
          </a:solidFill>
          <a:ln>
            <a:noFill/>
          </a:ln>
          <a:effectLst/>
        </p:spPr>
        <p:txBody>
          <a:bodyPr rtlCol="0" anchor="ctr" wrap="square"/>
          <a:lstStyle/>
          <a:p>
            <a:pPr algn="ctr"/>
          </a:p>
        </p:txBody>
      </p:sp>
      <p:sp>
        <p:nvSpPr>
          <p:cNvPr id="45" name="TextBox 44"/>
          <p:cNvSpPr txBox="1"/>
          <p:nvPr/>
        </p:nvSpPr>
        <p:spPr>
          <a:xfrm>
            <a:off x="5010912" y="3982212"/>
            <a:ext cx="1828800" cy="164592"/>
          </a:xfrm>
          <a:prstGeom prst="rect">
            <a:avLst/>
          </a:prstGeom>
          <a:noFill/>
        </p:spPr>
        <p:txBody>
          <a:bodyPr wrap="square" anchor="t" lIns="0" rIns="0" tIns="0" bIns="0">
            <a:noAutofit/>
          </a:bodyPr>
          <a:lstStyle/>
          <a:p>
            <a:pPr algn="l">
              <a:lnSpc>
                <a:spcPct val="112000"/>
              </a:lnSpc>
              <a:spcAft>
                <a:spcPts val="0"/>
              </a:spcAft>
            </a:pPr>
            <a:r>
              <a:rPr sz="840" b="1" i="0">
                <a:solidFill>
                  <a:srgbClr val="0F172A"/>
                </a:solidFill>
                <a:latin typeface="Segoe UI"/>
              </a:rPr>
              <a:t>AI Orchestrator</a:t>
            </a:r>
          </a:p>
        </p:txBody>
      </p:sp>
      <p:sp>
        <p:nvSpPr>
          <p:cNvPr id="46" name="TextBox 45"/>
          <p:cNvSpPr txBox="1"/>
          <p:nvPr/>
        </p:nvSpPr>
        <p:spPr>
          <a:xfrm>
            <a:off x="5010912" y="4133088"/>
            <a:ext cx="2651760" cy="146304"/>
          </a:xfrm>
          <a:prstGeom prst="rect">
            <a:avLst/>
          </a:prstGeom>
          <a:noFill/>
        </p:spPr>
        <p:txBody>
          <a:bodyPr wrap="square" anchor="t" lIns="0" rIns="0" tIns="0" bIns="0">
            <a:noAutofit/>
          </a:bodyPr>
          <a:lstStyle/>
          <a:p>
            <a:pPr algn="l">
              <a:lnSpc>
                <a:spcPct val="112000"/>
              </a:lnSpc>
              <a:spcAft>
                <a:spcPts val="0"/>
              </a:spcAft>
            </a:pPr>
            <a:r>
              <a:rPr sz="670" b="0" i="0">
                <a:solidFill>
                  <a:srgbClr val="7C8AA3"/>
                </a:solidFill>
                <a:latin typeface="Segoe UI"/>
              </a:rPr>
              <a:t>6-model fallback · JSON repair</a:t>
            </a:r>
          </a:p>
        </p:txBody>
      </p:sp>
      <p:sp>
        <p:nvSpPr>
          <p:cNvPr id="47" name="Rounded Rectangle 46"/>
          <p:cNvSpPr/>
          <p:nvPr/>
        </p:nvSpPr>
        <p:spPr>
          <a:xfrm>
            <a:off x="4892040" y="4389120"/>
            <a:ext cx="2880360" cy="365760"/>
          </a:xfrm>
          <a:prstGeom prst="roundRect">
            <a:avLst>
              <a:gd name="adj" fmla="val 10000"/>
            </a:avLst>
          </a:prstGeom>
          <a:solidFill>
            <a:srgbClr val="FFFFFF"/>
          </a:solidFill>
          <a:ln w="9525">
            <a:solidFill>
              <a:srgbClr val="D5DCEE"/>
            </a:solidFill>
          </a:ln>
          <a:effectLst/>
        </p:spPr>
        <p:txBody>
          <a:bodyPr rtlCol="0" anchor="ctr" wrap="square"/>
          <a:lstStyle/>
          <a:p>
            <a:pPr algn="ctr"/>
          </a:p>
        </p:txBody>
      </p:sp>
      <p:sp>
        <p:nvSpPr>
          <p:cNvPr id="48" name="Rectangle 47"/>
          <p:cNvSpPr/>
          <p:nvPr/>
        </p:nvSpPr>
        <p:spPr>
          <a:xfrm>
            <a:off x="4892040" y="4443983"/>
            <a:ext cx="41148" cy="246888"/>
          </a:xfrm>
          <a:prstGeom prst="rect">
            <a:avLst/>
          </a:prstGeom>
          <a:solidFill>
            <a:srgbClr val="10B981"/>
          </a:solidFill>
          <a:ln>
            <a:noFill/>
          </a:ln>
          <a:effectLst/>
        </p:spPr>
        <p:txBody>
          <a:bodyPr rtlCol="0" anchor="ctr" wrap="square"/>
          <a:lstStyle/>
          <a:p>
            <a:pPr algn="ctr"/>
          </a:p>
        </p:txBody>
      </p:sp>
      <p:sp>
        <p:nvSpPr>
          <p:cNvPr id="49" name="TextBox 48"/>
          <p:cNvSpPr txBox="1"/>
          <p:nvPr/>
        </p:nvSpPr>
        <p:spPr>
          <a:xfrm>
            <a:off x="5010912" y="4411980"/>
            <a:ext cx="1828800" cy="164592"/>
          </a:xfrm>
          <a:prstGeom prst="rect">
            <a:avLst/>
          </a:prstGeom>
          <a:noFill/>
        </p:spPr>
        <p:txBody>
          <a:bodyPr wrap="square" anchor="t" lIns="0" rIns="0" tIns="0" bIns="0">
            <a:noAutofit/>
          </a:bodyPr>
          <a:lstStyle/>
          <a:p>
            <a:pPr algn="l">
              <a:lnSpc>
                <a:spcPct val="112000"/>
              </a:lnSpc>
              <a:spcAft>
                <a:spcPts val="0"/>
              </a:spcAft>
            </a:pPr>
            <a:r>
              <a:rPr sz="840" b="1" i="0">
                <a:solidFill>
                  <a:srgbClr val="0F172A"/>
                </a:solidFill>
                <a:latin typeface="Segoe UI"/>
              </a:rPr>
              <a:t>File Parser</a:t>
            </a:r>
          </a:p>
        </p:txBody>
      </p:sp>
      <p:sp>
        <p:nvSpPr>
          <p:cNvPr id="50" name="TextBox 49"/>
          <p:cNvSpPr txBox="1"/>
          <p:nvPr/>
        </p:nvSpPr>
        <p:spPr>
          <a:xfrm>
            <a:off x="5010912" y="4562856"/>
            <a:ext cx="2651760" cy="146304"/>
          </a:xfrm>
          <a:prstGeom prst="rect">
            <a:avLst/>
          </a:prstGeom>
          <a:noFill/>
        </p:spPr>
        <p:txBody>
          <a:bodyPr wrap="square" anchor="t" lIns="0" rIns="0" tIns="0" bIns="0">
            <a:noAutofit/>
          </a:bodyPr>
          <a:lstStyle/>
          <a:p>
            <a:pPr algn="l">
              <a:lnSpc>
                <a:spcPct val="112000"/>
              </a:lnSpc>
              <a:spcAft>
                <a:spcPts val="0"/>
              </a:spcAft>
            </a:pPr>
            <a:r>
              <a:rPr sz="670" b="0" i="0">
                <a:solidFill>
                  <a:srgbClr val="7C8AA3"/>
                </a:solidFill>
                <a:latin typeface="Segoe UI"/>
              </a:rPr>
              <a:t>PDF · DOCX · OCR</a:t>
            </a:r>
          </a:p>
        </p:txBody>
      </p:sp>
      <p:sp>
        <p:nvSpPr>
          <p:cNvPr id="51" name="TextBox 50"/>
          <p:cNvSpPr txBox="1"/>
          <p:nvPr/>
        </p:nvSpPr>
        <p:spPr>
          <a:xfrm>
            <a:off x="8321040" y="1828800"/>
            <a:ext cx="2926080" cy="182880"/>
          </a:xfrm>
          <a:prstGeom prst="rect">
            <a:avLst/>
          </a:prstGeom>
          <a:noFill/>
        </p:spPr>
        <p:txBody>
          <a:bodyPr wrap="square" anchor="t" lIns="0" rIns="0" tIns="0" bIns="0">
            <a:noAutofit/>
          </a:bodyPr>
          <a:lstStyle/>
          <a:p>
            <a:pPr algn="l">
              <a:lnSpc>
                <a:spcPct val="112000"/>
              </a:lnSpc>
              <a:spcAft>
                <a:spcPts val="0"/>
              </a:spcAft>
            </a:pPr>
            <a:r>
              <a:rPr sz="900" b="1" i="0">
                <a:solidFill>
                  <a:srgbClr val="047857"/>
                </a:solidFill>
                <a:latin typeface="Segoe UI"/>
              </a:rPr>
              <a:t>3 · LOCAL DATA</a:t>
            </a:r>
          </a:p>
        </p:txBody>
      </p:sp>
      <p:sp>
        <p:nvSpPr>
          <p:cNvPr id="52" name="TextBox 51"/>
          <p:cNvSpPr txBox="1"/>
          <p:nvPr/>
        </p:nvSpPr>
        <p:spPr>
          <a:xfrm>
            <a:off x="8321040" y="2002536"/>
            <a:ext cx="3017520" cy="164592"/>
          </a:xfrm>
          <a:prstGeom prst="rect">
            <a:avLst/>
          </a:prstGeom>
          <a:noFill/>
        </p:spPr>
        <p:txBody>
          <a:bodyPr wrap="square" anchor="t" lIns="0" rIns="0" tIns="0" bIns="0">
            <a:noAutofit/>
          </a:bodyPr>
          <a:lstStyle/>
          <a:p>
            <a:pPr algn="l">
              <a:lnSpc>
                <a:spcPct val="112000"/>
              </a:lnSpc>
              <a:spcAft>
                <a:spcPts val="0"/>
              </a:spcAft>
            </a:pPr>
            <a:r>
              <a:rPr sz="800" b="0" i="0">
                <a:solidFill>
                  <a:srgbClr val="7C8AA3"/>
                </a:solidFill>
                <a:latin typeface="Segoe UI"/>
              </a:rPr>
              <a:t>Dexie / IndexedDB  ·  offline</a:t>
            </a:r>
          </a:p>
        </p:txBody>
      </p:sp>
      <p:sp>
        <p:nvSpPr>
          <p:cNvPr id="53" name="Rounded Rectangle 52"/>
          <p:cNvSpPr/>
          <p:nvPr/>
        </p:nvSpPr>
        <p:spPr>
          <a:xfrm>
            <a:off x="8366760" y="2240280"/>
            <a:ext cx="2971800" cy="896112"/>
          </a:xfrm>
          <a:prstGeom prst="roundRect">
            <a:avLst>
              <a:gd name="adj" fmla="val 8000"/>
            </a:avLst>
          </a:prstGeom>
          <a:solidFill>
            <a:srgbClr val="FFFFFF"/>
          </a:solidFill>
          <a:ln w="9525">
            <a:solidFill>
              <a:srgbClr val="D5DCEE"/>
            </a:solidFill>
          </a:ln>
          <a:effectLst/>
        </p:spPr>
        <p:txBody>
          <a:bodyPr rtlCol="0" anchor="ctr" wrap="square"/>
          <a:lstStyle/>
          <a:p>
            <a:pPr algn="ctr"/>
          </a:p>
        </p:txBody>
      </p:sp>
      <p:sp>
        <p:nvSpPr>
          <p:cNvPr id="54" name="TextBox 53"/>
          <p:cNvSpPr txBox="1"/>
          <p:nvPr/>
        </p:nvSpPr>
        <p:spPr>
          <a:xfrm>
            <a:off x="8531352" y="2286000"/>
            <a:ext cx="1005840" cy="475488"/>
          </a:xfrm>
          <a:prstGeom prst="rect">
            <a:avLst/>
          </a:prstGeom>
          <a:noFill/>
        </p:spPr>
        <p:txBody>
          <a:bodyPr wrap="square" anchor="t" lIns="0" rIns="0" tIns="0" bIns="0">
            <a:noAutofit/>
          </a:bodyPr>
          <a:lstStyle/>
          <a:p>
            <a:pPr algn="l">
              <a:lnSpc>
                <a:spcPct val="112000"/>
              </a:lnSpc>
              <a:spcAft>
                <a:spcPts val="0"/>
              </a:spcAft>
            </a:pPr>
            <a:r>
              <a:rPr sz="2700" b="1" i="0">
                <a:solidFill>
                  <a:srgbClr val="047857"/>
                </a:solidFill>
                <a:latin typeface="Segoe UI"/>
              </a:rPr>
              <a:t>40</a:t>
            </a:r>
          </a:p>
        </p:txBody>
      </p:sp>
      <p:sp>
        <p:nvSpPr>
          <p:cNvPr id="55" name="TextBox 54"/>
          <p:cNvSpPr txBox="1"/>
          <p:nvPr/>
        </p:nvSpPr>
        <p:spPr>
          <a:xfrm>
            <a:off x="9235440" y="2350008"/>
            <a:ext cx="1920240" cy="201168"/>
          </a:xfrm>
          <a:prstGeom prst="rect">
            <a:avLst/>
          </a:prstGeom>
          <a:noFill/>
        </p:spPr>
        <p:txBody>
          <a:bodyPr wrap="square" anchor="t" lIns="0" rIns="0" tIns="0" bIns="0">
            <a:noAutofit/>
          </a:bodyPr>
          <a:lstStyle/>
          <a:p>
            <a:pPr algn="l">
              <a:lnSpc>
                <a:spcPct val="112000"/>
              </a:lnSpc>
              <a:spcAft>
                <a:spcPts val="0"/>
              </a:spcAft>
            </a:pPr>
            <a:r>
              <a:rPr sz="1200" b="1" i="0">
                <a:solidFill>
                  <a:srgbClr val="0F172A"/>
                </a:solidFill>
                <a:latin typeface="Segoe UI"/>
              </a:rPr>
              <a:t>tables</a:t>
            </a:r>
          </a:p>
        </p:txBody>
      </p:sp>
      <p:sp>
        <p:nvSpPr>
          <p:cNvPr id="56" name="TextBox 55"/>
          <p:cNvSpPr txBox="1"/>
          <p:nvPr/>
        </p:nvSpPr>
        <p:spPr>
          <a:xfrm>
            <a:off x="9235440" y="2578608"/>
            <a:ext cx="1965960" cy="182880"/>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one local database</a:t>
            </a:r>
          </a:p>
        </p:txBody>
      </p:sp>
      <p:sp>
        <p:nvSpPr>
          <p:cNvPr id="57" name="TextBox 56"/>
          <p:cNvSpPr txBox="1"/>
          <p:nvPr/>
        </p:nvSpPr>
        <p:spPr>
          <a:xfrm>
            <a:off x="8531352" y="2788920"/>
            <a:ext cx="2651760" cy="182880"/>
          </a:xfrm>
          <a:prstGeom prst="rect">
            <a:avLst/>
          </a:prstGeom>
          <a:noFill/>
        </p:spPr>
        <p:txBody>
          <a:bodyPr wrap="square" anchor="t" lIns="0" rIns="0" tIns="0" bIns="0">
            <a:noAutofit/>
          </a:bodyPr>
          <a:lstStyle/>
          <a:p>
            <a:pPr algn="l">
              <a:lnSpc>
                <a:spcPct val="112000"/>
              </a:lnSpc>
              <a:spcAft>
                <a:spcPts val="0"/>
              </a:spcAft>
            </a:pPr>
            <a:r>
              <a:rPr sz="760" b="0" i="1">
                <a:solidFill>
                  <a:srgbClr val="047857"/>
                </a:solidFill>
                <a:latin typeface="Segoe UI"/>
              </a:rPr>
              <a:t>no server in the study loop</a:t>
            </a:r>
          </a:p>
        </p:txBody>
      </p:sp>
      <p:sp>
        <p:nvSpPr>
          <p:cNvPr id="58" name="Rounded Rectangle 57"/>
          <p:cNvSpPr/>
          <p:nvPr/>
        </p:nvSpPr>
        <p:spPr>
          <a:xfrm>
            <a:off x="8366760" y="3310128"/>
            <a:ext cx="1389888" cy="347472"/>
          </a:xfrm>
          <a:prstGeom prst="roundRect">
            <a:avLst>
              <a:gd name="adj" fmla="val 14000"/>
            </a:avLst>
          </a:prstGeom>
          <a:solidFill>
            <a:srgbClr val="E7FBF3"/>
          </a:solidFill>
          <a:ln>
            <a:noFill/>
          </a:ln>
          <a:effectLst/>
        </p:spPr>
        <p:txBody>
          <a:bodyPr rtlCol="0" anchor="ctr" wrap="square" lIns="54864" rIns="54864" tIns="0" bIns="0"/>
          <a:lstStyle/>
          <a:p>
            <a:pPr algn="ctr"/>
            <a:r>
              <a:rPr sz="819" b="0">
                <a:solidFill>
                  <a:srgbClr val="047857"/>
                </a:solidFill>
                <a:latin typeface="Segoe UI"/>
              </a:rPr>
              <a:t>Curriculum</a:t>
            </a:r>
          </a:p>
        </p:txBody>
      </p:sp>
      <p:sp>
        <p:nvSpPr>
          <p:cNvPr id="59" name="Rounded Rectangle 58"/>
          <p:cNvSpPr/>
          <p:nvPr/>
        </p:nvSpPr>
        <p:spPr>
          <a:xfrm>
            <a:off x="9875520" y="3310128"/>
            <a:ext cx="1389888" cy="347472"/>
          </a:xfrm>
          <a:prstGeom prst="roundRect">
            <a:avLst>
              <a:gd name="adj" fmla="val 14000"/>
            </a:avLst>
          </a:prstGeom>
          <a:solidFill>
            <a:srgbClr val="E7FBF3"/>
          </a:solidFill>
          <a:ln>
            <a:noFill/>
          </a:ln>
          <a:effectLst/>
        </p:spPr>
        <p:txBody>
          <a:bodyPr rtlCol="0" anchor="ctr" wrap="square" lIns="54864" rIns="54864" tIns="0" bIns="0"/>
          <a:lstStyle/>
          <a:p>
            <a:pPr algn="ctr"/>
            <a:r>
              <a:rPr sz="819" b="0">
                <a:solidFill>
                  <a:srgbClr val="047857"/>
                </a:solidFill>
                <a:latin typeface="Segoe UI"/>
              </a:rPr>
              <a:t>Practice</a:t>
            </a:r>
          </a:p>
        </p:txBody>
      </p:sp>
      <p:sp>
        <p:nvSpPr>
          <p:cNvPr id="60" name="Rounded Rectangle 59"/>
          <p:cNvSpPr/>
          <p:nvPr/>
        </p:nvSpPr>
        <p:spPr>
          <a:xfrm>
            <a:off x="8366760" y="3767328"/>
            <a:ext cx="1389888" cy="347472"/>
          </a:xfrm>
          <a:prstGeom prst="roundRect">
            <a:avLst>
              <a:gd name="adj" fmla="val 14000"/>
            </a:avLst>
          </a:prstGeom>
          <a:solidFill>
            <a:srgbClr val="E7FBF3"/>
          </a:solidFill>
          <a:ln>
            <a:noFill/>
          </a:ln>
          <a:effectLst/>
        </p:spPr>
        <p:txBody>
          <a:bodyPr rtlCol="0" anchor="ctr" wrap="square" lIns="54864" rIns="54864" tIns="0" bIns="0"/>
          <a:lstStyle/>
          <a:p>
            <a:pPr algn="ctr"/>
            <a:r>
              <a:rPr sz="819" b="0">
                <a:solidFill>
                  <a:srgbClr val="047857"/>
                </a:solidFill>
                <a:latin typeface="Segoe UI"/>
              </a:rPr>
              <a:t>Planning</a:t>
            </a:r>
          </a:p>
        </p:txBody>
      </p:sp>
      <p:sp>
        <p:nvSpPr>
          <p:cNvPr id="61" name="Rounded Rectangle 60"/>
          <p:cNvSpPr/>
          <p:nvPr/>
        </p:nvSpPr>
        <p:spPr>
          <a:xfrm>
            <a:off x="9875520" y="3767328"/>
            <a:ext cx="1389888" cy="347472"/>
          </a:xfrm>
          <a:prstGeom prst="roundRect">
            <a:avLst>
              <a:gd name="adj" fmla="val 14000"/>
            </a:avLst>
          </a:prstGeom>
          <a:solidFill>
            <a:srgbClr val="E7FBF3"/>
          </a:solidFill>
          <a:ln>
            <a:noFill/>
          </a:ln>
          <a:effectLst/>
        </p:spPr>
        <p:txBody>
          <a:bodyPr rtlCol="0" anchor="ctr" wrap="square" lIns="54864" rIns="54864" tIns="0" bIns="0"/>
          <a:lstStyle/>
          <a:p>
            <a:pPr algn="ctr"/>
            <a:r>
              <a:rPr sz="819" b="0">
                <a:solidFill>
                  <a:srgbClr val="047857"/>
                </a:solidFill>
                <a:latin typeface="Segoe UI"/>
              </a:rPr>
              <a:t>Progress</a:t>
            </a:r>
          </a:p>
        </p:txBody>
      </p:sp>
      <p:sp>
        <p:nvSpPr>
          <p:cNvPr id="62" name="TextBox 61"/>
          <p:cNvSpPr txBox="1"/>
          <p:nvPr/>
        </p:nvSpPr>
        <p:spPr>
          <a:xfrm>
            <a:off x="8366760" y="4297680"/>
            <a:ext cx="2926080" cy="329184"/>
          </a:xfrm>
          <a:prstGeom prst="rect">
            <a:avLst/>
          </a:prstGeom>
          <a:noFill/>
        </p:spPr>
        <p:txBody>
          <a:bodyPr wrap="square" anchor="t" lIns="0" rIns="0" tIns="0" bIns="0">
            <a:noAutofit/>
          </a:bodyPr>
          <a:lstStyle/>
          <a:p>
            <a:pPr algn="l">
              <a:lnSpc>
                <a:spcPct val="115000"/>
              </a:lnSpc>
              <a:spcAft>
                <a:spcPts val="0"/>
              </a:spcAft>
            </a:pPr>
            <a:r>
              <a:rPr sz="860" b="0" i="0">
                <a:solidFill>
                  <a:srgbClr val="7C8AA3"/>
                </a:solidFill>
                <a:latin typeface="Segoe UI"/>
              </a:rPr>
              <a:t>Every module reads and writes the same store.</a:t>
            </a:r>
          </a:p>
        </p:txBody>
      </p:sp>
      <p:cxnSp>
        <p:nvCxnSpPr>
          <p:cNvPr id="63" name="Connector 62"/>
          <p:cNvCxnSpPr/>
          <p:nvPr/>
        </p:nvCxnSpPr>
        <p:spPr>
          <a:xfrm>
            <a:off x="4270248" y="2670048"/>
            <a:ext cx="557784" cy="0"/>
          </a:xfrm>
          <a:prstGeom prst="line">
            <a:avLst/>
          </a:prstGeom>
          <a:ln w="17780">
            <a:solidFill>
              <a:srgbClr val="4F5BD5"/>
            </a:solidFill>
            <a:tailEnd type="triangle" w="med" len="med"/>
          </a:ln>
          <a:effectLst/>
        </p:spPr>
      </p:cxnSp>
      <p:sp>
        <p:nvSpPr>
          <p:cNvPr id="64" name="TextBox 63"/>
          <p:cNvSpPr txBox="1"/>
          <p:nvPr/>
        </p:nvSpPr>
        <p:spPr>
          <a:xfrm>
            <a:off x="4233672" y="2487168"/>
            <a:ext cx="685800" cy="146304"/>
          </a:xfrm>
          <a:prstGeom prst="rect">
            <a:avLst/>
          </a:prstGeom>
          <a:noFill/>
        </p:spPr>
        <p:txBody>
          <a:bodyPr wrap="square" anchor="t" lIns="0" rIns="0" tIns="0" bIns="0">
            <a:noAutofit/>
          </a:bodyPr>
          <a:lstStyle/>
          <a:p>
            <a:pPr algn="l">
              <a:lnSpc>
                <a:spcPct val="112000"/>
              </a:lnSpc>
              <a:spcAft>
                <a:spcPts val="0"/>
              </a:spcAft>
            </a:pPr>
            <a:r>
              <a:rPr sz="680" b="1" i="0">
                <a:solidFill>
                  <a:srgbClr val="4F5BD5"/>
                </a:solidFill>
                <a:latin typeface="Segoe UI"/>
              </a:rPr>
              <a:t>actions</a:t>
            </a:r>
          </a:p>
        </p:txBody>
      </p:sp>
      <p:cxnSp>
        <p:nvCxnSpPr>
          <p:cNvPr id="65" name="Connector 64"/>
          <p:cNvCxnSpPr/>
          <p:nvPr/>
        </p:nvCxnSpPr>
        <p:spPr>
          <a:xfrm flipH="1">
            <a:off x="4270248" y="3785615"/>
            <a:ext cx="557784" cy="0"/>
          </a:xfrm>
          <a:prstGeom prst="line">
            <a:avLst/>
          </a:prstGeom>
          <a:ln w="17780">
            <a:solidFill>
              <a:srgbClr val="047857"/>
            </a:solidFill>
            <a:tailEnd type="triangle" w="med" len="med"/>
          </a:ln>
          <a:effectLst/>
        </p:spPr>
      </p:cxnSp>
      <p:sp>
        <p:nvSpPr>
          <p:cNvPr id="66" name="TextBox 65"/>
          <p:cNvSpPr txBox="1"/>
          <p:nvPr/>
        </p:nvSpPr>
        <p:spPr>
          <a:xfrm>
            <a:off x="4187952" y="3822191"/>
            <a:ext cx="868680" cy="146304"/>
          </a:xfrm>
          <a:prstGeom prst="rect">
            <a:avLst/>
          </a:prstGeom>
          <a:noFill/>
        </p:spPr>
        <p:txBody>
          <a:bodyPr wrap="square" anchor="t" lIns="0" rIns="0" tIns="0" bIns="0">
            <a:noAutofit/>
          </a:bodyPr>
          <a:lstStyle/>
          <a:p>
            <a:pPr algn="l">
              <a:lnSpc>
                <a:spcPct val="112000"/>
              </a:lnSpc>
              <a:spcAft>
                <a:spcPts val="0"/>
              </a:spcAft>
            </a:pPr>
            <a:r>
              <a:rPr sz="680" b="1" i="0">
                <a:solidFill>
                  <a:srgbClr val="047857"/>
                </a:solidFill>
                <a:latin typeface="Segoe UI"/>
              </a:rPr>
              <a:t>next action</a:t>
            </a:r>
          </a:p>
        </p:txBody>
      </p:sp>
      <p:cxnSp>
        <p:nvCxnSpPr>
          <p:cNvPr id="67" name="Connector 66"/>
          <p:cNvCxnSpPr/>
          <p:nvPr/>
        </p:nvCxnSpPr>
        <p:spPr>
          <a:xfrm>
            <a:off x="7790688" y="2670048"/>
            <a:ext cx="548639" cy="0"/>
          </a:xfrm>
          <a:prstGeom prst="line">
            <a:avLst/>
          </a:prstGeom>
          <a:ln w="17780">
            <a:solidFill>
              <a:srgbClr val="4F5BD5"/>
            </a:solidFill>
            <a:tailEnd type="triangle" w="med" len="med"/>
          </a:ln>
          <a:effectLst/>
        </p:spPr>
      </p:cxnSp>
      <p:sp>
        <p:nvSpPr>
          <p:cNvPr id="68" name="TextBox 67"/>
          <p:cNvSpPr txBox="1"/>
          <p:nvPr/>
        </p:nvSpPr>
        <p:spPr>
          <a:xfrm>
            <a:off x="7772400" y="2487168"/>
            <a:ext cx="502920" cy="146304"/>
          </a:xfrm>
          <a:prstGeom prst="rect">
            <a:avLst/>
          </a:prstGeom>
          <a:noFill/>
        </p:spPr>
        <p:txBody>
          <a:bodyPr wrap="square" anchor="t" lIns="0" rIns="0" tIns="0" bIns="0">
            <a:noAutofit/>
          </a:bodyPr>
          <a:lstStyle/>
          <a:p>
            <a:pPr algn="l">
              <a:lnSpc>
                <a:spcPct val="112000"/>
              </a:lnSpc>
              <a:spcAft>
                <a:spcPts val="0"/>
              </a:spcAft>
            </a:pPr>
            <a:r>
              <a:rPr sz="680" b="1" i="0">
                <a:solidFill>
                  <a:srgbClr val="4F5BD5"/>
                </a:solidFill>
                <a:latin typeface="Segoe UI"/>
              </a:rPr>
              <a:t>write</a:t>
            </a:r>
          </a:p>
        </p:txBody>
      </p:sp>
      <p:cxnSp>
        <p:nvCxnSpPr>
          <p:cNvPr id="69" name="Connector 68"/>
          <p:cNvCxnSpPr/>
          <p:nvPr/>
        </p:nvCxnSpPr>
        <p:spPr>
          <a:xfrm flipH="1">
            <a:off x="7790688" y="3785615"/>
            <a:ext cx="548639" cy="0"/>
          </a:xfrm>
          <a:prstGeom prst="line">
            <a:avLst/>
          </a:prstGeom>
          <a:ln w="17780">
            <a:solidFill>
              <a:srgbClr val="047857"/>
            </a:solidFill>
            <a:tailEnd type="triangle" w="med" len="med"/>
          </a:ln>
          <a:effectLst/>
        </p:spPr>
      </p:cxnSp>
      <p:sp>
        <p:nvSpPr>
          <p:cNvPr id="70" name="TextBox 69"/>
          <p:cNvSpPr txBox="1"/>
          <p:nvPr/>
        </p:nvSpPr>
        <p:spPr>
          <a:xfrm>
            <a:off x="7845552" y="3822191"/>
            <a:ext cx="502920" cy="146304"/>
          </a:xfrm>
          <a:prstGeom prst="rect">
            <a:avLst/>
          </a:prstGeom>
          <a:noFill/>
        </p:spPr>
        <p:txBody>
          <a:bodyPr wrap="square" anchor="t" lIns="0" rIns="0" tIns="0" bIns="0">
            <a:noAutofit/>
          </a:bodyPr>
          <a:lstStyle/>
          <a:p>
            <a:pPr algn="l">
              <a:lnSpc>
                <a:spcPct val="112000"/>
              </a:lnSpc>
              <a:spcAft>
                <a:spcPts val="0"/>
              </a:spcAft>
            </a:pPr>
            <a:r>
              <a:rPr sz="680" b="1" i="0">
                <a:solidFill>
                  <a:srgbClr val="047857"/>
                </a:solidFill>
                <a:latin typeface="Segoe UI"/>
              </a:rPr>
              <a:t>read</a:t>
            </a:r>
          </a:p>
        </p:txBody>
      </p:sp>
      <p:sp>
        <p:nvSpPr>
          <p:cNvPr id="71" name="Rounded Rectangle 70"/>
          <p:cNvSpPr/>
          <p:nvPr/>
        </p:nvSpPr>
        <p:spPr>
          <a:xfrm>
            <a:off x="777240" y="4937760"/>
            <a:ext cx="10652760" cy="548640"/>
          </a:xfrm>
          <a:prstGeom prst="roundRect">
            <a:avLst>
              <a:gd name="adj" fmla="val 8000"/>
            </a:avLst>
          </a:prstGeom>
          <a:solidFill>
            <a:srgbClr val="F5F7FE"/>
          </a:solidFill>
          <a:ln w="9525">
            <a:solidFill>
              <a:srgbClr val="E3E8F5"/>
            </a:solidFill>
          </a:ln>
          <a:effectLst/>
        </p:spPr>
        <p:txBody>
          <a:bodyPr rtlCol="0" anchor="ctr" wrap="square"/>
          <a:lstStyle/>
          <a:p>
            <a:pPr algn="ctr"/>
          </a:p>
        </p:txBody>
      </p:sp>
      <p:sp>
        <p:nvSpPr>
          <p:cNvPr id="72" name="TextBox 71"/>
          <p:cNvSpPr txBox="1"/>
          <p:nvPr/>
        </p:nvSpPr>
        <p:spPr>
          <a:xfrm>
            <a:off x="914400" y="5056632"/>
            <a:ext cx="822960" cy="182880"/>
          </a:xfrm>
          <a:prstGeom prst="rect">
            <a:avLst/>
          </a:prstGeom>
          <a:noFill/>
        </p:spPr>
        <p:txBody>
          <a:bodyPr wrap="square" anchor="t" lIns="0" rIns="0" tIns="0" bIns="0">
            <a:noAutofit/>
          </a:bodyPr>
          <a:lstStyle/>
          <a:p>
            <a:pPr algn="l">
              <a:lnSpc>
                <a:spcPct val="112000"/>
              </a:lnSpc>
              <a:spcAft>
                <a:spcPts val="0"/>
              </a:spcAft>
            </a:pPr>
            <a:r>
              <a:rPr sz="720" b="1" i="0">
                <a:solidFill>
                  <a:srgbClr val="4F5BD5"/>
                </a:solidFill>
                <a:latin typeface="Segoe UI"/>
              </a:rPr>
              <a:t>CORE LOOP</a:t>
            </a:r>
          </a:p>
        </p:txBody>
      </p:sp>
      <p:sp>
        <p:nvSpPr>
          <p:cNvPr id="73" name="Rounded Rectangle 72"/>
          <p:cNvSpPr/>
          <p:nvPr/>
        </p:nvSpPr>
        <p:spPr>
          <a:xfrm>
            <a:off x="1627632" y="5047488"/>
            <a:ext cx="1417320" cy="310896"/>
          </a:xfrm>
          <a:prstGeom prst="roundRect">
            <a:avLst>
              <a:gd name="adj" fmla="val 50000"/>
            </a:avLst>
          </a:prstGeom>
          <a:solidFill>
            <a:srgbClr val="FFFFFF"/>
          </a:solidFill>
          <a:ln w="9525">
            <a:solidFill>
              <a:srgbClr val="D5DCEE"/>
            </a:solidFill>
          </a:ln>
          <a:effectLst/>
        </p:spPr>
        <p:txBody>
          <a:bodyPr rtlCol="0" anchor="ctr" wrap="square" lIns="54864" rIns="54864" tIns="0" bIns="0"/>
          <a:lstStyle/>
          <a:p>
            <a:pPr algn="ctr"/>
            <a:r>
              <a:rPr sz="919" b="1">
                <a:solidFill>
                  <a:srgbClr val="0F172A"/>
                </a:solidFill>
                <a:latin typeface="Segoe UI"/>
              </a:rPr>
              <a:t>Plan</a:t>
            </a:r>
          </a:p>
        </p:txBody>
      </p:sp>
      <p:cxnSp>
        <p:nvCxnSpPr>
          <p:cNvPr id="74" name="Connector 73"/>
          <p:cNvCxnSpPr/>
          <p:nvPr/>
        </p:nvCxnSpPr>
        <p:spPr>
          <a:xfrm>
            <a:off x="3072384" y="5202936"/>
            <a:ext cx="292607" cy="0"/>
          </a:xfrm>
          <a:prstGeom prst="line">
            <a:avLst/>
          </a:prstGeom>
          <a:ln w="15240">
            <a:solidFill>
              <a:srgbClr val="4F5BD5"/>
            </a:solidFill>
            <a:tailEnd type="triangle" w="med" len="med"/>
          </a:ln>
          <a:effectLst/>
        </p:spPr>
      </p:cxnSp>
      <p:sp>
        <p:nvSpPr>
          <p:cNvPr id="75" name="Rounded Rectangle 74"/>
          <p:cNvSpPr/>
          <p:nvPr/>
        </p:nvSpPr>
        <p:spPr>
          <a:xfrm>
            <a:off x="3401568" y="5047488"/>
            <a:ext cx="1417320" cy="310896"/>
          </a:xfrm>
          <a:prstGeom prst="roundRect">
            <a:avLst>
              <a:gd name="adj" fmla="val 50000"/>
            </a:avLst>
          </a:prstGeom>
          <a:solidFill>
            <a:srgbClr val="FFFFFF"/>
          </a:solidFill>
          <a:ln w="9525">
            <a:solidFill>
              <a:srgbClr val="D5DCEE"/>
            </a:solidFill>
          </a:ln>
          <a:effectLst/>
        </p:spPr>
        <p:txBody>
          <a:bodyPr rtlCol="0" anchor="ctr" wrap="square" lIns="54864" rIns="54864" tIns="0" bIns="0"/>
          <a:lstStyle/>
          <a:p>
            <a:pPr algn="ctr"/>
            <a:r>
              <a:rPr sz="919" b="1">
                <a:solidFill>
                  <a:srgbClr val="0F172A"/>
                </a:solidFill>
                <a:latin typeface="Segoe UI"/>
              </a:rPr>
              <a:t>Study</a:t>
            </a:r>
          </a:p>
        </p:txBody>
      </p:sp>
      <p:cxnSp>
        <p:nvCxnSpPr>
          <p:cNvPr id="76" name="Connector 75"/>
          <p:cNvCxnSpPr/>
          <p:nvPr/>
        </p:nvCxnSpPr>
        <p:spPr>
          <a:xfrm>
            <a:off x="4846320" y="5202936"/>
            <a:ext cx="292607" cy="0"/>
          </a:xfrm>
          <a:prstGeom prst="line">
            <a:avLst/>
          </a:prstGeom>
          <a:ln w="15240">
            <a:solidFill>
              <a:srgbClr val="4F5BD5"/>
            </a:solidFill>
            <a:tailEnd type="triangle" w="med" len="med"/>
          </a:ln>
          <a:effectLst/>
        </p:spPr>
      </p:cxnSp>
      <p:sp>
        <p:nvSpPr>
          <p:cNvPr id="77" name="Rounded Rectangle 76"/>
          <p:cNvSpPr/>
          <p:nvPr/>
        </p:nvSpPr>
        <p:spPr>
          <a:xfrm>
            <a:off x="5175504" y="5047488"/>
            <a:ext cx="1417320" cy="310896"/>
          </a:xfrm>
          <a:prstGeom prst="roundRect">
            <a:avLst>
              <a:gd name="adj" fmla="val 50000"/>
            </a:avLst>
          </a:prstGeom>
          <a:solidFill>
            <a:srgbClr val="FFFFFF"/>
          </a:solidFill>
          <a:ln w="9525">
            <a:solidFill>
              <a:srgbClr val="D5DCEE"/>
            </a:solidFill>
          </a:ln>
          <a:effectLst/>
        </p:spPr>
        <p:txBody>
          <a:bodyPr rtlCol="0" anchor="ctr" wrap="square" lIns="54864" rIns="54864" tIns="0" bIns="0"/>
          <a:lstStyle/>
          <a:p>
            <a:pPr algn="ctr"/>
            <a:r>
              <a:rPr sz="919" b="1">
                <a:solidFill>
                  <a:srgbClr val="0F172A"/>
                </a:solidFill>
                <a:latin typeface="Segoe UI"/>
              </a:rPr>
              <a:t>Attempt</a:t>
            </a:r>
          </a:p>
        </p:txBody>
      </p:sp>
      <p:cxnSp>
        <p:nvCxnSpPr>
          <p:cNvPr id="78" name="Connector 77"/>
          <p:cNvCxnSpPr/>
          <p:nvPr/>
        </p:nvCxnSpPr>
        <p:spPr>
          <a:xfrm>
            <a:off x="6620256" y="5202936"/>
            <a:ext cx="292608" cy="0"/>
          </a:xfrm>
          <a:prstGeom prst="line">
            <a:avLst/>
          </a:prstGeom>
          <a:ln w="15240">
            <a:solidFill>
              <a:srgbClr val="4F5BD5"/>
            </a:solidFill>
            <a:tailEnd type="triangle" w="med" len="med"/>
          </a:ln>
          <a:effectLst/>
        </p:spPr>
      </p:cxnSp>
      <p:sp>
        <p:nvSpPr>
          <p:cNvPr id="79" name="Rounded Rectangle 78"/>
          <p:cNvSpPr/>
          <p:nvPr/>
        </p:nvSpPr>
        <p:spPr>
          <a:xfrm>
            <a:off x="6949440" y="5047488"/>
            <a:ext cx="1417320" cy="310896"/>
          </a:xfrm>
          <a:prstGeom prst="roundRect">
            <a:avLst>
              <a:gd name="adj" fmla="val 50000"/>
            </a:avLst>
          </a:prstGeom>
          <a:solidFill>
            <a:srgbClr val="FFFFFF"/>
          </a:solidFill>
          <a:ln w="9525">
            <a:solidFill>
              <a:srgbClr val="D5DCEE"/>
            </a:solidFill>
          </a:ln>
          <a:effectLst/>
        </p:spPr>
        <p:txBody>
          <a:bodyPr rtlCol="0" anchor="ctr" wrap="square" lIns="54864" rIns="54864" tIns="0" bIns="0"/>
          <a:lstStyle/>
          <a:p>
            <a:pPr algn="ctr"/>
            <a:r>
              <a:rPr sz="919" b="1">
                <a:solidFill>
                  <a:srgbClr val="0F172A"/>
                </a:solidFill>
                <a:latin typeface="Segoe UI"/>
              </a:rPr>
              <a:t>Score</a:t>
            </a:r>
          </a:p>
        </p:txBody>
      </p:sp>
      <p:cxnSp>
        <p:nvCxnSpPr>
          <p:cNvPr id="80" name="Connector 79"/>
          <p:cNvCxnSpPr/>
          <p:nvPr/>
        </p:nvCxnSpPr>
        <p:spPr>
          <a:xfrm>
            <a:off x="8394192" y="5202936"/>
            <a:ext cx="292608" cy="0"/>
          </a:xfrm>
          <a:prstGeom prst="line">
            <a:avLst/>
          </a:prstGeom>
          <a:ln w="15240">
            <a:solidFill>
              <a:srgbClr val="4F5BD5"/>
            </a:solidFill>
            <a:tailEnd type="triangle" w="med" len="med"/>
          </a:ln>
          <a:effectLst/>
        </p:spPr>
      </p:cxnSp>
      <p:sp>
        <p:nvSpPr>
          <p:cNvPr id="81" name="Rounded Rectangle 80"/>
          <p:cNvSpPr/>
          <p:nvPr/>
        </p:nvSpPr>
        <p:spPr>
          <a:xfrm>
            <a:off x="8723376" y="5047488"/>
            <a:ext cx="1417320" cy="310896"/>
          </a:xfrm>
          <a:prstGeom prst="roundRect">
            <a:avLst>
              <a:gd name="adj" fmla="val 50000"/>
            </a:avLst>
          </a:prstGeom>
          <a:solidFill>
            <a:srgbClr val="FFFFFF"/>
          </a:solidFill>
          <a:ln w="9525">
            <a:solidFill>
              <a:srgbClr val="D5DCEE"/>
            </a:solidFill>
          </a:ln>
          <a:effectLst/>
        </p:spPr>
        <p:txBody>
          <a:bodyPr rtlCol="0" anchor="ctr" wrap="square" lIns="54864" rIns="54864" tIns="0" bIns="0"/>
          <a:lstStyle/>
          <a:p>
            <a:pPr algn="ctr"/>
            <a:r>
              <a:rPr sz="919" b="1">
                <a:solidFill>
                  <a:srgbClr val="0F172A"/>
                </a:solidFill>
                <a:latin typeface="Segoe UI"/>
              </a:rPr>
              <a:t>Re-plan</a:t>
            </a:r>
          </a:p>
        </p:txBody>
      </p:sp>
      <p:sp>
        <p:nvSpPr>
          <p:cNvPr id="82" name="TextBox 81"/>
          <p:cNvSpPr txBox="1"/>
          <p:nvPr/>
        </p:nvSpPr>
        <p:spPr>
          <a:xfrm>
            <a:off x="10561320" y="5047488"/>
            <a:ext cx="685800" cy="310896"/>
          </a:xfrm>
          <a:prstGeom prst="rect">
            <a:avLst/>
          </a:prstGeom>
          <a:noFill/>
        </p:spPr>
        <p:txBody>
          <a:bodyPr wrap="square" anchor="t" lIns="0" rIns="0" tIns="0" bIns="0">
            <a:noAutofit/>
          </a:bodyPr>
          <a:lstStyle/>
          <a:p>
            <a:pPr algn="l">
              <a:lnSpc>
                <a:spcPct val="112000"/>
              </a:lnSpc>
              <a:spcAft>
                <a:spcPts val="0"/>
              </a:spcAft>
            </a:pPr>
            <a:r>
              <a:rPr sz="1700" b="1" i="0">
                <a:solidFill>
                  <a:srgbClr val="4F5BD5"/>
                </a:solidFill>
                <a:latin typeface="Segoe UI"/>
              </a:rPr>
              <a:t>↺</a:t>
            </a:r>
          </a:p>
        </p:txBody>
      </p:sp>
      <p:sp>
        <p:nvSpPr>
          <p:cNvPr id="83" name="TextBox 82"/>
          <p:cNvSpPr txBox="1"/>
          <p:nvPr/>
        </p:nvSpPr>
        <p:spPr>
          <a:xfrm>
            <a:off x="10287000" y="5285232"/>
            <a:ext cx="960120" cy="146304"/>
          </a:xfrm>
          <a:prstGeom prst="rect">
            <a:avLst/>
          </a:prstGeom>
          <a:noFill/>
        </p:spPr>
        <p:txBody>
          <a:bodyPr wrap="square" anchor="t" lIns="0" rIns="0" tIns="0" bIns="0">
            <a:noAutofit/>
          </a:bodyPr>
          <a:lstStyle/>
          <a:p>
            <a:pPr algn="r">
              <a:lnSpc>
                <a:spcPct val="112000"/>
              </a:lnSpc>
              <a:spcAft>
                <a:spcPts val="0"/>
              </a:spcAft>
            </a:pPr>
            <a:r>
              <a:rPr sz="680" b="0" i="0">
                <a:solidFill>
                  <a:srgbClr val="7C8AA3"/>
                </a:solidFill>
                <a:latin typeface="Segoe UI"/>
              </a:rPr>
              <a:t>repeats</a:t>
            </a:r>
          </a:p>
        </p:txBody>
      </p:sp>
      <p:sp>
        <p:nvSpPr>
          <p:cNvPr id="84" name="TextBox 83"/>
          <p:cNvSpPr txBox="1"/>
          <p:nvPr/>
        </p:nvSpPr>
        <p:spPr>
          <a:xfrm>
            <a:off x="566928" y="5888736"/>
            <a:ext cx="1600200" cy="182880"/>
          </a:xfrm>
          <a:prstGeom prst="rect">
            <a:avLst/>
          </a:prstGeom>
          <a:noFill/>
        </p:spPr>
        <p:txBody>
          <a:bodyPr wrap="square" anchor="t" lIns="0" rIns="0" tIns="0" bIns="0">
            <a:noAutofit/>
          </a:bodyPr>
          <a:lstStyle/>
          <a:p>
            <a:pPr algn="l">
              <a:lnSpc>
                <a:spcPct val="112000"/>
              </a:lnSpc>
              <a:spcAft>
                <a:spcPts val="0"/>
              </a:spcAft>
            </a:pPr>
            <a:r>
              <a:rPr sz="720" b="1" i="0">
                <a:solidFill>
                  <a:srgbClr val="B45309"/>
                </a:solidFill>
                <a:latin typeface="Segoe UI"/>
              </a:rPr>
              <a:t>OPTIONAL / EXTERNAL</a:t>
            </a:r>
          </a:p>
        </p:txBody>
      </p:sp>
      <p:sp>
        <p:nvSpPr>
          <p:cNvPr id="85" name="Rounded Rectangle 84"/>
          <p:cNvSpPr/>
          <p:nvPr/>
        </p:nvSpPr>
        <p:spPr>
          <a:xfrm>
            <a:off x="2084831" y="5824728"/>
            <a:ext cx="2331720" cy="292608"/>
          </a:xfrm>
          <a:prstGeom prst="roundRect">
            <a:avLst>
              <a:gd name="adj" fmla="val 50000"/>
            </a:avLst>
          </a:prstGeom>
          <a:solidFill>
            <a:srgbClr val="FFFFFF"/>
          </a:solidFill>
          <a:ln w="9525">
            <a:solidFill>
              <a:srgbClr val="F59E0B"/>
            </a:solidFill>
            <a:prstDash val="dash"/>
          </a:ln>
          <a:effectLst/>
        </p:spPr>
        <p:txBody>
          <a:bodyPr rtlCol="0" anchor="ctr" wrap="square" lIns="54864" rIns="54864" tIns="0" bIns="0"/>
          <a:lstStyle/>
          <a:p>
            <a:pPr algn="ctr"/>
            <a:r>
              <a:rPr sz="760" b="0">
                <a:solidFill>
                  <a:srgbClr val="475569"/>
                </a:solidFill>
                <a:latin typeface="Segoe UI"/>
              </a:rPr>
              <a:t>OpenRouter · 6-model fallback</a:t>
            </a:r>
          </a:p>
        </p:txBody>
      </p:sp>
      <p:sp>
        <p:nvSpPr>
          <p:cNvPr id="86" name="Rounded Rectangle 85"/>
          <p:cNvSpPr/>
          <p:nvPr/>
        </p:nvSpPr>
        <p:spPr>
          <a:xfrm>
            <a:off x="4507992" y="5824728"/>
            <a:ext cx="2103120" cy="292608"/>
          </a:xfrm>
          <a:prstGeom prst="roundRect">
            <a:avLst>
              <a:gd name="adj" fmla="val 50000"/>
            </a:avLst>
          </a:prstGeom>
          <a:solidFill>
            <a:srgbClr val="FFFFFF"/>
          </a:solidFill>
          <a:ln w="9525">
            <a:solidFill>
              <a:srgbClr val="F59E0B"/>
            </a:solidFill>
            <a:prstDash val="dash"/>
          </a:ln>
          <a:effectLst/>
        </p:spPr>
        <p:txBody>
          <a:bodyPr rtlCol="0" anchor="ctr" wrap="square" lIns="54864" rIns="54864" tIns="0" bIns="0"/>
          <a:lstStyle/>
          <a:p>
            <a:pPr algn="ctr"/>
            <a:r>
              <a:rPr sz="760" b="0">
                <a:solidFill>
                  <a:srgbClr val="475569"/>
                </a:solidFill>
                <a:latin typeface="Segoe UI"/>
              </a:rPr>
              <a:t>Firebase Auth · optional</a:t>
            </a:r>
          </a:p>
        </p:txBody>
      </p:sp>
      <p:sp>
        <p:nvSpPr>
          <p:cNvPr id="87" name="Rounded Rectangle 86"/>
          <p:cNvSpPr/>
          <p:nvPr/>
        </p:nvSpPr>
        <p:spPr>
          <a:xfrm>
            <a:off x="6702552" y="5824728"/>
            <a:ext cx="2240280" cy="292608"/>
          </a:xfrm>
          <a:prstGeom prst="roundRect">
            <a:avLst>
              <a:gd name="adj" fmla="val 50000"/>
            </a:avLst>
          </a:prstGeom>
          <a:solidFill>
            <a:srgbClr val="FFFFFF"/>
          </a:solidFill>
          <a:ln w="9525">
            <a:solidFill>
              <a:srgbClr val="D5DCEE"/>
            </a:solidFill>
          </a:ln>
          <a:effectLst/>
        </p:spPr>
        <p:txBody>
          <a:bodyPr rtlCol="0" anchor="ctr" wrap="square" lIns="54864" rIns="54864" tIns="0" bIns="0"/>
          <a:lstStyle/>
          <a:p>
            <a:pPr algn="ctr"/>
            <a:r>
              <a:rPr sz="760" b="0">
                <a:solidFill>
                  <a:srgbClr val="475569"/>
                </a:solidFill>
                <a:latin typeface="Segoe UI"/>
              </a:rPr>
              <a:t>Pyodide · Python in browser</a:t>
            </a:r>
          </a:p>
        </p:txBody>
      </p:sp>
      <p:sp>
        <p:nvSpPr>
          <p:cNvPr id="88" name="Rounded Rectangle 87"/>
          <p:cNvSpPr/>
          <p:nvPr/>
        </p:nvSpPr>
        <p:spPr>
          <a:xfrm>
            <a:off x="9034272" y="5824728"/>
            <a:ext cx="1691640" cy="292608"/>
          </a:xfrm>
          <a:prstGeom prst="roundRect">
            <a:avLst>
              <a:gd name="adj" fmla="val 50000"/>
            </a:avLst>
          </a:prstGeom>
          <a:solidFill>
            <a:srgbClr val="FFFFFF"/>
          </a:solidFill>
          <a:ln w="9525">
            <a:solidFill>
              <a:srgbClr val="D5DCEE"/>
            </a:solidFill>
          </a:ln>
          <a:effectLst/>
        </p:spPr>
        <p:txBody>
          <a:bodyPr rtlCol="0" anchor="ctr" wrap="square" lIns="54864" rIns="54864" tIns="0" bIns="0"/>
          <a:lstStyle/>
          <a:p>
            <a:pPr algn="ctr"/>
            <a:r>
              <a:rPr sz="760" b="0">
                <a:solidFill>
                  <a:srgbClr val="475569"/>
                </a:solidFill>
                <a:latin typeface="Segoe UI"/>
              </a:rPr>
              <a:t>Mermaid + KaTeX</a:t>
            </a:r>
          </a:p>
        </p:txBody>
      </p:sp>
      <p:sp>
        <p:nvSpPr>
          <p:cNvPr id="89" name="TextBox 88"/>
          <p:cNvSpPr txBox="1"/>
          <p:nvPr/>
        </p:nvSpPr>
        <p:spPr>
          <a:xfrm>
            <a:off x="10835640" y="5888736"/>
            <a:ext cx="822960" cy="164592"/>
          </a:xfrm>
          <a:prstGeom prst="rect">
            <a:avLst/>
          </a:prstGeom>
          <a:noFill/>
        </p:spPr>
        <p:txBody>
          <a:bodyPr wrap="square" anchor="t" lIns="0" rIns="0" tIns="0" bIns="0">
            <a:noAutofit/>
          </a:bodyPr>
          <a:lstStyle/>
          <a:p>
            <a:pPr algn="r">
              <a:lnSpc>
                <a:spcPct val="112000"/>
              </a:lnSpc>
              <a:spcAft>
                <a:spcPts val="0"/>
              </a:spcAft>
            </a:pPr>
            <a:r>
              <a:rPr sz="620" b="0" i="0">
                <a:solidFill>
                  <a:srgbClr val="7C8AA3"/>
                </a:solidFill>
                <a:latin typeface="Segoe UI"/>
              </a:rPr>
              <a:t>dashed = network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g_aurora.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40080" y="411480"/>
            <a:ext cx="164592" cy="164592"/>
          </a:xfrm>
          <a:prstGeom prst="roundRect">
            <a:avLst>
              <a:gd name="adj" fmla="val 25000"/>
            </a:avLst>
          </a:prstGeom>
          <a:gradFill rotWithShape="1">
            <a:gsLst>
              <a:gs pos="0">
                <a:srgbClr val="0EA5E9"/>
              </a:gs>
              <a:gs pos="100000">
                <a:srgbClr val="4F5BD5"/>
              </a:gs>
            </a:gsLst>
            <a:lin scaled="0" ang="19500000"/>
          </a:gradFill>
          <a:ln>
            <a:noFill/>
          </a:ln>
          <a:effectLst/>
        </p:spPr>
        <p:txBody>
          <a:bodyPr rtlCol="0" anchor="ctr"/>
          <a:lstStyle/>
          <a:p>
            <a:pPr algn="ctr"/>
          </a:p>
        </p:txBody>
      </p:sp>
      <p:sp>
        <p:nvSpPr>
          <p:cNvPr id="4" name="TextBox 3"/>
          <p:cNvSpPr txBox="1"/>
          <p:nvPr/>
        </p:nvSpPr>
        <p:spPr>
          <a:xfrm>
            <a:off x="886968" y="365760"/>
            <a:ext cx="1828800" cy="219456"/>
          </a:xfrm>
          <a:prstGeom prst="rect">
            <a:avLst/>
          </a:prstGeom>
          <a:noFill/>
        </p:spPr>
        <p:txBody>
          <a:bodyPr wrap="square" anchor="t" lIns="0" rIns="0" tIns="0" bIns="0">
            <a:noAutofit/>
          </a:bodyPr>
          <a:lstStyle/>
          <a:p>
            <a:pPr algn="l">
              <a:lnSpc>
                <a:spcPct val="112000"/>
              </a:lnSpc>
              <a:spcAft>
                <a:spcPts val="0"/>
              </a:spcAft>
            </a:pPr>
            <a:r>
              <a:rPr sz="950" b="1" i="0">
                <a:solidFill>
                  <a:srgbClr val="0F172A"/>
                </a:solidFill>
                <a:latin typeface="Segoe UI"/>
              </a:rPr>
              <a:t>StudyMapper</a:t>
            </a:r>
          </a:p>
        </p:txBody>
      </p:sp>
      <p:sp>
        <p:nvSpPr>
          <p:cNvPr id="5" name="TextBox 4"/>
          <p:cNvSpPr txBox="1"/>
          <p:nvPr/>
        </p:nvSpPr>
        <p:spPr>
          <a:xfrm>
            <a:off x="6035040" y="374904"/>
            <a:ext cx="5513832" cy="201168"/>
          </a:xfrm>
          <a:prstGeom prst="rect">
            <a:avLst/>
          </a:prstGeom>
          <a:noFill/>
        </p:spPr>
        <p:txBody>
          <a:bodyPr wrap="square" anchor="t" lIns="0" rIns="0" tIns="0" bIns="0">
            <a:noAutofit/>
          </a:bodyPr>
          <a:lstStyle/>
          <a:p>
            <a:pPr algn="r">
              <a:lnSpc>
                <a:spcPct val="112000"/>
              </a:lnSpc>
              <a:spcAft>
                <a:spcPts val="0"/>
              </a:spcAft>
            </a:pPr>
            <a:r>
              <a:rPr sz="950" b="1" i="0">
                <a:solidFill>
                  <a:srgbClr val="4F5BD5"/>
                </a:solidFill>
                <a:latin typeface="Segoe UI"/>
              </a:rPr>
              <a:t>07 · METHODOLOGY &amp; ALGORITHM</a:t>
            </a:r>
          </a:p>
        </p:txBody>
      </p:sp>
      <p:sp>
        <p:nvSpPr>
          <p:cNvPr id="6" name="TextBox 5"/>
          <p:cNvSpPr txBox="1"/>
          <p:nvPr/>
        </p:nvSpPr>
        <p:spPr>
          <a:xfrm>
            <a:off x="640080" y="658368"/>
            <a:ext cx="10908792" cy="566928"/>
          </a:xfrm>
          <a:prstGeom prst="rect">
            <a:avLst/>
          </a:prstGeom>
          <a:noFill/>
        </p:spPr>
        <p:txBody>
          <a:bodyPr wrap="square" anchor="t" lIns="0" rIns="0" tIns="0" bIns="0">
            <a:noAutofit/>
          </a:bodyPr>
          <a:lstStyle/>
          <a:p>
            <a:pPr algn="l">
              <a:lnSpc>
                <a:spcPct val="98000"/>
              </a:lnSpc>
              <a:spcAft>
                <a:spcPts val="0"/>
              </a:spcAft>
            </a:pPr>
            <a:r>
              <a:rPr sz="3200" b="1" i="0">
                <a:solidFill>
                  <a:srgbClr val="0F172A"/>
                </a:solidFill>
                <a:latin typeface="Segoe UI"/>
              </a:rPr>
              <a:t>How a study action becomes the next plan</a:t>
            </a:r>
          </a:p>
        </p:txBody>
      </p:sp>
      <p:sp>
        <p:nvSpPr>
          <p:cNvPr id="7" name="TextBox 6"/>
          <p:cNvSpPr txBox="1"/>
          <p:nvPr/>
        </p:nvSpPr>
        <p:spPr>
          <a:xfrm>
            <a:off x="640080" y="1243584"/>
            <a:ext cx="10469880" cy="438912"/>
          </a:xfrm>
          <a:prstGeom prst="rect">
            <a:avLst/>
          </a:prstGeom>
          <a:noFill/>
        </p:spPr>
        <p:txBody>
          <a:bodyPr wrap="square" anchor="t" lIns="0" rIns="0" tIns="0" bIns="0">
            <a:noAutofit/>
          </a:bodyPr>
          <a:lstStyle/>
          <a:p>
            <a:pPr algn="l">
              <a:lnSpc>
                <a:spcPct val="114000"/>
              </a:lnSpc>
              <a:spcAft>
                <a:spcPts val="0"/>
              </a:spcAft>
            </a:pPr>
            <a:r>
              <a:rPr sz="1450" b="0" i="0">
                <a:solidFill>
                  <a:srgbClr val="475569"/>
                </a:solidFill>
                <a:latin typeface="Segoe UI"/>
              </a:rPr>
              <a:t>A use-case view of what the student can do, and an activity view of what the system does with it.</a:t>
            </a:r>
          </a:p>
        </p:txBody>
      </p:sp>
      <p:sp>
        <p:nvSpPr>
          <p:cNvPr id="8" name="Rectangle 7"/>
          <p:cNvSpPr/>
          <p:nvPr/>
        </p:nvSpPr>
        <p:spPr>
          <a:xfrm>
            <a:off x="640080" y="6437376"/>
            <a:ext cx="10908792" cy="7315"/>
          </a:xfrm>
          <a:prstGeom prst="rect">
            <a:avLst/>
          </a:prstGeom>
          <a:solidFill>
            <a:srgbClr val="D5DCEE"/>
          </a:solidFill>
          <a:ln>
            <a:noFill/>
          </a:ln>
          <a:effectLst/>
        </p:spPr>
        <p:txBody>
          <a:bodyPr rtlCol="0" anchor="ctr" wrap="square"/>
          <a:lstStyle/>
          <a:p>
            <a:pPr algn="ctr"/>
          </a:p>
        </p:txBody>
      </p:sp>
      <p:sp>
        <p:nvSpPr>
          <p:cNvPr id="9" name="TextBox 8"/>
          <p:cNvSpPr txBox="1"/>
          <p:nvPr/>
        </p:nvSpPr>
        <p:spPr>
          <a:xfrm>
            <a:off x="640080" y="6519672"/>
            <a:ext cx="7863840" cy="164592"/>
          </a:xfrm>
          <a:prstGeom prst="rect">
            <a:avLst/>
          </a:prstGeom>
          <a:noFill/>
        </p:spPr>
        <p:txBody>
          <a:bodyPr wrap="square" anchor="t" lIns="0" rIns="0" tIns="0" bIns="0">
            <a:noAutofit/>
          </a:bodyPr>
          <a:lstStyle/>
          <a:p>
            <a:pPr algn="l">
              <a:lnSpc>
                <a:spcPct val="112000"/>
              </a:lnSpc>
              <a:spcAft>
                <a:spcPts val="0"/>
              </a:spcAft>
            </a:pPr>
            <a:r>
              <a:rPr sz="800" b="0" i="0">
                <a:solidFill>
                  <a:srgbClr val="7C8AA3"/>
                </a:solidFill>
                <a:latin typeface="Segoe UI"/>
              </a:rPr>
              <a:t>StudyMapper  ·  AI-Driven Personalized Learning &amp; Academic Management</a:t>
            </a:r>
          </a:p>
        </p:txBody>
      </p:sp>
      <p:sp>
        <p:nvSpPr>
          <p:cNvPr id="10" name="TextBox 9"/>
          <p:cNvSpPr txBox="1"/>
          <p:nvPr/>
        </p:nvSpPr>
        <p:spPr>
          <a:xfrm>
            <a:off x="10058400" y="6510528"/>
            <a:ext cx="1490472" cy="182880"/>
          </a:xfrm>
          <a:prstGeom prst="rect">
            <a:avLst/>
          </a:prstGeom>
          <a:noFill/>
        </p:spPr>
        <p:txBody>
          <a:bodyPr wrap="square" anchor="t" lIns="0" rIns="0" tIns="0" bIns="0">
            <a:noAutofit/>
          </a:bodyPr>
          <a:lstStyle/>
          <a:p>
            <a:pPr algn="r">
              <a:lnSpc>
                <a:spcPct val="112000"/>
              </a:lnSpc>
              <a:spcAft>
                <a:spcPts val="0"/>
              </a:spcAft>
            </a:pPr>
            <a:r>
              <a:rPr sz="880" b="1" i="0">
                <a:solidFill>
                  <a:srgbClr val="7C8AA3"/>
                </a:solidFill>
                <a:latin typeface="Segoe UI"/>
              </a:rPr>
              <a:t>08 / 13</a:t>
            </a:r>
          </a:p>
        </p:txBody>
      </p:sp>
      <p:sp>
        <p:nvSpPr>
          <p:cNvPr id="11" name="Rounded Rectangle 10"/>
          <p:cNvSpPr/>
          <p:nvPr/>
        </p:nvSpPr>
        <p:spPr>
          <a:xfrm>
            <a:off x="580644" y="1746504"/>
            <a:ext cx="5349240" cy="3639312"/>
          </a:xfrm>
          <a:prstGeom prst="roundRect">
            <a:avLst>
              <a:gd name="adj" fmla="val 5000"/>
            </a:avLst>
          </a:prstGeom>
          <a:solidFill>
            <a:srgbClr val="E8ECF8"/>
          </a:solidFill>
          <a:ln>
            <a:noFill/>
          </a:ln>
          <a:effectLst/>
        </p:spPr>
        <p:txBody>
          <a:bodyPr rtlCol="0" anchor="ctr" wrap="square"/>
          <a:lstStyle/>
          <a:p>
            <a:pPr algn="ctr"/>
          </a:p>
        </p:txBody>
      </p:sp>
      <p:sp>
        <p:nvSpPr>
          <p:cNvPr id="12" name="Rounded Rectangle 11"/>
          <p:cNvSpPr/>
          <p:nvPr/>
        </p:nvSpPr>
        <p:spPr>
          <a:xfrm>
            <a:off x="548640" y="1700784"/>
            <a:ext cx="5349240" cy="3639312"/>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13" name="TextBox 12"/>
          <p:cNvSpPr txBox="1"/>
          <p:nvPr/>
        </p:nvSpPr>
        <p:spPr>
          <a:xfrm>
            <a:off x="749808" y="1819656"/>
            <a:ext cx="2377440" cy="182880"/>
          </a:xfrm>
          <a:prstGeom prst="rect">
            <a:avLst/>
          </a:prstGeom>
          <a:noFill/>
        </p:spPr>
        <p:txBody>
          <a:bodyPr wrap="square" anchor="t" lIns="0" rIns="0" tIns="0" bIns="0">
            <a:noAutofit/>
          </a:bodyPr>
          <a:lstStyle/>
          <a:p>
            <a:pPr algn="l">
              <a:lnSpc>
                <a:spcPct val="112000"/>
              </a:lnSpc>
              <a:spcAft>
                <a:spcPts val="0"/>
              </a:spcAft>
            </a:pPr>
            <a:r>
              <a:rPr sz="860" b="1" i="0">
                <a:solidFill>
                  <a:srgbClr val="4F5BD5"/>
                </a:solidFill>
                <a:latin typeface="Segoe UI"/>
              </a:rPr>
              <a:t>USE-CASE VIEW</a:t>
            </a:r>
          </a:p>
        </p:txBody>
      </p:sp>
      <p:sp>
        <p:nvSpPr>
          <p:cNvPr id="14" name="TextBox 13"/>
          <p:cNvSpPr txBox="1"/>
          <p:nvPr/>
        </p:nvSpPr>
        <p:spPr>
          <a:xfrm>
            <a:off x="749808" y="1993392"/>
            <a:ext cx="3657600"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actor  ·  system boundary  ·  optional actors</a:t>
            </a:r>
          </a:p>
        </p:txBody>
      </p:sp>
      <p:sp>
        <p:nvSpPr>
          <p:cNvPr id="15" name="Rounded Rectangle 14"/>
          <p:cNvSpPr/>
          <p:nvPr/>
        </p:nvSpPr>
        <p:spPr>
          <a:xfrm>
            <a:off x="713232" y="2176272"/>
            <a:ext cx="4069080" cy="2944368"/>
          </a:xfrm>
          <a:prstGeom prst="roundRect">
            <a:avLst>
              <a:gd name="adj" fmla="val 4000"/>
            </a:avLst>
          </a:prstGeom>
          <a:solidFill>
            <a:srgbClr val="FBFCFE"/>
          </a:solidFill>
          <a:ln w="9525">
            <a:solidFill>
              <a:srgbClr val="D5DCEE"/>
            </a:solidFill>
          </a:ln>
          <a:effectLst/>
        </p:spPr>
        <p:txBody>
          <a:bodyPr rtlCol="0" anchor="ctr" wrap="square"/>
          <a:lstStyle/>
          <a:p>
            <a:pPr algn="ctr"/>
          </a:p>
        </p:txBody>
      </p:sp>
      <p:sp>
        <p:nvSpPr>
          <p:cNvPr id="16" name="TextBox 15"/>
          <p:cNvSpPr txBox="1"/>
          <p:nvPr/>
        </p:nvSpPr>
        <p:spPr>
          <a:xfrm>
            <a:off x="768096" y="2212848"/>
            <a:ext cx="914400" cy="164592"/>
          </a:xfrm>
          <a:prstGeom prst="rect">
            <a:avLst/>
          </a:prstGeom>
          <a:noFill/>
        </p:spPr>
        <p:txBody>
          <a:bodyPr wrap="square" anchor="t" lIns="0" rIns="0" tIns="0" bIns="0">
            <a:noAutofit/>
          </a:bodyPr>
          <a:lstStyle/>
          <a:p>
            <a:pPr algn="l">
              <a:lnSpc>
                <a:spcPct val="112000"/>
              </a:lnSpc>
              <a:spcAft>
                <a:spcPts val="0"/>
              </a:spcAft>
            </a:pPr>
            <a:r>
              <a:rPr sz="750" b="1" i="0">
                <a:solidFill>
                  <a:srgbClr val="4F5BD5"/>
                </a:solidFill>
                <a:latin typeface="Segoe UI"/>
              </a:rPr>
              <a:t>StudyMapper</a:t>
            </a:r>
          </a:p>
        </p:txBody>
      </p:sp>
      <p:sp>
        <p:nvSpPr>
          <p:cNvPr id="17" name="Oval 16"/>
          <p:cNvSpPr/>
          <p:nvPr/>
        </p:nvSpPr>
        <p:spPr>
          <a:xfrm>
            <a:off x="992124" y="3063240"/>
            <a:ext cx="173736" cy="173736"/>
          </a:xfrm>
          <a:prstGeom prst="ellipse">
            <a:avLst/>
          </a:prstGeom>
          <a:solidFill>
            <a:srgbClr val="0F172A"/>
          </a:solidFill>
          <a:ln>
            <a:noFill/>
          </a:ln>
          <a:effectLst/>
        </p:spPr>
        <p:txBody>
          <a:bodyPr rtlCol="0" anchor="ctr"/>
          <a:lstStyle/>
          <a:p>
            <a:pPr algn="ctr"/>
          </a:p>
        </p:txBody>
      </p:sp>
      <p:cxnSp>
        <p:nvCxnSpPr>
          <p:cNvPr id="18" name="Connector 17"/>
          <p:cNvCxnSpPr/>
          <p:nvPr/>
        </p:nvCxnSpPr>
        <p:spPr>
          <a:xfrm>
            <a:off x="1078992" y="3236976"/>
            <a:ext cx="0" cy="225856"/>
          </a:xfrm>
          <a:prstGeom prst="line">
            <a:avLst/>
          </a:prstGeom>
          <a:ln w="19050">
            <a:solidFill>
              <a:srgbClr val="0F172A"/>
            </a:solidFill>
          </a:ln>
          <a:effectLst/>
        </p:spPr>
      </p:cxnSp>
      <p:cxnSp>
        <p:nvCxnSpPr>
          <p:cNvPr id="19" name="Connector 18"/>
          <p:cNvCxnSpPr/>
          <p:nvPr/>
        </p:nvCxnSpPr>
        <p:spPr>
          <a:xfrm>
            <a:off x="913942" y="3236976"/>
            <a:ext cx="330099" cy="0"/>
          </a:xfrm>
          <a:prstGeom prst="line">
            <a:avLst/>
          </a:prstGeom>
          <a:ln w="19050">
            <a:solidFill>
              <a:srgbClr val="0F172A"/>
            </a:solidFill>
          </a:ln>
          <a:effectLst/>
        </p:spPr>
      </p:cxnSp>
      <p:cxnSp>
        <p:nvCxnSpPr>
          <p:cNvPr id="20" name="Connector 19"/>
          <p:cNvCxnSpPr/>
          <p:nvPr/>
        </p:nvCxnSpPr>
        <p:spPr>
          <a:xfrm flipH="1">
            <a:off x="948689" y="3462832"/>
            <a:ext cx="130303" cy="208483"/>
          </a:xfrm>
          <a:prstGeom prst="line">
            <a:avLst/>
          </a:prstGeom>
          <a:ln w="19050">
            <a:solidFill>
              <a:srgbClr val="0F172A"/>
            </a:solidFill>
          </a:ln>
          <a:effectLst/>
        </p:spPr>
      </p:cxnSp>
      <p:cxnSp>
        <p:nvCxnSpPr>
          <p:cNvPr id="21" name="Connector 20"/>
          <p:cNvCxnSpPr/>
          <p:nvPr/>
        </p:nvCxnSpPr>
        <p:spPr>
          <a:xfrm>
            <a:off x="1078992" y="3462832"/>
            <a:ext cx="130302" cy="208483"/>
          </a:xfrm>
          <a:prstGeom prst="line">
            <a:avLst/>
          </a:prstGeom>
          <a:ln w="19050">
            <a:solidFill>
              <a:srgbClr val="0F172A"/>
            </a:solidFill>
          </a:ln>
          <a:effectLst/>
        </p:spPr>
      </p:cxnSp>
      <p:sp>
        <p:nvSpPr>
          <p:cNvPr id="22" name="TextBox 21"/>
          <p:cNvSpPr txBox="1"/>
          <p:nvPr/>
        </p:nvSpPr>
        <p:spPr>
          <a:xfrm>
            <a:off x="713232" y="3767328"/>
            <a:ext cx="749808" cy="182880"/>
          </a:xfrm>
          <a:prstGeom prst="rect">
            <a:avLst/>
          </a:prstGeom>
          <a:noFill/>
        </p:spPr>
        <p:txBody>
          <a:bodyPr wrap="square" anchor="t" lIns="0" rIns="0" tIns="0" bIns="0">
            <a:noAutofit/>
          </a:bodyPr>
          <a:lstStyle/>
          <a:p>
            <a:pPr algn="ctr">
              <a:lnSpc>
                <a:spcPct val="112000"/>
              </a:lnSpc>
              <a:spcAft>
                <a:spcPts val="0"/>
              </a:spcAft>
            </a:pPr>
            <a:r>
              <a:rPr sz="860" b="1" i="0">
                <a:solidFill>
                  <a:srgbClr val="0F172A"/>
                </a:solidFill>
                <a:latin typeface="Segoe UI"/>
              </a:rPr>
              <a:t>Student</a:t>
            </a:r>
          </a:p>
        </p:txBody>
      </p:sp>
      <p:cxnSp>
        <p:nvCxnSpPr>
          <p:cNvPr id="23" name="Connector 22"/>
          <p:cNvCxnSpPr/>
          <p:nvPr/>
        </p:nvCxnSpPr>
        <p:spPr>
          <a:xfrm flipV="1">
            <a:off x="1280160" y="2569464"/>
            <a:ext cx="566928" cy="832104"/>
          </a:xfrm>
          <a:prstGeom prst="line">
            <a:avLst/>
          </a:prstGeom>
          <a:ln w="12700">
            <a:solidFill>
              <a:srgbClr val="D5DCEE"/>
            </a:solidFill>
          </a:ln>
          <a:effectLst/>
        </p:spPr>
      </p:cxnSp>
      <p:sp>
        <p:nvSpPr>
          <p:cNvPr id="24" name="Rounded Rectangle 23"/>
          <p:cNvSpPr/>
          <p:nvPr/>
        </p:nvSpPr>
        <p:spPr>
          <a:xfrm>
            <a:off x="1847088" y="2304288"/>
            <a:ext cx="2697480" cy="530352"/>
          </a:xfrm>
          <a:prstGeom prst="roundRect">
            <a:avLst>
              <a:gd name="adj" fmla="val 50000"/>
            </a:avLst>
          </a:prstGeom>
          <a:solidFill>
            <a:srgbClr val="FFFFFF"/>
          </a:solidFill>
          <a:ln w="9525">
            <a:solidFill>
              <a:srgbClr val="EEF0FF"/>
            </a:solidFill>
          </a:ln>
          <a:effectLst/>
        </p:spPr>
        <p:txBody>
          <a:bodyPr rtlCol="0" anchor="ctr" wrap="square"/>
          <a:lstStyle/>
          <a:p>
            <a:pPr algn="ctr"/>
          </a:p>
        </p:txBody>
      </p:sp>
      <p:sp>
        <p:nvSpPr>
          <p:cNvPr id="25" name="TextBox 24"/>
          <p:cNvSpPr txBox="1"/>
          <p:nvPr/>
        </p:nvSpPr>
        <p:spPr>
          <a:xfrm>
            <a:off x="1956816" y="2359152"/>
            <a:ext cx="2514600" cy="182880"/>
          </a:xfrm>
          <a:prstGeom prst="rect">
            <a:avLst/>
          </a:prstGeom>
          <a:noFill/>
        </p:spPr>
        <p:txBody>
          <a:bodyPr wrap="square" anchor="t" lIns="0" rIns="0" tIns="0" bIns="0">
            <a:noAutofit/>
          </a:bodyPr>
          <a:lstStyle/>
          <a:p>
            <a:pPr algn="l">
              <a:lnSpc>
                <a:spcPct val="112000"/>
              </a:lnSpc>
              <a:spcAft>
                <a:spcPts val="0"/>
              </a:spcAft>
            </a:pPr>
            <a:r>
              <a:rPr sz="940" b="1" i="0">
                <a:solidFill>
                  <a:srgbClr val="0F172A"/>
                </a:solidFill>
                <a:latin typeface="Segoe UI"/>
              </a:rPr>
              <a:t>Plan study</a:t>
            </a:r>
          </a:p>
        </p:txBody>
      </p:sp>
      <p:sp>
        <p:nvSpPr>
          <p:cNvPr id="26" name="TextBox 25"/>
          <p:cNvSpPr txBox="1"/>
          <p:nvPr/>
        </p:nvSpPr>
        <p:spPr>
          <a:xfrm>
            <a:off x="1956816" y="2551176"/>
            <a:ext cx="2514600" cy="164592"/>
          </a:xfrm>
          <a:prstGeom prst="rect">
            <a:avLst/>
          </a:prstGeom>
          <a:noFill/>
        </p:spPr>
        <p:txBody>
          <a:bodyPr wrap="square" anchor="t" lIns="0" rIns="0" tIns="0" bIns="0">
            <a:noAutofit/>
          </a:bodyPr>
          <a:lstStyle/>
          <a:p>
            <a:pPr algn="l">
              <a:lnSpc>
                <a:spcPct val="112000"/>
              </a:lnSpc>
              <a:spcAft>
                <a:spcPts val="0"/>
              </a:spcAft>
            </a:pPr>
            <a:r>
              <a:rPr sz="700" b="0" i="0">
                <a:solidFill>
                  <a:srgbClr val="7C8AA3"/>
                </a:solidFill>
                <a:latin typeface="Segoe UI"/>
              </a:rPr>
              <a:t>exam date · difficulty · available days</a:t>
            </a:r>
          </a:p>
        </p:txBody>
      </p:sp>
      <p:cxnSp>
        <p:nvCxnSpPr>
          <p:cNvPr id="27" name="Connector 26"/>
          <p:cNvCxnSpPr/>
          <p:nvPr/>
        </p:nvCxnSpPr>
        <p:spPr>
          <a:xfrm flipV="1">
            <a:off x="1280160" y="3172968"/>
            <a:ext cx="566928" cy="228600"/>
          </a:xfrm>
          <a:prstGeom prst="line">
            <a:avLst/>
          </a:prstGeom>
          <a:ln w="12700">
            <a:solidFill>
              <a:srgbClr val="D5DCEE"/>
            </a:solidFill>
          </a:ln>
          <a:effectLst/>
        </p:spPr>
      </p:cxnSp>
      <p:sp>
        <p:nvSpPr>
          <p:cNvPr id="28" name="Rounded Rectangle 27"/>
          <p:cNvSpPr/>
          <p:nvPr/>
        </p:nvSpPr>
        <p:spPr>
          <a:xfrm>
            <a:off x="1847088" y="2907792"/>
            <a:ext cx="2697480" cy="530352"/>
          </a:xfrm>
          <a:prstGeom prst="roundRect">
            <a:avLst>
              <a:gd name="adj" fmla="val 50000"/>
            </a:avLst>
          </a:prstGeom>
          <a:solidFill>
            <a:srgbClr val="FFFFFF"/>
          </a:solidFill>
          <a:ln w="9525">
            <a:solidFill>
              <a:srgbClr val="EEF0FF"/>
            </a:solidFill>
          </a:ln>
          <a:effectLst/>
        </p:spPr>
        <p:txBody>
          <a:bodyPr rtlCol="0" anchor="ctr" wrap="square"/>
          <a:lstStyle/>
          <a:p>
            <a:pPr algn="ctr"/>
          </a:p>
        </p:txBody>
      </p:sp>
      <p:sp>
        <p:nvSpPr>
          <p:cNvPr id="29" name="TextBox 28"/>
          <p:cNvSpPr txBox="1"/>
          <p:nvPr/>
        </p:nvSpPr>
        <p:spPr>
          <a:xfrm>
            <a:off x="1956816" y="2962656"/>
            <a:ext cx="2514600" cy="182880"/>
          </a:xfrm>
          <a:prstGeom prst="rect">
            <a:avLst/>
          </a:prstGeom>
          <a:noFill/>
        </p:spPr>
        <p:txBody>
          <a:bodyPr wrap="square" anchor="t" lIns="0" rIns="0" tIns="0" bIns="0">
            <a:noAutofit/>
          </a:bodyPr>
          <a:lstStyle/>
          <a:p>
            <a:pPr algn="l">
              <a:lnSpc>
                <a:spcPct val="112000"/>
              </a:lnSpc>
              <a:spcAft>
                <a:spcPts val="0"/>
              </a:spcAft>
            </a:pPr>
            <a:r>
              <a:rPr sz="940" b="1" i="0">
                <a:solidFill>
                  <a:srgbClr val="0F172A"/>
                </a:solidFill>
                <a:latin typeface="Segoe UI"/>
              </a:rPr>
              <a:t>Study &amp; generate</a:t>
            </a:r>
          </a:p>
        </p:txBody>
      </p:sp>
      <p:sp>
        <p:nvSpPr>
          <p:cNvPr id="30" name="TextBox 29"/>
          <p:cNvSpPr txBox="1"/>
          <p:nvPr/>
        </p:nvSpPr>
        <p:spPr>
          <a:xfrm>
            <a:off x="1956816" y="3154680"/>
            <a:ext cx="2514600" cy="164592"/>
          </a:xfrm>
          <a:prstGeom prst="rect">
            <a:avLst/>
          </a:prstGeom>
          <a:noFill/>
        </p:spPr>
        <p:txBody>
          <a:bodyPr wrap="square" anchor="t" lIns="0" rIns="0" tIns="0" bIns="0">
            <a:noAutofit/>
          </a:bodyPr>
          <a:lstStyle/>
          <a:p>
            <a:pPr algn="l">
              <a:lnSpc>
                <a:spcPct val="112000"/>
              </a:lnSpc>
              <a:spcAft>
                <a:spcPts val="0"/>
              </a:spcAft>
            </a:pPr>
            <a:r>
              <a:rPr sz="700" b="0" i="0">
                <a:solidFill>
                  <a:srgbClr val="7C8AA3"/>
                </a:solidFill>
                <a:latin typeface="Segoe UI"/>
              </a:rPr>
              <a:t>notes, diagrams, question banks</a:t>
            </a:r>
          </a:p>
        </p:txBody>
      </p:sp>
      <p:cxnSp>
        <p:nvCxnSpPr>
          <p:cNvPr id="31" name="Connector 30"/>
          <p:cNvCxnSpPr/>
          <p:nvPr/>
        </p:nvCxnSpPr>
        <p:spPr>
          <a:xfrm>
            <a:off x="1280160" y="3401568"/>
            <a:ext cx="566928" cy="374904"/>
          </a:xfrm>
          <a:prstGeom prst="line">
            <a:avLst/>
          </a:prstGeom>
          <a:ln w="12700">
            <a:solidFill>
              <a:srgbClr val="D5DCEE"/>
            </a:solidFill>
          </a:ln>
          <a:effectLst/>
        </p:spPr>
      </p:cxnSp>
      <p:sp>
        <p:nvSpPr>
          <p:cNvPr id="32" name="Rounded Rectangle 31"/>
          <p:cNvSpPr/>
          <p:nvPr/>
        </p:nvSpPr>
        <p:spPr>
          <a:xfrm>
            <a:off x="1847088" y="3511296"/>
            <a:ext cx="2697480" cy="530352"/>
          </a:xfrm>
          <a:prstGeom prst="roundRect">
            <a:avLst>
              <a:gd name="adj" fmla="val 50000"/>
            </a:avLst>
          </a:prstGeom>
          <a:solidFill>
            <a:srgbClr val="FFFFFF"/>
          </a:solidFill>
          <a:ln w="9525">
            <a:solidFill>
              <a:srgbClr val="EEF0FF"/>
            </a:solidFill>
          </a:ln>
          <a:effectLst/>
        </p:spPr>
        <p:txBody>
          <a:bodyPr rtlCol="0" anchor="ctr" wrap="square"/>
          <a:lstStyle/>
          <a:p>
            <a:pPr algn="ctr"/>
          </a:p>
        </p:txBody>
      </p:sp>
      <p:sp>
        <p:nvSpPr>
          <p:cNvPr id="33" name="TextBox 32"/>
          <p:cNvSpPr txBox="1"/>
          <p:nvPr/>
        </p:nvSpPr>
        <p:spPr>
          <a:xfrm>
            <a:off x="1956816" y="3566160"/>
            <a:ext cx="2514600" cy="182880"/>
          </a:xfrm>
          <a:prstGeom prst="rect">
            <a:avLst/>
          </a:prstGeom>
          <a:noFill/>
        </p:spPr>
        <p:txBody>
          <a:bodyPr wrap="square" anchor="t" lIns="0" rIns="0" tIns="0" bIns="0">
            <a:noAutofit/>
          </a:bodyPr>
          <a:lstStyle/>
          <a:p>
            <a:pPr algn="l">
              <a:lnSpc>
                <a:spcPct val="112000"/>
              </a:lnSpc>
              <a:spcAft>
                <a:spcPts val="0"/>
              </a:spcAft>
            </a:pPr>
            <a:r>
              <a:rPr sz="940" b="1" i="0">
                <a:solidFill>
                  <a:srgbClr val="0F172A"/>
                </a:solidFill>
                <a:latin typeface="Segoe UI"/>
              </a:rPr>
              <a:t>Practise &amp; test</a:t>
            </a:r>
          </a:p>
        </p:txBody>
      </p:sp>
      <p:sp>
        <p:nvSpPr>
          <p:cNvPr id="34" name="TextBox 33"/>
          <p:cNvSpPr txBox="1"/>
          <p:nvPr/>
        </p:nvSpPr>
        <p:spPr>
          <a:xfrm>
            <a:off x="1956816" y="3758183"/>
            <a:ext cx="2514600" cy="164592"/>
          </a:xfrm>
          <a:prstGeom prst="rect">
            <a:avLst/>
          </a:prstGeom>
          <a:noFill/>
        </p:spPr>
        <p:txBody>
          <a:bodyPr wrap="square" anchor="t" lIns="0" rIns="0" tIns="0" bIns="0">
            <a:noAutofit/>
          </a:bodyPr>
          <a:lstStyle/>
          <a:p>
            <a:pPr algn="l">
              <a:lnSpc>
                <a:spcPct val="112000"/>
              </a:lnSpc>
              <a:spcAft>
                <a:spcPts val="0"/>
              </a:spcAft>
            </a:pPr>
            <a:r>
              <a:rPr sz="700" b="0" i="0">
                <a:solidFill>
                  <a:srgbClr val="7C8AA3"/>
                </a:solidFill>
                <a:latin typeface="Segoe UI"/>
              </a:rPr>
              <a:t>mock exams, coding, flashcards</a:t>
            </a:r>
          </a:p>
        </p:txBody>
      </p:sp>
      <p:cxnSp>
        <p:nvCxnSpPr>
          <p:cNvPr id="35" name="Connector 34"/>
          <p:cNvCxnSpPr/>
          <p:nvPr/>
        </p:nvCxnSpPr>
        <p:spPr>
          <a:xfrm>
            <a:off x="1280160" y="3401568"/>
            <a:ext cx="566928" cy="978408"/>
          </a:xfrm>
          <a:prstGeom prst="line">
            <a:avLst/>
          </a:prstGeom>
          <a:ln w="12700">
            <a:solidFill>
              <a:srgbClr val="D5DCEE"/>
            </a:solidFill>
          </a:ln>
          <a:effectLst/>
        </p:spPr>
      </p:cxnSp>
      <p:sp>
        <p:nvSpPr>
          <p:cNvPr id="36" name="Rounded Rectangle 35"/>
          <p:cNvSpPr/>
          <p:nvPr/>
        </p:nvSpPr>
        <p:spPr>
          <a:xfrm>
            <a:off x="1847088" y="4114800"/>
            <a:ext cx="2697480" cy="530352"/>
          </a:xfrm>
          <a:prstGeom prst="roundRect">
            <a:avLst>
              <a:gd name="adj" fmla="val 50000"/>
            </a:avLst>
          </a:prstGeom>
          <a:solidFill>
            <a:srgbClr val="FFFFFF"/>
          </a:solidFill>
          <a:ln w="9525">
            <a:solidFill>
              <a:srgbClr val="EEF0FF"/>
            </a:solidFill>
          </a:ln>
          <a:effectLst/>
        </p:spPr>
        <p:txBody>
          <a:bodyPr rtlCol="0" anchor="ctr" wrap="square"/>
          <a:lstStyle/>
          <a:p>
            <a:pPr algn="ctr"/>
          </a:p>
        </p:txBody>
      </p:sp>
      <p:sp>
        <p:nvSpPr>
          <p:cNvPr id="37" name="TextBox 36"/>
          <p:cNvSpPr txBox="1"/>
          <p:nvPr/>
        </p:nvSpPr>
        <p:spPr>
          <a:xfrm>
            <a:off x="1956816" y="4169663"/>
            <a:ext cx="2514600" cy="182880"/>
          </a:xfrm>
          <a:prstGeom prst="rect">
            <a:avLst/>
          </a:prstGeom>
          <a:noFill/>
        </p:spPr>
        <p:txBody>
          <a:bodyPr wrap="square" anchor="t" lIns="0" rIns="0" tIns="0" bIns="0">
            <a:noAutofit/>
          </a:bodyPr>
          <a:lstStyle/>
          <a:p>
            <a:pPr algn="l">
              <a:lnSpc>
                <a:spcPct val="112000"/>
              </a:lnSpc>
              <a:spcAft>
                <a:spcPts val="0"/>
              </a:spcAft>
            </a:pPr>
            <a:r>
              <a:rPr sz="940" b="1" i="0">
                <a:solidFill>
                  <a:srgbClr val="0F172A"/>
                </a:solidFill>
                <a:latin typeface="Segoe UI"/>
              </a:rPr>
              <a:t>Measure &amp; adapt</a:t>
            </a:r>
          </a:p>
        </p:txBody>
      </p:sp>
      <p:sp>
        <p:nvSpPr>
          <p:cNvPr id="38" name="TextBox 37"/>
          <p:cNvSpPr txBox="1"/>
          <p:nvPr/>
        </p:nvSpPr>
        <p:spPr>
          <a:xfrm>
            <a:off x="1956816" y="4361688"/>
            <a:ext cx="2514600" cy="164592"/>
          </a:xfrm>
          <a:prstGeom prst="rect">
            <a:avLst/>
          </a:prstGeom>
          <a:noFill/>
        </p:spPr>
        <p:txBody>
          <a:bodyPr wrap="square" anchor="t" lIns="0" rIns="0" tIns="0" bIns="0">
            <a:noAutofit/>
          </a:bodyPr>
          <a:lstStyle/>
          <a:p>
            <a:pPr algn="l">
              <a:lnSpc>
                <a:spcPct val="112000"/>
              </a:lnSpc>
              <a:spcAft>
                <a:spcPts val="0"/>
              </a:spcAft>
            </a:pPr>
            <a:r>
              <a:rPr sz="700" b="0" i="0">
                <a:solidFill>
                  <a:srgbClr val="7C8AA3"/>
                </a:solidFill>
                <a:latin typeface="Segoe UI"/>
              </a:rPr>
              <a:t>weakness score · analytics · re-plan</a:t>
            </a:r>
          </a:p>
        </p:txBody>
      </p:sp>
      <p:sp>
        <p:nvSpPr>
          <p:cNvPr id="39" name="Rounded Rectangle 38"/>
          <p:cNvSpPr/>
          <p:nvPr/>
        </p:nvSpPr>
        <p:spPr>
          <a:xfrm>
            <a:off x="4882896" y="2761488"/>
            <a:ext cx="896112" cy="274320"/>
          </a:xfrm>
          <a:prstGeom prst="roundRect">
            <a:avLst>
              <a:gd name="adj" fmla="val 50000"/>
            </a:avLst>
          </a:prstGeom>
          <a:solidFill>
            <a:srgbClr val="FFFFFF"/>
          </a:solidFill>
          <a:ln w="9525">
            <a:solidFill>
              <a:srgbClr val="8B5CF6"/>
            </a:solidFill>
          </a:ln>
          <a:effectLst/>
        </p:spPr>
        <p:txBody>
          <a:bodyPr rtlCol="0" anchor="ctr" wrap="square" lIns="54864" rIns="54864" tIns="0" bIns="0"/>
          <a:lstStyle/>
          <a:p>
            <a:pPr algn="ctr"/>
            <a:r>
              <a:rPr sz="720" b="1">
                <a:solidFill>
                  <a:srgbClr val="8B5CF6"/>
                </a:solidFill>
                <a:latin typeface="Segoe UI"/>
              </a:rPr>
              <a:t>OpenRouter</a:t>
            </a:r>
          </a:p>
        </p:txBody>
      </p:sp>
      <p:cxnSp>
        <p:nvCxnSpPr>
          <p:cNvPr id="40" name="Connector 39"/>
          <p:cNvCxnSpPr/>
          <p:nvPr/>
        </p:nvCxnSpPr>
        <p:spPr>
          <a:xfrm flipH="1">
            <a:off x="4553712" y="3090672"/>
            <a:ext cx="310896" cy="82296"/>
          </a:xfrm>
          <a:prstGeom prst="line">
            <a:avLst/>
          </a:prstGeom>
          <a:ln w="12700">
            <a:solidFill>
              <a:srgbClr val="8B5CF6"/>
            </a:solidFill>
            <a:prstDash val="dash"/>
            <a:tailEnd type="triangle" w="med" len="med"/>
          </a:ln>
          <a:effectLst/>
        </p:spPr>
      </p:cxnSp>
      <p:sp>
        <p:nvSpPr>
          <p:cNvPr id="41" name="TextBox 40"/>
          <p:cNvSpPr txBox="1"/>
          <p:nvPr/>
        </p:nvSpPr>
        <p:spPr>
          <a:xfrm>
            <a:off x="4846320" y="3200400"/>
            <a:ext cx="914400" cy="146304"/>
          </a:xfrm>
          <a:prstGeom prst="rect">
            <a:avLst/>
          </a:prstGeom>
          <a:noFill/>
        </p:spPr>
        <p:txBody>
          <a:bodyPr wrap="square" anchor="t" lIns="0" rIns="0" tIns="0" bIns="0">
            <a:noAutofit/>
          </a:bodyPr>
          <a:lstStyle/>
          <a:p>
            <a:pPr algn="l">
              <a:lnSpc>
                <a:spcPct val="112000"/>
              </a:lnSpc>
              <a:spcAft>
                <a:spcPts val="0"/>
              </a:spcAft>
            </a:pPr>
            <a:r>
              <a:rPr sz="620" b="0" i="1">
                <a:solidFill>
                  <a:srgbClr val="7C8AA3"/>
                </a:solidFill>
                <a:latin typeface="Segoe UI"/>
              </a:rPr>
              <a:t>optional</a:t>
            </a:r>
          </a:p>
        </p:txBody>
      </p:sp>
      <p:sp>
        <p:nvSpPr>
          <p:cNvPr id="42" name="Rounded Rectangle 41"/>
          <p:cNvSpPr/>
          <p:nvPr/>
        </p:nvSpPr>
        <p:spPr>
          <a:xfrm>
            <a:off x="4882896" y="3675887"/>
            <a:ext cx="896112" cy="274320"/>
          </a:xfrm>
          <a:prstGeom prst="roundRect">
            <a:avLst>
              <a:gd name="adj" fmla="val 50000"/>
            </a:avLst>
          </a:prstGeom>
          <a:solidFill>
            <a:srgbClr val="FFFFFF"/>
          </a:solidFill>
          <a:ln w="9525">
            <a:solidFill>
              <a:srgbClr val="10B981"/>
            </a:solidFill>
          </a:ln>
          <a:effectLst/>
        </p:spPr>
        <p:txBody>
          <a:bodyPr rtlCol="0" anchor="ctr" wrap="square" lIns="54864" rIns="54864" tIns="0" bIns="0"/>
          <a:lstStyle/>
          <a:p>
            <a:pPr algn="ctr"/>
            <a:r>
              <a:rPr sz="720" b="1">
                <a:solidFill>
                  <a:srgbClr val="047857"/>
                </a:solidFill>
                <a:latin typeface="Segoe UI"/>
              </a:rPr>
              <a:t>Pyodide</a:t>
            </a:r>
          </a:p>
        </p:txBody>
      </p:sp>
      <p:cxnSp>
        <p:nvCxnSpPr>
          <p:cNvPr id="43" name="Connector 42"/>
          <p:cNvCxnSpPr/>
          <p:nvPr/>
        </p:nvCxnSpPr>
        <p:spPr>
          <a:xfrm flipH="1">
            <a:off x="4553712" y="3803904"/>
            <a:ext cx="310896" cy="0"/>
          </a:xfrm>
          <a:prstGeom prst="line">
            <a:avLst/>
          </a:prstGeom>
          <a:ln w="12700">
            <a:solidFill>
              <a:srgbClr val="10B981"/>
            </a:solidFill>
            <a:prstDash val="dash"/>
            <a:tailEnd type="triangle" w="med" len="med"/>
          </a:ln>
          <a:effectLst/>
        </p:spPr>
      </p:cxnSp>
      <p:sp>
        <p:nvSpPr>
          <p:cNvPr id="44" name="TextBox 43"/>
          <p:cNvSpPr txBox="1"/>
          <p:nvPr/>
        </p:nvSpPr>
        <p:spPr>
          <a:xfrm>
            <a:off x="4846320" y="3858768"/>
            <a:ext cx="914400" cy="146304"/>
          </a:xfrm>
          <a:prstGeom prst="rect">
            <a:avLst/>
          </a:prstGeom>
          <a:noFill/>
        </p:spPr>
        <p:txBody>
          <a:bodyPr wrap="square" anchor="t" lIns="0" rIns="0" tIns="0" bIns="0">
            <a:noAutofit/>
          </a:bodyPr>
          <a:lstStyle/>
          <a:p>
            <a:pPr algn="l">
              <a:lnSpc>
                <a:spcPct val="112000"/>
              </a:lnSpc>
              <a:spcAft>
                <a:spcPts val="0"/>
              </a:spcAft>
            </a:pPr>
            <a:r>
              <a:rPr sz="620" b="0" i="1">
                <a:solidFill>
                  <a:srgbClr val="7C8AA3"/>
                </a:solidFill>
                <a:latin typeface="Segoe UI"/>
              </a:rPr>
              <a:t>in browser</a:t>
            </a:r>
          </a:p>
        </p:txBody>
      </p:sp>
      <p:sp>
        <p:nvSpPr>
          <p:cNvPr id="45" name="TextBox 44"/>
          <p:cNvSpPr txBox="1"/>
          <p:nvPr/>
        </p:nvSpPr>
        <p:spPr>
          <a:xfrm>
            <a:off x="768096" y="4846320"/>
            <a:ext cx="3931920" cy="201168"/>
          </a:xfrm>
          <a:prstGeom prst="rect">
            <a:avLst/>
          </a:prstGeom>
          <a:noFill/>
        </p:spPr>
        <p:txBody>
          <a:bodyPr wrap="square" anchor="t" lIns="0" rIns="0" tIns="0" bIns="0">
            <a:noAutofit/>
          </a:bodyPr>
          <a:lstStyle/>
          <a:p>
            <a:pPr algn="l">
              <a:lnSpc>
                <a:spcPct val="112000"/>
              </a:lnSpc>
              <a:spcAft>
                <a:spcPts val="0"/>
              </a:spcAft>
            </a:pPr>
            <a:r>
              <a:rPr sz="740" b="0" i="1">
                <a:solidFill>
                  <a:srgbClr val="7C8AA3"/>
                </a:solidFill>
                <a:latin typeface="Segoe UI"/>
              </a:rPr>
              <a:t>The four core use cases are built in; the two supporting actors are optional.</a:t>
            </a:r>
          </a:p>
        </p:txBody>
      </p:sp>
      <p:sp>
        <p:nvSpPr>
          <p:cNvPr id="46" name="Rounded Rectangle 45"/>
          <p:cNvSpPr/>
          <p:nvPr/>
        </p:nvSpPr>
        <p:spPr>
          <a:xfrm>
            <a:off x="6112764" y="1746504"/>
            <a:ext cx="5486400" cy="3639312"/>
          </a:xfrm>
          <a:prstGeom prst="roundRect">
            <a:avLst>
              <a:gd name="adj" fmla="val 5000"/>
            </a:avLst>
          </a:prstGeom>
          <a:solidFill>
            <a:srgbClr val="E8ECF8"/>
          </a:solidFill>
          <a:ln>
            <a:noFill/>
          </a:ln>
          <a:effectLst/>
        </p:spPr>
        <p:txBody>
          <a:bodyPr rtlCol="0" anchor="ctr" wrap="square"/>
          <a:lstStyle/>
          <a:p>
            <a:pPr algn="ctr"/>
          </a:p>
        </p:txBody>
      </p:sp>
      <p:sp>
        <p:nvSpPr>
          <p:cNvPr id="47" name="Rounded Rectangle 46"/>
          <p:cNvSpPr/>
          <p:nvPr/>
        </p:nvSpPr>
        <p:spPr>
          <a:xfrm>
            <a:off x="6080760" y="1700784"/>
            <a:ext cx="5486400" cy="3639312"/>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48" name="TextBox 47"/>
          <p:cNvSpPr txBox="1"/>
          <p:nvPr/>
        </p:nvSpPr>
        <p:spPr>
          <a:xfrm>
            <a:off x="6281928" y="1819656"/>
            <a:ext cx="2377440" cy="182880"/>
          </a:xfrm>
          <a:prstGeom prst="rect">
            <a:avLst/>
          </a:prstGeom>
          <a:noFill/>
        </p:spPr>
        <p:txBody>
          <a:bodyPr wrap="square" anchor="t" lIns="0" rIns="0" tIns="0" bIns="0">
            <a:noAutofit/>
          </a:bodyPr>
          <a:lstStyle/>
          <a:p>
            <a:pPr algn="l">
              <a:lnSpc>
                <a:spcPct val="112000"/>
              </a:lnSpc>
              <a:spcAft>
                <a:spcPts val="0"/>
              </a:spcAft>
            </a:pPr>
            <a:r>
              <a:rPr sz="860" b="1" i="0">
                <a:solidFill>
                  <a:srgbClr val="047857"/>
                </a:solidFill>
                <a:latin typeface="Segoe UI"/>
              </a:rPr>
              <a:t>ACTIVITY VIEW</a:t>
            </a:r>
          </a:p>
        </p:txBody>
      </p:sp>
      <p:sp>
        <p:nvSpPr>
          <p:cNvPr id="49" name="TextBox 48"/>
          <p:cNvSpPr txBox="1"/>
          <p:nvPr/>
        </p:nvSpPr>
        <p:spPr>
          <a:xfrm>
            <a:off x="6281928" y="1993392"/>
            <a:ext cx="3840480"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one study action, end to end</a:t>
            </a:r>
          </a:p>
        </p:txBody>
      </p:sp>
      <p:sp>
        <p:nvSpPr>
          <p:cNvPr id="50" name="Oval 49"/>
          <p:cNvSpPr/>
          <p:nvPr/>
        </p:nvSpPr>
        <p:spPr>
          <a:xfrm>
            <a:off x="6656832" y="2194560"/>
            <a:ext cx="118872" cy="118872"/>
          </a:xfrm>
          <a:prstGeom prst="ellipse">
            <a:avLst/>
          </a:prstGeom>
          <a:solidFill>
            <a:srgbClr val="0F172A"/>
          </a:solidFill>
          <a:ln>
            <a:noFill/>
          </a:ln>
          <a:effectLst/>
        </p:spPr>
        <p:txBody>
          <a:bodyPr rtlCol="0" anchor="ctr"/>
          <a:lstStyle/>
          <a:p>
            <a:pPr algn="ctr"/>
          </a:p>
        </p:txBody>
      </p:sp>
      <p:sp>
        <p:nvSpPr>
          <p:cNvPr id="51" name="Rounded Rectangle 50"/>
          <p:cNvSpPr/>
          <p:nvPr/>
        </p:nvSpPr>
        <p:spPr>
          <a:xfrm>
            <a:off x="6400800" y="2359152"/>
            <a:ext cx="2240280" cy="384048"/>
          </a:xfrm>
          <a:prstGeom prst="roundRect">
            <a:avLst>
              <a:gd name="adj" fmla="val 12000"/>
            </a:avLst>
          </a:prstGeom>
          <a:solidFill>
            <a:srgbClr val="FFFFFF"/>
          </a:solidFill>
          <a:ln w="9525">
            <a:solidFill>
              <a:srgbClr val="D5DCEE"/>
            </a:solidFill>
          </a:ln>
          <a:effectLst/>
        </p:spPr>
        <p:txBody>
          <a:bodyPr rtlCol="0" anchor="ctr" wrap="square"/>
          <a:lstStyle/>
          <a:p>
            <a:pPr algn="ctr"/>
          </a:p>
        </p:txBody>
      </p:sp>
      <p:sp>
        <p:nvSpPr>
          <p:cNvPr id="52" name="TextBox 51"/>
          <p:cNvSpPr txBox="1"/>
          <p:nvPr/>
        </p:nvSpPr>
        <p:spPr>
          <a:xfrm>
            <a:off x="6473952" y="2459736"/>
            <a:ext cx="2093976" cy="182880"/>
          </a:xfrm>
          <a:prstGeom prst="rect">
            <a:avLst/>
          </a:prstGeom>
          <a:noFill/>
        </p:spPr>
        <p:txBody>
          <a:bodyPr wrap="square" anchor="t" lIns="0" rIns="0" tIns="0" bIns="0">
            <a:noAutofit/>
          </a:bodyPr>
          <a:lstStyle/>
          <a:p>
            <a:pPr algn="ctr">
              <a:lnSpc>
                <a:spcPct val="112000"/>
              </a:lnSpc>
              <a:spcAft>
                <a:spcPts val="0"/>
              </a:spcAft>
            </a:pPr>
            <a:r>
              <a:rPr sz="869" b="1" i="0">
                <a:solidFill>
                  <a:srgbClr val="0F172A"/>
                </a:solidFill>
                <a:latin typeface="Segoe UI"/>
              </a:rPr>
              <a:t>Open today's plan</a:t>
            </a:r>
          </a:p>
        </p:txBody>
      </p:sp>
      <p:sp>
        <p:nvSpPr>
          <p:cNvPr id="53" name="Rounded Rectangle 52"/>
          <p:cNvSpPr/>
          <p:nvPr/>
        </p:nvSpPr>
        <p:spPr>
          <a:xfrm>
            <a:off x="6400800" y="2834640"/>
            <a:ext cx="2240280" cy="384048"/>
          </a:xfrm>
          <a:prstGeom prst="roundRect">
            <a:avLst>
              <a:gd name="adj" fmla="val 12000"/>
            </a:avLst>
          </a:prstGeom>
          <a:solidFill>
            <a:srgbClr val="FFFFFF"/>
          </a:solidFill>
          <a:ln w="9525">
            <a:solidFill>
              <a:srgbClr val="D5DCEE"/>
            </a:solidFill>
          </a:ln>
          <a:effectLst/>
        </p:spPr>
        <p:txBody>
          <a:bodyPr rtlCol="0" anchor="ctr" wrap="square"/>
          <a:lstStyle/>
          <a:p>
            <a:pPr algn="ctr"/>
          </a:p>
        </p:txBody>
      </p:sp>
      <p:sp>
        <p:nvSpPr>
          <p:cNvPr id="54" name="TextBox 53"/>
          <p:cNvSpPr txBox="1"/>
          <p:nvPr/>
        </p:nvSpPr>
        <p:spPr>
          <a:xfrm>
            <a:off x="6473952" y="2935224"/>
            <a:ext cx="2093976" cy="182880"/>
          </a:xfrm>
          <a:prstGeom prst="rect">
            <a:avLst/>
          </a:prstGeom>
          <a:noFill/>
        </p:spPr>
        <p:txBody>
          <a:bodyPr wrap="square" anchor="t" lIns="0" rIns="0" tIns="0" bIns="0">
            <a:noAutofit/>
          </a:bodyPr>
          <a:lstStyle/>
          <a:p>
            <a:pPr algn="ctr">
              <a:lnSpc>
                <a:spcPct val="112000"/>
              </a:lnSpc>
              <a:spcAft>
                <a:spcPts val="0"/>
              </a:spcAft>
            </a:pPr>
            <a:r>
              <a:rPr sz="869" b="1" i="0">
                <a:solidFill>
                  <a:srgbClr val="0F172A"/>
                </a:solidFill>
                <a:latin typeface="Segoe UI"/>
              </a:rPr>
              <a:t>Study + log event</a:t>
            </a:r>
          </a:p>
        </p:txBody>
      </p:sp>
      <p:sp>
        <p:nvSpPr>
          <p:cNvPr id="55" name="Rounded Rectangle 54"/>
          <p:cNvSpPr/>
          <p:nvPr/>
        </p:nvSpPr>
        <p:spPr>
          <a:xfrm>
            <a:off x="6400800" y="3310128"/>
            <a:ext cx="2240280" cy="384048"/>
          </a:xfrm>
          <a:prstGeom prst="roundRect">
            <a:avLst>
              <a:gd name="adj" fmla="val 12000"/>
            </a:avLst>
          </a:prstGeom>
          <a:solidFill>
            <a:srgbClr val="FFFFFF"/>
          </a:solidFill>
          <a:ln w="9525">
            <a:solidFill>
              <a:srgbClr val="D5DCEE"/>
            </a:solidFill>
          </a:ln>
          <a:effectLst/>
        </p:spPr>
        <p:txBody>
          <a:bodyPr rtlCol="0" anchor="ctr" wrap="square"/>
          <a:lstStyle/>
          <a:p>
            <a:pPr algn="ctr"/>
          </a:p>
        </p:txBody>
      </p:sp>
      <p:sp>
        <p:nvSpPr>
          <p:cNvPr id="56" name="TextBox 55"/>
          <p:cNvSpPr txBox="1"/>
          <p:nvPr/>
        </p:nvSpPr>
        <p:spPr>
          <a:xfrm>
            <a:off x="6473952" y="3410712"/>
            <a:ext cx="2093976" cy="182880"/>
          </a:xfrm>
          <a:prstGeom prst="rect">
            <a:avLst/>
          </a:prstGeom>
          <a:noFill/>
        </p:spPr>
        <p:txBody>
          <a:bodyPr wrap="square" anchor="t" lIns="0" rIns="0" tIns="0" bIns="0">
            <a:noAutofit/>
          </a:bodyPr>
          <a:lstStyle/>
          <a:p>
            <a:pPr algn="ctr">
              <a:lnSpc>
                <a:spcPct val="112000"/>
              </a:lnSpc>
              <a:spcAft>
                <a:spcPts val="0"/>
              </a:spcAft>
            </a:pPr>
            <a:r>
              <a:rPr sz="869" b="1" i="0">
                <a:solidFill>
                  <a:srgbClr val="0F172A"/>
                </a:solidFill>
                <a:latin typeface="Segoe UI"/>
              </a:rPr>
              <a:t>Recompute weakness (0–100)</a:t>
            </a:r>
          </a:p>
        </p:txBody>
      </p:sp>
      <p:sp>
        <p:nvSpPr>
          <p:cNvPr id="57" name="Diamond 56"/>
          <p:cNvSpPr/>
          <p:nvPr/>
        </p:nvSpPr>
        <p:spPr>
          <a:xfrm>
            <a:off x="6967728" y="3712463"/>
            <a:ext cx="1097280" cy="585216"/>
          </a:xfrm>
          <a:prstGeom prst="diamond">
            <a:avLst/>
          </a:prstGeom>
          <a:solidFill>
            <a:srgbClr val="FFF7E6"/>
          </a:solidFill>
          <a:ln w="13970">
            <a:solidFill>
              <a:srgbClr val="F59E0B"/>
            </a:solidFill>
          </a:ln>
          <a:effectLst/>
        </p:spPr>
        <p:txBody>
          <a:bodyPr rtlCol="0" anchor="ctr" lIns="0" rIns="0" tIns="0" bIns="0"/>
          <a:lstStyle/>
          <a:p>
            <a:pPr algn="ctr"/>
            <a:r>
              <a:rPr sz="840" b="1">
                <a:solidFill>
                  <a:srgbClr val="B45309"/>
                </a:solidFill>
                <a:latin typeface="Segoe UI"/>
              </a:rPr>
              <a:t>≥ 40?</a:t>
            </a:r>
          </a:p>
        </p:txBody>
      </p:sp>
      <p:sp>
        <p:nvSpPr>
          <p:cNvPr id="58" name="Rounded Rectangle 57"/>
          <p:cNvSpPr/>
          <p:nvPr/>
        </p:nvSpPr>
        <p:spPr>
          <a:xfrm>
            <a:off x="8549640" y="3803904"/>
            <a:ext cx="1965960" cy="384048"/>
          </a:xfrm>
          <a:prstGeom prst="roundRect">
            <a:avLst>
              <a:gd name="adj" fmla="val 12000"/>
            </a:avLst>
          </a:prstGeom>
          <a:solidFill>
            <a:srgbClr val="FEECEC"/>
          </a:solidFill>
          <a:ln w="9525">
            <a:solidFill>
              <a:srgbClr val="EF4444"/>
            </a:solidFill>
          </a:ln>
          <a:effectLst/>
        </p:spPr>
        <p:txBody>
          <a:bodyPr rtlCol="0" anchor="ctr" wrap="square"/>
          <a:lstStyle/>
          <a:p>
            <a:pPr algn="ctr"/>
          </a:p>
        </p:txBody>
      </p:sp>
      <p:sp>
        <p:nvSpPr>
          <p:cNvPr id="59" name="TextBox 58"/>
          <p:cNvSpPr txBox="1"/>
          <p:nvPr/>
        </p:nvSpPr>
        <p:spPr>
          <a:xfrm>
            <a:off x="8622792" y="3904488"/>
            <a:ext cx="1819656" cy="182880"/>
          </a:xfrm>
          <a:prstGeom prst="rect">
            <a:avLst/>
          </a:prstGeom>
          <a:noFill/>
        </p:spPr>
        <p:txBody>
          <a:bodyPr wrap="square" anchor="t" lIns="0" rIns="0" tIns="0" bIns="0">
            <a:noAutofit/>
          </a:bodyPr>
          <a:lstStyle/>
          <a:p>
            <a:pPr algn="ctr">
              <a:lnSpc>
                <a:spcPct val="112000"/>
              </a:lnSpc>
              <a:spcAft>
                <a:spcPts val="0"/>
              </a:spcAft>
            </a:pPr>
            <a:r>
              <a:rPr sz="819" b="1" i="0">
                <a:solidFill>
                  <a:srgbClr val="B91C1C"/>
                </a:solidFill>
                <a:latin typeface="Segoe UI"/>
              </a:rPr>
              <a:t>Flag weak topic</a:t>
            </a:r>
          </a:p>
        </p:txBody>
      </p:sp>
      <p:sp>
        <p:nvSpPr>
          <p:cNvPr id="60" name="Rounded Rectangle 59"/>
          <p:cNvSpPr/>
          <p:nvPr/>
        </p:nvSpPr>
        <p:spPr>
          <a:xfrm>
            <a:off x="6400800" y="4608576"/>
            <a:ext cx="2240280" cy="384048"/>
          </a:xfrm>
          <a:prstGeom prst="roundRect">
            <a:avLst>
              <a:gd name="adj" fmla="val 12000"/>
            </a:avLst>
          </a:prstGeom>
          <a:solidFill>
            <a:srgbClr val="E7FBF3"/>
          </a:solidFill>
          <a:ln w="9525">
            <a:solidFill>
              <a:srgbClr val="10B981"/>
            </a:solidFill>
          </a:ln>
          <a:effectLst/>
        </p:spPr>
        <p:txBody>
          <a:bodyPr rtlCol="0" anchor="ctr" wrap="square"/>
          <a:lstStyle/>
          <a:p>
            <a:pPr algn="ctr"/>
          </a:p>
        </p:txBody>
      </p:sp>
      <p:sp>
        <p:nvSpPr>
          <p:cNvPr id="61" name="TextBox 60"/>
          <p:cNvSpPr txBox="1"/>
          <p:nvPr/>
        </p:nvSpPr>
        <p:spPr>
          <a:xfrm>
            <a:off x="6473952" y="4709160"/>
            <a:ext cx="2093976" cy="182880"/>
          </a:xfrm>
          <a:prstGeom prst="rect">
            <a:avLst/>
          </a:prstGeom>
          <a:noFill/>
        </p:spPr>
        <p:txBody>
          <a:bodyPr wrap="square" anchor="t" lIns="0" rIns="0" tIns="0" bIns="0">
            <a:noAutofit/>
          </a:bodyPr>
          <a:lstStyle/>
          <a:p>
            <a:pPr algn="ctr">
              <a:lnSpc>
                <a:spcPct val="112000"/>
              </a:lnSpc>
              <a:spcAft>
                <a:spcPts val="0"/>
              </a:spcAft>
            </a:pPr>
            <a:r>
              <a:rPr sz="819" b="1" i="0">
                <a:solidFill>
                  <a:srgbClr val="047857"/>
                </a:solidFill>
                <a:latin typeface="Segoe UI"/>
              </a:rPr>
              <a:t>Record progress · next action</a:t>
            </a:r>
          </a:p>
        </p:txBody>
      </p:sp>
      <p:sp>
        <p:nvSpPr>
          <p:cNvPr id="62" name="Oval 61"/>
          <p:cNvSpPr/>
          <p:nvPr/>
        </p:nvSpPr>
        <p:spPr>
          <a:xfrm>
            <a:off x="7452360" y="5120640"/>
            <a:ext cx="118872" cy="118872"/>
          </a:xfrm>
          <a:prstGeom prst="ellipse">
            <a:avLst/>
          </a:prstGeom>
          <a:solidFill>
            <a:srgbClr val="0F172A"/>
          </a:solidFill>
          <a:ln>
            <a:noFill/>
          </a:ln>
          <a:effectLst/>
        </p:spPr>
        <p:txBody>
          <a:bodyPr rtlCol="0" anchor="ctr"/>
          <a:lstStyle/>
          <a:p>
            <a:pPr algn="ctr"/>
          </a:p>
        </p:txBody>
      </p:sp>
      <p:sp>
        <p:nvSpPr>
          <p:cNvPr id="63" name="TextBox 62"/>
          <p:cNvSpPr txBox="1"/>
          <p:nvPr/>
        </p:nvSpPr>
        <p:spPr>
          <a:xfrm>
            <a:off x="7635240" y="5084064"/>
            <a:ext cx="365760" cy="164592"/>
          </a:xfrm>
          <a:prstGeom prst="rect">
            <a:avLst/>
          </a:prstGeom>
          <a:noFill/>
        </p:spPr>
        <p:txBody>
          <a:bodyPr wrap="square" anchor="t" lIns="0" rIns="0" tIns="0" bIns="0">
            <a:noAutofit/>
          </a:bodyPr>
          <a:lstStyle/>
          <a:p>
            <a:pPr algn="l">
              <a:lnSpc>
                <a:spcPct val="112000"/>
              </a:lnSpc>
              <a:spcAft>
                <a:spcPts val="0"/>
              </a:spcAft>
            </a:pPr>
            <a:r>
              <a:rPr sz="640" b="0" i="0">
                <a:solidFill>
                  <a:srgbClr val="7C8AA3"/>
                </a:solidFill>
                <a:latin typeface="Segoe UI"/>
              </a:rPr>
              <a:t>end</a:t>
            </a:r>
          </a:p>
        </p:txBody>
      </p:sp>
      <p:cxnSp>
        <p:nvCxnSpPr>
          <p:cNvPr id="64" name="Connector 63"/>
          <p:cNvCxnSpPr/>
          <p:nvPr/>
        </p:nvCxnSpPr>
        <p:spPr>
          <a:xfrm>
            <a:off x="6720840" y="2313432"/>
            <a:ext cx="0" cy="45720"/>
          </a:xfrm>
          <a:prstGeom prst="line">
            <a:avLst/>
          </a:prstGeom>
          <a:ln w="13970">
            <a:solidFill>
              <a:srgbClr val="475569"/>
            </a:solidFill>
            <a:tailEnd type="triangle" w="med" len="med"/>
          </a:ln>
          <a:effectLst/>
        </p:spPr>
      </p:cxnSp>
      <p:cxnSp>
        <p:nvCxnSpPr>
          <p:cNvPr id="65" name="Connector 64"/>
          <p:cNvCxnSpPr/>
          <p:nvPr/>
        </p:nvCxnSpPr>
        <p:spPr>
          <a:xfrm>
            <a:off x="6720840" y="2743200"/>
            <a:ext cx="0" cy="91440"/>
          </a:xfrm>
          <a:prstGeom prst="line">
            <a:avLst/>
          </a:prstGeom>
          <a:ln w="13970">
            <a:solidFill>
              <a:srgbClr val="475569"/>
            </a:solidFill>
            <a:tailEnd type="triangle" w="med" len="med"/>
          </a:ln>
          <a:effectLst/>
        </p:spPr>
      </p:cxnSp>
      <p:cxnSp>
        <p:nvCxnSpPr>
          <p:cNvPr id="66" name="Connector 65"/>
          <p:cNvCxnSpPr/>
          <p:nvPr/>
        </p:nvCxnSpPr>
        <p:spPr>
          <a:xfrm>
            <a:off x="6720840" y="3218688"/>
            <a:ext cx="0" cy="91440"/>
          </a:xfrm>
          <a:prstGeom prst="line">
            <a:avLst/>
          </a:prstGeom>
          <a:ln w="13970">
            <a:solidFill>
              <a:srgbClr val="475569"/>
            </a:solidFill>
            <a:tailEnd type="triangle" w="med" len="med"/>
          </a:ln>
          <a:effectLst/>
        </p:spPr>
      </p:cxnSp>
      <p:cxnSp>
        <p:nvCxnSpPr>
          <p:cNvPr id="67" name="Connector 66"/>
          <p:cNvCxnSpPr/>
          <p:nvPr/>
        </p:nvCxnSpPr>
        <p:spPr>
          <a:xfrm>
            <a:off x="6720840" y="3694176"/>
            <a:ext cx="0" cy="310896"/>
          </a:xfrm>
          <a:prstGeom prst="line">
            <a:avLst/>
          </a:prstGeom>
          <a:ln w="13970">
            <a:solidFill>
              <a:srgbClr val="475569"/>
            </a:solidFill>
          </a:ln>
          <a:effectLst/>
        </p:spPr>
      </p:cxnSp>
      <p:cxnSp>
        <p:nvCxnSpPr>
          <p:cNvPr id="68" name="Connector 67"/>
          <p:cNvCxnSpPr/>
          <p:nvPr/>
        </p:nvCxnSpPr>
        <p:spPr>
          <a:xfrm>
            <a:off x="6720840" y="4005072"/>
            <a:ext cx="246888" cy="0"/>
          </a:xfrm>
          <a:prstGeom prst="line">
            <a:avLst/>
          </a:prstGeom>
          <a:ln w="13970">
            <a:solidFill>
              <a:srgbClr val="475569"/>
            </a:solidFill>
            <a:tailEnd type="triangle" w="med" len="med"/>
          </a:ln>
          <a:effectLst/>
        </p:spPr>
      </p:cxnSp>
      <p:cxnSp>
        <p:nvCxnSpPr>
          <p:cNvPr id="69" name="Connector 68"/>
          <p:cNvCxnSpPr/>
          <p:nvPr/>
        </p:nvCxnSpPr>
        <p:spPr>
          <a:xfrm>
            <a:off x="8065008" y="4005072"/>
            <a:ext cx="484632" cy="0"/>
          </a:xfrm>
          <a:prstGeom prst="line">
            <a:avLst/>
          </a:prstGeom>
          <a:ln w="15240">
            <a:solidFill>
              <a:srgbClr val="EF4444"/>
            </a:solidFill>
            <a:tailEnd type="triangle" w="med" len="med"/>
          </a:ln>
          <a:effectLst/>
        </p:spPr>
      </p:cxnSp>
      <p:sp>
        <p:nvSpPr>
          <p:cNvPr id="70" name="TextBox 69"/>
          <p:cNvSpPr txBox="1"/>
          <p:nvPr/>
        </p:nvSpPr>
        <p:spPr>
          <a:xfrm>
            <a:off x="8119872" y="3785615"/>
            <a:ext cx="365760" cy="146304"/>
          </a:xfrm>
          <a:prstGeom prst="rect">
            <a:avLst/>
          </a:prstGeom>
          <a:noFill/>
        </p:spPr>
        <p:txBody>
          <a:bodyPr wrap="square" anchor="t" lIns="0" rIns="0" tIns="0" bIns="0">
            <a:noAutofit/>
          </a:bodyPr>
          <a:lstStyle/>
          <a:p>
            <a:pPr algn="l">
              <a:lnSpc>
                <a:spcPct val="112000"/>
              </a:lnSpc>
              <a:spcAft>
                <a:spcPts val="0"/>
              </a:spcAft>
            </a:pPr>
            <a:r>
              <a:rPr sz="640" b="1" i="0">
                <a:solidFill>
                  <a:srgbClr val="EF4444"/>
                </a:solidFill>
                <a:latin typeface="Segoe UI"/>
              </a:rPr>
              <a:t>yes</a:t>
            </a:r>
          </a:p>
        </p:txBody>
      </p:sp>
      <p:cxnSp>
        <p:nvCxnSpPr>
          <p:cNvPr id="71" name="Connector 70"/>
          <p:cNvCxnSpPr/>
          <p:nvPr/>
        </p:nvCxnSpPr>
        <p:spPr>
          <a:xfrm>
            <a:off x="7516368" y="4297680"/>
            <a:ext cx="0" cy="310896"/>
          </a:xfrm>
          <a:prstGeom prst="line">
            <a:avLst/>
          </a:prstGeom>
          <a:ln w="15240">
            <a:solidFill>
              <a:srgbClr val="047857"/>
            </a:solidFill>
            <a:tailEnd type="triangle" w="med" len="med"/>
          </a:ln>
          <a:effectLst/>
        </p:spPr>
      </p:cxnSp>
      <p:sp>
        <p:nvSpPr>
          <p:cNvPr id="72" name="TextBox 71"/>
          <p:cNvSpPr txBox="1"/>
          <p:nvPr/>
        </p:nvSpPr>
        <p:spPr>
          <a:xfrm>
            <a:off x="7589520" y="4407408"/>
            <a:ext cx="274320" cy="146304"/>
          </a:xfrm>
          <a:prstGeom prst="rect">
            <a:avLst/>
          </a:prstGeom>
          <a:noFill/>
        </p:spPr>
        <p:txBody>
          <a:bodyPr wrap="square" anchor="t" lIns="0" rIns="0" tIns="0" bIns="0">
            <a:noAutofit/>
          </a:bodyPr>
          <a:lstStyle/>
          <a:p>
            <a:pPr algn="l">
              <a:lnSpc>
                <a:spcPct val="112000"/>
              </a:lnSpc>
              <a:spcAft>
                <a:spcPts val="0"/>
              </a:spcAft>
            </a:pPr>
            <a:r>
              <a:rPr sz="640" b="1" i="0">
                <a:solidFill>
                  <a:srgbClr val="047857"/>
                </a:solidFill>
                <a:latin typeface="Segoe UI"/>
              </a:rPr>
              <a:t>no</a:t>
            </a:r>
          </a:p>
        </p:txBody>
      </p:sp>
      <p:cxnSp>
        <p:nvCxnSpPr>
          <p:cNvPr id="73" name="Connector 72"/>
          <p:cNvCxnSpPr/>
          <p:nvPr/>
        </p:nvCxnSpPr>
        <p:spPr>
          <a:xfrm>
            <a:off x="7516368" y="4992624"/>
            <a:ext cx="0" cy="128016"/>
          </a:xfrm>
          <a:prstGeom prst="line">
            <a:avLst/>
          </a:prstGeom>
          <a:ln w="13970">
            <a:solidFill>
              <a:srgbClr val="475569"/>
            </a:solidFill>
            <a:tailEnd type="triangle" w="med" len="med"/>
          </a:ln>
          <a:effectLst/>
        </p:spPr>
      </p:cxnSp>
      <p:cxnSp>
        <p:nvCxnSpPr>
          <p:cNvPr id="74" name="Connector 73"/>
          <p:cNvCxnSpPr/>
          <p:nvPr/>
        </p:nvCxnSpPr>
        <p:spPr>
          <a:xfrm flipV="1">
            <a:off x="9528048" y="1920240"/>
            <a:ext cx="0" cy="1883664"/>
          </a:xfrm>
          <a:prstGeom prst="line">
            <a:avLst/>
          </a:prstGeom>
          <a:ln w="16510">
            <a:solidFill>
              <a:srgbClr val="4F5BD5"/>
            </a:solidFill>
          </a:ln>
          <a:effectLst/>
        </p:spPr>
      </p:cxnSp>
      <p:cxnSp>
        <p:nvCxnSpPr>
          <p:cNvPr id="75" name="Connector 74"/>
          <p:cNvCxnSpPr/>
          <p:nvPr/>
        </p:nvCxnSpPr>
        <p:spPr>
          <a:xfrm flipH="1">
            <a:off x="8321040" y="1920240"/>
            <a:ext cx="1207008" cy="0"/>
          </a:xfrm>
          <a:prstGeom prst="line">
            <a:avLst/>
          </a:prstGeom>
          <a:ln w="16510">
            <a:solidFill>
              <a:srgbClr val="4F5BD5"/>
            </a:solidFill>
          </a:ln>
          <a:effectLst/>
        </p:spPr>
      </p:cxnSp>
      <p:cxnSp>
        <p:nvCxnSpPr>
          <p:cNvPr id="76" name="Connector 75"/>
          <p:cNvCxnSpPr/>
          <p:nvPr/>
        </p:nvCxnSpPr>
        <p:spPr>
          <a:xfrm>
            <a:off x="8321040" y="1920240"/>
            <a:ext cx="0" cy="420624"/>
          </a:xfrm>
          <a:prstGeom prst="line">
            <a:avLst/>
          </a:prstGeom>
          <a:ln w="16510">
            <a:solidFill>
              <a:srgbClr val="4F5BD5"/>
            </a:solidFill>
            <a:tailEnd type="triangle" w="med" len="med"/>
          </a:ln>
          <a:effectLst/>
        </p:spPr>
      </p:cxnSp>
      <p:sp>
        <p:nvSpPr>
          <p:cNvPr id="77" name="TextBox 76"/>
          <p:cNvSpPr txBox="1"/>
          <p:nvPr/>
        </p:nvSpPr>
        <p:spPr>
          <a:xfrm>
            <a:off x="9582912" y="2788920"/>
            <a:ext cx="914400" cy="164592"/>
          </a:xfrm>
          <a:prstGeom prst="rect">
            <a:avLst/>
          </a:prstGeom>
          <a:noFill/>
        </p:spPr>
        <p:txBody>
          <a:bodyPr wrap="square" anchor="t" lIns="0" rIns="0" tIns="0" bIns="0">
            <a:noAutofit/>
          </a:bodyPr>
          <a:lstStyle/>
          <a:p>
            <a:pPr algn="l">
              <a:lnSpc>
                <a:spcPct val="112000"/>
              </a:lnSpc>
              <a:spcAft>
                <a:spcPts val="0"/>
              </a:spcAft>
            </a:pPr>
            <a:r>
              <a:rPr sz="660" b="1" i="0">
                <a:solidFill>
                  <a:srgbClr val="4F5BD5"/>
                </a:solidFill>
                <a:latin typeface="Segoe UI"/>
              </a:rPr>
              <a:t>re-plan on demand</a:t>
            </a:r>
          </a:p>
        </p:txBody>
      </p:sp>
      <p:sp>
        <p:nvSpPr>
          <p:cNvPr id="78" name="Rounded Rectangle 77"/>
          <p:cNvSpPr/>
          <p:nvPr/>
        </p:nvSpPr>
        <p:spPr>
          <a:xfrm>
            <a:off x="580644" y="5513832"/>
            <a:ext cx="11109960" cy="841248"/>
          </a:xfrm>
          <a:prstGeom prst="roundRect">
            <a:avLst>
              <a:gd name="adj" fmla="val 5000"/>
            </a:avLst>
          </a:prstGeom>
          <a:solidFill>
            <a:srgbClr val="E8ECF8"/>
          </a:solidFill>
          <a:ln>
            <a:noFill/>
          </a:ln>
          <a:effectLst/>
        </p:spPr>
        <p:txBody>
          <a:bodyPr rtlCol="0" anchor="ctr" wrap="square"/>
          <a:lstStyle/>
          <a:p>
            <a:pPr algn="ctr"/>
          </a:p>
        </p:txBody>
      </p:sp>
      <p:sp>
        <p:nvSpPr>
          <p:cNvPr id="79" name="Rounded Rectangle 78"/>
          <p:cNvSpPr/>
          <p:nvPr/>
        </p:nvSpPr>
        <p:spPr>
          <a:xfrm>
            <a:off x="548640" y="5468112"/>
            <a:ext cx="11109960" cy="841248"/>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80" name="TextBox 79"/>
          <p:cNvSpPr txBox="1"/>
          <p:nvPr/>
        </p:nvSpPr>
        <p:spPr>
          <a:xfrm>
            <a:off x="749808" y="5568696"/>
            <a:ext cx="4023360" cy="182880"/>
          </a:xfrm>
          <a:prstGeom prst="rect">
            <a:avLst/>
          </a:prstGeom>
          <a:noFill/>
        </p:spPr>
        <p:txBody>
          <a:bodyPr wrap="square" anchor="t" lIns="0" rIns="0" tIns="0" bIns="0">
            <a:noAutofit/>
          </a:bodyPr>
          <a:lstStyle/>
          <a:p>
            <a:pPr algn="l">
              <a:lnSpc>
                <a:spcPct val="112000"/>
              </a:lnSpc>
              <a:spcAft>
                <a:spcPts val="0"/>
              </a:spcAft>
            </a:pPr>
            <a:r>
              <a:rPr sz="740" b="1" i="0">
                <a:solidFill>
                  <a:srgbClr val="EF4444"/>
                </a:solidFill>
                <a:latin typeface="Segoe UI"/>
              </a:rPr>
              <a:t>WEAKNESS SCORE  ·  0–100  ·  LAST 7 DAYS</a:t>
            </a:r>
          </a:p>
        </p:txBody>
      </p:sp>
      <p:sp>
        <p:nvSpPr>
          <p:cNvPr id="81" name="TextBox 80"/>
          <p:cNvSpPr txBox="1"/>
          <p:nvPr/>
        </p:nvSpPr>
        <p:spPr>
          <a:xfrm>
            <a:off x="749808" y="5760720"/>
            <a:ext cx="6812280" cy="438912"/>
          </a:xfrm>
          <a:prstGeom prst="rect">
            <a:avLst/>
          </a:prstGeom>
          <a:noFill/>
        </p:spPr>
        <p:txBody>
          <a:bodyPr wrap="square" anchor="t" lIns="0" rIns="0" tIns="0" bIns="0">
            <a:noAutofit/>
          </a:bodyPr>
          <a:lstStyle/>
          <a:p>
            <a:pPr algn="l">
              <a:lnSpc>
                <a:spcPct val="120000"/>
              </a:lnSpc>
              <a:spcAft>
                <a:spcPts val="0"/>
              </a:spcAft>
            </a:pPr>
            <a:r>
              <a:rPr sz="960" b="1" i="0">
                <a:solidFill>
                  <a:srgbClr val="0F172A"/>
                </a:solidFill>
                <a:latin typeface="Segoe UI"/>
              </a:rPr>
              <a:t>+30 failed code  ·  +0.5 × (100 − accuracy)  ·  +10 pomodoro  ·  −20 code pass  ·  −10 notes  ·  flag at ≥ 40</a:t>
            </a:r>
          </a:p>
        </p:txBody>
      </p:sp>
      <p:sp>
        <p:nvSpPr>
          <p:cNvPr id="82" name="Rectangle 81"/>
          <p:cNvSpPr/>
          <p:nvPr/>
        </p:nvSpPr>
        <p:spPr>
          <a:xfrm>
            <a:off x="7699248" y="5577840"/>
            <a:ext cx="7315" cy="621792"/>
          </a:xfrm>
          <a:prstGeom prst="rect">
            <a:avLst/>
          </a:prstGeom>
          <a:solidFill>
            <a:srgbClr val="E3E8F5"/>
          </a:solidFill>
          <a:ln>
            <a:noFill/>
          </a:ln>
          <a:effectLst/>
        </p:spPr>
        <p:txBody>
          <a:bodyPr rtlCol="0" anchor="ctr" wrap="square"/>
          <a:lstStyle/>
          <a:p>
            <a:pPr algn="ctr"/>
          </a:p>
        </p:txBody>
      </p:sp>
      <p:sp>
        <p:nvSpPr>
          <p:cNvPr id="83" name="TextBox 82"/>
          <p:cNvSpPr txBox="1"/>
          <p:nvPr/>
        </p:nvSpPr>
        <p:spPr>
          <a:xfrm>
            <a:off x="7882127" y="5568696"/>
            <a:ext cx="3474720" cy="182880"/>
          </a:xfrm>
          <a:prstGeom prst="rect">
            <a:avLst/>
          </a:prstGeom>
          <a:noFill/>
        </p:spPr>
        <p:txBody>
          <a:bodyPr wrap="square" anchor="t" lIns="0" rIns="0" tIns="0" bIns="0">
            <a:noAutofit/>
          </a:bodyPr>
          <a:lstStyle/>
          <a:p>
            <a:pPr algn="l">
              <a:lnSpc>
                <a:spcPct val="112000"/>
              </a:lnSpc>
              <a:spcAft>
                <a:spcPts val="0"/>
              </a:spcAft>
            </a:pPr>
            <a:r>
              <a:rPr sz="740" b="1" i="0">
                <a:solidFill>
                  <a:srgbClr val="0284C7"/>
                </a:solidFill>
                <a:latin typeface="Segoe UI"/>
              </a:rPr>
              <a:t>SM-2 SCHEDULER</a:t>
            </a:r>
          </a:p>
        </p:txBody>
      </p:sp>
      <p:sp>
        <p:nvSpPr>
          <p:cNvPr id="84" name="TextBox 83"/>
          <p:cNvSpPr txBox="1"/>
          <p:nvPr/>
        </p:nvSpPr>
        <p:spPr>
          <a:xfrm>
            <a:off x="7882127" y="5779008"/>
            <a:ext cx="3611880" cy="237744"/>
          </a:xfrm>
          <a:prstGeom prst="rect">
            <a:avLst/>
          </a:prstGeom>
          <a:noFill/>
        </p:spPr>
        <p:txBody>
          <a:bodyPr wrap="square" anchor="t" lIns="0" rIns="0" tIns="0" bIns="0">
            <a:noAutofit/>
          </a:bodyPr>
          <a:lstStyle/>
          <a:p>
            <a:pPr algn="l">
              <a:lnSpc>
                <a:spcPct val="112000"/>
              </a:lnSpc>
              <a:spcAft>
                <a:spcPts val="0"/>
              </a:spcAft>
            </a:pPr>
            <a:r>
              <a:rPr sz="1220" b="1" i="0">
                <a:solidFill>
                  <a:srgbClr val="0F172A"/>
                </a:solidFill>
                <a:latin typeface="Segoe UI"/>
              </a:rPr>
              <a:t>interval  ←  interval × ease factor</a:t>
            </a:r>
          </a:p>
        </p:txBody>
      </p:sp>
      <p:sp>
        <p:nvSpPr>
          <p:cNvPr id="85" name="TextBox 84"/>
          <p:cNvSpPr txBox="1"/>
          <p:nvPr/>
        </p:nvSpPr>
        <p:spPr>
          <a:xfrm>
            <a:off x="7882127" y="6035040"/>
            <a:ext cx="3611880" cy="164592"/>
          </a:xfrm>
          <a:prstGeom prst="rect">
            <a:avLst/>
          </a:prstGeom>
          <a:noFill/>
        </p:spPr>
        <p:txBody>
          <a:bodyPr wrap="square" anchor="t" lIns="0" rIns="0" tIns="0" bIns="0">
            <a:noAutofit/>
          </a:bodyPr>
          <a:lstStyle/>
          <a:p>
            <a:pPr algn="l">
              <a:lnSpc>
                <a:spcPct val="112000"/>
              </a:lnSpc>
              <a:spcAft>
                <a:spcPts val="0"/>
              </a:spcAft>
            </a:pPr>
            <a:r>
              <a:rPr sz="720" b="0" i="1">
                <a:solidFill>
                  <a:srgbClr val="7C8AA3"/>
                </a:solidFill>
                <a:latin typeface="Segoe UI"/>
              </a:rPr>
              <a:t>the queue is built from topic and history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g_aurora.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40080" y="411480"/>
            <a:ext cx="164592" cy="164592"/>
          </a:xfrm>
          <a:prstGeom prst="roundRect">
            <a:avLst>
              <a:gd name="adj" fmla="val 25000"/>
            </a:avLst>
          </a:prstGeom>
          <a:gradFill rotWithShape="1">
            <a:gsLst>
              <a:gs pos="0">
                <a:srgbClr val="0EA5E9"/>
              </a:gs>
              <a:gs pos="100000">
                <a:srgbClr val="4F5BD5"/>
              </a:gs>
            </a:gsLst>
            <a:lin scaled="0" ang="19500000"/>
          </a:gradFill>
          <a:ln>
            <a:noFill/>
          </a:ln>
          <a:effectLst/>
        </p:spPr>
        <p:txBody>
          <a:bodyPr rtlCol="0" anchor="ctr"/>
          <a:lstStyle/>
          <a:p>
            <a:pPr algn="ctr"/>
          </a:p>
        </p:txBody>
      </p:sp>
      <p:sp>
        <p:nvSpPr>
          <p:cNvPr id="4" name="TextBox 3"/>
          <p:cNvSpPr txBox="1"/>
          <p:nvPr/>
        </p:nvSpPr>
        <p:spPr>
          <a:xfrm>
            <a:off x="886968" y="365760"/>
            <a:ext cx="1828800" cy="219456"/>
          </a:xfrm>
          <a:prstGeom prst="rect">
            <a:avLst/>
          </a:prstGeom>
          <a:noFill/>
        </p:spPr>
        <p:txBody>
          <a:bodyPr wrap="square" anchor="t" lIns="0" rIns="0" tIns="0" bIns="0">
            <a:noAutofit/>
          </a:bodyPr>
          <a:lstStyle/>
          <a:p>
            <a:pPr algn="l">
              <a:lnSpc>
                <a:spcPct val="112000"/>
              </a:lnSpc>
              <a:spcAft>
                <a:spcPts val="0"/>
              </a:spcAft>
            </a:pPr>
            <a:r>
              <a:rPr sz="950" b="1" i="0">
                <a:solidFill>
                  <a:srgbClr val="0F172A"/>
                </a:solidFill>
                <a:latin typeface="Segoe UI"/>
              </a:rPr>
              <a:t>StudyMapper</a:t>
            </a:r>
          </a:p>
        </p:txBody>
      </p:sp>
      <p:sp>
        <p:nvSpPr>
          <p:cNvPr id="5" name="TextBox 4"/>
          <p:cNvSpPr txBox="1"/>
          <p:nvPr/>
        </p:nvSpPr>
        <p:spPr>
          <a:xfrm>
            <a:off x="6035040" y="374904"/>
            <a:ext cx="5513832" cy="201168"/>
          </a:xfrm>
          <a:prstGeom prst="rect">
            <a:avLst/>
          </a:prstGeom>
          <a:noFill/>
        </p:spPr>
        <p:txBody>
          <a:bodyPr wrap="square" anchor="t" lIns="0" rIns="0" tIns="0" bIns="0">
            <a:noAutofit/>
          </a:bodyPr>
          <a:lstStyle/>
          <a:p>
            <a:pPr algn="r">
              <a:lnSpc>
                <a:spcPct val="112000"/>
              </a:lnSpc>
              <a:spcAft>
                <a:spcPts val="0"/>
              </a:spcAft>
            </a:pPr>
            <a:r>
              <a:rPr sz="950" b="1" i="0">
                <a:solidFill>
                  <a:srgbClr val="4F5BD5"/>
                </a:solidFill>
                <a:latin typeface="Segoe UI"/>
              </a:rPr>
              <a:t>08 · IMPLEMENTATION DETAILS</a:t>
            </a:r>
          </a:p>
        </p:txBody>
      </p:sp>
      <p:sp>
        <p:nvSpPr>
          <p:cNvPr id="6" name="TextBox 5"/>
          <p:cNvSpPr txBox="1"/>
          <p:nvPr/>
        </p:nvSpPr>
        <p:spPr>
          <a:xfrm>
            <a:off x="640080" y="658368"/>
            <a:ext cx="10908792" cy="566928"/>
          </a:xfrm>
          <a:prstGeom prst="rect">
            <a:avLst/>
          </a:prstGeom>
          <a:noFill/>
        </p:spPr>
        <p:txBody>
          <a:bodyPr wrap="square" anchor="t" lIns="0" rIns="0" tIns="0" bIns="0">
            <a:noAutofit/>
          </a:bodyPr>
          <a:lstStyle/>
          <a:p>
            <a:pPr algn="l">
              <a:lnSpc>
                <a:spcPct val="98000"/>
              </a:lnSpc>
              <a:spcAft>
                <a:spcPts val="0"/>
              </a:spcAft>
            </a:pPr>
            <a:r>
              <a:rPr sz="3300" b="1" i="0">
                <a:solidFill>
                  <a:srgbClr val="0F172A"/>
                </a:solidFill>
                <a:latin typeface="Segoe UI"/>
              </a:rPr>
              <a:t>A browser app, not a server stack</a:t>
            </a:r>
          </a:p>
        </p:txBody>
      </p:sp>
      <p:sp>
        <p:nvSpPr>
          <p:cNvPr id="7" name="TextBox 6"/>
          <p:cNvSpPr txBox="1"/>
          <p:nvPr/>
        </p:nvSpPr>
        <p:spPr>
          <a:xfrm>
            <a:off x="640080" y="1243584"/>
            <a:ext cx="10469880" cy="438912"/>
          </a:xfrm>
          <a:prstGeom prst="rect">
            <a:avLst/>
          </a:prstGeom>
          <a:noFill/>
        </p:spPr>
        <p:txBody>
          <a:bodyPr wrap="square" anchor="t" lIns="0" rIns="0" tIns="0" bIns="0">
            <a:noAutofit/>
          </a:bodyPr>
          <a:lstStyle/>
          <a:p>
            <a:pPr algn="l">
              <a:lnSpc>
                <a:spcPct val="114000"/>
              </a:lnSpc>
              <a:spcAft>
                <a:spcPts val="0"/>
              </a:spcAft>
            </a:pPr>
            <a:r>
              <a:rPr sz="1450" b="0" i="0">
                <a:solidFill>
                  <a:srgbClr val="475569"/>
                </a:solidFill>
                <a:latin typeface="Segoe UI"/>
              </a:rPr>
              <a:t>Every choice removes something to install, host or pay for.</a:t>
            </a:r>
          </a:p>
        </p:txBody>
      </p:sp>
      <p:sp>
        <p:nvSpPr>
          <p:cNvPr id="8" name="Rectangle 7"/>
          <p:cNvSpPr/>
          <p:nvPr/>
        </p:nvSpPr>
        <p:spPr>
          <a:xfrm>
            <a:off x="640080" y="6437376"/>
            <a:ext cx="10908792" cy="7315"/>
          </a:xfrm>
          <a:prstGeom prst="rect">
            <a:avLst/>
          </a:prstGeom>
          <a:solidFill>
            <a:srgbClr val="D5DCEE"/>
          </a:solidFill>
          <a:ln>
            <a:noFill/>
          </a:ln>
          <a:effectLst/>
        </p:spPr>
        <p:txBody>
          <a:bodyPr rtlCol="0" anchor="ctr" wrap="square"/>
          <a:lstStyle/>
          <a:p>
            <a:pPr algn="ctr"/>
          </a:p>
        </p:txBody>
      </p:sp>
      <p:sp>
        <p:nvSpPr>
          <p:cNvPr id="9" name="TextBox 8"/>
          <p:cNvSpPr txBox="1"/>
          <p:nvPr/>
        </p:nvSpPr>
        <p:spPr>
          <a:xfrm>
            <a:off x="640080" y="6519672"/>
            <a:ext cx="7863840" cy="164592"/>
          </a:xfrm>
          <a:prstGeom prst="rect">
            <a:avLst/>
          </a:prstGeom>
          <a:noFill/>
        </p:spPr>
        <p:txBody>
          <a:bodyPr wrap="square" anchor="t" lIns="0" rIns="0" tIns="0" bIns="0">
            <a:noAutofit/>
          </a:bodyPr>
          <a:lstStyle/>
          <a:p>
            <a:pPr algn="l">
              <a:lnSpc>
                <a:spcPct val="112000"/>
              </a:lnSpc>
              <a:spcAft>
                <a:spcPts val="0"/>
              </a:spcAft>
            </a:pPr>
            <a:r>
              <a:rPr sz="800" b="0" i="0">
                <a:solidFill>
                  <a:srgbClr val="7C8AA3"/>
                </a:solidFill>
                <a:latin typeface="Segoe UI"/>
              </a:rPr>
              <a:t>StudyMapper  ·  AI-Driven Personalized Learning &amp; Academic Management</a:t>
            </a:r>
          </a:p>
        </p:txBody>
      </p:sp>
      <p:sp>
        <p:nvSpPr>
          <p:cNvPr id="10" name="TextBox 9"/>
          <p:cNvSpPr txBox="1"/>
          <p:nvPr/>
        </p:nvSpPr>
        <p:spPr>
          <a:xfrm>
            <a:off x="10058400" y="6510528"/>
            <a:ext cx="1490472" cy="182880"/>
          </a:xfrm>
          <a:prstGeom prst="rect">
            <a:avLst/>
          </a:prstGeom>
          <a:noFill/>
        </p:spPr>
        <p:txBody>
          <a:bodyPr wrap="square" anchor="t" lIns="0" rIns="0" tIns="0" bIns="0">
            <a:noAutofit/>
          </a:bodyPr>
          <a:lstStyle/>
          <a:p>
            <a:pPr algn="r">
              <a:lnSpc>
                <a:spcPct val="112000"/>
              </a:lnSpc>
              <a:spcAft>
                <a:spcPts val="0"/>
              </a:spcAft>
            </a:pPr>
            <a:r>
              <a:rPr sz="880" b="1" i="0">
                <a:solidFill>
                  <a:srgbClr val="7C8AA3"/>
                </a:solidFill>
                <a:latin typeface="Segoe UI"/>
              </a:rPr>
              <a:t>09 / 13</a:t>
            </a:r>
          </a:p>
        </p:txBody>
      </p:sp>
      <p:sp>
        <p:nvSpPr>
          <p:cNvPr id="11" name="Rounded Rectangle 10"/>
          <p:cNvSpPr/>
          <p:nvPr/>
        </p:nvSpPr>
        <p:spPr>
          <a:xfrm>
            <a:off x="672084" y="1783080"/>
            <a:ext cx="2615184" cy="3310128"/>
          </a:xfrm>
          <a:prstGeom prst="roundRect">
            <a:avLst>
              <a:gd name="adj" fmla="val 5000"/>
            </a:avLst>
          </a:prstGeom>
          <a:solidFill>
            <a:srgbClr val="E8ECF8"/>
          </a:solidFill>
          <a:ln>
            <a:noFill/>
          </a:ln>
          <a:effectLst/>
        </p:spPr>
        <p:txBody>
          <a:bodyPr rtlCol="0" anchor="ctr" wrap="square"/>
          <a:lstStyle/>
          <a:p>
            <a:pPr algn="ctr"/>
          </a:p>
        </p:txBody>
      </p:sp>
      <p:sp>
        <p:nvSpPr>
          <p:cNvPr id="12" name="Rounded Rectangle 11"/>
          <p:cNvSpPr/>
          <p:nvPr/>
        </p:nvSpPr>
        <p:spPr>
          <a:xfrm>
            <a:off x="640080" y="1737360"/>
            <a:ext cx="2615184" cy="3310128"/>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13" name="Rounded Rectangle 12"/>
          <p:cNvSpPr/>
          <p:nvPr/>
        </p:nvSpPr>
        <p:spPr>
          <a:xfrm>
            <a:off x="822959" y="1883664"/>
            <a:ext cx="438912" cy="438912"/>
          </a:xfrm>
          <a:prstGeom prst="roundRect">
            <a:avLst>
              <a:gd name="adj" fmla="val 28000"/>
            </a:avLst>
          </a:prstGeom>
          <a:solidFill>
            <a:srgbClr val="E0F2FE"/>
          </a:solidFill>
          <a:ln>
            <a:noFill/>
          </a:ln>
          <a:effectLst/>
        </p:spPr>
        <p:txBody>
          <a:bodyPr rtlCol="0" anchor="ctr" wrap="square"/>
          <a:lstStyle/>
          <a:p>
            <a:pPr algn="ctr"/>
          </a:p>
        </p:txBody>
      </p:sp>
      <p:sp>
        <p:nvSpPr>
          <p:cNvPr id="14" name="TextBox 13"/>
          <p:cNvSpPr txBox="1"/>
          <p:nvPr/>
        </p:nvSpPr>
        <p:spPr>
          <a:xfrm>
            <a:off x="822959" y="1993391"/>
            <a:ext cx="438912" cy="219456"/>
          </a:xfrm>
          <a:prstGeom prst="rect">
            <a:avLst/>
          </a:prstGeom>
          <a:noFill/>
        </p:spPr>
        <p:txBody>
          <a:bodyPr wrap="square" anchor="t" lIns="0" rIns="0" tIns="0" bIns="0">
            <a:noAutofit/>
          </a:bodyPr>
          <a:lstStyle/>
          <a:p>
            <a:pPr algn="ctr">
              <a:lnSpc>
                <a:spcPct val="112000"/>
              </a:lnSpc>
              <a:spcAft>
                <a:spcPts val="0"/>
              </a:spcAft>
            </a:pPr>
            <a:r>
              <a:rPr sz="900" b="1" i="0">
                <a:solidFill>
                  <a:srgbClr val="0EA5E9"/>
                </a:solidFill>
                <a:latin typeface="Segoe UI"/>
              </a:rPr>
              <a:t>UI</a:t>
            </a:r>
          </a:p>
        </p:txBody>
      </p:sp>
      <p:sp>
        <p:nvSpPr>
          <p:cNvPr id="15" name="TextBox 14"/>
          <p:cNvSpPr txBox="1"/>
          <p:nvPr/>
        </p:nvSpPr>
        <p:spPr>
          <a:xfrm>
            <a:off x="822959" y="2432304"/>
            <a:ext cx="2194560" cy="237744"/>
          </a:xfrm>
          <a:prstGeom prst="rect">
            <a:avLst/>
          </a:prstGeom>
          <a:noFill/>
        </p:spPr>
        <p:txBody>
          <a:bodyPr wrap="square" anchor="t" lIns="0" rIns="0" tIns="0" bIns="0">
            <a:noAutofit/>
          </a:bodyPr>
          <a:lstStyle/>
          <a:p>
            <a:pPr algn="l">
              <a:lnSpc>
                <a:spcPct val="112000"/>
              </a:lnSpc>
              <a:spcAft>
                <a:spcPts val="0"/>
              </a:spcAft>
            </a:pPr>
            <a:r>
              <a:rPr sz="1460" b="1" i="0">
                <a:solidFill>
                  <a:srgbClr val="0F172A"/>
                </a:solidFill>
                <a:latin typeface="Segoe UI"/>
              </a:rPr>
              <a:t>Interface</a:t>
            </a:r>
          </a:p>
        </p:txBody>
      </p:sp>
      <p:sp>
        <p:nvSpPr>
          <p:cNvPr id="16" name="TextBox 15"/>
          <p:cNvSpPr txBox="1"/>
          <p:nvPr/>
        </p:nvSpPr>
        <p:spPr>
          <a:xfrm>
            <a:off x="822959" y="2688336"/>
            <a:ext cx="2249424" cy="384048"/>
          </a:xfrm>
          <a:prstGeom prst="rect">
            <a:avLst/>
          </a:prstGeom>
          <a:noFill/>
        </p:spPr>
        <p:txBody>
          <a:bodyPr wrap="square" anchor="t" lIns="0" rIns="0" tIns="0" bIns="0">
            <a:noAutofit/>
          </a:bodyPr>
          <a:lstStyle/>
          <a:p>
            <a:pPr algn="l">
              <a:lnSpc>
                <a:spcPct val="115000"/>
              </a:lnSpc>
              <a:spcAft>
                <a:spcPts val="0"/>
              </a:spcAft>
            </a:pPr>
            <a:r>
              <a:rPr sz="880" b="0" i="0">
                <a:solidFill>
                  <a:srgbClr val="7C8AA3"/>
                </a:solidFill>
                <a:latin typeface="Segoe UI"/>
              </a:rPr>
              <a:t>What the student sees and touches.</a:t>
            </a:r>
          </a:p>
        </p:txBody>
      </p:sp>
      <p:sp>
        <p:nvSpPr>
          <p:cNvPr id="17" name="Oval 16"/>
          <p:cNvSpPr/>
          <p:nvPr/>
        </p:nvSpPr>
        <p:spPr>
          <a:xfrm>
            <a:off x="841247" y="3246120"/>
            <a:ext cx="91440" cy="91440"/>
          </a:xfrm>
          <a:prstGeom prst="ellipse">
            <a:avLst/>
          </a:prstGeom>
          <a:solidFill>
            <a:srgbClr val="0EA5E9"/>
          </a:solidFill>
          <a:ln>
            <a:noFill/>
          </a:ln>
          <a:effectLst/>
        </p:spPr>
        <p:txBody>
          <a:bodyPr rtlCol="0" anchor="ctr"/>
          <a:lstStyle/>
          <a:p>
            <a:pPr algn="ctr"/>
          </a:p>
        </p:txBody>
      </p:sp>
      <p:sp>
        <p:nvSpPr>
          <p:cNvPr id="18" name="TextBox 17"/>
          <p:cNvSpPr txBox="1"/>
          <p:nvPr/>
        </p:nvSpPr>
        <p:spPr>
          <a:xfrm>
            <a:off x="1005840" y="3182112"/>
            <a:ext cx="2084831" cy="182880"/>
          </a:xfrm>
          <a:prstGeom prst="rect">
            <a:avLst/>
          </a:prstGeom>
          <a:noFill/>
        </p:spPr>
        <p:txBody>
          <a:bodyPr wrap="square" anchor="t" lIns="0" rIns="0" tIns="0" bIns="0">
            <a:noAutofit/>
          </a:bodyPr>
          <a:lstStyle/>
          <a:p>
            <a:pPr algn="l">
              <a:lnSpc>
                <a:spcPct val="112000"/>
              </a:lnSpc>
              <a:spcAft>
                <a:spcPts val="0"/>
              </a:spcAft>
            </a:pPr>
            <a:r>
              <a:rPr sz="1060" b="1" i="0">
                <a:solidFill>
                  <a:srgbClr val="0F172A"/>
                </a:solidFill>
                <a:latin typeface="Segoe UI"/>
              </a:rPr>
              <a:t>React 19</a:t>
            </a:r>
          </a:p>
        </p:txBody>
      </p:sp>
      <p:sp>
        <p:nvSpPr>
          <p:cNvPr id="19" name="TextBox 18"/>
          <p:cNvSpPr txBox="1"/>
          <p:nvPr/>
        </p:nvSpPr>
        <p:spPr>
          <a:xfrm>
            <a:off x="1005840" y="3355848"/>
            <a:ext cx="2084831"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46 routed views</a:t>
            </a:r>
          </a:p>
        </p:txBody>
      </p:sp>
      <p:sp>
        <p:nvSpPr>
          <p:cNvPr id="20" name="Oval 19"/>
          <p:cNvSpPr/>
          <p:nvPr/>
        </p:nvSpPr>
        <p:spPr>
          <a:xfrm>
            <a:off x="841247" y="3685032"/>
            <a:ext cx="91440" cy="91440"/>
          </a:xfrm>
          <a:prstGeom prst="ellipse">
            <a:avLst/>
          </a:prstGeom>
          <a:solidFill>
            <a:srgbClr val="0EA5E9"/>
          </a:solidFill>
          <a:ln>
            <a:noFill/>
          </a:ln>
          <a:effectLst/>
        </p:spPr>
        <p:txBody>
          <a:bodyPr rtlCol="0" anchor="ctr"/>
          <a:lstStyle/>
          <a:p>
            <a:pPr algn="ctr"/>
          </a:p>
        </p:txBody>
      </p:sp>
      <p:sp>
        <p:nvSpPr>
          <p:cNvPr id="21" name="TextBox 20"/>
          <p:cNvSpPr txBox="1"/>
          <p:nvPr/>
        </p:nvSpPr>
        <p:spPr>
          <a:xfrm>
            <a:off x="1005840" y="3621024"/>
            <a:ext cx="2084831" cy="182880"/>
          </a:xfrm>
          <a:prstGeom prst="rect">
            <a:avLst/>
          </a:prstGeom>
          <a:noFill/>
        </p:spPr>
        <p:txBody>
          <a:bodyPr wrap="square" anchor="t" lIns="0" rIns="0" tIns="0" bIns="0">
            <a:noAutofit/>
          </a:bodyPr>
          <a:lstStyle/>
          <a:p>
            <a:pPr algn="l">
              <a:lnSpc>
                <a:spcPct val="112000"/>
              </a:lnSpc>
              <a:spcAft>
                <a:spcPts val="0"/>
              </a:spcAft>
            </a:pPr>
            <a:r>
              <a:rPr sz="1060" b="1" i="0">
                <a:solidFill>
                  <a:srgbClr val="0F172A"/>
                </a:solidFill>
                <a:latin typeface="Segoe UI"/>
              </a:rPr>
              <a:t>Vite</a:t>
            </a:r>
          </a:p>
        </p:txBody>
      </p:sp>
      <p:sp>
        <p:nvSpPr>
          <p:cNvPr id="22" name="TextBox 21"/>
          <p:cNvSpPr txBox="1"/>
          <p:nvPr/>
        </p:nvSpPr>
        <p:spPr>
          <a:xfrm>
            <a:off x="1005840" y="3794760"/>
            <a:ext cx="2084831"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6.21 s production build</a:t>
            </a:r>
          </a:p>
        </p:txBody>
      </p:sp>
      <p:sp>
        <p:nvSpPr>
          <p:cNvPr id="23" name="Oval 22"/>
          <p:cNvSpPr/>
          <p:nvPr/>
        </p:nvSpPr>
        <p:spPr>
          <a:xfrm>
            <a:off x="841247" y="4123944"/>
            <a:ext cx="91440" cy="91440"/>
          </a:xfrm>
          <a:prstGeom prst="ellipse">
            <a:avLst/>
          </a:prstGeom>
          <a:solidFill>
            <a:srgbClr val="0EA5E9"/>
          </a:solidFill>
          <a:ln>
            <a:noFill/>
          </a:ln>
          <a:effectLst/>
        </p:spPr>
        <p:txBody>
          <a:bodyPr rtlCol="0" anchor="ctr"/>
          <a:lstStyle/>
          <a:p>
            <a:pPr algn="ctr"/>
          </a:p>
        </p:txBody>
      </p:sp>
      <p:sp>
        <p:nvSpPr>
          <p:cNvPr id="24" name="TextBox 23"/>
          <p:cNvSpPr txBox="1"/>
          <p:nvPr/>
        </p:nvSpPr>
        <p:spPr>
          <a:xfrm>
            <a:off x="1005840" y="4059935"/>
            <a:ext cx="2084831" cy="182880"/>
          </a:xfrm>
          <a:prstGeom prst="rect">
            <a:avLst/>
          </a:prstGeom>
          <a:noFill/>
        </p:spPr>
        <p:txBody>
          <a:bodyPr wrap="square" anchor="t" lIns="0" rIns="0" tIns="0" bIns="0">
            <a:noAutofit/>
          </a:bodyPr>
          <a:lstStyle/>
          <a:p>
            <a:pPr algn="l">
              <a:lnSpc>
                <a:spcPct val="112000"/>
              </a:lnSpc>
              <a:spcAft>
                <a:spcPts val="0"/>
              </a:spcAft>
            </a:pPr>
            <a:r>
              <a:rPr sz="1060" b="1" i="0">
                <a:solidFill>
                  <a:srgbClr val="0F172A"/>
                </a:solidFill>
                <a:latin typeface="Segoe UI"/>
              </a:rPr>
              <a:t>React Router</a:t>
            </a:r>
          </a:p>
        </p:txBody>
      </p:sp>
      <p:sp>
        <p:nvSpPr>
          <p:cNvPr id="25" name="TextBox 24"/>
          <p:cNvSpPr txBox="1"/>
          <p:nvPr/>
        </p:nvSpPr>
        <p:spPr>
          <a:xfrm>
            <a:off x="1005840" y="4233672"/>
            <a:ext cx="2084831"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route-level structure</a:t>
            </a:r>
          </a:p>
        </p:txBody>
      </p:sp>
      <p:sp>
        <p:nvSpPr>
          <p:cNvPr id="26" name="Oval 25"/>
          <p:cNvSpPr/>
          <p:nvPr/>
        </p:nvSpPr>
        <p:spPr>
          <a:xfrm>
            <a:off x="841247" y="4562856"/>
            <a:ext cx="91440" cy="91440"/>
          </a:xfrm>
          <a:prstGeom prst="ellipse">
            <a:avLst/>
          </a:prstGeom>
          <a:solidFill>
            <a:srgbClr val="0EA5E9"/>
          </a:solidFill>
          <a:ln>
            <a:noFill/>
          </a:ln>
          <a:effectLst/>
        </p:spPr>
        <p:txBody>
          <a:bodyPr rtlCol="0" anchor="ctr"/>
          <a:lstStyle/>
          <a:p>
            <a:pPr algn="ctr"/>
          </a:p>
        </p:txBody>
      </p:sp>
      <p:sp>
        <p:nvSpPr>
          <p:cNvPr id="27" name="TextBox 26"/>
          <p:cNvSpPr txBox="1"/>
          <p:nvPr/>
        </p:nvSpPr>
        <p:spPr>
          <a:xfrm>
            <a:off x="1005840" y="4498848"/>
            <a:ext cx="2084831" cy="182880"/>
          </a:xfrm>
          <a:prstGeom prst="rect">
            <a:avLst/>
          </a:prstGeom>
          <a:noFill/>
        </p:spPr>
        <p:txBody>
          <a:bodyPr wrap="square" anchor="t" lIns="0" rIns="0" tIns="0" bIns="0">
            <a:noAutofit/>
          </a:bodyPr>
          <a:lstStyle/>
          <a:p>
            <a:pPr algn="l">
              <a:lnSpc>
                <a:spcPct val="112000"/>
              </a:lnSpc>
              <a:spcAft>
                <a:spcPts val="0"/>
              </a:spcAft>
            </a:pPr>
            <a:r>
              <a:rPr sz="1060" b="1" i="0">
                <a:solidFill>
                  <a:srgbClr val="0F172A"/>
                </a:solidFill>
                <a:latin typeface="Segoe UI"/>
              </a:rPr>
              <a:t>CSS tokens</a:t>
            </a:r>
          </a:p>
        </p:txBody>
      </p:sp>
      <p:sp>
        <p:nvSpPr>
          <p:cNvPr id="28" name="TextBox 27"/>
          <p:cNvSpPr txBox="1"/>
          <p:nvPr/>
        </p:nvSpPr>
        <p:spPr>
          <a:xfrm>
            <a:off x="1005840" y="4672584"/>
            <a:ext cx="2084831"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one palette, light + dark</a:t>
            </a:r>
          </a:p>
        </p:txBody>
      </p:sp>
      <p:sp>
        <p:nvSpPr>
          <p:cNvPr id="29" name="Rounded Rectangle 28"/>
          <p:cNvSpPr/>
          <p:nvPr/>
        </p:nvSpPr>
        <p:spPr>
          <a:xfrm>
            <a:off x="3451860" y="1783080"/>
            <a:ext cx="2615184" cy="3310128"/>
          </a:xfrm>
          <a:prstGeom prst="roundRect">
            <a:avLst>
              <a:gd name="adj" fmla="val 5000"/>
            </a:avLst>
          </a:prstGeom>
          <a:solidFill>
            <a:srgbClr val="E8ECF8"/>
          </a:solidFill>
          <a:ln>
            <a:noFill/>
          </a:ln>
          <a:effectLst/>
        </p:spPr>
        <p:txBody>
          <a:bodyPr rtlCol="0" anchor="ctr" wrap="square"/>
          <a:lstStyle/>
          <a:p>
            <a:pPr algn="ctr"/>
          </a:p>
        </p:txBody>
      </p:sp>
      <p:sp>
        <p:nvSpPr>
          <p:cNvPr id="30" name="Rounded Rectangle 29"/>
          <p:cNvSpPr/>
          <p:nvPr/>
        </p:nvSpPr>
        <p:spPr>
          <a:xfrm>
            <a:off x="3419856" y="1737360"/>
            <a:ext cx="2615184" cy="3310128"/>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31" name="Rounded Rectangle 30"/>
          <p:cNvSpPr/>
          <p:nvPr/>
        </p:nvSpPr>
        <p:spPr>
          <a:xfrm>
            <a:off x="3602736" y="1883664"/>
            <a:ext cx="438912" cy="438912"/>
          </a:xfrm>
          <a:prstGeom prst="roundRect">
            <a:avLst>
              <a:gd name="adj" fmla="val 28000"/>
            </a:avLst>
          </a:prstGeom>
          <a:solidFill>
            <a:srgbClr val="EEF0FF"/>
          </a:solidFill>
          <a:ln>
            <a:noFill/>
          </a:ln>
          <a:effectLst/>
        </p:spPr>
        <p:txBody>
          <a:bodyPr rtlCol="0" anchor="ctr" wrap="square"/>
          <a:lstStyle/>
          <a:p>
            <a:pPr algn="ctr"/>
          </a:p>
        </p:txBody>
      </p:sp>
      <p:sp>
        <p:nvSpPr>
          <p:cNvPr id="32" name="TextBox 31"/>
          <p:cNvSpPr txBox="1"/>
          <p:nvPr/>
        </p:nvSpPr>
        <p:spPr>
          <a:xfrm>
            <a:off x="3602736" y="1993391"/>
            <a:ext cx="438912" cy="219456"/>
          </a:xfrm>
          <a:prstGeom prst="rect">
            <a:avLst/>
          </a:prstGeom>
          <a:noFill/>
        </p:spPr>
        <p:txBody>
          <a:bodyPr wrap="square" anchor="t" lIns="0" rIns="0" tIns="0" bIns="0">
            <a:noAutofit/>
          </a:bodyPr>
          <a:lstStyle/>
          <a:p>
            <a:pPr algn="ctr">
              <a:lnSpc>
                <a:spcPct val="112000"/>
              </a:lnSpc>
              <a:spcAft>
                <a:spcPts val="0"/>
              </a:spcAft>
            </a:pPr>
            <a:r>
              <a:rPr sz="900" b="1" i="0">
                <a:solidFill>
                  <a:srgbClr val="4F5BD5"/>
                </a:solidFill>
                <a:latin typeface="Segoe UI"/>
              </a:rPr>
              <a:t>AI</a:t>
            </a:r>
          </a:p>
        </p:txBody>
      </p:sp>
      <p:sp>
        <p:nvSpPr>
          <p:cNvPr id="33" name="TextBox 32"/>
          <p:cNvSpPr txBox="1"/>
          <p:nvPr/>
        </p:nvSpPr>
        <p:spPr>
          <a:xfrm>
            <a:off x="3602736" y="2432304"/>
            <a:ext cx="2194560" cy="237744"/>
          </a:xfrm>
          <a:prstGeom prst="rect">
            <a:avLst/>
          </a:prstGeom>
          <a:noFill/>
        </p:spPr>
        <p:txBody>
          <a:bodyPr wrap="square" anchor="t" lIns="0" rIns="0" tIns="0" bIns="0">
            <a:noAutofit/>
          </a:bodyPr>
          <a:lstStyle/>
          <a:p>
            <a:pPr algn="l">
              <a:lnSpc>
                <a:spcPct val="112000"/>
              </a:lnSpc>
              <a:spcAft>
                <a:spcPts val="0"/>
              </a:spcAft>
            </a:pPr>
            <a:r>
              <a:rPr sz="1460" b="1" i="0">
                <a:solidFill>
                  <a:srgbClr val="0F172A"/>
                </a:solidFill>
                <a:latin typeface="Segoe UI"/>
              </a:rPr>
              <a:t>Intelligence</a:t>
            </a:r>
          </a:p>
        </p:txBody>
      </p:sp>
      <p:sp>
        <p:nvSpPr>
          <p:cNvPr id="34" name="TextBox 33"/>
          <p:cNvSpPr txBox="1"/>
          <p:nvPr/>
        </p:nvSpPr>
        <p:spPr>
          <a:xfrm>
            <a:off x="3602736" y="2688336"/>
            <a:ext cx="2249424" cy="384048"/>
          </a:xfrm>
          <a:prstGeom prst="rect">
            <a:avLst/>
          </a:prstGeom>
          <a:noFill/>
        </p:spPr>
        <p:txBody>
          <a:bodyPr wrap="square" anchor="t" lIns="0" rIns="0" tIns="0" bIns="0">
            <a:noAutofit/>
          </a:bodyPr>
          <a:lstStyle/>
          <a:p>
            <a:pPr algn="l">
              <a:lnSpc>
                <a:spcPct val="115000"/>
              </a:lnSpc>
              <a:spcAft>
                <a:spcPts val="0"/>
              </a:spcAft>
            </a:pPr>
            <a:r>
              <a:rPr sz="880" b="0" i="0">
                <a:solidFill>
                  <a:srgbClr val="7C8AA3"/>
                </a:solidFill>
                <a:latin typeface="Segoe UI"/>
              </a:rPr>
              <a:t>Generation and in-browser computation.</a:t>
            </a:r>
          </a:p>
        </p:txBody>
      </p:sp>
      <p:sp>
        <p:nvSpPr>
          <p:cNvPr id="35" name="Oval 34"/>
          <p:cNvSpPr/>
          <p:nvPr/>
        </p:nvSpPr>
        <p:spPr>
          <a:xfrm>
            <a:off x="3621024" y="3246120"/>
            <a:ext cx="91440" cy="91440"/>
          </a:xfrm>
          <a:prstGeom prst="ellipse">
            <a:avLst/>
          </a:prstGeom>
          <a:solidFill>
            <a:srgbClr val="4F5BD5"/>
          </a:solidFill>
          <a:ln>
            <a:noFill/>
          </a:ln>
          <a:effectLst/>
        </p:spPr>
        <p:txBody>
          <a:bodyPr rtlCol="0" anchor="ctr"/>
          <a:lstStyle/>
          <a:p>
            <a:pPr algn="ctr"/>
          </a:p>
        </p:txBody>
      </p:sp>
      <p:sp>
        <p:nvSpPr>
          <p:cNvPr id="36" name="TextBox 35"/>
          <p:cNvSpPr txBox="1"/>
          <p:nvPr/>
        </p:nvSpPr>
        <p:spPr>
          <a:xfrm>
            <a:off x="3785616" y="3182112"/>
            <a:ext cx="2084831" cy="182880"/>
          </a:xfrm>
          <a:prstGeom prst="rect">
            <a:avLst/>
          </a:prstGeom>
          <a:noFill/>
        </p:spPr>
        <p:txBody>
          <a:bodyPr wrap="square" anchor="t" lIns="0" rIns="0" tIns="0" bIns="0">
            <a:noAutofit/>
          </a:bodyPr>
          <a:lstStyle/>
          <a:p>
            <a:pPr algn="l">
              <a:lnSpc>
                <a:spcPct val="112000"/>
              </a:lnSpc>
              <a:spcAft>
                <a:spcPts val="0"/>
              </a:spcAft>
            </a:pPr>
            <a:r>
              <a:rPr sz="1060" b="1" i="0">
                <a:solidFill>
                  <a:srgbClr val="0F172A"/>
                </a:solidFill>
                <a:latin typeface="Segoe UI"/>
              </a:rPr>
              <a:t>OpenRouter</a:t>
            </a:r>
          </a:p>
        </p:txBody>
      </p:sp>
      <p:sp>
        <p:nvSpPr>
          <p:cNvPr id="37" name="TextBox 36"/>
          <p:cNvSpPr txBox="1"/>
          <p:nvPr/>
        </p:nvSpPr>
        <p:spPr>
          <a:xfrm>
            <a:off x="3785616" y="3355848"/>
            <a:ext cx="2084831"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six-model fallback</a:t>
            </a:r>
          </a:p>
        </p:txBody>
      </p:sp>
      <p:sp>
        <p:nvSpPr>
          <p:cNvPr id="38" name="Oval 37"/>
          <p:cNvSpPr/>
          <p:nvPr/>
        </p:nvSpPr>
        <p:spPr>
          <a:xfrm>
            <a:off x="3621024" y="3685032"/>
            <a:ext cx="91440" cy="91440"/>
          </a:xfrm>
          <a:prstGeom prst="ellipse">
            <a:avLst/>
          </a:prstGeom>
          <a:solidFill>
            <a:srgbClr val="4F5BD5"/>
          </a:solidFill>
          <a:ln>
            <a:noFill/>
          </a:ln>
          <a:effectLst/>
        </p:spPr>
        <p:txBody>
          <a:bodyPr rtlCol="0" anchor="ctr"/>
          <a:lstStyle/>
          <a:p>
            <a:pPr algn="ctr"/>
          </a:p>
        </p:txBody>
      </p:sp>
      <p:sp>
        <p:nvSpPr>
          <p:cNvPr id="39" name="TextBox 38"/>
          <p:cNvSpPr txBox="1"/>
          <p:nvPr/>
        </p:nvSpPr>
        <p:spPr>
          <a:xfrm>
            <a:off x="3785616" y="3621024"/>
            <a:ext cx="2084831" cy="182880"/>
          </a:xfrm>
          <a:prstGeom prst="rect">
            <a:avLst/>
          </a:prstGeom>
          <a:noFill/>
        </p:spPr>
        <p:txBody>
          <a:bodyPr wrap="square" anchor="t" lIns="0" rIns="0" tIns="0" bIns="0">
            <a:noAutofit/>
          </a:bodyPr>
          <a:lstStyle/>
          <a:p>
            <a:pPr algn="l">
              <a:lnSpc>
                <a:spcPct val="112000"/>
              </a:lnSpc>
              <a:spcAft>
                <a:spcPts val="0"/>
              </a:spcAft>
            </a:pPr>
            <a:r>
              <a:rPr sz="1060" b="1" i="0">
                <a:solidFill>
                  <a:srgbClr val="0F172A"/>
                </a:solidFill>
                <a:latin typeface="Segoe UI"/>
              </a:rPr>
              <a:t>Pyodide</a:t>
            </a:r>
          </a:p>
        </p:txBody>
      </p:sp>
      <p:sp>
        <p:nvSpPr>
          <p:cNvPr id="40" name="TextBox 39"/>
          <p:cNvSpPr txBox="1"/>
          <p:nvPr/>
        </p:nvSpPr>
        <p:spPr>
          <a:xfrm>
            <a:off x="3785616" y="3794760"/>
            <a:ext cx="2084831"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Python in the browser</a:t>
            </a:r>
          </a:p>
        </p:txBody>
      </p:sp>
      <p:sp>
        <p:nvSpPr>
          <p:cNvPr id="41" name="Oval 40"/>
          <p:cNvSpPr/>
          <p:nvPr/>
        </p:nvSpPr>
        <p:spPr>
          <a:xfrm>
            <a:off x="3621024" y="4123944"/>
            <a:ext cx="91440" cy="91440"/>
          </a:xfrm>
          <a:prstGeom prst="ellipse">
            <a:avLst/>
          </a:prstGeom>
          <a:solidFill>
            <a:srgbClr val="4F5BD5"/>
          </a:solidFill>
          <a:ln>
            <a:noFill/>
          </a:ln>
          <a:effectLst/>
        </p:spPr>
        <p:txBody>
          <a:bodyPr rtlCol="0" anchor="ctr"/>
          <a:lstStyle/>
          <a:p>
            <a:pPr algn="ctr"/>
          </a:p>
        </p:txBody>
      </p:sp>
      <p:sp>
        <p:nvSpPr>
          <p:cNvPr id="42" name="TextBox 41"/>
          <p:cNvSpPr txBox="1"/>
          <p:nvPr/>
        </p:nvSpPr>
        <p:spPr>
          <a:xfrm>
            <a:off x="3785616" y="4059935"/>
            <a:ext cx="2084831" cy="182880"/>
          </a:xfrm>
          <a:prstGeom prst="rect">
            <a:avLst/>
          </a:prstGeom>
          <a:noFill/>
        </p:spPr>
        <p:txBody>
          <a:bodyPr wrap="square" anchor="t" lIns="0" rIns="0" tIns="0" bIns="0">
            <a:noAutofit/>
          </a:bodyPr>
          <a:lstStyle/>
          <a:p>
            <a:pPr algn="l">
              <a:lnSpc>
                <a:spcPct val="112000"/>
              </a:lnSpc>
              <a:spcAft>
                <a:spcPts val="0"/>
              </a:spcAft>
            </a:pPr>
            <a:r>
              <a:rPr sz="1060" b="1" i="0">
                <a:solidFill>
                  <a:srgbClr val="0F172A"/>
                </a:solidFill>
                <a:latin typeface="Segoe UI"/>
              </a:rPr>
              <a:t>Mermaid + KaTeX</a:t>
            </a:r>
          </a:p>
        </p:txBody>
      </p:sp>
      <p:sp>
        <p:nvSpPr>
          <p:cNvPr id="43" name="TextBox 42"/>
          <p:cNvSpPr txBox="1"/>
          <p:nvPr/>
        </p:nvSpPr>
        <p:spPr>
          <a:xfrm>
            <a:off x="3785616" y="4233672"/>
            <a:ext cx="2084831"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diagrams and maths</a:t>
            </a:r>
          </a:p>
        </p:txBody>
      </p:sp>
      <p:sp>
        <p:nvSpPr>
          <p:cNvPr id="44" name="Oval 43"/>
          <p:cNvSpPr/>
          <p:nvPr/>
        </p:nvSpPr>
        <p:spPr>
          <a:xfrm>
            <a:off x="3621024" y="4562856"/>
            <a:ext cx="91440" cy="91440"/>
          </a:xfrm>
          <a:prstGeom prst="ellipse">
            <a:avLst/>
          </a:prstGeom>
          <a:solidFill>
            <a:srgbClr val="4F5BD5"/>
          </a:solidFill>
          <a:ln>
            <a:noFill/>
          </a:ln>
          <a:effectLst/>
        </p:spPr>
        <p:txBody>
          <a:bodyPr rtlCol="0" anchor="ctr"/>
          <a:lstStyle/>
          <a:p>
            <a:pPr algn="ctr"/>
          </a:p>
        </p:txBody>
      </p:sp>
      <p:sp>
        <p:nvSpPr>
          <p:cNvPr id="45" name="TextBox 44"/>
          <p:cNvSpPr txBox="1"/>
          <p:nvPr/>
        </p:nvSpPr>
        <p:spPr>
          <a:xfrm>
            <a:off x="3785616" y="4498848"/>
            <a:ext cx="2084831" cy="182880"/>
          </a:xfrm>
          <a:prstGeom prst="rect">
            <a:avLst/>
          </a:prstGeom>
          <a:noFill/>
        </p:spPr>
        <p:txBody>
          <a:bodyPr wrap="square" anchor="t" lIns="0" rIns="0" tIns="0" bIns="0">
            <a:noAutofit/>
          </a:bodyPr>
          <a:lstStyle/>
          <a:p>
            <a:pPr algn="l">
              <a:lnSpc>
                <a:spcPct val="112000"/>
              </a:lnSpc>
              <a:spcAft>
                <a:spcPts val="0"/>
              </a:spcAft>
            </a:pPr>
            <a:r>
              <a:rPr sz="1060" b="1" i="0">
                <a:solidFill>
                  <a:srgbClr val="0F172A"/>
                </a:solidFill>
                <a:latin typeface="Segoe UI"/>
              </a:rPr>
              <a:t>Tesseract · pdf.js · Mammoth</a:t>
            </a:r>
          </a:p>
        </p:txBody>
      </p:sp>
      <p:sp>
        <p:nvSpPr>
          <p:cNvPr id="46" name="TextBox 45"/>
          <p:cNvSpPr txBox="1"/>
          <p:nvPr/>
        </p:nvSpPr>
        <p:spPr>
          <a:xfrm>
            <a:off x="3785616" y="4672584"/>
            <a:ext cx="2084831"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PDF, DOCX, OCR</a:t>
            </a:r>
          </a:p>
        </p:txBody>
      </p:sp>
      <p:sp>
        <p:nvSpPr>
          <p:cNvPr id="47" name="Rounded Rectangle 46"/>
          <p:cNvSpPr/>
          <p:nvPr/>
        </p:nvSpPr>
        <p:spPr>
          <a:xfrm>
            <a:off x="6231636" y="1783080"/>
            <a:ext cx="2615184" cy="3310128"/>
          </a:xfrm>
          <a:prstGeom prst="roundRect">
            <a:avLst>
              <a:gd name="adj" fmla="val 5000"/>
            </a:avLst>
          </a:prstGeom>
          <a:solidFill>
            <a:srgbClr val="E8ECF8"/>
          </a:solidFill>
          <a:ln>
            <a:noFill/>
          </a:ln>
          <a:effectLst/>
        </p:spPr>
        <p:txBody>
          <a:bodyPr rtlCol="0" anchor="ctr" wrap="square"/>
          <a:lstStyle/>
          <a:p>
            <a:pPr algn="ctr"/>
          </a:p>
        </p:txBody>
      </p:sp>
      <p:sp>
        <p:nvSpPr>
          <p:cNvPr id="48" name="Rounded Rectangle 47"/>
          <p:cNvSpPr/>
          <p:nvPr/>
        </p:nvSpPr>
        <p:spPr>
          <a:xfrm>
            <a:off x="6199632" y="1737360"/>
            <a:ext cx="2615184" cy="3310128"/>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49" name="Rounded Rectangle 48"/>
          <p:cNvSpPr/>
          <p:nvPr/>
        </p:nvSpPr>
        <p:spPr>
          <a:xfrm>
            <a:off x="6382512" y="1883664"/>
            <a:ext cx="438912" cy="438912"/>
          </a:xfrm>
          <a:prstGeom prst="roundRect">
            <a:avLst>
              <a:gd name="adj" fmla="val 28000"/>
            </a:avLst>
          </a:prstGeom>
          <a:solidFill>
            <a:srgbClr val="E7FBF3"/>
          </a:solidFill>
          <a:ln>
            <a:noFill/>
          </a:ln>
          <a:effectLst/>
        </p:spPr>
        <p:txBody>
          <a:bodyPr rtlCol="0" anchor="ctr" wrap="square"/>
          <a:lstStyle/>
          <a:p>
            <a:pPr algn="ctr"/>
          </a:p>
        </p:txBody>
      </p:sp>
      <p:sp>
        <p:nvSpPr>
          <p:cNvPr id="50" name="TextBox 49"/>
          <p:cNvSpPr txBox="1"/>
          <p:nvPr/>
        </p:nvSpPr>
        <p:spPr>
          <a:xfrm>
            <a:off x="6382512" y="1993391"/>
            <a:ext cx="438912" cy="219456"/>
          </a:xfrm>
          <a:prstGeom prst="rect">
            <a:avLst/>
          </a:prstGeom>
          <a:noFill/>
        </p:spPr>
        <p:txBody>
          <a:bodyPr wrap="square" anchor="t" lIns="0" rIns="0" tIns="0" bIns="0">
            <a:noAutofit/>
          </a:bodyPr>
          <a:lstStyle/>
          <a:p>
            <a:pPr algn="ctr">
              <a:lnSpc>
                <a:spcPct val="112000"/>
              </a:lnSpc>
              <a:spcAft>
                <a:spcPts val="0"/>
              </a:spcAft>
            </a:pPr>
            <a:r>
              <a:rPr sz="900" b="1" i="0">
                <a:solidFill>
                  <a:srgbClr val="10B981"/>
                </a:solidFill>
                <a:latin typeface="Segoe UI"/>
              </a:rPr>
              <a:t>DB</a:t>
            </a:r>
          </a:p>
        </p:txBody>
      </p:sp>
      <p:sp>
        <p:nvSpPr>
          <p:cNvPr id="51" name="TextBox 50"/>
          <p:cNvSpPr txBox="1"/>
          <p:nvPr/>
        </p:nvSpPr>
        <p:spPr>
          <a:xfrm>
            <a:off x="6382512" y="2432304"/>
            <a:ext cx="2194560" cy="237744"/>
          </a:xfrm>
          <a:prstGeom prst="rect">
            <a:avLst/>
          </a:prstGeom>
          <a:noFill/>
        </p:spPr>
        <p:txBody>
          <a:bodyPr wrap="square" anchor="t" lIns="0" rIns="0" tIns="0" bIns="0">
            <a:noAutofit/>
          </a:bodyPr>
          <a:lstStyle/>
          <a:p>
            <a:pPr algn="l">
              <a:lnSpc>
                <a:spcPct val="112000"/>
              </a:lnSpc>
              <a:spcAft>
                <a:spcPts val="0"/>
              </a:spcAft>
            </a:pPr>
            <a:r>
              <a:rPr sz="1460" b="1" i="0">
                <a:solidFill>
                  <a:srgbClr val="0F172A"/>
                </a:solidFill>
                <a:latin typeface="Segoe UI"/>
              </a:rPr>
              <a:t>Data</a:t>
            </a:r>
          </a:p>
        </p:txBody>
      </p:sp>
      <p:sp>
        <p:nvSpPr>
          <p:cNvPr id="52" name="TextBox 51"/>
          <p:cNvSpPr txBox="1"/>
          <p:nvPr/>
        </p:nvSpPr>
        <p:spPr>
          <a:xfrm>
            <a:off x="6382512" y="2688336"/>
            <a:ext cx="2249424" cy="384048"/>
          </a:xfrm>
          <a:prstGeom prst="rect">
            <a:avLst/>
          </a:prstGeom>
          <a:noFill/>
        </p:spPr>
        <p:txBody>
          <a:bodyPr wrap="square" anchor="t" lIns="0" rIns="0" tIns="0" bIns="0">
            <a:noAutofit/>
          </a:bodyPr>
          <a:lstStyle/>
          <a:p>
            <a:pPr algn="l">
              <a:lnSpc>
                <a:spcPct val="115000"/>
              </a:lnSpc>
              <a:spcAft>
                <a:spcPts val="0"/>
              </a:spcAft>
            </a:pPr>
            <a:r>
              <a:rPr sz="880" b="0" i="0">
                <a:solidFill>
                  <a:srgbClr val="7C8AA3"/>
                </a:solidFill>
                <a:latin typeface="Segoe UI"/>
              </a:rPr>
              <a:t>Where the study record actually lives.</a:t>
            </a:r>
          </a:p>
        </p:txBody>
      </p:sp>
      <p:sp>
        <p:nvSpPr>
          <p:cNvPr id="53" name="Oval 52"/>
          <p:cNvSpPr/>
          <p:nvPr/>
        </p:nvSpPr>
        <p:spPr>
          <a:xfrm>
            <a:off x="6400800" y="3246120"/>
            <a:ext cx="91440" cy="91440"/>
          </a:xfrm>
          <a:prstGeom prst="ellipse">
            <a:avLst/>
          </a:prstGeom>
          <a:solidFill>
            <a:srgbClr val="10B981"/>
          </a:solidFill>
          <a:ln>
            <a:noFill/>
          </a:ln>
          <a:effectLst/>
        </p:spPr>
        <p:txBody>
          <a:bodyPr rtlCol="0" anchor="ctr"/>
          <a:lstStyle/>
          <a:p>
            <a:pPr algn="ctr"/>
          </a:p>
        </p:txBody>
      </p:sp>
      <p:sp>
        <p:nvSpPr>
          <p:cNvPr id="54" name="TextBox 53"/>
          <p:cNvSpPr txBox="1"/>
          <p:nvPr/>
        </p:nvSpPr>
        <p:spPr>
          <a:xfrm>
            <a:off x="6565392" y="3182112"/>
            <a:ext cx="2084831" cy="182880"/>
          </a:xfrm>
          <a:prstGeom prst="rect">
            <a:avLst/>
          </a:prstGeom>
          <a:noFill/>
        </p:spPr>
        <p:txBody>
          <a:bodyPr wrap="square" anchor="t" lIns="0" rIns="0" tIns="0" bIns="0">
            <a:noAutofit/>
          </a:bodyPr>
          <a:lstStyle/>
          <a:p>
            <a:pPr algn="l">
              <a:lnSpc>
                <a:spcPct val="112000"/>
              </a:lnSpc>
              <a:spcAft>
                <a:spcPts val="0"/>
              </a:spcAft>
            </a:pPr>
            <a:r>
              <a:rPr sz="1060" b="1" i="0">
                <a:solidFill>
                  <a:srgbClr val="0F172A"/>
                </a:solidFill>
                <a:latin typeface="Segoe UI"/>
              </a:rPr>
              <a:t>Dexie.js</a:t>
            </a:r>
          </a:p>
        </p:txBody>
      </p:sp>
      <p:sp>
        <p:nvSpPr>
          <p:cNvPr id="55" name="TextBox 54"/>
          <p:cNvSpPr txBox="1"/>
          <p:nvPr/>
        </p:nvSpPr>
        <p:spPr>
          <a:xfrm>
            <a:off x="6565392" y="3355848"/>
            <a:ext cx="2084831"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IndexedDB wrapper</a:t>
            </a:r>
          </a:p>
        </p:txBody>
      </p:sp>
      <p:sp>
        <p:nvSpPr>
          <p:cNvPr id="56" name="Oval 55"/>
          <p:cNvSpPr/>
          <p:nvPr/>
        </p:nvSpPr>
        <p:spPr>
          <a:xfrm>
            <a:off x="6400800" y="3685032"/>
            <a:ext cx="91440" cy="91440"/>
          </a:xfrm>
          <a:prstGeom prst="ellipse">
            <a:avLst/>
          </a:prstGeom>
          <a:solidFill>
            <a:srgbClr val="10B981"/>
          </a:solidFill>
          <a:ln>
            <a:noFill/>
          </a:ln>
          <a:effectLst/>
        </p:spPr>
        <p:txBody>
          <a:bodyPr rtlCol="0" anchor="ctr"/>
          <a:lstStyle/>
          <a:p>
            <a:pPr algn="ctr"/>
          </a:p>
        </p:txBody>
      </p:sp>
      <p:sp>
        <p:nvSpPr>
          <p:cNvPr id="57" name="TextBox 56"/>
          <p:cNvSpPr txBox="1"/>
          <p:nvPr/>
        </p:nvSpPr>
        <p:spPr>
          <a:xfrm>
            <a:off x="6565392" y="3621024"/>
            <a:ext cx="2084831" cy="182880"/>
          </a:xfrm>
          <a:prstGeom prst="rect">
            <a:avLst/>
          </a:prstGeom>
          <a:noFill/>
        </p:spPr>
        <p:txBody>
          <a:bodyPr wrap="square" anchor="t" lIns="0" rIns="0" tIns="0" bIns="0">
            <a:noAutofit/>
          </a:bodyPr>
          <a:lstStyle/>
          <a:p>
            <a:pPr algn="l">
              <a:lnSpc>
                <a:spcPct val="112000"/>
              </a:lnSpc>
              <a:spcAft>
                <a:spcPts val="0"/>
              </a:spcAft>
            </a:pPr>
            <a:r>
              <a:rPr sz="1060" b="1" i="0">
                <a:solidFill>
                  <a:srgbClr val="0F172A"/>
                </a:solidFill>
                <a:latin typeface="Segoe UI"/>
              </a:rPr>
              <a:t>40 tables</a:t>
            </a:r>
          </a:p>
        </p:txBody>
      </p:sp>
      <p:sp>
        <p:nvSpPr>
          <p:cNvPr id="58" name="TextBox 57"/>
          <p:cNvSpPr txBox="1"/>
          <p:nvPr/>
        </p:nvSpPr>
        <p:spPr>
          <a:xfrm>
            <a:off x="6565392" y="3794760"/>
            <a:ext cx="2084831"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curriculum to progress</a:t>
            </a:r>
          </a:p>
        </p:txBody>
      </p:sp>
      <p:sp>
        <p:nvSpPr>
          <p:cNvPr id="59" name="Oval 58"/>
          <p:cNvSpPr/>
          <p:nvPr/>
        </p:nvSpPr>
        <p:spPr>
          <a:xfrm>
            <a:off x="6400800" y="4123944"/>
            <a:ext cx="91440" cy="91440"/>
          </a:xfrm>
          <a:prstGeom prst="ellipse">
            <a:avLst/>
          </a:prstGeom>
          <a:solidFill>
            <a:srgbClr val="10B981"/>
          </a:solidFill>
          <a:ln>
            <a:noFill/>
          </a:ln>
          <a:effectLst/>
        </p:spPr>
        <p:txBody>
          <a:bodyPr rtlCol="0" anchor="ctr"/>
          <a:lstStyle/>
          <a:p>
            <a:pPr algn="ctr"/>
          </a:p>
        </p:txBody>
      </p:sp>
      <p:sp>
        <p:nvSpPr>
          <p:cNvPr id="60" name="TextBox 59"/>
          <p:cNvSpPr txBox="1"/>
          <p:nvPr/>
        </p:nvSpPr>
        <p:spPr>
          <a:xfrm>
            <a:off x="6565392" y="4059935"/>
            <a:ext cx="2084831" cy="182880"/>
          </a:xfrm>
          <a:prstGeom prst="rect">
            <a:avLst/>
          </a:prstGeom>
          <a:noFill/>
        </p:spPr>
        <p:txBody>
          <a:bodyPr wrap="square" anchor="t" lIns="0" rIns="0" tIns="0" bIns="0">
            <a:noAutofit/>
          </a:bodyPr>
          <a:lstStyle/>
          <a:p>
            <a:pPr algn="l">
              <a:lnSpc>
                <a:spcPct val="112000"/>
              </a:lnSpc>
              <a:spcAft>
                <a:spcPts val="0"/>
              </a:spcAft>
            </a:pPr>
            <a:r>
              <a:rPr sz="1060" b="1" i="0">
                <a:solidFill>
                  <a:srgbClr val="0F172A"/>
                </a:solidFill>
                <a:latin typeface="Segoe UI"/>
              </a:rPr>
              <a:t>Firebase Auth</a:t>
            </a:r>
          </a:p>
        </p:txBody>
      </p:sp>
      <p:sp>
        <p:nvSpPr>
          <p:cNvPr id="61" name="TextBox 60"/>
          <p:cNvSpPr txBox="1"/>
          <p:nvPr/>
        </p:nvSpPr>
        <p:spPr>
          <a:xfrm>
            <a:off x="6565392" y="4233672"/>
            <a:ext cx="2084831"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optional identity</a:t>
            </a:r>
          </a:p>
        </p:txBody>
      </p:sp>
      <p:sp>
        <p:nvSpPr>
          <p:cNvPr id="62" name="Oval 61"/>
          <p:cNvSpPr/>
          <p:nvPr/>
        </p:nvSpPr>
        <p:spPr>
          <a:xfrm>
            <a:off x="6400800" y="4562856"/>
            <a:ext cx="91440" cy="91440"/>
          </a:xfrm>
          <a:prstGeom prst="ellipse">
            <a:avLst/>
          </a:prstGeom>
          <a:solidFill>
            <a:srgbClr val="10B981"/>
          </a:solidFill>
          <a:ln>
            <a:noFill/>
          </a:ln>
          <a:effectLst/>
        </p:spPr>
        <p:txBody>
          <a:bodyPr rtlCol="0" anchor="ctr"/>
          <a:lstStyle/>
          <a:p>
            <a:pPr algn="ctr"/>
          </a:p>
        </p:txBody>
      </p:sp>
      <p:sp>
        <p:nvSpPr>
          <p:cNvPr id="63" name="TextBox 62"/>
          <p:cNvSpPr txBox="1"/>
          <p:nvPr/>
        </p:nvSpPr>
        <p:spPr>
          <a:xfrm>
            <a:off x="6565392" y="4498848"/>
            <a:ext cx="2084831" cy="182880"/>
          </a:xfrm>
          <a:prstGeom prst="rect">
            <a:avLst/>
          </a:prstGeom>
          <a:noFill/>
        </p:spPr>
        <p:txBody>
          <a:bodyPr wrap="square" anchor="t" lIns="0" rIns="0" tIns="0" bIns="0">
            <a:noAutofit/>
          </a:bodyPr>
          <a:lstStyle/>
          <a:p>
            <a:pPr algn="l">
              <a:lnSpc>
                <a:spcPct val="112000"/>
              </a:lnSpc>
              <a:spcAft>
                <a:spcPts val="0"/>
              </a:spcAft>
            </a:pPr>
            <a:r>
              <a:rPr sz="1060" b="1" i="0">
                <a:solidFill>
                  <a:srgbClr val="0F172A"/>
                </a:solidFill>
                <a:latin typeface="Segoe UI"/>
              </a:rPr>
              <a:t>Offline</a:t>
            </a:r>
          </a:p>
        </p:txBody>
      </p:sp>
      <p:sp>
        <p:nvSpPr>
          <p:cNvPr id="64" name="TextBox 63"/>
          <p:cNvSpPr txBox="1"/>
          <p:nvPr/>
        </p:nvSpPr>
        <p:spPr>
          <a:xfrm>
            <a:off x="6565392" y="4672584"/>
            <a:ext cx="2084831"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the core loop works</a:t>
            </a:r>
          </a:p>
        </p:txBody>
      </p:sp>
      <p:sp>
        <p:nvSpPr>
          <p:cNvPr id="65" name="Rounded Rectangle 64"/>
          <p:cNvSpPr/>
          <p:nvPr/>
        </p:nvSpPr>
        <p:spPr>
          <a:xfrm>
            <a:off x="9011412" y="1783080"/>
            <a:ext cx="2615184" cy="3310128"/>
          </a:xfrm>
          <a:prstGeom prst="roundRect">
            <a:avLst>
              <a:gd name="adj" fmla="val 5000"/>
            </a:avLst>
          </a:prstGeom>
          <a:solidFill>
            <a:srgbClr val="E8ECF8"/>
          </a:solidFill>
          <a:ln>
            <a:noFill/>
          </a:ln>
          <a:effectLst/>
        </p:spPr>
        <p:txBody>
          <a:bodyPr rtlCol="0" anchor="ctr" wrap="square"/>
          <a:lstStyle/>
          <a:p>
            <a:pPr algn="ctr"/>
          </a:p>
        </p:txBody>
      </p:sp>
      <p:sp>
        <p:nvSpPr>
          <p:cNvPr id="66" name="Rounded Rectangle 65"/>
          <p:cNvSpPr/>
          <p:nvPr/>
        </p:nvSpPr>
        <p:spPr>
          <a:xfrm>
            <a:off x="8979408" y="1737360"/>
            <a:ext cx="2615184" cy="3310128"/>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67" name="Rounded Rectangle 66"/>
          <p:cNvSpPr/>
          <p:nvPr/>
        </p:nvSpPr>
        <p:spPr>
          <a:xfrm>
            <a:off x="9162288" y="1883664"/>
            <a:ext cx="438912" cy="438912"/>
          </a:xfrm>
          <a:prstGeom prst="roundRect">
            <a:avLst>
              <a:gd name="adj" fmla="val 28000"/>
            </a:avLst>
          </a:prstGeom>
          <a:solidFill>
            <a:srgbClr val="FFF7E6"/>
          </a:solidFill>
          <a:ln>
            <a:noFill/>
          </a:ln>
          <a:effectLst/>
        </p:spPr>
        <p:txBody>
          <a:bodyPr rtlCol="0" anchor="ctr" wrap="square"/>
          <a:lstStyle/>
          <a:p>
            <a:pPr algn="ctr"/>
          </a:p>
        </p:txBody>
      </p:sp>
      <p:sp>
        <p:nvSpPr>
          <p:cNvPr id="68" name="TextBox 67"/>
          <p:cNvSpPr txBox="1"/>
          <p:nvPr/>
        </p:nvSpPr>
        <p:spPr>
          <a:xfrm>
            <a:off x="9162288" y="1993391"/>
            <a:ext cx="438912" cy="219456"/>
          </a:xfrm>
          <a:prstGeom prst="rect">
            <a:avLst/>
          </a:prstGeom>
          <a:noFill/>
        </p:spPr>
        <p:txBody>
          <a:bodyPr wrap="square" anchor="t" lIns="0" rIns="0" tIns="0" bIns="0">
            <a:noAutofit/>
          </a:bodyPr>
          <a:lstStyle/>
          <a:p>
            <a:pPr algn="ctr">
              <a:lnSpc>
                <a:spcPct val="112000"/>
              </a:lnSpc>
              <a:spcAft>
                <a:spcPts val="0"/>
              </a:spcAft>
            </a:pPr>
            <a:r>
              <a:rPr sz="900" b="1" i="0">
                <a:solidFill>
                  <a:srgbClr val="F59E0B"/>
                </a:solidFill>
                <a:latin typeface="Segoe UI"/>
              </a:rPr>
              <a:t>QA</a:t>
            </a:r>
          </a:p>
        </p:txBody>
      </p:sp>
      <p:sp>
        <p:nvSpPr>
          <p:cNvPr id="69" name="TextBox 68"/>
          <p:cNvSpPr txBox="1"/>
          <p:nvPr/>
        </p:nvSpPr>
        <p:spPr>
          <a:xfrm>
            <a:off x="9162288" y="2432304"/>
            <a:ext cx="2194560" cy="237744"/>
          </a:xfrm>
          <a:prstGeom prst="rect">
            <a:avLst/>
          </a:prstGeom>
          <a:noFill/>
        </p:spPr>
        <p:txBody>
          <a:bodyPr wrap="square" anchor="t" lIns="0" rIns="0" tIns="0" bIns="0">
            <a:noAutofit/>
          </a:bodyPr>
          <a:lstStyle/>
          <a:p>
            <a:pPr algn="l">
              <a:lnSpc>
                <a:spcPct val="112000"/>
              </a:lnSpc>
              <a:spcAft>
                <a:spcPts val="0"/>
              </a:spcAft>
            </a:pPr>
            <a:r>
              <a:rPr sz="1460" b="1" i="0">
                <a:solidFill>
                  <a:srgbClr val="0F172A"/>
                </a:solidFill>
                <a:latin typeface="Segoe UI"/>
              </a:rPr>
              <a:t>Quality</a:t>
            </a:r>
          </a:p>
        </p:txBody>
      </p:sp>
      <p:sp>
        <p:nvSpPr>
          <p:cNvPr id="70" name="TextBox 69"/>
          <p:cNvSpPr txBox="1"/>
          <p:nvPr/>
        </p:nvSpPr>
        <p:spPr>
          <a:xfrm>
            <a:off x="9162288" y="2688336"/>
            <a:ext cx="2249424" cy="384048"/>
          </a:xfrm>
          <a:prstGeom prst="rect">
            <a:avLst/>
          </a:prstGeom>
          <a:noFill/>
        </p:spPr>
        <p:txBody>
          <a:bodyPr wrap="square" anchor="t" lIns="0" rIns="0" tIns="0" bIns="0">
            <a:noAutofit/>
          </a:bodyPr>
          <a:lstStyle/>
          <a:p>
            <a:pPr algn="l">
              <a:lnSpc>
                <a:spcPct val="115000"/>
              </a:lnSpc>
              <a:spcAft>
                <a:spcPts val="0"/>
              </a:spcAft>
            </a:pPr>
            <a:r>
              <a:rPr sz="880" b="0" i="0">
                <a:solidFill>
                  <a:srgbClr val="7C8AA3"/>
                </a:solidFill>
                <a:latin typeface="Segoe UI"/>
              </a:rPr>
              <a:t>How the build is checked and shown.</a:t>
            </a:r>
          </a:p>
        </p:txBody>
      </p:sp>
      <p:sp>
        <p:nvSpPr>
          <p:cNvPr id="71" name="Oval 70"/>
          <p:cNvSpPr/>
          <p:nvPr/>
        </p:nvSpPr>
        <p:spPr>
          <a:xfrm>
            <a:off x="9180576" y="3246120"/>
            <a:ext cx="91440" cy="91440"/>
          </a:xfrm>
          <a:prstGeom prst="ellipse">
            <a:avLst/>
          </a:prstGeom>
          <a:solidFill>
            <a:srgbClr val="F59E0B"/>
          </a:solidFill>
          <a:ln>
            <a:noFill/>
          </a:ln>
          <a:effectLst/>
        </p:spPr>
        <p:txBody>
          <a:bodyPr rtlCol="0" anchor="ctr"/>
          <a:lstStyle/>
          <a:p>
            <a:pPr algn="ctr"/>
          </a:p>
        </p:txBody>
      </p:sp>
      <p:sp>
        <p:nvSpPr>
          <p:cNvPr id="72" name="TextBox 71"/>
          <p:cNvSpPr txBox="1"/>
          <p:nvPr/>
        </p:nvSpPr>
        <p:spPr>
          <a:xfrm>
            <a:off x="9345168" y="3182112"/>
            <a:ext cx="2084831" cy="182880"/>
          </a:xfrm>
          <a:prstGeom prst="rect">
            <a:avLst/>
          </a:prstGeom>
          <a:noFill/>
        </p:spPr>
        <p:txBody>
          <a:bodyPr wrap="square" anchor="t" lIns="0" rIns="0" tIns="0" bIns="0">
            <a:noAutofit/>
          </a:bodyPr>
          <a:lstStyle/>
          <a:p>
            <a:pPr algn="l">
              <a:lnSpc>
                <a:spcPct val="112000"/>
              </a:lnSpc>
              <a:spcAft>
                <a:spcPts val="0"/>
              </a:spcAft>
            </a:pPr>
            <a:r>
              <a:rPr sz="1060" b="1" i="0">
                <a:solidFill>
                  <a:srgbClr val="0F172A"/>
                </a:solidFill>
                <a:latin typeface="Segoe UI"/>
              </a:rPr>
              <a:t>Vitest</a:t>
            </a:r>
          </a:p>
        </p:txBody>
      </p:sp>
      <p:sp>
        <p:nvSpPr>
          <p:cNvPr id="73" name="TextBox 72"/>
          <p:cNvSpPr txBox="1"/>
          <p:nvPr/>
        </p:nvSpPr>
        <p:spPr>
          <a:xfrm>
            <a:off x="9345168" y="3355848"/>
            <a:ext cx="2084831"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47 tests in 14 files</a:t>
            </a:r>
          </a:p>
        </p:txBody>
      </p:sp>
      <p:sp>
        <p:nvSpPr>
          <p:cNvPr id="74" name="Oval 73"/>
          <p:cNvSpPr/>
          <p:nvPr/>
        </p:nvSpPr>
        <p:spPr>
          <a:xfrm>
            <a:off x="9180576" y="3685032"/>
            <a:ext cx="91440" cy="91440"/>
          </a:xfrm>
          <a:prstGeom prst="ellipse">
            <a:avLst/>
          </a:prstGeom>
          <a:solidFill>
            <a:srgbClr val="F59E0B"/>
          </a:solidFill>
          <a:ln>
            <a:noFill/>
          </a:ln>
          <a:effectLst/>
        </p:spPr>
        <p:txBody>
          <a:bodyPr rtlCol="0" anchor="ctr"/>
          <a:lstStyle/>
          <a:p>
            <a:pPr algn="ctr"/>
          </a:p>
        </p:txBody>
      </p:sp>
      <p:sp>
        <p:nvSpPr>
          <p:cNvPr id="75" name="TextBox 74"/>
          <p:cNvSpPr txBox="1"/>
          <p:nvPr/>
        </p:nvSpPr>
        <p:spPr>
          <a:xfrm>
            <a:off x="9345168" y="3621024"/>
            <a:ext cx="2084831" cy="182880"/>
          </a:xfrm>
          <a:prstGeom prst="rect">
            <a:avLst/>
          </a:prstGeom>
          <a:noFill/>
        </p:spPr>
        <p:txBody>
          <a:bodyPr wrap="square" anchor="t" lIns="0" rIns="0" tIns="0" bIns="0">
            <a:noAutofit/>
          </a:bodyPr>
          <a:lstStyle/>
          <a:p>
            <a:pPr algn="l">
              <a:lnSpc>
                <a:spcPct val="112000"/>
              </a:lnSpc>
              <a:spcAft>
                <a:spcPts val="0"/>
              </a:spcAft>
            </a:pPr>
            <a:r>
              <a:rPr sz="1060" b="1" i="0">
                <a:solidFill>
                  <a:srgbClr val="0F172A"/>
                </a:solidFill>
                <a:latin typeface="Segoe UI"/>
              </a:rPr>
              <a:t>Vite build</a:t>
            </a:r>
          </a:p>
        </p:txBody>
      </p:sp>
      <p:sp>
        <p:nvSpPr>
          <p:cNvPr id="76" name="TextBox 75"/>
          <p:cNvSpPr txBox="1"/>
          <p:nvPr/>
        </p:nvSpPr>
        <p:spPr>
          <a:xfrm>
            <a:off x="9345168" y="3794760"/>
            <a:ext cx="2084831"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production bundle</a:t>
            </a:r>
          </a:p>
        </p:txBody>
      </p:sp>
      <p:sp>
        <p:nvSpPr>
          <p:cNvPr id="77" name="Oval 76"/>
          <p:cNvSpPr/>
          <p:nvPr/>
        </p:nvSpPr>
        <p:spPr>
          <a:xfrm>
            <a:off x="9180576" y="4123944"/>
            <a:ext cx="91440" cy="91440"/>
          </a:xfrm>
          <a:prstGeom prst="ellipse">
            <a:avLst/>
          </a:prstGeom>
          <a:solidFill>
            <a:srgbClr val="F59E0B"/>
          </a:solidFill>
          <a:ln>
            <a:noFill/>
          </a:ln>
          <a:effectLst/>
        </p:spPr>
        <p:txBody>
          <a:bodyPr rtlCol="0" anchor="ctr"/>
          <a:lstStyle/>
          <a:p>
            <a:pPr algn="ctr"/>
          </a:p>
        </p:txBody>
      </p:sp>
      <p:sp>
        <p:nvSpPr>
          <p:cNvPr id="78" name="TextBox 77"/>
          <p:cNvSpPr txBox="1"/>
          <p:nvPr/>
        </p:nvSpPr>
        <p:spPr>
          <a:xfrm>
            <a:off x="9345168" y="4059935"/>
            <a:ext cx="2084831" cy="182880"/>
          </a:xfrm>
          <a:prstGeom prst="rect">
            <a:avLst/>
          </a:prstGeom>
          <a:noFill/>
        </p:spPr>
        <p:txBody>
          <a:bodyPr wrap="square" anchor="t" lIns="0" rIns="0" tIns="0" bIns="0">
            <a:noAutofit/>
          </a:bodyPr>
          <a:lstStyle/>
          <a:p>
            <a:pPr algn="l">
              <a:lnSpc>
                <a:spcPct val="112000"/>
              </a:lnSpc>
              <a:spcAft>
                <a:spcPts val="0"/>
              </a:spcAft>
            </a:pPr>
            <a:r>
              <a:rPr sz="1060" b="1" i="0">
                <a:solidFill>
                  <a:srgbClr val="0F172A"/>
                </a:solidFill>
                <a:latin typeface="Segoe UI"/>
              </a:rPr>
              <a:t>Puppeteer</a:t>
            </a:r>
          </a:p>
        </p:txBody>
      </p:sp>
      <p:sp>
        <p:nvSpPr>
          <p:cNvPr id="79" name="TextBox 78"/>
          <p:cNvSpPr txBox="1"/>
          <p:nvPr/>
        </p:nvSpPr>
        <p:spPr>
          <a:xfrm>
            <a:off x="9345168" y="4233672"/>
            <a:ext cx="2084831"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19 interface captures</a:t>
            </a:r>
          </a:p>
        </p:txBody>
      </p:sp>
      <p:sp>
        <p:nvSpPr>
          <p:cNvPr id="80" name="Oval 79"/>
          <p:cNvSpPr/>
          <p:nvPr/>
        </p:nvSpPr>
        <p:spPr>
          <a:xfrm>
            <a:off x="9180576" y="4562856"/>
            <a:ext cx="91440" cy="91440"/>
          </a:xfrm>
          <a:prstGeom prst="ellipse">
            <a:avLst/>
          </a:prstGeom>
          <a:solidFill>
            <a:srgbClr val="F59E0B"/>
          </a:solidFill>
          <a:ln>
            <a:noFill/>
          </a:ln>
          <a:effectLst/>
        </p:spPr>
        <p:txBody>
          <a:bodyPr rtlCol="0" anchor="ctr"/>
          <a:lstStyle/>
          <a:p>
            <a:pPr algn="ctr"/>
          </a:p>
        </p:txBody>
      </p:sp>
      <p:sp>
        <p:nvSpPr>
          <p:cNvPr id="81" name="TextBox 80"/>
          <p:cNvSpPr txBox="1"/>
          <p:nvPr/>
        </p:nvSpPr>
        <p:spPr>
          <a:xfrm>
            <a:off x="9345168" y="4498848"/>
            <a:ext cx="2084831" cy="182880"/>
          </a:xfrm>
          <a:prstGeom prst="rect">
            <a:avLst/>
          </a:prstGeom>
          <a:noFill/>
        </p:spPr>
        <p:txBody>
          <a:bodyPr wrap="square" anchor="t" lIns="0" rIns="0" tIns="0" bIns="0">
            <a:noAutofit/>
          </a:bodyPr>
          <a:lstStyle/>
          <a:p>
            <a:pPr algn="l">
              <a:lnSpc>
                <a:spcPct val="112000"/>
              </a:lnSpc>
              <a:spcAft>
                <a:spcPts val="0"/>
              </a:spcAft>
            </a:pPr>
            <a:r>
              <a:rPr sz="1060" b="1" i="0">
                <a:solidFill>
                  <a:srgbClr val="0F172A"/>
                </a:solidFill>
                <a:latin typeface="Segoe UI"/>
              </a:rPr>
              <a:t>Vercel</a:t>
            </a:r>
          </a:p>
        </p:txBody>
      </p:sp>
      <p:sp>
        <p:nvSpPr>
          <p:cNvPr id="82" name="TextBox 81"/>
          <p:cNvSpPr txBox="1"/>
          <p:nvPr/>
        </p:nvSpPr>
        <p:spPr>
          <a:xfrm>
            <a:off x="9345168" y="4672584"/>
            <a:ext cx="2084831"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live demo</a:t>
            </a:r>
          </a:p>
        </p:txBody>
      </p:sp>
      <p:sp>
        <p:nvSpPr>
          <p:cNvPr id="83" name="Rounded Rectangle 82"/>
          <p:cNvSpPr/>
          <p:nvPr/>
        </p:nvSpPr>
        <p:spPr>
          <a:xfrm>
            <a:off x="672084" y="5276088"/>
            <a:ext cx="6492240" cy="1024128"/>
          </a:xfrm>
          <a:prstGeom prst="roundRect">
            <a:avLst>
              <a:gd name="adj" fmla="val 5000"/>
            </a:avLst>
          </a:prstGeom>
          <a:solidFill>
            <a:srgbClr val="E8ECF8"/>
          </a:solidFill>
          <a:ln>
            <a:noFill/>
          </a:ln>
          <a:effectLst/>
        </p:spPr>
        <p:txBody>
          <a:bodyPr rtlCol="0" anchor="ctr" wrap="square"/>
          <a:lstStyle/>
          <a:p>
            <a:pPr algn="ctr"/>
          </a:p>
        </p:txBody>
      </p:sp>
      <p:sp>
        <p:nvSpPr>
          <p:cNvPr id="84" name="Rounded Rectangle 83"/>
          <p:cNvSpPr/>
          <p:nvPr/>
        </p:nvSpPr>
        <p:spPr>
          <a:xfrm>
            <a:off x="640080" y="5230368"/>
            <a:ext cx="6492240" cy="1024128"/>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85" name="TextBox 84"/>
          <p:cNvSpPr txBox="1"/>
          <p:nvPr/>
        </p:nvSpPr>
        <p:spPr>
          <a:xfrm>
            <a:off x="841248" y="5340096"/>
            <a:ext cx="2194560" cy="182880"/>
          </a:xfrm>
          <a:prstGeom prst="rect">
            <a:avLst/>
          </a:prstGeom>
          <a:noFill/>
        </p:spPr>
        <p:txBody>
          <a:bodyPr wrap="square" anchor="t" lIns="0" rIns="0" tIns="0" bIns="0">
            <a:noAutofit/>
          </a:bodyPr>
          <a:lstStyle/>
          <a:p>
            <a:pPr algn="l">
              <a:lnSpc>
                <a:spcPct val="112000"/>
              </a:lnSpc>
              <a:spcAft>
                <a:spcPts val="0"/>
              </a:spcAft>
            </a:pPr>
            <a:r>
              <a:rPr sz="819" b="1" i="0">
                <a:solidFill>
                  <a:srgbClr val="047857"/>
                </a:solidFill>
                <a:latin typeface="Segoe UI"/>
              </a:rPr>
              <a:t>RUNS ON</a:t>
            </a:r>
          </a:p>
        </p:txBody>
      </p:sp>
      <p:sp>
        <p:nvSpPr>
          <p:cNvPr id="86" name="TextBox 85"/>
          <p:cNvSpPr txBox="1"/>
          <p:nvPr/>
        </p:nvSpPr>
        <p:spPr>
          <a:xfrm>
            <a:off x="841248" y="5522976"/>
            <a:ext cx="6035040" cy="256032"/>
          </a:xfrm>
          <a:prstGeom prst="rect">
            <a:avLst/>
          </a:prstGeom>
          <a:noFill/>
        </p:spPr>
        <p:txBody>
          <a:bodyPr wrap="square" anchor="t" lIns="0" rIns="0" tIns="0" bIns="0">
            <a:noAutofit/>
          </a:bodyPr>
          <a:lstStyle/>
          <a:p>
            <a:pPr algn="l">
              <a:lnSpc>
                <a:spcPct val="112000"/>
              </a:lnSpc>
              <a:spcAft>
                <a:spcPts val="0"/>
              </a:spcAft>
            </a:pPr>
            <a:r>
              <a:rPr sz="1650" b="1" i="0">
                <a:solidFill>
                  <a:srgbClr val="0F172A"/>
                </a:solidFill>
                <a:latin typeface="Segoe UI"/>
              </a:rPr>
              <a:t>Any modern browser.</a:t>
            </a:r>
          </a:p>
        </p:txBody>
      </p:sp>
      <p:sp>
        <p:nvSpPr>
          <p:cNvPr id="87" name="TextBox 86"/>
          <p:cNvSpPr txBox="1"/>
          <p:nvPr/>
        </p:nvSpPr>
        <p:spPr>
          <a:xfrm>
            <a:off x="841248" y="5815584"/>
            <a:ext cx="5989320" cy="219456"/>
          </a:xfrm>
          <a:prstGeom prst="rect">
            <a:avLst/>
          </a:prstGeom>
          <a:noFill/>
        </p:spPr>
        <p:txBody>
          <a:bodyPr wrap="square" anchor="t" lIns="0" rIns="0" tIns="0" bIns="0">
            <a:noAutofit/>
          </a:bodyPr>
          <a:lstStyle/>
          <a:p>
            <a:pPr algn="l">
              <a:lnSpc>
                <a:spcPct val="112000"/>
              </a:lnSpc>
              <a:spcAft>
                <a:spcPts val="0"/>
              </a:spcAft>
            </a:pPr>
            <a:r>
              <a:rPr sz="919" b="0" i="0">
                <a:solidFill>
                  <a:srgbClr val="7C8AA3"/>
                </a:solidFill>
                <a:latin typeface="Segoe UI"/>
              </a:rPr>
              <a:t>No GPU  ·  no server  ·  no model hosting  ·  no paid tier</a:t>
            </a:r>
          </a:p>
        </p:txBody>
      </p:sp>
      <p:sp>
        <p:nvSpPr>
          <p:cNvPr id="88" name="Rounded Rectangle 87"/>
          <p:cNvSpPr/>
          <p:nvPr/>
        </p:nvSpPr>
        <p:spPr>
          <a:xfrm>
            <a:off x="7301484" y="5276088"/>
            <a:ext cx="4279392" cy="1024128"/>
          </a:xfrm>
          <a:prstGeom prst="roundRect">
            <a:avLst>
              <a:gd name="adj" fmla="val 5000"/>
            </a:avLst>
          </a:prstGeom>
          <a:solidFill>
            <a:srgbClr val="E8ECF8"/>
          </a:solidFill>
          <a:ln>
            <a:noFill/>
          </a:ln>
          <a:effectLst/>
        </p:spPr>
        <p:txBody>
          <a:bodyPr rtlCol="0" anchor="ctr" wrap="square"/>
          <a:lstStyle/>
          <a:p>
            <a:pPr algn="ctr"/>
          </a:p>
        </p:txBody>
      </p:sp>
      <p:sp>
        <p:nvSpPr>
          <p:cNvPr id="89" name="Rounded Rectangle 88"/>
          <p:cNvSpPr/>
          <p:nvPr/>
        </p:nvSpPr>
        <p:spPr>
          <a:xfrm>
            <a:off x="7269480" y="5230368"/>
            <a:ext cx="4279392" cy="1024128"/>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90" name="TextBox 89"/>
          <p:cNvSpPr txBox="1"/>
          <p:nvPr/>
        </p:nvSpPr>
        <p:spPr>
          <a:xfrm>
            <a:off x="7470648" y="5340096"/>
            <a:ext cx="2194560" cy="182880"/>
          </a:xfrm>
          <a:prstGeom prst="rect">
            <a:avLst/>
          </a:prstGeom>
          <a:noFill/>
        </p:spPr>
        <p:txBody>
          <a:bodyPr wrap="square" anchor="t" lIns="0" rIns="0" tIns="0" bIns="0">
            <a:noAutofit/>
          </a:bodyPr>
          <a:lstStyle/>
          <a:p>
            <a:pPr algn="l">
              <a:lnSpc>
                <a:spcPct val="112000"/>
              </a:lnSpc>
              <a:spcAft>
                <a:spcPts val="0"/>
              </a:spcAft>
            </a:pPr>
            <a:r>
              <a:rPr sz="819" b="1" i="0">
                <a:solidFill>
                  <a:srgbClr val="B45309"/>
                </a:solidFill>
                <a:latin typeface="Segoe UI"/>
              </a:rPr>
              <a:t>VERIFIED BY</a:t>
            </a:r>
          </a:p>
        </p:txBody>
      </p:sp>
      <p:sp>
        <p:nvSpPr>
          <p:cNvPr id="91" name="TextBox 90"/>
          <p:cNvSpPr txBox="1"/>
          <p:nvPr/>
        </p:nvSpPr>
        <p:spPr>
          <a:xfrm>
            <a:off x="7470648" y="5522976"/>
            <a:ext cx="3886200" cy="237744"/>
          </a:xfrm>
          <a:prstGeom prst="rect">
            <a:avLst/>
          </a:prstGeom>
          <a:noFill/>
        </p:spPr>
        <p:txBody>
          <a:bodyPr wrap="square" anchor="t" lIns="0" rIns="0" tIns="0" bIns="0">
            <a:noAutofit/>
          </a:bodyPr>
          <a:lstStyle/>
          <a:p>
            <a:pPr algn="l">
              <a:lnSpc>
                <a:spcPct val="112000"/>
              </a:lnSpc>
              <a:spcAft>
                <a:spcPts val="0"/>
              </a:spcAft>
            </a:pPr>
            <a:r>
              <a:rPr sz="1120" b="1" i="0">
                <a:solidFill>
                  <a:srgbClr val="0F172A"/>
                </a:solidFill>
                <a:latin typeface="Segoe UI"/>
              </a:rPr>
              <a:t>47/47 tests  ·  6.21 s build  ·  19 captures</a:t>
            </a:r>
          </a:p>
        </p:txBody>
      </p:sp>
      <p:sp>
        <p:nvSpPr>
          <p:cNvPr id="92" name="TextBox 91"/>
          <p:cNvSpPr txBox="1"/>
          <p:nvPr/>
        </p:nvSpPr>
        <p:spPr>
          <a:xfrm>
            <a:off x="7470648" y="5815584"/>
            <a:ext cx="3840480" cy="182880"/>
          </a:xfrm>
          <a:prstGeom prst="rect">
            <a:avLst/>
          </a:prstGeom>
          <a:noFill/>
        </p:spPr>
        <p:txBody>
          <a:bodyPr wrap="square" anchor="t" lIns="0" rIns="0" tIns="0" bIns="0">
            <a:noAutofit/>
          </a:bodyPr>
          <a:lstStyle/>
          <a:p>
            <a:pPr algn="l">
              <a:lnSpc>
                <a:spcPct val="112000"/>
              </a:lnSpc>
              <a:spcAft>
                <a:spcPts val="0"/>
              </a:spcAft>
            </a:pPr>
            <a:r>
              <a:rPr sz="819" b="0" i="0">
                <a:solidFill>
                  <a:srgbClr val="7C8AA3"/>
                </a:solidFill>
                <a:latin typeface="Segoe UI"/>
              </a:rPr>
              <a:t>the same build on a laptop and the live demo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g_aurora.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40080" y="411480"/>
            <a:ext cx="164592" cy="164592"/>
          </a:xfrm>
          <a:prstGeom prst="roundRect">
            <a:avLst>
              <a:gd name="adj" fmla="val 25000"/>
            </a:avLst>
          </a:prstGeom>
          <a:gradFill rotWithShape="1">
            <a:gsLst>
              <a:gs pos="0">
                <a:srgbClr val="0EA5E9"/>
              </a:gs>
              <a:gs pos="100000">
                <a:srgbClr val="4F5BD5"/>
              </a:gs>
            </a:gsLst>
            <a:lin scaled="0" ang="19500000"/>
          </a:gradFill>
          <a:ln>
            <a:noFill/>
          </a:ln>
          <a:effectLst/>
        </p:spPr>
        <p:txBody>
          <a:bodyPr rtlCol="0" anchor="ctr"/>
          <a:lstStyle/>
          <a:p>
            <a:pPr algn="ctr"/>
          </a:p>
        </p:txBody>
      </p:sp>
      <p:sp>
        <p:nvSpPr>
          <p:cNvPr id="4" name="TextBox 3"/>
          <p:cNvSpPr txBox="1"/>
          <p:nvPr/>
        </p:nvSpPr>
        <p:spPr>
          <a:xfrm>
            <a:off x="886968" y="365760"/>
            <a:ext cx="1828800" cy="219456"/>
          </a:xfrm>
          <a:prstGeom prst="rect">
            <a:avLst/>
          </a:prstGeom>
          <a:noFill/>
        </p:spPr>
        <p:txBody>
          <a:bodyPr wrap="square" anchor="t" lIns="0" rIns="0" tIns="0" bIns="0">
            <a:noAutofit/>
          </a:bodyPr>
          <a:lstStyle/>
          <a:p>
            <a:pPr algn="l">
              <a:lnSpc>
                <a:spcPct val="112000"/>
              </a:lnSpc>
              <a:spcAft>
                <a:spcPts val="0"/>
              </a:spcAft>
            </a:pPr>
            <a:r>
              <a:rPr sz="950" b="1" i="0">
                <a:solidFill>
                  <a:srgbClr val="0F172A"/>
                </a:solidFill>
                <a:latin typeface="Segoe UI"/>
              </a:rPr>
              <a:t>StudyMapper</a:t>
            </a:r>
          </a:p>
        </p:txBody>
      </p:sp>
      <p:sp>
        <p:nvSpPr>
          <p:cNvPr id="5" name="TextBox 4"/>
          <p:cNvSpPr txBox="1"/>
          <p:nvPr/>
        </p:nvSpPr>
        <p:spPr>
          <a:xfrm>
            <a:off x="6035040" y="374904"/>
            <a:ext cx="5513832" cy="201168"/>
          </a:xfrm>
          <a:prstGeom prst="rect">
            <a:avLst/>
          </a:prstGeom>
          <a:noFill/>
        </p:spPr>
        <p:txBody>
          <a:bodyPr wrap="square" anchor="t" lIns="0" rIns="0" tIns="0" bIns="0">
            <a:noAutofit/>
          </a:bodyPr>
          <a:lstStyle/>
          <a:p>
            <a:pPr algn="r">
              <a:lnSpc>
                <a:spcPct val="112000"/>
              </a:lnSpc>
              <a:spcAft>
                <a:spcPts val="0"/>
              </a:spcAft>
            </a:pPr>
            <a:r>
              <a:rPr sz="950" b="1" i="0">
                <a:solidFill>
                  <a:srgbClr val="4F5BD5"/>
                </a:solidFill>
                <a:latin typeface="Segoe UI"/>
              </a:rPr>
              <a:t>09 · RESULTS &amp; EXPERIMENTAL ANALYSIS</a:t>
            </a:r>
          </a:p>
        </p:txBody>
      </p:sp>
      <p:sp>
        <p:nvSpPr>
          <p:cNvPr id="6" name="TextBox 5"/>
          <p:cNvSpPr txBox="1"/>
          <p:nvPr/>
        </p:nvSpPr>
        <p:spPr>
          <a:xfrm>
            <a:off x="640080" y="658368"/>
            <a:ext cx="10908792" cy="566928"/>
          </a:xfrm>
          <a:prstGeom prst="rect">
            <a:avLst/>
          </a:prstGeom>
          <a:noFill/>
        </p:spPr>
        <p:txBody>
          <a:bodyPr wrap="square" anchor="t" lIns="0" rIns="0" tIns="0" bIns="0">
            <a:noAutofit/>
          </a:bodyPr>
          <a:lstStyle/>
          <a:p>
            <a:pPr algn="l">
              <a:lnSpc>
                <a:spcPct val="98000"/>
              </a:lnSpc>
              <a:spcAft>
                <a:spcPts val="0"/>
              </a:spcAft>
            </a:pPr>
            <a:r>
              <a:rPr sz="3300" b="1" i="0">
                <a:solidFill>
                  <a:srgbClr val="0F172A"/>
                </a:solidFill>
                <a:latin typeface="Segoe UI"/>
              </a:rPr>
              <a:t>What is verified — and what is not</a:t>
            </a:r>
          </a:p>
        </p:txBody>
      </p:sp>
      <p:sp>
        <p:nvSpPr>
          <p:cNvPr id="7" name="TextBox 6"/>
          <p:cNvSpPr txBox="1"/>
          <p:nvPr/>
        </p:nvSpPr>
        <p:spPr>
          <a:xfrm>
            <a:off x="640080" y="1243584"/>
            <a:ext cx="10469880" cy="438912"/>
          </a:xfrm>
          <a:prstGeom prst="rect">
            <a:avLst/>
          </a:prstGeom>
          <a:noFill/>
        </p:spPr>
        <p:txBody>
          <a:bodyPr wrap="square" anchor="t" lIns="0" rIns="0" tIns="0" bIns="0">
            <a:noAutofit/>
          </a:bodyPr>
          <a:lstStyle/>
          <a:p>
            <a:pPr algn="l">
              <a:lnSpc>
                <a:spcPct val="114000"/>
              </a:lnSpc>
              <a:spcAft>
                <a:spcPts val="0"/>
              </a:spcAft>
            </a:pPr>
            <a:r>
              <a:rPr sz="1450" b="0" i="0">
                <a:solidFill>
                  <a:srgbClr val="475569"/>
                </a:solidFill>
                <a:latin typeface="Segoe UI"/>
              </a:rPr>
              <a:t>Functional completeness and build health, measured. Learning gains are the next study.</a:t>
            </a:r>
          </a:p>
        </p:txBody>
      </p:sp>
      <p:sp>
        <p:nvSpPr>
          <p:cNvPr id="8" name="Rectangle 7"/>
          <p:cNvSpPr/>
          <p:nvPr/>
        </p:nvSpPr>
        <p:spPr>
          <a:xfrm>
            <a:off x="640080" y="6437376"/>
            <a:ext cx="10908792" cy="7315"/>
          </a:xfrm>
          <a:prstGeom prst="rect">
            <a:avLst/>
          </a:prstGeom>
          <a:solidFill>
            <a:srgbClr val="D5DCEE"/>
          </a:solidFill>
          <a:ln>
            <a:noFill/>
          </a:ln>
          <a:effectLst/>
        </p:spPr>
        <p:txBody>
          <a:bodyPr rtlCol="0" anchor="ctr" wrap="square"/>
          <a:lstStyle/>
          <a:p>
            <a:pPr algn="ctr"/>
          </a:p>
        </p:txBody>
      </p:sp>
      <p:sp>
        <p:nvSpPr>
          <p:cNvPr id="9" name="TextBox 8"/>
          <p:cNvSpPr txBox="1"/>
          <p:nvPr/>
        </p:nvSpPr>
        <p:spPr>
          <a:xfrm>
            <a:off x="640080" y="6519672"/>
            <a:ext cx="7863840" cy="164592"/>
          </a:xfrm>
          <a:prstGeom prst="rect">
            <a:avLst/>
          </a:prstGeom>
          <a:noFill/>
        </p:spPr>
        <p:txBody>
          <a:bodyPr wrap="square" anchor="t" lIns="0" rIns="0" tIns="0" bIns="0">
            <a:noAutofit/>
          </a:bodyPr>
          <a:lstStyle/>
          <a:p>
            <a:pPr algn="l">
              <a:lnSpc>
                <a:spcPct val="112000"/>
              </a:lnSpc>
              <a:spcAft>
                <a:spcPts val="0"/>
              </a:spcAft>
            </a:pPr>
            <a:r>
              <a:rPr sz="800" b="0" i="0">
                <a:solidFill>
                  <a:srgbClr val="7C8AA3"/>
                </a:solidFill>
                <a:latin typeface="Segoe UI"/>
              </a:rPr>
              <a:t>StudyMapper  ·  AI-Driven Personalized Learning &amp; Academic Management</a:t>
            </a:r>
          </a:p>
        </p:txBody>
      </p:sp>
      <p:sp>
        <p:nvSpPr>
          <p:cNvPr id="10" name="TextBox 9"/>
          <p:cNvSpPr txBox="1"/>
          <p:nvPr/>
        </p:nvSpPr>
        <p:spPr>
          <a:xfrm>
            <a:off x="10058400" y="6510528"/>
            <a:ext cx="1490472" cy="182880"/>
          </a:xfrm>
          <a:prstGeom prst="rect">
            <a:avLst/>
          </a:prstGeom>
          <a:noFill/>
        </p:spPr>
        <p:txBody>
          <a:bodyPr wrap="square" anchor="t" lIns="0" rIns="0" tIns="0" bIns="0">
            <a:noAutofit/>
          </a:bodyPr>
          <a:lstStyle/>
          <a:p>
            <a:pPr algn="r">
              <a:lnSpc>
                <a:spcPct val="112000"/>
              </a:lnSpc>
              <a:spcAft>
                <a:spcPts val="0"/>
              </a:spcAft>
            </a:pPr>
            <a:r>
              <a:rPr sz="880" b="1" i="0">
                <a:solidFill>
                  <a:srgbClr val="7C8AA3"/>
                </a:solidFill>
                <a:latin typeface="Segoe UI"/>
              </a:rPr>
              <a:t>10 / 13</a:t>
            </a:r>
          </a:p>
        </p:txBody>
      </p:sp>
      <p:sp>
        <p:nvSpPr>
          <p:cNvPr id="11" name="Rounded Rectangle 10"/>
          <p:cNvSpPr/>
          <p:nvPr/>
        </p:nvSpPr>
        <p:spPr>
          <a:xfrm>
            <a:off x="672084" y="1783080"/>
            <a:ext cx="2615184" cy="914400"/>
          </a:xfrm>
          <a:prstGeom prst="roundRect">
            <a:avLst>
              <a:gd name="adj" fmla="val 5000"/>
            </a:avLst>
          </a:prstGeom>
          <a:solidFill>
            <a:srgbClr val="E8ECF8"/>
          </a:solidFill>
          <a:ln>
            <a:noFill/>
          </a:ln>
          <a:effectLst/>
        </p:spPr>
        <p:txBody>
          <a:bodyPr rtlCol="0" anchor="ctr" wrap="square"/>
          <a:lstStyle/>
          <a:p>
            <a:pPr algn="ctr"/>
          </a:p>
        </p:txBody>
      </p:sp>
      <p:sp>
        <p:nvSpPr>
          <p:cNvPr id="12" name="Rounded Rectangle 11"/>
          <p:cNvSpPr/>
          <p:nvPr/>
        </p:nvSpPr>
        <p:spPr>
          <a:xfrm>
            <a:off x="640080" y="1737360"/>
            <a:ext cx="2615184" cy="914400"/>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13" name="TextBox 12"/>
          <p:cNvSpPr txBox="1"/>
          <p:nvPr/>
        </p:nvSpPr>
        <p:spPr>
          <a:xfrm>
            <a:off x="822959" y="1819656"/>
            <a:ext cx="1645920" cy="402336"/>
          </a:xfrm>
          <a:prstGeom prst="rect">
            <a:avLst/>
          </a:prstGeom>
          <a:noFill/>
        </p:spPr>
        <p:txBody>
          <a:bodyPr wrap="square" anchor="t" lIns="0" rIns="0" tIns="0" bIns="0">
            <a:noAutofit/>
          </a:bodyPr>
          <a:lstStyle/>
          <a:p>
            <a:pPr algn="l">
              <a:lnSpc>
                <a:spcPct val="112000"/>
              </a:lnSpc>
              <a:spcAft>
                <a:spcPts val="0"/>
              </a:spcAft>
            </a:pPr>
            <a:r>
              <a:rPr sz="2400" b="1" i="0">
                <a:solidFill>
                  <a:srgbClr val="10B981"/>
                </a:solidFill>
                <a:latin typeface="Segoe UI"/>
              </a:rPr>
              <a:t>47/47</a:t>
            </a:r>
          </a:p>
        </p:txBody>
      </p:sp>
      <p:sp>
        <p:nvSpPr>
          <p:cNvPr id="14" name="TextBox 13"/>
          <p:cNvSpPr txBox="1"/>
          <p:nvPr/>
        </p:nvSpPr>
        <p:spPr>
          <a:xfrm>
            <a:off x="822959" y="2258568"/>
            <a:ext cx="2194560" cy="201168"/>
          </a:xfrm>
          <a:prstGeom prst="rect">
            <a:avLst/>
          </a:prstGeom>
          <a:noFill/>
        </p:spPr>
        <p:txBody>
          <a:bodyPr wrap="square" anchor="t" lIns="0" rIns="0" tIns="0" bIns="0">
            <a:noAutofit/>
          </a:bodyPr>
          <a:lstStyle/>
          <a:p>
            <a:pPr algn="l">
              <a:lnSpc>
                <a:spcPct val="112000"/>
              </a:lnSpc>
              <a:spcAft>
                <a:spcPts val="0"/>
              </a:spcAft>
            </a:pPr>
            <a:r>
              <a:rPr sz="940" b="0" i="0">
                <a:solidFill>
                  <a:srgbClr val="7C8AA3"/>
                </a:solidFill>
                <a:latin typeface="Segoe UI"/>
              </a:rPr>
              <a:t>tests passing</a:t>
            </a:r>
          </a:p>
        </p:txBody>
      </p:sp>
      <p:sp>
        <p:nvSpPr>
          <p:cNvPr id="15" name="Rounded Rectangle 14"/>
          <p:cNvSpPr/>
          <p:nvPr/>
        </p:nvSpPr>
        <p:spPr>
          <a:xfrm>
            <a:off x="3451860" y="1783080"/>
            <a:ext cx="2615184" cy="914400"/>
          </a:xfrm>
          <a:prstGeom prst="roundRect">
            <a:avLst>
              <a:gd name="adj" fmla="val 5000"/>
            </a:avLst>
          </a:prstGeom>
          <a:solidFill>
            <a:srgbClr val="E8ECF8"/>
          </a:solidFill>
          <a:ln>
            <a:noFill/>
          </a:ln>
          <a:effectLst/>
        </p:spPr>
        <p:txBody>
          <a:bodyPr rtlCol="0" anchor="ctr" wrap="square"/>
          <a:lstStyle/>
          <a:p>
            <a:pPr algn="ctr"/>
          </a:p>
        </p:txBody>
      </p:sp>
      <p:sp>
        <p:nvSpPr>
          <p:cNvPr id="16" name="Rounded Rectangle 15"/>
          <p:cNvSpPr/>
          <p:nvPr/>
        </p:nvSpPr>
        <p:spPr>
          <a:xfrm>
            <a:off x="3419856" y="1737360"/>
            <a:ext cx="2615184" cy="914400"/>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17" name="TextBox 16"/>
          <p:cNvSpPr txBox="1"/>
          <p:nvPr/>
        </p:nvSpPr>
        <p:spPr>
          <a:xfrm>
            <a:off x="3602736" y="1819656"/>
            <a:ext cx="1645920" cy="402336"/>
          </a:xfrm>
          <a:prstGeom prst="rect">
            <a:avLst/>
          </a:prstGeom>
          <a:noFill/>
        </p:spPr>
        <p:txBody>
          <a:bodyPr wrap="square" anchor="t" lIns="0" rIns="0" tIns="0" bIns="0">
            <a:noAutofit/>
          </a:bodyPr>
          <a:lstStyle/>
          <a:p>
            <a:pPr algn="l">
              <a:lnSpc>
                <a:spcPct val="112000"/>
              </a:lnSpc>
              <a:spcAft>
                <a:spcPts val="0"/>
              </a:spcAft>
            </a:pPr>
            <a:r>
              <a:rPr sz="2400" b="1" i="0">
                <a:solidFill>
                  <a:srgbClr val="0EA5E9"/>
                </a:solidFill>
                <a:latin typeface="Segoe UI"/>
              </a:rPr>
              <a:t>6.21 s</a:t>
            </a:r>
          </a:p>
        </p:txBody>
      </p:sp>
      <p:sp>
        <p:nvSpPr>
          <p:cNvPr id="18" name="TextBox 17"/>
          <p:cNvSpPr txBox="1"/>
          <p:nvPr/>
        </p:nvSpPr>
        <p:spPr>
          <a:xfrm>
            <a:off x="3602736" y="2258568"/>
            <a:ext cx="2194560" cy="201168"/>
          </a:xfrm>
          <a:prstGeom prst="rect">
            <a:avLst/>
          </a:prstGeom>
          <a:noFill/>
        </p:spPr>
        <p:txBody>
          <a:bodyPr wrap="square" anchor="t" lIns="0" rIns="0" tIns="0" bIns="0">
            <a:noAutofit/>
          </a:bodyPr>
          <a:lstStyle/>
          <a:p>
            <a:pPr algn="l">
              <a:lnSpc>
                <a:spcPct val="112000"/>
              </a:lnSpc>
              <a:spcAft>
                <a:spcPts val="0"/>
              </a:spcAft>
            </a:pPr>
            <a:r>
              <a:rPr sz="940" b="0" i="0">
                <a:solidFill>
                  <a:srgbClr val="7C8AA3"/>
                </a:solidFill>
                <a:latin typeface="Segoe UI"/>
              </a:rPr>
              <a:t>production build</a:t>
            </a:r>
          </a:p>
        </p:txBody>
      </p:sp>
      <p:sp>
        <p:nvSpPr>
          <p:cNvPr id="19" name="Rounded Rectangle 18"/>
          <p:cNvSpPr/>
          <p:nvPr/>
        </p:nvSpPr>
        <p:spPr>
          <a:xfrm>
            <a:off x="6231636" y="1783080"/>
            <a:ext cx="2615184" cy="914400"/>
          </a:xfrm>
          <a:prstGeom prst="roundRect">
            <a:avLst>
              <a:gd name="adj" fmla="val 5000"/>
            </a:avLst>
          </a:prstGeom>
          <a:solidFill>
            <a:srgbClr val="E8ECF8"/>
          </a:solidFill>
          <a:ln>
            <a:noFill/>
          </a:ln>
          <a:effectLst/>
        </p:spPr>
        <p:txBody>
          <a:bodyPr rtlCol="0" anchor="ctr" wrap="square"/>
          <a:lstStyle/>
          <a:p>
            <a:pPr algn="ctr"/>
          </a:p>
        </p:txBody>
      </p:sp>
      <p:sp>
        <p:nvSpPr>
          <p:cNvPr id="20" name="Rounded Rectangle 19"/>
          <p:cNvSpPr/>
          <p:nvPr/>
        </p:nvSpPr>
        <p:spPr>
          <a:xfrm>
            <a:off x="6199632" y="1737360"/>
            <a:ext cx="2615184" cy="914400"/>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21" name="TextBox 20"/>
          <p:cNvSpPr txBox="1"/>
          <p:nvPr/>
        </p:nvSpPr>
        <p:spPr>
          <a:xfrm>
            <a:off x="6382512" y="1819656"/>
            <a:ext cx="1645920" cy="402336"/>
          </a:xfrm>
          <a:prstGeom prst="rect">
            <a:avLst/>
          </a:prstGeom>
          <a:noFill/>
        </p:spPr>
        <p:txBody>
          <a:bodyPr wrap="square" anchor="t" lIns="0" rIns="0" tIns="0" bIns="0">
            <a:noAutofit/>
          </a:bodyPr>
          <a:lstStyle/>
          <a:p>
            <a:pPr algn="l">
              <a:lnSpc>
                <a:spcPct val="112000"/>
              </a:lnSpc>
              <a:spcAft>
                <a:spcPts val="0"/>
              </a:spcAft>
            </a:pPr>
            <a:r>
              <a:rPr sz="2400" b="1" i="0">
                <a:solidFill>
                  <a:srgbClr val="4F5BD5"/>
                </a:solidFill>
                <a:latin typeface="Segoe UI"/>
              </a:rPr>
              <a:t>40</a:t>
            </a:r>
          </a:p>
        </p:txBody>
      </p:sp>
      <p:sp>
        <p:nvSpPr>
          <p:cNvPr id="22" name="TextBox 21"/>
          <p:cNvSpPr txBox="1"/>
          <p:nvPr/>
        </p:nvSpPr>
        <p:spPr>
          <a:xfrm>
            <a:off x="6382512" y="2258568"/>
            <a:ext cx="2194560" cy="201168"/>
          </a:xfrm>
          <a:prstGeom prst="rect">
            <a:avLst/>
          </a:prstGeom>
          <a:noFill/>
        </p:spPr>
        <p:txBody>
          <a:bodyPr wrap="square" anchor="t" lIns="0" rIns="0" tIns="0" bIns="0">
            <a:noAutofit/>
          </a:bodyPr>
          <a:lstStyle/>
          <a:p>
            <a:pPr algn="l">
              <a:lnSpc>
                <a:spcPct val="112000"/>
              </a:lnSpc>
              <a:spcAft>
                <a:spcPts val="0"/>
              </a:spcAft>
            </a:pPr>
            <a:r>
              <a:rPr sz="940" b="0" i="0">
                <a:solidFill>
                  <a:srgbClr val="7C8AA3"/>
                </a:solidFill>
                <a:latin typeface="Segoe UI"/>
              </a:rPr>
              <a:t>database tables</a:t>
            </a:r>
          </a:p>
        </p:txBody>
      </p:sp>
      <p:sp>
        <p:nvSpPr>
          <p:cNvPr id="23" name="Rounded Rectangle 22"/>
          <p:cNvSpPr/>
          <p:nvPr/>
        </p:nvSpPr>
        <p:spPr>
          <a:xfrm>
            <a:off x="9011412" y="1783080"/>
            <a:ext cx="2615184" cy="914400"/>
          </a:xfrm>
          <a:prstGeom prst="roundRect">
            <a:avLst>
              <a:gd name="adj" fmla="val 5000"/>
            </a:avLst>
          </a:prstGeom>
          <a:solidFill>
            <a:srgbClr val="E8ECF8"/>
          </a:solidFill>
          <a:ln>
            <a:noFill/>
          </a:ln>
          <a:effectLst/>
        </p:spPr>
        <p:txBody>
          <a:bodyPr rtlCol="0" anchor="ctr" wrap="square"/>
          <a:lstStyle/>
          <a:p>
            <a:pPr algn="ctr"/>
          </a:p>
        </p:txBody>
      </p:sp>
      <p:sp>
        <p:nvSpPr>
          <p:cNvPr id="24" name="Rounded Rectangle 23"/>
          <p:cNvSpPr/>
          <p:nvPr/>
        </p:nvSpPr>
        <p:spPr>
          <a:xfrm>
            <a:off x="8979408" y="1737360"/>
            <a:ext cx="2615184" cy="914400"/>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25" name="TextBox 24"/>
          <p:cNvSpPr txBox="1"/>
          <p:nvPr/>
        </p:nvSpPr>
        <p:spPr>
          <a:xfrm>
            <a:off x="9162288" y="1819656"/>
            <a:ext cx="1645920" cy="402336"/>
          </a:xfrm>
          <a:prstGeom prst="rect">
            <a:avLst/>
          </a:prstGeom>
          <a:noFill/>
        </p:spPr>
        <p:txBody>
          <a:bodyPr wrap="square" anchor="t" lIns="0" rIns="0" tIns="0" bIns="0">
            <a:noAutofit/>
          </a:bodyPr>
          <a:lstStyle/>
          <a:p>
            <a:pPr algn="l">
              <a:lnSpc>
                <a:spcPct val="112000"/>
              </a:lnSpc>
              <a:spcAft>
                <a:spcPts val="0"/>
              </a:spcAft>
            </a:pPr>
            <a:r>
              <a:rPr sz="2400" b="1" i="0">
                <a:solidFill>
                  <a:srgbClr val="F59E0B"/>
                </a:solidFill>
                <a:latin typeface="Segoe UI"/>
              </a:rPr>
              <a:t>46</a:t>
            </a:r>
          </a:p>
        </p:txBody>
      </p:sp>
      <p:sp>
        <p:nvSpPr>
          <p:cNvPr id="26" name="TextBox 25"/>
          <p:cNvSpPr txBox="1"/>
          <p:nvPr/>
        </p:nvSpPr>
        <p:spPr>
          <a:xfrm>
            <a:off x="9162288" y="2258568"/>
            <a:ext cx="2194560" cy="201168"/>
          </a:xfrm>
          <a:prstGeom prst="rect">
            <a:avLst/>
          </a:prstGeom>
          <a:noFill/>
        </p:spPr>
        <p:txBody>
          <a:bodyPr wrap="square" anchor="t" lIns="0" rIns="0" tIns="0" bIns="0">
            <a:noAutofit/>
          </a:bodyPr>
          <a:lstStyle/>
          <a:p>
            <a:pPr algn="l">
              <a:lnSpc>
                <a:spcPct val="112000"/>
              </a:lnSpc>
              <a:spcAft>
                <a:spcPts val="0"/>
              </a:spcAft>
            </a:pPr>
            <a:r>
              <a:rPr sz="940" b="0" i="0">
                <a:solidFill>
                  <a:srgbClr val="7C8AA3"/>
                </a:solidFill>
                <a:latin typeface="Segoe UI"/>
              </a:rPr>
              <a:t>routed views</a:t>
            </a:r>
          </a:p>
        </p:txBody>
      </p:sp>
      <p:sp>
        <p:nvSpPr>
          <p:cNvPr id="27" name="Rounded Rectangle 26"/>
          <p:cNvSpPr/>
          <p:nvPr/>
        </p:nvSpPr>
        <p:spPr>
          <a:xfrm>
            <a:off x="672084" y="2935224"/>
            <a:ext cx="3127248" cy="2651760"/>
          </a:xfrm>
          <a:prstGeom prst="roundRect">
            <a:avLst>
              <a:gd name="adj" fmla="val 5000"/>
            </a:avLst>
          </a:prstGeom>
          <a:solidFill>
            <a:srgbClr val="E8ECF8"/>
          </a:solidFill>
          <a:ln>
            <a:noFill/>
          </a:ln>
          <a:effectLst/>
        </p:spPr>
        <p:txBody>
          <a:bodyPr rtlCol="0" anchor="ctr" wrap="square"/>
          <a:lstStyle/>
          <a:p>
            <a:pPr algn="ctr"/>
          </a:p>
        </p:txBody>
      </p:sp>
      <p:sp>
        <p:nvSpPr>
          <p:cNvPr id="28" name="Rounded Rectangle 27"/>
          <p:cNvSpPr/>
          <p:nvPr/>
        </p:nvSpPr>
        <p:spPr>
          <a:xfrm>
            <a:off x="640080" y="2889504"/>
            <a:ext cx="3127248" cy="2651760"/>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29" name="TextBox 28"/>
          <p:cNvSpPr txBox="1"/>
          <p:nvPr/>
        </p:nvSpPr>
        <p:spPr>
          <a:xfrm>
            <a:off x="841248" y="3017520"/>
            <a:ext cx="2560320" cy="182880"/>
          </a:xfrm>
          <a:prstGeom prst="rect">
            <a:avLst/>
          </a:prstGeom>
          <a:noFill/>
        </p:spPr>
        <p:txBody>
          <a:bodyPr wrap="square" anchor="t" lIns="0" rIns="0" tIns="0" bIns="0">
            <a:noAutofit/>
          </a:bodyPr>
          <a:lstStyle/>
          <a:p>
            <a:pPr algn="l">
              <a:lnSpc>
                <a:spcPct val="112000"/>
              </a:lnSpc>
              <a:spcAft>
                <a:spcPts val="0"/>
              </a:spcAft>
            </a:pPr>
            <a:r>
              <a:rPr sz="840" b="1" i="0">
                <a:solidFill>
                  <a:srgbClr val="047857"/>
                </a:solidFill>
                <a:latin typeface="Segoe UI"/>
              </a:rPr>
              <a:t>TEST WALL</a:t>
            </a:r>
          </a:p>
        </p:txBody>
      </p:sp>
      <p:sp>
        <p:nvSpPr>
          <p:cNvPr id="30" name="TextBox 29"/>
          <p:cNvSpPr txBox="1"/>
          <p:nvPr/>
        </p:nvSpPr>
        <p:spPr>
          <a:xfrm>
            <a:off x="841248" y="3200400"/>
            <a:ext cx="2651760"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47 tests  ·  14 files  ·  0 failures</a:t>
            </a:r>
          </a:p>
        </p:txBody>
      </p:sp>
      <p:sp>
        <p:nvSpPr>
          <p:cNvPr id="31" name="Rounded Rectangle 30"/>
          <p:cNvSpPr/>
          <p:nvPr/>
        </p:nvSpPr>
        <p:spPr>
          <a:xfrm>
            <a:off x="859536" y="3474720"/>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32" name="Rounded Rectangle 31"/>
          <p:cNvSpPr/>
          <p:nvPr/>
        </p:nvSpPr>
        <p:spPr>
          <a:xfrm>
            <a:off x="1115568" y="3474720"/>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33" name="Rounded Rectangle 32"/>
          <p:cNvSpPr/>
          <p:nvPr/>
        </p:nvSpPr>
        <p:spPr>
          <a:xfrm>
            <a:off x="1371600" y="3474720"/>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34" name="Rounded Rectangle 33"/>
          <p:cNvSpPr/>
          <p:nvPr/>
        </p:nvSpPr>
        <p:spPr>
          <a:xfrm>
            <a:off x="1627632" y="3474720"/>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35" name="Rounded Rectangle 34"/>
          <p:cNvSpPr/>
          <p:nvPr/>
        </p:nvSpPr>
        <p:spPr>
          <a:xfrm>
            <a:off x="1883664" y="3474720"/>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36" name="Rounded Rectangle 35"/>
          <p:cNvSpPr/>
          <p:nvPr/>
        </p:nvSpPr>
        <p:spPr>
          <a:xfrm>
            <a:off x="2139696" y="3474720"/>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37" name="Rounded Rectangle 36"/>
          <p:cNvSpPr/>
          <p:nvPr/>
        </p:nvSpPr>
        <p:spPr>
          <a:xfrm>
            <a:off x="2395728" y="3474720"/>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38" name="Rounded Rectangle 37"/>
          <p:cNvSpPr/>
          <p:nvPr/>
        </p:nvSpPr>
        <p:spPr>
          <a:xfrm>
            <a:off x="2651760" y="3474720"/>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39" name="Rounded Rectangle 38"/>
          <p:cNvSpPr/>
          <p:nvPr/>
        </p:nvSpPr>
        <p:spPr>
          <a:xfrm>
            <a:off x="859536" y="3730752"/>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40" name="Rounded Rectangle 39"/>
          <p:cNvSpPr/>
          <p:nvPr/>
        </p:nvSpPr>
        <p:spPr>
          <a:xfrm>
            <a:off x="1115568" y="3730752"/>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41" name="Rounded Rectangle 40"/>
          <p:cNvSpPr/>
          <p:nvPr/>
        </p:nvSpPr>
        <p:spPr>
          <a:xfrm>
            <a:off x="1371600" y="3730752"/>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42" name="Rounded Rectangle 41"/>
          <p:cNvSpPr/>
          <p:nvPr/>
        </p:nvSpPr>
        <p:spPr>
          <a:xfrm>
            <a:off x="1627632" y="3730752"/>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43" name="Rounded Rectangle 42"/>
          <p:cNvSpPr/>
          <p:nvPr/>
        </p:nvSpPr>
        <p:spPr>
          <a:xfrm>
            <a:off x="1883664" y="3730752"/>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44" name="Rounded Rectangle 43"/>
          <p:cNvSpPr/>
          <p:nvPr/>
        </p:nvSpPr>
        <p:spPr>
          <a:xfrm>
            <a:off x="2139696" y="3730752"/>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45" name="Rounded Rectangle 44"/>
          <p:cNvSpPr/>
          <p:nvPr/>
        </p:nvSpPr>
        <p:spPr>
          <a:xfrm>
            <a:off x="2395728" y="3730752"/>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46" name="Rounded Rectangle 45"/>
          <p:cNvSpPr/>
          <p:nvPr/>
        </p:nvSpPr>
        <p:spPr>
          <a:xfrm>
            <a:off x="2651760" y="3730752"/>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47" name="Rounded Rectangle 46"/>
          <p:cNvSpPr/>
          <p:nvPr/>
        </p:nvSpPr>
        <p:spPr>
          <a:xfrm>
            <a:off x="859536" y="3986783"/>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48" name="Rounded Rectangle 47"/>
          <p:cNvSpPr/>
          <p:nvPr/>
        </p:nvSpPr>
        <p:spPr>
          <a:xfrm>
            <a:off x="1115568" y="3986783"/>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49" name="Rounded Rectangle 48"/>
          <p:cNvSpPr/>
          <p:nvPr/>
        </p:nvSpPr>
        <p:spPr>
          <a:xfrm>
            <a:off x="1371600" y="3986783"/>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50" name="Rounded Rectangle 49"/>
          <p:cNvSpPr/>
          <p:nvPr/>
        </p:nvSpPr>
        <p:spPr>
          <a:xfrm>
            <a:off x="1627632" y="3986783"/>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51" name="Rounded Rectangle 50"/>
          <p:cNvSpPr/>
          <p:nvPr/>
        </p:nvSpPr>
        <p:spPr>
          <a:xfrm>
            <a:off x="1883664" y="3986783"/>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52" name="Rounded Rectangle 51"/>
          <p:cNvSpPr/>
          <p:nvPr/>
        </p:nvSpPr>
        <p:spPr>
          <a:xfrm>
            <a:off x="2139696" y="3986783"/>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53" name="Rounded Rectangle 52"/>
          <p:cNvSpPr/>
          <p:nvPr/>
        </p:nvSpPr>
        <p:spPr>
          <a:xfrm>
            <a:off x="2395728" y="3986783"/>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54" name="Rounded Rectangle 53"/>
          <p:cNvSpPr/>
          <p:nvPr/>
        </p:nvSpPr>
        <p:spPr>
          <a:xfrm>
            <a:off x="2651760" y="3986783"/>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55" name="Rounded Rectangle 54"/>
          <p:cNvSpPr/>
          <p:nvPr/>
        </p:nvSpPr>
        <p:spPr>
          <a:xfrm>
            <a:off x="859536" y="4242816"/>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56" name="Rounded Rectangle 55"/>
          <p:cNvSpPr/>
          <p:nvPr/>
        </p:nvSpPr>
        <p:spPr>
          <a:xfrm>
            <a:off x="1115568" y="4242816"/>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57" name="Rounded Rectangle 56"/>
          <p:cNvSpPr/>
          <p:nvPr/>
        </p:nvSpPr>
        <p:spPr>
          <a:xfrm>
            <a:off x="1371600" y="4242816"/>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58" name="Rounded Rectangle 57"/>
          <p:cNvSpPr/>
          <p:nvPr/>
        </p:nvSpPr>
        <p:spPr>
          <a:xfrm>
            <a:off x="1627632" y="4242816"/>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59" name="Rounded Rectangle 58"/>
          <p:cNvSpPr/>
          <p:nvPr/>
        </p:nvSpPr>
        <p:spPr>
          <a:xfrm>
            <a:off x="1883664" y="4242816"/>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60" name="Rounded Rectangle 59"/>
          <p:cNvSpPr/>
          <p:nvPr/>
        </p:nvSpPr>
        <p:spPr>
          <a:xfrm>
            <a:off x="2139696" y="4242816"/>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61" name="Rounded Rectangle 60"/>
          <p:cNvSpPr/>
          <p:nvPr/>
        </p:nvSpPr>
        <p:spPr>
          <a:xfrm>
            <a:off x="2395728" y="4242816"/>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62" name="Rounded Rectangle 61"/>
          <p:cNvSpPr/>
          <p:nvPr/>
        </p:nvSpPr>
        <p:spPr>
          <a:xfrm>
            <a:off x="2651760" y="4242816"/>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63" name="Rounded Rectangle 62"/>
          <p:cNvSpPr/>
          <p:nvPr/>
        </p:nvSpPr>
        <p:spPr>
          <a:xfrm>
            <a:off x="859536" y="4498848"/>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64" name="Rounded Rectangle 63"/>
          <p:cNvSpPr/>
          <p:nvPr/>
        </p:nvSpPr>
        <p:spPr>
          <a:xfrm>
            <a:off x="1115568" y="4498848"/>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65" name="Rounded Rectangle 64"/>
          <p:cNvSpPr/>
          <p:nvPr/>
        </p:nvSpPr>
        <p:spPr>
          <a:xfrm>
            <a:off x="1371600" y="4498848"/>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66" name="Rounded Rectangle 65"/>
          <p:cNvSpPr/>
          <p:nvPr/>
        </p:nvSpPr>
        <p:spPr>
          <a:xfrm>
            <a:off x="1627632" y="4498848"/>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67" name="Rounded Rectangle 66"/>
          <p:cNvSpPr/>
          <p:nvPr/>
        </p:nvSpPr>
        <p:spPr>
          <a:xfrm>
            <a:off x="1883664" y="4498848"/>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68" name="Rounded Rectangle 67"/>
          <p:cNvSpPr/>
          <p:nvPr/>
        </p:nvSpPr>
        <p:spPr>
          <a:xfrm>
            <a:off x="2139696" y="4498848"/>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69" name="Rounded Rectangle 68"/>
          <p:cNvSpPr/>
          <p:nvPr/>
        </p:nvSpPr>
        <p:spPr>
          <a:xfrm>
            <a:off x="2395728" y="4498848"/>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70" name="Rounded Rectangle 69"/>
          <p:cNvSpPr/>
          <p:nvPr/>
        </p:nvSpPr>
        <p:spPr>
          <a:xfrm>
            <a:off x="2651760" y="4498848"/>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71" name="Rounded Rectangle 70"/>
          <p:cNvSpPr/>
          <p:nvPr/>
        </p:nvSpPr>
        <p:spPr>
          <a:xfrm>
            <a:off x="859536" y="4754880"/>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72" name="Rounded Rectangle 71"/>
          <p:cNvSpPr/>
          <p:nvPr/>
        </p:nvSpPr>
        <p:spPr>
          <a:xfrm>
            <a:off x="1115568" y="4754880"/>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73" name="Rounded Rectangle 72"/>
          <p:cNvSpPr/>
          <p:nvPr/>
        </p:nvSpPr>
        <p:spPr>
          <a:xfrm>
            <a:off x="1371600" y="4754880"/>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74" name="Rounded Rectangle 73"/>
          <p:cNvSpPr/>
          <p:nvPr/>
        </p:nvSpPr>
        <p:spPr>
          <a:xfrm>
            <a:off x="1627632" y="4754880"/>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75" name="Rounded Rectangle 74"/>
          <p:cNvSpPr/>
          <p:nvPr/>
        </p:nvSpPr>
        <p:spPr>
          <a:xfrm>
            <a:off x="1883664" y="4754880"/>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76" name="Rounded Rectangle 75"/>
          <p:cNvSpPr/>
          <p:nvPr/>
        </p:nvSpPr>
        <p:spPr>
          <a:xfrm>
            <a:off x="2139696" y="4754880"/>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77" name="Rounded Rectangle 76"/>
          <p:cNvSpPr/>
          <p:nvPr/>
        </p:nvSpPr>
        <p:spPr>
          <a:xfrm>
            <a:off x="2395728" y="4754880"/>
            <a:ext cx="182880" cy="182880"/>
          </a:xfrm>
          <a:prstGeom prst="roundRect">
            <a:avLst>
              <a:gd name="adj" fmla="val 28000"/>
            </a:avLst>
          </a:prstGeom>
          <a:solidFill>
            <a:srgbClr val="10B981"/>
          </a:solidFill>
          <a:ln>
            <a:noFill/>
          </a:ln>
          <a:effectLst/>
        </p:spPr>
        <p:txBody>
          <a:bodyPr rtlCol="0" anchor="ctr" wrap="square"/>
          <a:lstStyle/>
          <a:p>
            <a:pPr algn="ctr"/>
          </a:p>
        </p:txBody>
      </p:sp>
      <p:sp>
        <p:nvSpPr>
          <p:cNvPr id="78" name="TextBox 77"/>
          <p:cNvSpPr txBox="1"/>
          <p:nvPr/>
        </p:nvSpPr>
        <p:spPr>
          <a:xfrm>
            <a:off x="841248" y="5138928"/>
            <a:ext cx="2743200" cy="274320"/>
          </a:xfrm>
          <a:prstGeom prst="rect">
            <a:avLst/>
          </a:prstGeom>
          <a:noFill/>
        </p:spPr>
        <p:txBody>
          <a:bodyPr wrap="square" anchor="t" lIns="0" rIns="0" tIns="0" bIns="0">
            <a:noAutofit/>
          </a:bodyPr>
          <a:lstStyle/>
          <a:p>
            <a:pPr algn="l">
              <a:lnSpc>
                <a:spcPct val="112000"/>
              </a:lnSpc>
              <a:spcAft>
                <a:spcPts val="0"/>
              </a:spcAft>
            </a:pPr>
            <a:r>
              <a:rPr sz="1550" b="1" i="0">
                <a:solidFill>
                  <a:srgbClr val="047857"/>
                </a:solidFill>
                <a:latin typeface="Segoe UI"/>
              </a:rPr>
              <a:t>47 / 47</a:t>
            </a:r>
          </a:p>
        </p:txBody>
      </p:sp>
      <p:sp>
        <p:nvSpPr>
          <p:cNvPr id="79" name="TextBox 78"/>
          <p:cNvSpPr txBox="1"/>
          <p:nvPr/>
        </p:nvSpPr>
        <p:spPr>
          <a:xfrm>
            <a:off x="1627632" y="5212080"/>
            <a:ext cx="2011680" cy="182880"/>
          </a:xfrm>
          <a:prstGeom prst="rect">
            <a:avLst/>
          </a:prstGeom>
          <a:noFill/>
        </p:spPr>
        <p:txBody>
          <a:bodyPr wrap="square" anchor="t" lIns="0" rIns="0" tIns="0" bIns="0">
            <a:noAutofit/>
          </a:bodyPr>
          <a:lstStyle/>
          <a:p>
            <a:pPr algn="l">
              <a:lnSpc>
                <a:spcPct val="112000"/>
              </a:lnSpc>
              <a:spcAft>
                <a:spcPts val="0"/>
              </a:spcAft>
            </a:pPr>
            <a:r>
              <a:rPr sz="819" b="0" i="0">
                <a:solidFill>
                  <a:srgbClr val="7C8AA3"/>
                </a:solidFill>
                <a:latin typeface="Segoe UI"/>
              </a:rPr>
              <a:t>passing, no skips</a:t>
            </a:r>
          </a:p>
        </p:txBody>
      </p:sp>
      <p:sp>
        <p:nvSpPr>
          <p:cNvPr id="80" name="Rounded Rectangle 79"/>
          <p:cNvSpPr/>
          <p:nvPr/>
        </p:nvSpPr>
        <p:spPr>
          <a:xfrm>
            <a:off x="3945636" y="2935224"/>
            <a:ext cx="3401568" cy="2651760"/>
          </a:xfrm>
          <a:prstGeom prst="roundRect">
            <a:avLst>
              <a:gd name="adj" fmla="val 5000"/>
            </a:avLst>
          </a:prstGeom>
          <a:solidFill>
            <a:srgbClr val="E8ECF8"/>
          </a:solidFill>
          <a:ln>
            <a:noFill/>
          </a:ln>
          <a:effectLst/>
        </p:spPr>
        <p:txBody>
          <a:bodyPr rtlCol="0" anchor="ctr" wrap="square"/>
          <a:lstStyle/>
          <a:p>
            <a:pPr algn="ctr"/>
          </a:p>
        </p:txBody>
      </p:sp>
      <p:sp>
        <p:nvSpPr>
          <p:cNvPr id="81" name="Rounded Rectangle 80"/>
          <p:cNvSpPr/>
          <p:nvPr/>
        </p:nvSpPr>
        <p:spPr>
          <a:xfrm>
            <a:off x="3913632" y="2889504"/>
            <a:ext cx="3401568" cy="2651760"/>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82" name="TextBox 81"/>
          <p:cNvSpPr txBox="1"/>
          <p:nvPr/>
        </p:nvSpPr>
        <p:spPr>
          <a:xfrm>
            <a:off x="4114800" y="3017520"/>
            <a:ext cx="2926080" cy="182880"/>
          </a:xfrm>
          <a:prstGeom prst="rect">
            <a:avLst/>
          </a:prstGeom>
          <a:noFill/>
        </p:spPr>
        <p:txBody>
          <a:bodyPr wrap="square" anchor="t" lIns="0" rIns="0" tIns="0" bIns="0">
            <a:noAutofit/>
          </a:bodyPr>
          <a:lstStyle/>
          <a:p>
            <a:pPr algn="l">
              <a:lnSpc>
                <a:spcPct val="112000"/>
              </a:lnSpc>
              <a:spcAft>
                <a:spcPts val="0"/>
              </a:spcAft>
            </a:pPr>
            <a:r>
              <a:rPr sz="819" b="1" i="0">
                <a:solidFill>
                  <a:srgbClr val="4F5BD5"/>
                </a:solidFill>
                <a:latin typeface="Segoe UI"/>
              </a:rPr>
              <a:t>BEFORE → WITH STUDYMAPPER</a:t>
            </a:r>
          </a:p>
        </p:txBody>
      </p:sp>
      <p:sp>
        <p:nvSpPr>
          <p:cNvPr id="83" name="TextBox 82"/>
          <p:cNvSpPr txBox="1"/>
          <p:nvPr/>
        </p:nvSpPr>
        <p:spPr>
          <a:xfrm>
            <a:off x="4114800" y="3200400"/>
            <a:ext cx="2926080" cy="164592"/>
          </a:xfrm>
          <a:prstGeom prst="rect">
            <a:avLst/>
          </a:prstGeom>
          <a:noFill/>
        </p:spPr>
        <p:txBody>
          <a:bodyPr wrap="square" anchor="t" lIns="0" rIns="0" tIns="0" bIns="0">
            <a:noAutofit/>
          </a:bodyPr>
          <a:lstStyle/>
          <a:p>
            <a:pPr algn="l">
              <a:lnSpc>
                <a:spcPct val="112000"/>
              </a:lnSpc>
              <a:spcAft>
                <a:spcPts val="0"/>
              </a:spcAft>
            </a:pPr>
            <a:r>
              <a:rPr sz="720" b="0" i="1">
                <a:solidFill>
                  <a:srgbClr val="7C8AA3"/>
                </a:solidFill>
                <a:latin typeface="Segoe UI"/>
              </a:rPr>
              <a:t>workflow comparison, not an experiment</a:t>
            </a:r>
          </a:p>
        </p:txBody>
      </p:sp>
      <p:sp>
        <p:nvSpPr>
          <p:cNvPr id="84" name="TextBox 83"/>
          <p:cNvSpPr txBox="1"/>
          <p:nvPr/>
        </p:nvSpPr>
        <p:spPr>
          <a:xfrm>
            <a:off x="4114800" y="3511296"/>
            <a:ext cx="1207008" cy="219456"/>
          </a:xfrm>
          <a:prstGeom prst="rect">
            <a:avLst/>
          </a:prstGeom>
          <a:noFill/>
        </p:spPr>
        <p:txBody>
          <a:bodyPr wrap="square" anchor="t" lIns="0" rIns="0" tIns="0" bIns="0">
            <a:noAutofit/>
          </a:bodyPr>
          <a:lstStyle/>
          <a:p>
            <a:pPr algn="l">
              <a:lnSpc>
                <a:spcPct val="112000"/>
              </a:lnSpc>
              <a:spcAft>
                <a:spcPts val="0"/>
              </a:spcAft>
            </a:pPr>
            <a:r>
              <a:rPr sz="860" b="0" i="0">
                <a:solidFill>
                  <a:srgbClr val="7C8AA3"/>
                </a:solidFill>
                <a:latin typeface="Segoe UI"/>
              </a:rPr>
              <a:t>Four apps</a:t>
            </a:r>
          </a:p>
        </p:txBody>
      </p:sp>
      <p:cxnSp>
        <p:nvCxnSpPr>
          <p:cNvPr id="85" name="Connector 84"/>
          <p:cNvCxnSpPr/>
          <p:nvPr/>
        </p:nvCxnSpPr>
        <p:spPr>
          <a:xfrm>
            <a:off x="5321808" y="3602736"/>
            <a:ext cx="237744" cy="0"/>
          </a:xfrm>
          <a:prstGeom prst="line">
            <a:avLst/>
          </a:prstGeom>
          <a:ln w="13970">
            <a:solidFill>
              <a:srgbClr val="4F5BD5"/>
            </a:solidFill>
            <a:tailEnd type="triangle" w="med" len="med"/>
          </a:ln>
          <a:effectLst/>
        </p:spPr>
      </p:cxnSp>
      <p:sp>
        <p:nvSpPr>
          <p:cNvPr id="86" name="TextBox 85"/>
          <p:cNvSpPr txBox="1"/>
          <p:nvPr/>
        </p:nvSpPr>
        <p:spPr>
          <a:xfrm>
            <a:off x="5614416" y="3502152"/>
            <a:ext cx="1572768" cy="237744"/>
          </a:xfrm>
          <a:prstGeom prst="rect">
            <a:avLst/>
          </a:prstGeom>
          <a:noFill/>
        </p:spPr>
        <p:txBody>
          <a:bodyPr wrap="square" anchor="t" lIns="0" rIns="0" tIns="0" bIns="0">
            <a:noAutofit/>
          </a:bodyPr>
          <a:lstStyle/>
          <a:p>
            <a:pPr algn="l">
              <a:lnSpc>
                <a:spcPct val="112000"/>
              </a:lnSpc>
              <a:spcAft>
                <a:spcPts val="0"/>
              </a:spcAft>
            </a:pPr>
            <a:r>
              <a:rPr sz="919" b="1" i="0">
                <a:solidFill>
                  <a:srgbClr val="0F172A"/>
                </a:solidFill>
                <a:latin typeface="Segoe UI"/>
              </a:rPr>
              <a:t>One workspace</a:t>
            </a:r>
          </a:p>
        </p:txBody>
      </p:sp>
      <p:sp>
        <p:nvSpPr>
          <p:cNvPr id="87" name="TextBox 86"/>
          <p:cNvSpPr txBox="1"/>
          <p:nvPr/>
        </p:nvSpPr>
        <p:spPr>
          <a:xfrm>
            <a:off x="4114800" y="4096511"/>
            <a:ext cx="1207008" cy="219456"/>
          </a:xfrm>
          <a:prstGeom prst="rect">
            <a:avLst/>
          </a:prstGeom>
          <a:noFill/>
        </p:spPr>
        <p:txBody>
          <a:bodyPr wrap="square" anchor="t" lIns="0" rIns="0" tIns="0" bIns="0">
            <a:noAutofit/>
          </a:bodyPr>
          <a:lstStyle/>
          <a:p>
            <a:pPr algn="l">
              <a:lnSpc>
                <a:spcPct val="112000"/>
              </a:lnSpc>
              <a:spcAft>
                <a:spcPts val="0"/>
              </a:spcAft>
            </a:pPr>
            <a:r>
              <a:rPr sz="860" b="0" i="0">
                <a:solidFill>
                  <a:srgbClr val="7C8AA3"/>
                </a:solidFill>
                <a:latin typeface="Segoe UI"/>
              </a:rPr>
              <a:t>Plan made once</a:t>
            </a:r>
          </a:p>
        </p:txBody>
      </p:sp>
      <p:cxnSp>
        <p:nvCxnSpPr>
          <p:cNvPr id="88" name="Connector 87"/>
          <p:cNvCxnSpPr/>
          <p:nvPr/>
        </p:nvCxnSpPr>
        <p:spPr>
          <a:xfrm>
            <a:off x="5321808" y="4187951"/>
            <a:ext cx="237744" cy="0"/>
          </a:xfrm>
          <a:prstGeom prst="line">
            <a:avLst/>
          </a:prstGeom>
          <a:ln w="13970">
            <a:solidFill>
              <a:srgbClr val="4F5BD5"/>
            </a:solidFill>
            <a:tailEnd type="triangle" w="med" len="med"/>
          </a:ln>
          <a:effectLst/>
        </p:spPr>
      </p:cxnSp>
      <p:sp>
        <p:nvSpPr>
          <p:cNvPr id="89" name="TextBox 88"/>
          <p:cNvSpPr txBox="1"/>
          <p:nvPr/>
        </p:nvSpPr>
        <p:spPr>
          <a:xfrm>
            <a:off x="5614416" y="4087368"/>
            <a:ext cx="1572768" cy="237744"/>
          </a:xfrm>
          <a:prstGeom prst="rect">
            <a:avLst/>
          </a:prstGeom>
          <a:noFill/>
        </p:spPr>
        <p:txBody>
          <a:bodyPr wrap="square" anchor="t" lIns="0" rIns="0" tIns="0" bIns="0">
            <a:noAutofit/>
          </a:bodyPr>
          <a:lstStyle/>
          <a:p>
            <a:pPr algn="l">
              <a:lnSpc>
                <a:spcPct val="112000"/>
              </a:lnSpc>
              <a:spcAft>
                <a:spcPts val="0"/>
              </a:spcAft>
            </a:pPr>
            <a:r>
              <a:rPr sz="919" b="1" i="0">
                <a:solidFill>
                  <a:srgbClr val="0F172A"/>
                </a:solidFill>
                <a:latin typeface="Segoe UI"/>
              </a:rPr>
              <a:t>Plan recomputed</a:t>
            </a:r>
          </a:p>
        </p:txBody>
      </p:sp>
      <p:sp>
        <p:nvSpPr>
          <p:cNvPr id="90" name="TextBox 89"/>
          <p:cNvSpPr txBox="1"/>
          <p:nvPr/>
        </p:nvSpPr>
        <p:spPr>
          <a:xfrm>
            <a:off x="4114800" y="4681728"/>
            <a:ext cx="1207008" cy="219456"/>
          </a:xfrm>
          <a:prstGeom prst="rect">
            <a:avLst/>
          </a:prstGeom>
          <a:noFill/>
        </p:spPr>
        <p:txBody>
          <a:bodyPr wrap="square" anchor="t" lIns="0" rIns="0" tIns="0" bIns="0">
            <a:noAutofit/>
          </a:bodyPr>
          <a:lstStyle/>
          <a:p>
            <a:pPr algn="l">
              <a:lnSpc>
                <a:spcPct val="112000"/>
              </a:lnSpc>
              <a:spcAft>
                <a:spcPts val="0"/>
              </a:spcAft>
            </a:pPr>
            <a:r>
              <a:rPr sz="860" b="0" i="0">
                <a:solidFill>
                  <a:srgbClr val="7C8AA3"/>
                </a:solidFill>
                <a:latin typeface="Segoe UI"/>
              </a:rPr>
              <a:t>Exam feedback</a:t>
            </a:r>
          </a:p>
        </p:txBody>
      </p:sp>
      <p:cxnSp>
        <p:nvCxnSpPr>
          <p:cNvPr id="91" name="Connector 90"/>
          <p:cNvCxnSpPr/>
          <p:nvPr/>
        </p:nvCxnSpPr>
        <p:spPr>
          <a:xfrm>
            <a:off x="5321808" y="4773168"/>
            <a:ext cx="237744" cy="0"/>
          </a:xfrm>
          <a:prstGeom prst="line">
            <a:avLst/>
          </a:prstGeom>
          <a:ln w="13970">
            <a:solidFill>
              <a:srgbClr val="4F5BD5"/>
            </a:solidFill>
            <a:tailEnd type="triangle" w="med" len="med"/>
          </a:ln>
          <a:effectLst/>
        </p:spPr>
      </p:cxnSp>
      <p:sp>
        <p:nvSpPr>
          <p:cNvPr id="92" name="TextBox 91"/>
          <p:cNvSpPr txBox="1"/>
          <p:nvPr/>
        </p:nvSpPr>
        <p:spPr>
          <a:xfrm>
            <a:off x="5614416" y="4672584"/>
            <a:ext cx="1572768" cy="237744"/>
          </a:xfrm>
          <a:prstGeom prst="rect">
            <a:avLst/>
          </a:prstGeom>
          <a:noFill/>
        </p:spPr>
        <p:txBody>
          <a:bodyPr wrap="square" anchor="t" lIns="0" rIns="0" tIns="0" bIns="0">
            <a:noAutofit/>
          </a:bodyPr>
          <a:lstStyle/>
          <a:p>
            <a:pPr algn="l">
              <a:lnSpc>
                <a:spcPct val="112000"/>
              </a:lnSpc>
              <a:spcAft>
                <a:spcPts val="0"/>
              </a:spcAft>
            </a:pPr>
            <a:r>
              <a:rPr sz="919" b="1" i="0">
                <a:solidFill>
                  <a:srgbClr val="0F172A"/>
                </a:solidFill>
                <a:latin typeface="Segoe UI"/>
              </a:rPr>
              <a:t>Practice feedback</a:t>
            </a:r>
          </a:p>
        </p:txBody>
      </p:sp>
      <p:sp>
        <p:nvSpPr>
          <p:cNvPr id="93" name="Rounded Rectangle 92"/>
          <p:cNvSpPr/>
          <p:nvPr/>
        </p:nvSpPr>
        <p:spPr>
          <a:xfrm>
            <a:off x="7493508" y="2935224"/>
            <a:ext cx="4087368" cy="2542032"/>
          </a:xfrm>
          <a:prstGeom prst="roundRect">
            <a:avLst>
              <a:gd name="adj" fmla="val 5000"/>
            </a:avLst>
          </a:prstGeom>
          <a:solidFill>
            <a:srgbClr val="E8ECF8"/>
          </a:solidFill>
          <a:ln>
            <a:noFill/>
          </a:ln>
          <a:effectLst/>
        </p:spPr>
        <p:txBody>
          <a:bodyPr rtlCol="0" anchor="ctr" wrap="square"/>
          <a:lstStyle/>
          <a:p>
            <a:pPr algn="ctr"/>
          </a:p>
        </p:txBody>
      </p:sp>
      <p:sp>
        <p:nvSpPr>
          <p:cNvPr id="94" name="Rounded Rectangle 93"/>
          <p:cNvSpPr/>
          <p:nvPr/>
        </p:nvSpPr>
        <p:spPr>
          <a:xfrm>
            <a:off x="7461504" y="2889504"/>
            <a:ext cx="4087368" cy="2542032"/>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pic>
        <p:nvPicPr>
          <p:cNvPr id="95" name="Picture 94" descr="shot_dashboard10.png"/>
          <p:cNvPicPr>
            <a:picLocks noChangeAspect="1"/>
          </p:cNvPicPr>
          <p:nvPr/>
        </p:nvPicPr>
        <p:blipFill>
          <a:blip r:embed="rId3"/>
          <a:srcRect t="9353" b="9353"/>
          <a:stretch>
            <a:fillRect/>
          </a:stretch>
        </p:blipFill>
        <p:spPr>
          <a:xfrm>
            <a:off x="7525512" y="2953512"/>
            <a:ext cx="3959352" cy="2011680"/>
          </a:xfrm>
          <a:prstGeom prst="rect">
            <a:avLst/>
          </a:prstGeom>
          <a:effectLst/>
        </p:spPr>
      </p:pic>
      <p:sp>
        <p:nvSpPr>
          <p:cNvPr id="96" name="Rectangle 95"/>
          <p:cNvSpPr/>
          <p:nvPr/>
        </p:nvSpPr>
        <p:spPr>
          <a:xfrm>
            <a:off x="7525512" y="5029200"/>
            <a:ext cx="3959352" cy="25603"/>
          </a:xfrm>
          <a:prstGeom prst="rect">
            <a:avLst/>
          </a:prstGeom>
          <a:solidFill>
            <a:srgbClr val="4F5BD5"/>
          </a:solidFill>
          <a:ln>
            <a:noFill/>
          </a:ln>
          <a:effectLst/>
        </p:spPr>
        <p:txBody>
          <a:bodyPr rtlCol="0" anchor="ctr" wrap="square"/>
          <a:lstStyle/>
          <a:p>
            <a:pPr algn="ctr"/>
          </a:p>
        </p:txBody>
      </p:sp>
      <p:sp>
        <p:nvSpPr>
          <p:cNvPr id="97" name="TextBox 96"/>
          <p:cNvSpPr txBox="1"/>
          <p:nvPr/>
        </p:nvSpPr>
        <p:spPr>
          <a:xfrm>
            <a:off x="7552944" y="5029200"/>
            <a:ext cx="3922776" cy="201168"/>
          </a:xfrm>
          <a:prstGeom prst="rect">
            <a:avLst/>
          </a:prstGeom>
          <a:noFill/>
        </p:spPr>
        <p:txBody>
          <a:bodyPr wrap="square" anchor="t" lIns="0" rIns="0" tIns="0" bIns="0">
            <a:noAutofit/>
          </a:bodyPr>
          <a:lstStyle/>
          <a:p>
            <a:pPr algn="l">
              <a:lnSpc>
                <a:spcPct val="112000"/>
              </a:lnSpc>
              <a:spcAft>
                <a:spcPts val="0"/>
              </a:spcAft>
            </a:pPr>
            <a:r>
              <a:rPr sz="1050" b="1" i="0">
                <a:solidFill>
                  <a:srgbClr val="0F172A"/>
                </a:solidFill>
                <a:latin typeface="Segoe UI"/>
              </a:rPr>
              <a:t>Dashboard</a:t>
            </a:r>
          </a:p>
        </p:txBody>
      </p:sp>
      <p:sp>
        <p:nvSpPr>
          <p:cNvPr id="98" name="TextBox 97"/>
          <p:cNvSpPr txBox="1"/>
          <p:nvPr/>
        </p:nvSpPr>
        <p:spPr>
          <a:xfrm>
            <a:off x="7552944" y="5230368"/>
            <a:ext cx="3922776" cy="182880"/>
          </a:xfrm>
          <a:prstGeom prst="rect">
            <a:avLst/>
          </a:prstGeom>
          <a:noFill/>
        </p:spPr>
        <p:txBody>
          <a:bodyPr wrap="square" anchor="t" lIns="0" rIns="0" tIns="0" bIns="0">
            <a:noAutofit/>
          </a:bodyPr>
          <a:lstStyle/>
          <a:p>
            <a:pPr algn="l">
              <a:lnSpc>
                <a:spcPct val="112000"/>
              </a:lnSpc>
              <a:spcAft>
                <a:spcPts val="0"/>
              </a:spcAft>
            </a:pPr>
            <a:r>
              <a:rPr sz="860" b="0" i="0">
                <a:solidFill>
                  <a:srgbClr val="7C8AA3"/>
                </a:solidFill>
                <a:latin typeface="Segoe UI"/>
              </a:rPr>
              <a:t>progress, level and streak</a:t>
            </a:r>
          </a:p>
        </p:txBody>
      </p:sp>
      <p:sp>
        <p:nvSpPr>
          <p:cNvPr id="99" name="Rounded Rectangle 98"/>
          <p:cNvSpPr/>
          <p:nvPr/>
        </p:nvSpPr>
        <p:spPr>
          <a:xfrm>
            <a:off x="672084" y="5715000"/>
            <a:ext cx="10908792" cy="512064"/>
          </a:xfrm>
          <a:prstGeom prst="roundRect">
            <a:avLst>
              <a:gd name="adj" fmla="val 6000"/>
            </a:avLst>
          </a:prstGeom>
          <a:solidFill>
            <a:srgbClr val="E8ECF8"/>
          </a:solidFill>
          <a:ln>
            <a:noFill/>
          </a:ln>
          <a:effectLst/>
        </p:spPr>
        <p:txBody>
          <a:bodyPr rtlCol="0" anchor="ctr" wrap="square"/>
          <a:lstStyle/>
          <a:p>
            <a:pPr algn="ctr"/>
          </a:p>
        </p:txBody>
      </p:sp>
      <p:sp>
        <p:nvSpPr>
          <p:cNvPr id="100" name="Rounded Rectangle 99"/>
          <p:cNvSpPr/>
          <p:nvPr/>
        </p:nvSpPr>
        <p:spPr>
          <a:xfrm>
            <a:off x="640080" y="5669280"/>
            <a:ext cx="10908792" cy="512064"/>
          </a:xfrm>
          <a:prstGeom prst="roundRect">
            <a:avLst>
              <a:gd name="adj" fmla="val 6000"/>
            </a:avLst>
          </a:prstGeom>
          <a:solidFill>
            <a:srgbClr val="FEECEC"/>
          </a:solidFill>
          <a:ln>
            <a:noFill/>
          </a:ln>
          <a:effectLst/>
        </p:spPr>
        <p:txBody>
          <a:bodyPr rtlCol="0" anchor="ctr" wrap="square"/>
          <a:lstStyle/>
          <a:p>
            <a:pPr algn="ctr"/>
          </a:p>
        </p:txBody>
      </p:sp>
      <p:sp>
        <p:nvSpPr>
          <p:cNvPr id="101" name="TextBox 100"/>
          <p:cNvSpPr txBox="1"/>
          <p:nvPr/>
        </p:nvSpPr>
        <p:spPr>
          <a:xfrm>
            <a:off x="841248" y="5769864"/>
            <a:ext cx="1554480" cy="182880"/>
          </a:xfrm>
          <a:prstGeom prst="rect">
            <a:avLst/>
          </a:prstGeom>
          <a:noFill/>
        </p:spPr>
        <p:txBody>
          <a:bodyPr wrap="square" anchor="t" lIns="0" rIns="0" tIns="0" bIns="0">
            <a:noAutofit/>
          </a:bodyPr>
          <a:lstStyle/>
          <a:p>
            <a:pPr algn="l">
              <a:lnSpc>
                <a:spcPct val="112000"/>
              </a:lnSpc>
              <a:spcAft>
                <a:spcPts val="0"/>
              </a:spcAft>
            </a:pPr>
            <a:r>
              <a:rPr sz="760" b="1" i="0">
                <a:solidFill>
                  <a:srgbClr val="EF4444"/>
                </a:solidFill>
                <a:latin typeface="Segoe UI"/>
              </a:rPr>
              <a:t>NOT CLAIMED</a:t>
            </a:r>
          </a:p>
        </p:txBody>
      </p:sp>
      <p:sp>
        <p:nvSpPr>
          <p:cNvPr id="102" name="TextBox 101"/>
          <p:cNvSpPr txBox="1"/>
          <p:nvPr/>
        </p:nvSpPr>
        <p:spPr>
          <a:xfrm>
            <a:off x="1755648" y="5760720"/>
            <a:ext cx="9509760" cy="274320"/>
          </a:xfrm>
          <a:prstGeom prst="rect">
            <a:avLst/>
          </a:prstGeom>
          <a:noFill/>
        </p:spPr>
        <p:txBody>
          <a:bodyPr wrap="square" anchor="t" lIns="0" rIns="0" tIns="0" bIns="0">
            <a:noAutofit/>
          </a:bodyPr>
          <a:lstStyle/>
          <a:p>
            <a:pPr algn="l">
              <a:lnSpc>
                <a:spcPct val="112000"/>
              </a:lnSpc>
              <a:spcAft>
                <a:spcPts val="0"/>
              </a:spcAft>
            </a:pPr>
            <a:r>
              <a:rPr sz="980" b="1" i="0">
                <a:solidFill>
                  <a:srgbClr val="B91C1C"/>
                </a:solidFill>
                <a:latin typeface="Segoe UI"/>
              </a:rPr>
              <a:t>Learning gains  ·  institutional deployment  ·  teacher dashboard  ·  native app  ·  cross-device sync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g_aurora.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40080" y="411480"/>
            <a:ext cx="164592" cy="164592"/>
          </a:xfrm>
          <a:prstGeom prst="roundRect">
            <a:avLst>
              <a:gd name="adj" fmla="val 25000"/>
            </a:avLst>
          </a:prstGeom>
          <a:gradFill rotWithShape="1">
            <a:gsLst>
              <a:gs pos="0">
                <a:srgbClr val="0EA5E9"/>
              </a:gs>
              <a:gs pos="100000">
                <a:srgbClr val="4F5BD5"/>
              </a:gs>
            </a:gsLst>
            <a:lin scaled="0" ang="19500000"/>
          </a:gradFill>
          <a:ln>
            <a:noFill/>
          </a:ln>
          <a:effectLst/>
        </p:spPr>
        <p:txBody>
          <a:bodyPr rtlCol="0" anchor="ctr"/>
          <a:lstStyle/>
          <a:p>
            <a:pPr algn="ctr"/>
          </a:p>
        </p:txBody>
      </p:sp>
      <p:sp>
        <p:nvSpPr>
          <p:cNvPr id="4" name="TextBox 3"/>
          <p:cNvSpPr txBox="1"/>
          <p:nvPr/>
        </p:nvSpPr>
        <p:spPr>
          <a:xfrm>
            <a:off x="886968" y="365760"/>
            <a:ext cx="1828800" cy="219456"/>
          </a:xfrm>
          <a:prstGeom prst="rect">
            <a:avLst/>
          </a:prstGeom>
          <a:noFill/>
        </p:spPr>
        <p:txBody>
          <a:bodyPr wrap="square" anchor="t" lIns="0" rIns="0" tIns="0" bIns="0">
            <a:noAutofit/>
          </a:bodyPr>
          <a:lstStyle/>
          <a:p>
            <a:pPr algn="l">
              <a:lnSpc>
                <a:spcPct val="112000"/>
              </a:lnSpc>
              <a:spcAft>
                <a:spcPts val="0"/>
              </a:spcAft>
            </a:pPr>
            <a:r>
              <a:rPr sz="950" b="1" i="0">
                <a:solidFill>
                  <a:srgbClr val="0F172A"/>
                </a:solidFill>
                <a:latin typeface="Segoe UI"/>
              </a:rPr>
              <a:t>StudyMapper</a:t>
            </a:r>
          </a:p>
        </p:txBody>
      </p:sp>
      <p:sp>
        <p:nvSpPr>
          <p:cNvPr id="5" name="TextBox 4"/>
          <p:cNvSpPr txBox="1"/>
          <p:nvPr/>
        </p:nvSpPr>
        <p:spPr>
          <a:xfrm>
            <a:off x="6035040" y="374904"/>
            <a:ext cx="5513832" cy="201168"/>
          </a:xfrm>
          <a:prstGeom prst="rect">
            <a:avLst/>
          </a:prstGeom>
          <a:noFill/>
        </p:spPr>
        <p:txBody>
          <a:bodyPr wrap="square" anchor="t" lIns="0" rIns="0" tIns="0" bIns="0">
            <a:noAutofit/>
          </a:bodyPr>
          <a:lstStyle/>
          <a:p>
            <a:pPr algn="r">
              <a:lnSpc>
                <a:spcPct val="112000"/>
              </a:lnSpc>
              <a:spcAft>
                <a:spcPts val="0"/>
              </a:spcAft>
            </a:pPr>
            <a:r>
              <a:rPr sz="950" b="1" i="0">
                <a:solidFill>
                  <a:srgbClr val="4F5BD5"/>
                </a:solidFill>
                <a:latin typeface="Segoe UI"/>
              </a:rPr>
              <a:t>10 · CONCLUSION</a:t>
            </a:r>
          </a:p>
        </p:txBody>
      </p:sp>
      <p:sp>
        <p:nvSpPr>
          <p:cNvPr id="6" name="TextBox 5"/>
          <p:cNvSpPr txBox="1"/>
          <p:nvPr/>
        </p:nvSpPr>
        <p:spPr>
          <a:xfrm>
            <a:off x="640080" y="658368"/>
            <a:ext cx="10908792" cy="566928"/>
          </a:xfrm>
          <a:prstGeom prst="rect">
            <a:avLst/>
          </a:prstGeom>
          <a:noFill/>
        </p:spPr>
        <p:txBody>
          <a:bodyPr wrap="square" anchor="t" lIns="0" rIns="0" tIns="0" bIns="0">
            <a:noAutofit/>
          </a:bodyPr>
          <a:lstStyle/>
          <a:p>
            <a:pPr algn="l">
              <a:lnSpc>
                <a:spcPct val="98000"/>
              </a:lnSpc>
              <a:spcAft>
                <a:spcPts val="0"/>
              </a:spcAft>
            </a:pPr>
            <a:r>
              <a:rPr sz="3300" b="1" i="0">
                <a:solidFill>
                  <a:srgbClr val="0F172A"/>
                </a:solidFill>
                <a:latin typeface="Segoe UI"/>
              </a:rPr>
              <a:t>A complete, working learning loop</a:t>
            </a:r>
          </a:p>
        </p:txBody>
      </p:sp>
      <p:sp>
        <p:nvSpPr>
          <p:cNvPr id="7" name="TextBox 6"/>
          <p:cNvSpPr txBox="1"/>
          <p:nvPr/>
        </p:nvSpPr>
        <p:spPr>
          <a:xfrm>
            <a:off x="640080" y="1243584"/>
            <a:ext cx="10469880" cy="438912"/>
          </a:xfrm>
          <a:prstGeom prst="rect">
            <a:avLst/>
          </a:prstGeom>
          <a:noFill/>
        </p:spPr>
        <p:txBody>
          <a:bodyPr wrap="square" anchor="t" lIns="0" rIns="0" tIns="0" bIns="0">
            <a:noAutofit/>
          </a:bodyPr>
          <a:lstStyle/>
          <a:p>
            <a:pPr algn="l">
              <a:lnSpc>
                <a:spcPct val="114000"/>
              </a:lnSpc>
              <a:spcAft>
                <a:spcPts val="0"/>
              </a:spcAft>
            </a:pPr>
            <a:r>
              <a:rPr sz="1450" b="0" i="0">
                <a:solidFill>
                  <a:srgbClr val="475569"/>
                </a:solidFill>
                <a:latin typeface="Segoe UI"/>
              </a:rPr>
              <a:t>What the project contributes — stated as mechanisms, not adjectives.</a:t>
            </a:r>
          </a:p>
        </p:txBody>
      </p:sp>
      <p:sp>
        <p:nvSpPr>
          <p:cNvPr id="8" name="Rectangle 7"/>
          <p:cNvSpPr/>
          <p:nvPr/>
        </p:nvSpPr>
        <p:spPr>
          <a:xfrm>
            <a:off x="640080" y="6437376"/>
            <a:ext cx="10908792" cy="7315"/>
          </a:xfrm>
          <a:prstGeom prst="rect">
            <a:avLst/>
          </a:prstGeom>
          <a:solidFill>
            <a:srgbClr val="D5DCEE"/>
          </a:solidFill>
          <a:ln>
            <a:noFill/>
          </a:ln>
          <a:effectLst/>
        </p:spPr>
        <p:txBody>
          <a:bodyPr rtlCol="0" anchor="ctr" wrap="square"/>
          <a:lstStyle/>
          <a:p>
            <a:pPr algn="ctr"/>
          </a:p>
        </p:txBody>
      </p:sp>
      <p:sp>
        <p:nvSpPr>
          <p:cNvPr id="9" name="TextBox 8"/>
          <p:cNvSpPr txBox="1"/>
          <p:nvPr/>
        </p:nvSpPr>
        <p:spPr>
          <a:xfrm>
            <a:off x="640080" y="6519672"/>
            <a:ext cx="7863840" cy="164592"/>
          </a:xfrm>
          <a:prstGeom prst="rect">
            <a:avLst/>
          </a:prstGeom>
          <a:noFill/>
        </p:spPr>
        <p:txBody>
          <a:bodyPr wrap="square" anchor="t" lIns="0" rIns="0" tIns="0" bIns="0">
            <a:noAutofit/>
          </a:bodyPr>
          <a:lstStyle/>
          <a:p>
            <a:pPr algn="l">
              <a:lnSpc>
                <a:spcPct val="112000"/>
              </a:lnSpc>
              <a:spcAft>
                <a:spcPts val="0"/>
              </a:spcAft>
            </a:pPr>
            <a:r>
              <a:rPr sz="800" b="0" i="0">
                <a:solidFill>
                  <a:srgbClr val="7C8AA3"/>
                </a:solidFill>
                <a:latin typeface="Segoe UI"/>
              </a:rPr>
              <a:t>StudyMapper  ·  AI-Driven Personalized Learning &amp; Academic Management</a:t>
            </a:r>
          </a:p>
        </p:txBody>
      </p:sp>
      <p:sp>
        <p:nvSpPr>
          <p:cNvPr id="10" name="TextBox 9"/>
          <p:cNvSpPr txBox="1"/>
          <p:nvPr/>
        </p:nvSpPr>
        <p:spPr>
          <a:xfrm>
            <a:off x="10058400" y="6510528"/>
            <a:ext cx="1490472" cy="182880"/>
          </a:xfrm>
          <a:prstGeom prst="rect">
            <a:avLst/>
          </a:prstGeom>
          <a:noFill/>
        </p:spPr>
        <p:txBody>
          <a:bodyPr wrap="square" anchor="t" lIns="0" rIns="0" tIns="0" bIns="0">
            <a:noAutofit/>
          </a:bodyPr>
          <a:lstStyle/>
          <a:p>
            <a:pPr algn="r">
              <a:lnSpc>
                <a:spcPct val="112000"/>
              </a:lnSpc>
              <a:spcAft>
                <a:spcPts val="0"/>
              </a:spcAft>
            </a:pPr>
            <a:r>
              <a:rPr sz="880" b="1" i="0">
                <a:solidFill>
                  <a:srgbClr val="7C8AA3"/>
                </a:solidFill>
                <a:latin typeface="Segoe UI"/>
              </a:rPr>
              <a:t>11 / 13</a:t>
            </a:r>
          </a:p>
        </p:txBody>
      </p:sp>
      <p:sp>
        <p:nvSpPr>
          <p:cNvPr id="11" name="Rounded Rectangle 10"/>
          <p:cNvSpPr/>
          <p:nvPr/>
        </p:nvSpPr>
        <p:spPr>
          <a:xfrm>
            <a:off x="672084" y="1783080"/>
            <a:ext cx="3520440" cy="1481328"/>
          </a:xfrm>
          <a:prstGeom prst="roundRect">
            <a:avLst>
              <a:gd name="adj" fmla="val 5000"/>
            </a:avLst>
          </a:prstGeom>
          <a:solidFill>
            <a:srgbClr val="E8ECF8"/>
          </a:solidFill>
          <a:ln>
            <a:noFill/>
          </a:ln>
          <a:effectLst/>
        </p:spPr>
        <p:txBody>
          <a:bodyPr rtlCol="0" anchor="ctr" wrap="square"/>
          <a:lstStyle/>
          <a:p>
            <a:pPr algn="ctr"/>
          </a:p>
        </p:txBody>
      </p:sp>
      <p:sp>
        <p:nvSpPr>
          <p:cNvPr id="12" name="Rounded Rectangle 11"/>
          <p:cNvSpPr/>
          <p:nvPr/>
        </p:nvSpPr>
        <p:spPr>
          <a:xfrm>
            <a:off x="640080" y="1737360"/>
            <a:ext cx="3520440" cy="1481328"/>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13" name="TextBox 12"/>
          <p:cNvSpPr txBox="1"/>
          <p:nvPr/>
        </p:nvSpPr>
        <p:spPr>
          <a:xfrm>
            <a:off x="822959" y="1865376"/>
            <a:ext cx="3108960" cy="164592"/>
          </a:xfrm>
          <a:prstGeom prst="rect">
            <a:avLst/>
          </a:prstGeom>
          <a:noFill/>
        </p:spPr>
        <p:txBody>
          <a:bodyPr wrap="square" anchor="t" lIns="0" rIns="0" tIns="0" bIns="0">
            <a:noAutofit/>
          </a:bodyPr>
          <a:lstStyle/>
          <a:p>
            <a:pPr algn="l">
              <a:lnSpc>
                <a:spcPct val="112000"/>
              </a:lnSpc>
              <a:spcAft>
                <a:spcPts val="0"/>
              </a:spcAft>
            </a:pPr>
            <a:r>
              <a:rPr sz="840" b="1" i="0">
                <a:solidFill>
                  <a:srgbClr val="4F5BD5"/>
                </a:solidFill>
                <a:latin typeface="Segoe UI"/>
              </a:rPr>
              <a:t>ADAPTIVE</a:t>
            </a:r>
          </a:p>
        </p:txBody>
      </p:sp>
      <p:sp>
        <p:nvSpPr>
          <p:cNvPr id="14" name="TextBox 13"/>
          <p:cNvSpPr txBox="1"/>
          <p:nvPr/>
        </p:nvSpPr>
        <p:spPr>
          <a:xfrm>
            <a:off x="822959" y="2084831"/>
            <a:ext cx="3127248" cy="420624"/>
          </a:xfrm>
          <a:prstGeom prst="rect">
            <a:avLst/>
          </a:prstGeom>
          <a:noFill/>
        </p:spPr>
        <p:txBody>
          <a:bodyPr wrap="square" anchor="t" lIns="0" rIns="0" tIns="0" bIns="0">
            <a:noAutofit/>
          </a:bodyPr>
          <a:lstStyle/>
          <a:p>
            <a:pPr algn="l">
              <a:lnSpc>
                <a:spcPct val="108000"/>
              </a:lnSpc>
              <a:spcAft>
                <a:spcPts val="0"/>
              </a:spcAft>
            </a:pPr>
            <a:r>
              <a:rPr sz="1360" b="1" i="0">
                <a:solidFill>
                  <a:srgbClr val="0F172A"/>
                </a:solidFill>
                <a:latin typeface="Segoe UI"/>
              </a:rPr>
              <a:t>The plan is an output, not a document.</a:t>
            </a:r>
          </a:p>
        </p:txBody>
      </p:sp>
      <p:sp>
        <p:nvSpPr>
          <p:cNvPr id="15" name="TextBox 14"/>
          <p:cNvSpPr txBox="1"/>
          <p:nvPr/>
        </p:nvSpPr>
        <p:spPr>
          <a:xfrm>
            <a:off x="822959" y="2560320"/>
            <a:ext cx="3108960" cy="512064"/>
          </a:xfrm>
          <a:prstGeom prst="rect">
            <a:avLst/>
          </a:prstGeom>
          <a:noFill/>
        </p:spPr>
        <p:txBody>
          <a:bodyPr wrap="square" anchor="t" lIns="0" rIns="0" tIns="0" bIns="0">
            <a:noAutofit/>
          </a:bodyPr>
          <a:lstStyle/>
          <a:p>
            <a:pPr algn="l">
              <a:lnSpc>
                <a:spcPct val="116000"/>
              </a:lnSpc>
              <a:spcAft>
                <a:spcPts val="0"/>
              </a:spcAft>
            </a:pPr>
            <a:r>
              <a:rPr sz="880" b="0" i="0">
                <a:solidFill>
                  <a:srgbClr val="7C8AA3"/>
                </a:solidFill>
                <a:latin typeface="Segoe UI"/>
              </a:rPr>
              <a:t>Exam date, topic difficulty and panic mode recompute the schedule on demand.</a:t>
            </a:r>
          </a:p>
        </p:txBody>
      </p:sp>
      <p:sp>
        <p:nvSpPr>
          <p:cNvPr id="16" name="Rounded Rectangle 15"/>
          <p:cNvSpPr/>
          <p:nvPr/>
        </p:nvSpPr>
        <p:spPr>
          <a:xfrm>
            <a:off x="4366260" y="1783080"/>
            <a:ext cx="3520440" cy="1481328"/>
          </a:xfrm>
          <a:prstGeom prst="roundRect">
            <a:avLst>
              <a:gd name="adj" fmla="val 5000"/>
            </a:avLst>
          </a:prstGeom>
          <a:solidFill>
            <a:srgbClr val="E8ECF8"/>
          </a:solidFill>
          <a:ln>
            <a:noFill/>
          </a:ln>
          <a:effectLst/>
        </p:spPr>
        <p:txBody>
          <a:bodyPr rtlCol="0" anchor="ctr" wrap="square"/>
          <a:lstStyle/>
          <a:p>
            <a:pPr algn="ctr"/>
          </a:p>
        </p:txBody>
      </p:sp>
      <p:sp>
        <p:nvSpPr>
          <p:cNvPr id="17" name="Rounded Rectangle 16"/>
          <p:cNvSpPr/>
          <p:nvPr/>
        </p:nvSpPr>
        <p:spPr>
          <a:xfrm>
            <a:off x="4334256" y="1737360"/>
            <a:ext cx="3520440" cy="1481328"/>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18" name="TextBox 17"/>
          <p:cNvSpPr txBox="1"/>
          <p:nvPr/>
        </p:nvSpPr>
        <p:spPr>
          <a:xfrm>
            <a:off x="4517136" y="1865376"/>
            <a:ext cx="3108960" cy="164592"/>
          </a:xfrm>
          <a:prstGeom prst="rect">
            <a:avLst/>
          </a:prstGeom>
          <a:noFill/>
        </p:spPr>
        <p:txBody>
          <a:bodyPr wrap="square" anchor="t" lIns="0" rIns="0" tIns="0" bIns="0">
            <a:noAutofit/>
          </a:bodyPr>
          <a:lstStyle/>
          <a:p>
            <a:pPr algn="l">
              <a:lnSpc>
                <a:spcPct val="112000"/>
              </a:lnSpc>
              <a:spcAft>
                <a:spcPts val="0"/>
              </a:spcAft>
            </a:pPr>
            <a:r>
              <a:rPr sz="840" b="1" i="0">
                <a:solidFill>
                  <a:srgbClr val="0EA5E9"/>
                </a:solidFill>
                <a:latin typeface="Segoe UI"/>
              </a:rPr>
              <a:t>EXPLAINABLE</a:t>
            </a:r>
          </a:p>
        </p:txBody>
      </p:sp>
      <p:sp>
        <p:nvSpPr>
          <p:cNvPr id="19" name="TextBox 18"/>
          <p:cNvSpPr txBox="1"/>
          <p:nvPr/>
        </p:nvSpPr>
        <p:spPr>
          <a:xfrm>
            <a:off x="4517136" y="2084831"/>
            <a:ext cx="3127248" cy="420624"/>
          </a:xfrm>
          <a:prstGeom prst="rect">
            <a:avLst/>
          </a:prstGeom>
          <a:noFill/>
        </p:spPr>
        <p:txBody>
          <a:bodyPr wrap="square" anchor="t" lIns="0" rIns="0" tIns="0" bIns="0">
            <a:noAutofit/>
          </a:bodyPr>
          <a:lstStyle/>
          <a:p>
            <a:pPr algn="l">
              <a:lnSpc>
                <a:spcPct val="108000"/>
              </a:lnSpc>
              <a:spcAft>
                <a:spcPts val="0"/>
              </a:spcAft>
            </a:pPr>
            <a:r>
              <a:rPr sz="1360" b="1" i="0">
                <a:solidFill>
                  <a:srgbClr val="0F172A"/>
                </a:solidFill>
                <a:latin typeface="Segoe UI"/>
              </a:rPr>
              <a:t>Every flag traces to a stored record.</a:t>
            </a:r>
          </a:p>
        </p:txBody>
      </p:sp>
      <p:sp>
        <p:nvSpPr>
          <p:cNvPr id="20" name="TextBox 19"/>
          <p:cNvSpPr txBox="1"/>
          <p:nvPr/>
        </p:nvSpPr>
        <p:spPr>
          <a:xfrm>
            <a:off x="4517136" y="2560320"/>
            <a:ext cx="3108960" cy="512064"/>
          </a:xfrm>
          <a:prstGeom prst="rect">
            <a:avLst/>
          </a:prstGeom>
          <a:noFill/>
        </p:spPr>
        <p:txBody>
          <a:bodyPr wrap="square" anchor="t" lIns="0" rIns="0" tIns="0" bIns="0">
            <a:noAutofit/>
          </a:bodyPr>
          <a:lstStyle/>
          <a:p>
            <a:pPr algn="l">
              <a:lnSpc>
                <a:spcPct val="116000"/>
              </a:lnSpc>
              <a:spcAft>
                <a:spcPts val="0"/>
              </a:spcAft>
            </a:pPr>
            <a:r>
              <a:rPr sz="880" b="0" i="0">
                <a:solidFill>
                  <a:srgbClr val="7C8AA3"/>
                </a:solidFill>
                <a:latin typeface="Segoe UI"/>
              </a:rPr>
              <a:t>A 0–100 score over seven days, a threshold of 40 and fixed, documented weights.</a:t>
            </a:r>
          </a:p>
        </p:txBody>
      </p:sp>
      <p:sp>
        <p:nvSpPr>
          <p:cNvPr id="21" name="Rounded Rectangle 20"/>
          <p:cNvSpPr/>
          <p:nvPr/>
        </p:nvSpPr>
        <p:spPr>
          <a:xfrm>
            <a:off x="8060436" y="1783080"/>
            <a:ext cx="3520440" cy="1481328"/>
          </a:xfrm>
          <a:prstGeom prst="roundRect">
            <a:avLst>
              <a:gd name="adj" fmla="val 5000"/>
            </a:avLst>
          </a:prstGeom>
          <a:solidFill>
            <a:srgbClr val="E8ECF8"/>
          </a:solidFill>
          <a:ln>
            <a:noFill/>
          </a:ln>
          <a:effectLst/>
        </p:spPr>
        <p:txBody>
          <a:bodyPr rtlCol="0" anchor="ctr" wrap="square"/>
          <a:lstStyle/>
          <a:p>
            <a:pPr algn="ctr"/>
          </a:p>
        </p:txBody>
      </p:sp>
      <p:sp>
        <p:nvSpPr>
          <p:cNvPr id="22" name="Rounded Rectangle 21"/>
          <p:cNvSpPr/>
          <p:nvPr/>
        </p:nvSpPr>
        <p:spPr>
          <a:xfrm>
            <a:off x="8028431" y="1737360"/>
            <a:ext cx="3520440" cy="1481328"/>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23" name="TextBox 22"/>
          <p:cNvSpPr txBox="1"/>
          <p:nvPr/>
        </p:nvSpPr>
        <p:spPr>
          <a:xfrm>
            <a:off x="8211311" y="1865376"/>
            <a:ext cx="3108960" cy="164592"/>
          </a:xfrm>
          <a:prstGeom prst="rect">
            <a:avLst/>
          </a:prstGeom>
          <a:noFill/>
        </p:spPr>
        <p:txBody>
          <a:bodyPr wrap="square" anchor="t" lIns="0" rIns="0" tIns="0" bIns="0">
            <a:noAutofit/>
          </a:bodyPr>
          <a:lstStyle/>
          <a:p>
            <a:pPr algn="l">
              <a:lnSpc>
                <a:spcPct val="112000"/>
              </a:lnSpc>
              <a:spcAft>
                <a:spcPts val="0"/>
              </a:spcAft>
            </a:pPr>
            <a:r>
              <a:rPr sz="840" b="1" i="0">
                <a:solidFill>
                  <a:srgbClr val="10B981"/>
                </a:solidFill>
                <a:latin typeface="Segoe UI"/>
              </a:rPr>
              <a:t>LOCAL-FIRST</a:t>
            </a:r>
          </a:p>
        </p:txBody>
      </p:sp>
      <p:sp>
        <p:nvSpPr>
          <p:cNvPr id="24" name="TextBox 23"/>
          <p:cNvSpPr txBox="1"/>
          <p:nvPr/>
        </p:nvSpPr>
        <p:spPr>
          <a:xfrm>
            <a:off x="8211311" y="2084831"/>
            <a:ext cx="3127248" cy="420624"/>
          </a:xfrm>
          <a:prstGeom prst="rect">
            <a:avLst/>
          </a:prstGeom>
          <a:noFill/>
        </p:spPr>
        <p:txBody>
          <a:bodyPr wrap="square" anchor="t" lIns="0" rIns="0" tIns="0" bIns="0">
            <a:noAutofit/>
          </a:bodyPr>
          <a:lstStyle/>
          <a:p>
            <a:pPr algn="l">
              <a:lnSpc>
                <a:spcPct val="108000"/>
              </a:lnSpc>
              <a:spcAft>
                <a:spcPts val="0"/>
              </a:spcAft>
            </a:pPr>
            <a:r>
              <a:rPr sz="1360" b="1" i="0">
                <a:solidFill>
                  <a:srgbClr val="0F172A"/>
                </a:solidFill>
                <a:latin typeface="Segoe UI"/>
              </a:rPr>
              <a:t>Study survives a bad connection.</a:t>
            </a:r>
          </a:p>
        </p:txBody>
      </p:sp>
      <p:sp>
        <p:nvSpPr>
          <p:cNvPr id="25" name="TextBox 24"/>
          <p:cNvSpPr txBox="1"/>
          <p:nvPr/>
        </p:nvSpPr>
        <p:spPr>
          <a:xfrm>
            <a:off x="8211311" y="2560320"/>
            <a:ext cx="3108960" cy="512064"/>
          </a:xfrm>
          <a:prstGeom prst="rect">
            <a:avLst/>
          </a:prstGeom>
          <a:noFill/>
        </p:spPr>
        <p:txBody>
          <a:bodyPr wrap="square" anchor="t" lIns="0" rIns="0" tIns="0" bIns="0">
            <a:noAutofit/>
          </a:bodyPr>
          <a:lstStyle/>
          <a:p>
            <a:pPr algn="l">
              <a:lnSpc>
                <a:spcPct val="116000"/>
              </a:lnSpc>
              <a:spcAft>
                <a:spcPts val="0"/>
              </a:spcAft>
            </a:pPr>
            <a:r>
              <a:rPr sz="880" b="0" i="0">
                <a:solidFill>
                  <a:srgbClr val="7C8AA3"/>
                </a:solidFill>
                <a:latin typeface="Segoe UI"/>
              </a:rPr>
              <a:t>Notes, plans and attempts live in Dexie; AI and sign-in are optional.</a:t>
            </a:r>
          </a:p>
        </p:txBody>
      </p:sp>
      <p:sp>
        <p:nvSpPr>
          <p:cNvPr id="26" name="TextBox 25"/>
          <p:cNvSpPr txBox="1"/>
          <p:nvPr/>
        </p:nvSpPr>
        <p:spPr>
          <a:xfrm>
            <a:off x="640080" y="3493008"/>
            <a:ext cx="3657600" cy="182880"/>
          </a:xfrm>
          <a:prstGeom prst="rect">
            <a:avLst/>
          </a:prstGeom>
          <a:noFill/>
        </p:spPr>
        <p:txBody>
          <a:bodyPr wrap="square" anchor="t" lIns="0" rIns="0" tIns="0" bIns="0">
            <a:noAutofit/>
          </a:bodyPr>
          <a:lstStyle/>
          <a:p>
            <a:pPr algn="l">
              <a:lnSpc>
                <a:spcPct val="112000"/>
              </a:lnSpc>
              <a:spcAft>
                <a:spcPts val="0"/>
              </a:spcAft>
            </a:pPr>
            <a:r>
              <a:rPr sz="840" b="1" i="0">
                <a:solidFill>
                  <a:srgbClr val="4F5BD5"/>
                </a:solidFill>
                <a:latin typeface="Segoe UI"/>
              </a:rPr>
              <a:t>WHAT THE PROJECT CONTRIBUTES</a:t>
            </a:r>
          </a:p>
        </p:txBody>
      </p:sp>
      <p:sp>
        <p:nvSpPr>
          <p:cNvPr id="27" name="Rectangle 26"/>
          <p:cNvSpPr/>
          <p:nvPr/>
        </p:nvSpPr>
        <p:spPr>
          <a:xfrm>
            <a:off x="640080" y="3767327"/>
            <a:ext cx="45720" cy="420624"/>
          </a:xfrm>
          <a:prstGeom prst="rect">
            <a:avLst/>
          </a:prstGeom>
          <a:solidFill>
            <a:srgbClr val="4F5BD5"/>
          </a:solidFill>
          <a:ln>
            <a:noFill/>
          </a:ln>
          <a:effectLst/>
        </p:spPr>
        <p:txBody>
          <a:bodyPr rtlCol="0" anchor="ctr" wrap="square"/>
          <a:lstStyle/>
          <a:p>
            <a:pPr algn="ctr"/>
          </a:p>
        </p:txBody>
      </p:sp>
      <p:sp>
        <p:nvSpPr>
          <p:cNvPr id="28" name="TextBox 27"/>
          <p:cNvSpPr txBox="1"/>
          <p:nvPr/>
        </p:nvSpPr>
        <p:spPr>
          <a:xfrm>
            <a:off x="804672" y="3730752"/>
            <a:ext cx="6309360" cy="201168"/>
          </a:xfrm>
          <a:prstGeom prst="rect">
            <a:avLst/>
          </a:prstGeom>
          <a:noFill/>
        </p:spPr>
        <p:txBody>
          <a:bodyPr wrap="square" anchor="t" lIns="0" rIns="0" tIns="0" bIns="0">
            <a:noAutofit/>
          </a:bodyPr>
          <a:lstStyle/>
          <a:p>
            <a:pPr algn="l">
              <a:lnSpc>
                <a:spcPct val="112000"/>
              </a:lnSpc>
              <a:spcAft>
                <a:spcPts val="0"/>
              </a:spcAft>
            </a:pPr>
            <a:r>
              <a:rPr sz="1120" b="1" i="0">
                <a:solidFill>
                  <a:srgbClr val="0F172A"/>
                </a:solidFill>
                <a:latin typeface="Segoe UI"/>
              </a:rPr>
              <a:t>A closed loop, not a bundle</a:t>
            </a:r>
          </a:p>
        </p:txBody>
      </p:sp>
      <p:sp>
        <p:nvSpPr>
          <p:cNvPr id="29" name="TextBox 28"/>
          <p:cNvSpPr txBox="1"/>
          <p:nvPr/>
        </p:nvSpPr>
        <p:spPr>
          <a:xfrm>
            <a:off x="804672" y="3941063"/>
            <a:ext cx="6309360" cy="365760"/>
          </a:xfrm>
          <a:prstGeom prst="rect">
            <a:avLst/>
          </a:prstGeom>
          <a:noFill/>
        </p:spPr>
        <p:txBody>
          <a:bodyPr wrap="square" anchor="t" lIns="0" rIns="0" tIns="0" bIns="0">
            <a:noAutofit/>
          </a:bodyPr>
          <a:lstStyle/>
          <a:p>
            <a:pPr algn="l">
              <a:lnSpc>
                <a:spcPct val="115000"/>
              </a:lnSpc>
              <a:spcAft>
                <a:spcPts val="0"/>
              </a:spcAft>
            </a:pPr>
            <a:r>
              <a:rPr sz="880" b="0" i="0">
                <a:solidFill>
                  <a:srgbClr val="7C8AA3"/>
                </a:solidFill>
                <a:latin typeface="Segoe UI"/>
              </a:rPr>
              <a:t>Planning, content, practice and measurement share one data model, so evidence shows what to revisit.</a:t>
            </a:r>
          </a:p>
        </p:txBody>
      </p:sp>
      <p:sp>
        <p:nvSpPr>
          <p:cNvPr id="30" name="Rectangle 29"/>
          <p:cNvSpPr/>
          <p:nvPr/>
        </p:nvSpPr>
        <p:spPr>
          <a:xfrm>
            <a:off x="640080" y="4370831"/>
            <a:ext cx="45720" cy="420624"/>
          </a:xfrm>
          <a:prstGeom prst="rect">
            <a:avLst/>
          </a:prstGeom>
          <a:solidFill>
            <a:srgbClr val="4F5BD5"/>
          </a:solidFill>
          <a:ln>
            <a:noFill/>
          </a:ln>
          <a:effectLst/>
        </p:spPr>
        <p:txBody>
          <a:bodyPr rtlCol="0" anchor="ctr" wrap="square"/>
          <a:lstStyle/>
          <a:p>
            <a:pPr algn="ctr"/>
          </a:p>
        </p:txBody>
      </p:sp>
      <p:sp>
        <p:nvSpPr>
          <p:cNvPr id="31" name="TextBox 30"/>
          <p:cNvSpPr txBox="1"/>
          <p:nvPr/>
        </p:nvSpPr>
        <p:spPr>
          <a:xfrm>
            <a:off x="804672" y="4334256"/>
            <a:ext cx="6309360" cy="201168"/>
          </a:xfrm>
          <a:prstGeom prst="rect">
            <a:avLst/>
          </a:prstGeom>
          <a:noFill/>
        </p:spPr>
        <p:txBody>
          <a:bodyPr wrap="square" anchor="t" lIns="0" rIns="0" tIns="0" bIns="0">
            <a:noAutofit/>
          </a:bodyPr>
          <a:lstStyle/>
          <a:p>
            <a:pPr algn="l">
              <a:lnSpc>
                <a:spcPct val="112000"/>
              </a:lnSpc>
              <a:spcAft>
                <a:spcPts val="0"/>
              </a:spcAft>
            </a:pPr>
            <a:r>
              <a:rPr sz="1120" b="1" i="0">
                <a:solidFill>
                  <a:srgbClr val="0F172A"/>
                </a:solidFill>
                <a:latin typeface="Segoe UI"/>
              </a:rPr>
              <a:t>AI with a safety net</a:t>
            </a:r>
          </a:p>
        </p:txBody>
      </p:sp>
      <p:sp>
        <p:nvSpPr>
          <p:cNvPr id="32" name="TextBox 31"/>
          <p:cNvSpPr txBox="1"/>
          <p:nvPr/>
        </p:nvSpPr>
        <p:spPr>
          <a:xfrm>
            <a:off x="804672" y="4544568"/>
            <a:ext cx="6309360" cy="365760"/>
          </a:xfrm>
          <a:prstGeom prst="rect">
            <a:avLst/>
          </a:prstGeom>
          <a:noFill/>
        </p:spPr>
        <p:txBody>
          <a:bodyPr wrap="square" anchor="t" lIns="0" rIns="0" tIns="0" bIns="0">
            <a:noAutofit/>
          </a:bodyPr>
          <a:lstStyle/>
          <a:p>
            <a:pPr algn="l">
              <a:lnSpc>
                <a:spcPct val="115000"/>
              </a:lnSpc>
              <a:spcAft>
                <a:spcPts val="0"/>
              </a:spcAft>
            </a:pPr>
            <a:r>
              <a:rPr sz="880" b="0" i="0">
                <a:solidFill>
                  <a:srgbClr val="7C8AA3"/>
                </a:solidFill>
                <a:latin typeface="Segoe UI"/>
              </a:rPr>
              <a:t>Six-model fallback, streaming and JSON repair; generated material stays editable.</a:t>
            </a:r>
          </a:p>
        </p:txBody>
      </p:sp>
      <p:sp>
        <p:nvSpPr>
          <p:cNvPr id="33" name="Rectangle 32"/>
          <p:cNvSpPr/>
          <p:nvPr/>
        </p:nvSpPr>
        <p:spPr>
          <a:xfrm>
            <a:off x="640080" y="4974336"/>
            <a:ext cx="45720" cy="420624"/>
          </a:xfrm>
          <a:prstGeom prst="rect">
            <a:avLst/>
          </a:prstGeom>
          <a:solidFill>
            <a:srgbClr val="4F5BD5"/>
          </a:solidFill>
          <a:ln>
            <a:noFill/>
          </a:ln>
          <a:effectLst/>
        </p:spPr>
        <p:txBody>
          <a:bodyPr rtlCol="0" anchor="ctr" wrap="square"/>
          <a:lstStyle/>
          <a:p>
            <a:pPr algn="ctr"/>
          </a:p>
        </p:txBody>
      </p:sp>
      <p:sp>
        <p:nvSpPr>
          <p:cNvPr id="34" name="TextBox 33"/>
          <p:cNvSpPr txBox="1"/>
          <p:nvPr/>
        </p:nvSpPr>
        <p:spPr>
          <a:xfrm>
            <a:off x="804672" y="4937760"/>
            <a:ext cx="6309360" cy="201168"/>
          </a:xfrm>
          <a:prstGeom prst="rect">
            <a:avLst/>
          </a:prstGeom>
          <a:noFill/>
        </p:spPr>
        <p:txBody>
          <a:bodyPr wrap="square" anchor="t" lIns="0" rIns="0" tIns="0" bIns="0">
            <a:noAutofit/>
          </a:bodyPr>
          <a:lstStyle/>
          <a:p>
            <a:pPr algn="l">
              <a:lnSpc>
                <a:spcPct val="112000"/>
              </a:lnSpc>
              <a:spcAft>
                <a:spcPts val="0"/>
              </a:spcAft>
            </a:pPr>
            <a:r>
              <a:rPr sz="1120" b="1" i="0">
                <a:solidFill>
                  <a:srgbClr val="0F172A"/>
                </a:solidFill>
                <a:latin typeface="Segoe UI"/>
              </a:rPr>
              <a:t>Local-first by design</a:t>
            </a:r>
          </a:p>
        </p:txBody>
      </p:sp>
      <p:sp>
        <p:nvSpPr>
          <p:cNvPr id="35" name="TextBox 34"/>
          <p:cNvSpPr txBox="1"/>
          <p:nvPr/>
        </p:nvSpPr>
        <p:spPr>
          <a:xfrm>
            <a:off x="804672" y="5148072"/>
            <a:ext cx="6309360" cy="365760"/>
          </a:xfrm>
          <a:prstGeom prst="rect">
            <a:avLst/>
          </a:prstGeom>
          <a:noFill/>
        </p:spPr>
        <p:txBody>
          <a:bodyPr wrap="square" anchor="t" lIns="0" rIns="0" tIns="0" bIns="0">
            <a:noAutofit/>
          </a:bodyPr>
          <a:lstStyle/>
          <a:p>
            <a:pPr algn="l">
              <a:lnSpc>
                <a:spcPct val="115000"/>
              </a:lnSpc>
              <a:spcAft>
                <a:spcPts val="0"/>
              </a:spcAft>
            </a:pPr>
            <a:r>
              <a:rPr sz="880" b="0" i="0">
                <a:solidFill>
                  <a:srgbClr val="7C8AA3"/>
                </a:solidFill>
                <a:latin typeface="Segoe UI"/>
              </a:rPr>
              <a:t>The core loop runs offline; identity is never required for study.</a:t>
            </a:r>
          </a:p>
        </p:txBody>
      </p:sp>
      <p:sp>
        <p:nvSpPr>
          <p:cNvPr id="36" name="Rounded Rectangle 35"/>
          <p:cNvSpPr/>
          <p:nvPr/>
        </p:nvSpPr>
        <p:spPr>
          <a:xfrm>
            <a:off x="7603236" y="3538727"/>
            <a:ext cx="3977639" cy="1993392"/>
          </a:xfrm>
          <a:prstGeom prst="roundRect">
            <a:avLst>
              <a:gd name="adj" fmla="val 5000"/>
            </a:avLst>
          </a:prstGeom>
          <a:solidFill>
            <a:srgbClr val="E8ECF8"/>
          </a:solidFill>
          <a:ln>
            <a:noFill/>
          </a:ln>
          <a:effectLst/>
        </p:spPr>
        <p:txBody>
          <a:bodyPr rtlCol="0" anchor="ctr" wrap="square"/>
          <a:lstStyle/>
          <a:p>
            <a:pPr algn="ctr"/>
          </a:p>
        </p:txBody>
      </p:sp>
      <p:sp>
        <p:nvSpPr>
          <p:cNvPr id="37" name="Rounded Rectangle 36"/>
          <p:cNvSpPr/>
          <p:nvPr/>
        </p:nvSpPr>
        <p:spPr>
          <a:xfrm>
            <a:off x="7571231" y="3493008"/>
            <a:ext cx="3977639" cy="1993392"/>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38" name="TextBox 37"/>
          <p:cNvSpPr txBox="1"/>
          <p:nvPr/>
        </p:nvSpPr>
        <p:spPr>
          <a:xfrm>
            <a:off x="7772400" y="3611880"/>
            <a:ext cx="2926080" cy="182880"/>
          </a:xfrm>
          <a:prstGeom prst="rect">
            <a:avLst/>
          </a:prstGeom>
          <a:noFill/>
        </p:spPr>
        <p:txBody>
          <a:bodyPr wrap="square" anchor="t" lIns="0" rIns="0" tIns="0" bIns="0">
            <a:noAutofit/>
          </a:bodyPr>
          <a:lstStyle/>
          <a:p>
            <a:pPr algn="l">
              <a:lnSpc>
                <a:spcPct val="112000"/>
              </a:lnSpc>
              <a:spcAft>
                <a:spcPts val="0"/>
              </a:spcAft>
            </a:pPr>
            <a:r>
              <a:rPr sz="819" b="1" i="0">
                <a:solidFill>
                  <a:srgbClr val="B45309"/>
                </a:solidFill>
                <a:latin typeface="Segoe UI"/>
              </a:rPr>
              <a:t>EVIDENCE AT A GLANCE</a:t>
            </a:r>
          </a:p>
        </p:txBody>
      </p:sp>
      <p:sp>
        <p:nvSpPr>
          <p:cNvPr id="39" name="TextBox 38"/>
          <p:cNvSpPr txBox="1"/>
          <p:nvPr/>
        </p:nvSpPr>
        <p:spPr>
          <a:xfrm>
            <a:off x="7772400" y="3877056"/>
            <a:ext cx="1234440" cy="274320"/>
          </a:xfrm>
          <a:prstGeom prst="rect">
            <a:avLst/>
          </a:prstGeom>
          <a:noFill/>
        </p:spPr>
        <p:txBody>
          <a:bodyPr wrap="square" anchor="t" lIns="0" rIns="0" tIns="0" bIns="0">
            <a:noAutofit/>
          </a:bodyPr>
          <a:lstStyle/>
          <a:p>
            <a:pPr algn="l">
              <a:lnSpc>
                <a:spcPct val="112000"/>
              </a:lnSpc>
              <a:spcAft>
                <a:spcPts val="0"/>
              </a:spcAft>
            </a:pPr>
            <a:r>
              <a:rPr sz="1550" b="1" i="0">
                <a:solidFill>
                  <a:srgbClr val="10B981"/>
                </a:solidFill>
                <a:latin typeface="Segoe UI"/>
              </a:rPr>
              <a:t>47/47</a:t>
            </a:r>
          </a:p>
        </p:txBody>
      </p:sp>
      <p:sp>
        <p:nvSpPr>
          <p:cNvPr id="40" name="TextBox 39"/>
          <p:cNvSpPr txBox="1"/>
          <p:nvPr/>
        </p:nvSpPr>
        <p:spPr>
          <a:xfrm>
            <a:off x="7772400" y="4142232"/>
            <a:ext cx="1234440"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tests</a:t>
            </a:r>
          </a:p>
        </p:txBody>
      </p:sp>
      <p:sp>
        <p:nvSpPr>
          <p:cNvPr id="41" name="TextBox 40"/>
          <p:cNvSpPr txBox="1"/>
          <p:nvPr/>
        </p:nvSpPr>
        <p:spPr>
          <a:xfrm>
            <a:off x="9582912" y="3877056"/>
            <a:ext cx="1234440" cy="274320"/>
          </a:xfrm>
          <a:prstGeom prst="rect">
            <a:avLst/>
          </a:prstGeom>
          <a:noFill/>
        </p:spPr>
        <p:txBody>
          <a:bodyPr wrap="square" anchor="t" lIns="0" rIns="0" tIns="0" bIns="0">
            <a:noAutofit/>
          </a:bodyPr>
          <a:lstStyle/>
          <a:p>
            <a:pPr algn="l">
              <a:lnSpc>
                <a:spcPct val="112000"/>
              </a:lnSpc>
              <a:spcAft>
                <a:spcPts val="0"/>
              </a:spcAft>
            </a:pPr>
            <a:r>
              <a:rPr sz="1550" b="1" i="0">
                <a:solidFill>
                  <a:srgbClr val="0EA5E9"/>
                </a:solidFill>
                <a:latin typeface="Segoe UI"/>
              </a:rPr>
              <a:t>6.21 s</a:t>
            </a:r>
          </a:p>
        </p:txBody>
      </p:sp>
      <p:sp>
        <p:nvSpPr>
          <p:cNvPr id="42" name="TextBox 41"/>
          <p:cNvSpPr txBox="1"/>
          <p:nvPr/>
        </p:nvSpPr>
        <p:spPr>
          <a:xfrm>
            <a:off x="9582912" y="4142232"/>
            <a:ext cx="1234440"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build</a:t>
            </a:r>
          </a:p>
        </p:txBody>
      </p:sp>
      <p:sp>
        <p:nvSpPr>
          <p:cNvPr id="43" name="TextBox 42"/>
          <p:cNvSpPr txBox="1"/>
          <p:nvPr/>
        </p:nvSpPr>
        <p:spPr>
          <a:xfrm>
            <a:off x="7772400" y="4462272"/>
            <a:ext cx="1234440" cy="274320"/>
          </a:xfrm>
          <a:prstGeom prst="rect">
            <a:avLst/>
          </a:prstGeom>
          <a:noFill/>
        </p:spPr>
        <p:txBody>
          <a:bodyPr wrap="square" anchor="t" lIns="0" rIns="0" tIns="0" bIns="0">
            <a:noAutofit/>
          </a:bodyPr>
          <a:lstStyle/>
          <a:p>
            <a:pPr algn="l">
              <a:lnSpc>
                <a:spcPct val="112000"/>
              </a:lnSpc>
              <a:spcAft>
                <a:spcPts val="0"/>
              </a:spcAft>
            </a:pPr>
            <a:r>
              <a:rPr sz="1550" b="1" i="0">
                <a:solidFill>
                  <a:srgbClr val="4F5BD5"/>
                </a:solidFill>
                <a:latin typeface="Segoe UI"/>
              </a:rPr>
              <a:t>40</a:t>
            </a:r>
          </a:p>
        </p:txBody>
      </p:sp>
      <p:sp>
        <p:nvSpPr>
          <p:cNvPr id="44" name="TextBox 43"/>
          <p:cNvSpPr txBox="1"/>
          <p:nvPr/>
        </p:nvSpPr>
        <p:spPr>
          <a:xfrm>
            <a:off x="7772400" y="4727448"/>
            <a:ext cx="1234440"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tables</a:t>
            </a:r>
          </a:p>
        </p:txBody>
      </p:sp>
      <p:sp>
        <p:nvSpPr>
          <p:cNvPr id="45" name="TextBox 44"/>
          <p:cNvSpPr txBox="1"/>
          <p:nvPr/>
        </p:nvSpPr>
        <p:spPr>
          <a:xfrm>
            <a:off x="9582912" y="4462272"/>
            <a:ext cx="1234440" cy="274320"/>
          </a:xfrm>
          <a:prstGeom prst="rect">
            <a:avLst/>
          </a:prstGeom>
          <a:noFill/>
        </p:spPr>
        <p:txBody>
          <a:bodyPr wrap="square" anchor="t" lIns="0" rIns="0" tIns="0" bIns="0">
            <a:noAutofit/>
          </a:bodyPr>
          <a:lstStyle/>
          <a:p>
            <a:pPr algn="l">
              <a:lnSpc>
                <a:spcPct val="112000"/>
              </a:lnSpc>
              <a:spcAft>
                <a:spcPts val="0"/>
              </a:spcAft>
            </a:pPr>
            <a:r>
              <a:rPr sz="1550" b="1" i="0">
                <a:solidFill>
                  <a:srgbClr val="F59E0B"/>
                </a:solidFill>
                <a:latin typeface="Segoe UI"/>
              </a:rPr>
              <a:t>46</a:t>
            </a:r>
          </a:p>
        </p:txBody>
      </p:sp>
      <p:sp>
        <p:nvSpPr>
          <p:cNvPr id="46" name="TextBox 45"/>
          <p:cNvSpPr txBox="1"/>
          <p:nvPr/>
        </p:nvSpPr>
        <p:spPr>
          <a:xfrm>
            <a:off x="9582912" y="4727448"/>
            <a:ext cx="1234440" cy="164592"/>
          </a:xfrm>
          <a:prstGeom prst="rect">
            <a:avLst/>
          </a:prstGeom>
          <a:noFill/>
        </p:spPr>
        <p:txBody>
          <a:bodyPr wrap="square" anchor="t" lIns="0" rIns="0" tIns="0" bIns="0">
            <a:noAutofit/>
          </a:bodyPr>
          <a:lstStyle/>
          <a:p>
            <a:pPr algn="l">
              <a:lnSpc>
                <a:spcPct val="112000"/>
              </a:lnSpc>
              <a:spcAft>
                <a:spcPts val="0"/>
              </a:spcAft>
            </a:pPr>
            <a:r>
              <a:rPr sz="780" b="0" i="0">
                <a:solidFill>
                  <a:srgbClr val="7C8AA3"/>
                </a:solidFill>
                <a:latin typeface="Segoe UI"/>
              </a:rPr>
              <a:t>views</a:t>
            </a:r>
          </a:p>
        </p:txBody>
      </p:sp>
      <p:sp>
        <p:nvSpPr>
          <p:cNvPr id="47" name="Rounded Rectangle 46"/>
          <p:cNvSpPr/>
          <p:nvPr/>
        </p:nvSpPr>
        <p:spPr>
          <a:xfrm>
            <a:off x="7772400" y="5065776"/>
            <a:ext cx="3520440" cy="292608"/>
          </a:xfrm>
          <a:prstGeom prst="roundRect">
            <a:avLst>
              <a:gd name="adj" fmla="val 50000"/>
            </a:avLst>
          </a:prstGeom>
          <a:solidFill>
            <a:srgbClr val="4F5BD5"/>
          </a:solidFill>
          <a:ln>
            <a:noFill/>
          </a:ln>
          <a:effectLst/>
        </p:spPr>
        <p:txBody>
          <a:bodyPr rtlCol="0" anchor="ctr" wrap="square" lIns="54864" rIns="54864" tIns="0" bIns="0"/>
          <a:lstStyle/>
          <a:p>
            <a:pPr algn="ctr"/>
            <a:r>
              <a:rPr sz="780" b="1">
                <a:solidFill>
                  <a:srgbClr val="FFFFFF"/>
                </a:solidFill>
                <a:latin typeface="Segoe UI"/>
              </a:rPr>
              <a:t>Live demo  ·  study-mapper.vercel.app</a:t>
            </a:r>
          </a:p>
        </p:txBody>
      </p:sp>
      <p:sp>
        <p:nvSpPr>
          <p:cNvPr id="48" name="Rounded Rectangle 47"/>
          <p:cNvSpPr/>
          <p:nvPr/>
        </p:nvSpPr>
        <p:spPr>
          <a:xfrm>
            <a:off x="640080" y="5650992"/>
            <a:ext cx="10908792" cy="603504"/>
          </a:xfrm>
          <a:prstGeom prst="roundRect">
            <a:avLst>
              <a:gd name="adj" fmla="val 8000"/>
            </a:avLst>
          </a:prstGeom>
          <a:gradFill rotWithShape="1">
            <a:gsLst>
              <a:gs pos="0">
                <a:srgbClr val="4F5BD5"/>
              </a:gs>
              <a:gs pos="100000">
                <a:srgbClr val="8B5CF6"/>
              </a:gs>
            </a:gsLst>
            <a:lin scaled="0" ang="0"/>
          </a:gradFill>
          <a:ln>
            <a:noFill/>
          </a:ln>
          <a:effectLst/>
        </p:spPr>
        <p:txBody>
          <a:bodyPr rtlCol="0" anchor="ctr"/>
          <a:lstStyle/>
          <a:p>
            <a:pPr algn="ctr"/>
          </a:p>
        </p:txBody>
      </p:sp>
      <p:sp>
        <p:nvSpPr>
          <p:cNvPr id="49" name="TextBox 48"/>
          <p:cNvSpPr txBox="1"/>
          <p:nvPr/>
        </p:nvSpPr>
        <p:spPr>
          <a:xfrm>
            <a:off x="859536" y="5742432"/>
            <a:ext cx="10424160" cy="402336"/>
          </a:xfrm>
          <a:prstGeom prst="rect">
            <a:avLst/>
          </a:prstGeom>
          <a:noFill/>
        </p:spPr>
        <p:txBody>
          <a:bodyPr wrap="square" anchor="t" lIns="0" rIns="0" tIns="0" bIns="0">
            <a:noAutofit/>
          </a:bodyPr>
          <a:lstStyle/>
          <a:p>
            <a:pPr algn="l">
              <a:lnSpc>
                <a:spcPct val="112000"/>
              </a:lnSpc>
              <a:spcAft>
                <a:spcPts val="0"/>
              </a:spcAft>
            </a:pPr>
            <a:r>
              <a:rPr sz="1420" b="1" i="0">
                <a:solidFill>
                  <a:srgbClr val="FFFFFF"/>
                </a:solidFill>
                <a:latin typeface="Segoe UI"/>
              </a:rPr>
              <a:t>The loop is built and verified. Whether it improves learning is the experiment ahead.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g_aurora.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40080" y="411480"/>
            <a:ext cx="164592" cy="164592"/>
          </a:xfrm>
          <a:prstGeom prst="roundRect">
            <a:avLst>
              <a:gd name="adj" fmla="val 25000"/>
            </a:avLst>
          </a:prstGeom>
          <a:gradFill rotWithShape="1">
            <a:gsLst>
              <a:gs pos="0">
                <a:srgbClr val="0EA5E9"/>
              </a:gs>
              <a:gs pos="100000">
                <a:srgbClr val="4F5BD5"/>
              </a:gs>
            </a:gsLst>
            <a:lin scaled="0" ang="19500000"/>
          </a:gradFill>
          <a:ln>
            <a:noFill/>
          </a:ln>
          <a:effectLst/>
        </p:spPr>
        <p:txBody>
          <a:bodyPr rtlCol="0" anchor="ctr"/>
          <a:lstStyle/>
          <a:p>
            <a:pPr algn="ctr"/>
          </a:p>
        </p:txBody>
      </p:sp>
      <p:sp>
        <p:nvSpPr>
          <p:cNvPr id="4" name="TextBox 3"/>
          <p:cNvSpPr txBox="1"/>
          <p:nvPr/>
        </p:nvSpPr>
        <p:spPr>
          <a:xfrm>
            <a:off x="886968" y="365760"/>
            <a:ext cx="1828800" cy="219456"/>
          </a:xfrm>
          <a:prstGeom prst="rect">
            <a:avLst/>
          </a:prstGeom>
          <a:noFill/>
        </p:spPr>
        <p:txBody>
          <a:bodyPr wrap="square" anchor="t" lIns="0" rIns="0" tIns="0" bIns="0">
            <a:noAutofit/>
          </a:bodyPr>
          <a:lstStyle/>
          <a:p>
            <a:pPr algn="l">
              <a:lnSpc>
                <a:spcPct val="112000"/>
              </a:lnSpc>
              <a:spcAft>
                <a:spcPts val="0"/>
              </a:spcAft>
            </a:pPr>
            <a:r>
              <a:rPr sz="950" b="1" i="0">
                <a:solidFill>
                  <a:srgbClr val="0F172A"/>
                </a:solidFill>
                <a:latin typeface="Segoe UI"/>
              </a:rPr>
              <a:t>StudyMapper</a:t>
            </a:r>
          </a:p>
        </p:txBody>
      </p:sp>
      <p:sp>
        <p:nvSpPr>
          <p:cNvPr id="5" name="TextBox 4"/>
          <p:cNvSpPr txBox="1"/>
          <p:nvPr/>
        </p:nvSpPr>
        <p:spPr>
          <a:xfrm>
            <a:off x="6035040" y="374904"/>
            <a:ext cx="5513832" cy="201168"/>
          </a:xfrm>
          <a:prstGeom prst="rect">
            <a:avLst/>
          </a:prstGeom>
          <a:noFill/>
        </p:spPr>
        <p:txBody>
          <a:bodyPr wrap="square" anchor="t" lIns="0" rIns="0" tIns="0" bIns="0">
            <a:noAutofit/>
          </a:bodyPr>
          <a:lstStyle/>
          <a:p>
            <a:pPr algn="r">
              <a:lnSpc>
                <a:spcPct val="112000"/>
              </a:lnSpc>
              <a:spcAft>
                <a:spcPts val="0"/>
              </a:spcAft>
            </a:pPr>
            <a:r>
              <a:rPr sz="950" b="1" i="0">
                <a:solidFill>
                  <a:srgbClr val="4F5BD5"/>
                </a:solidFill>
                <a:latin typeface="Segoe UI"/>
              </a:rPr>
              <a:t>11 · FUTURE SCOPE &amp; ENHANCEMENTS</a:t>
            </a:r>
          </a:p>
        </p:txBody>
      </p:sp>
      <p:sp>
        <p:nvSpPr>
          <p:cNvPr id="6" name="TextBox 5"/>
          <p:cNvSpPr txBox="1"/>
          <p:nvPr/>
        </p:nvSpPr>
        <p:spPr>
          <a:xfrm>
            <a:off x="640080" y="658368"/>
            <a:ext cx="10908792" cy="566928"/>
          </a:xfrm>
          <a:prstGeom prst="rect">
            <a:avLst/>
          </a:prstGeom>
          <a:noFill/>
        </p:spPr>
        <p:txBody>
          <a:bodyPr wrap="square" anchor="t" lIns="0" rIns="0" tIns="0" bIns="0">
            <a:noAutofit/>
          </a:bodyPr>
          <a:lstStyle/>
          <a:p>
            <a:pPr algn="l">
              <a:lnSpc>
                <a:spcPct val="98000"/>
              </a:lnSpc>
              <a:spcAft>
                <a:spcPts val="0"/>
              </a:spcAft>
            </a:pPr>
            <a:r>
              <a:rPr sz="3300" b="1" i="0">
                <a:solidFill>
                  <a:srgbClr val="0F172A"/>
                </a:solidFill>
                <a:latin typeface="Segoe UI"/>
              </a:rPr>
              <a:t>Evidence first, then scale</a:t>
            </a:r>
          </a:p>
        </p:txBody>
      </p:sp>
      <p:sp>
        <p:nvSpPr>
          <p:cNvPr id="7" name="TextBox 6"/>
          <p:cNvSpPr txBox="1"/>
          <p:nvPr/>
        </p:nvSpPr>
        <p:spPr>
          <a:xfrm>
            <a:off x="640080" y="1243584"/>
            <a:ext cx="10469880" cy="438912"/>
          </a:xfrm>
          <a:prstGeom prst="rect">
            <a:avLst/>
          </a:prstGeom>
          <a:noFill/>
        </p:spPr>
        <p:txBody>
          <a:bodyPr wrap="square" anchor="t" lIns="0" rIns="0" tIns="0" bIns="0">
            <a:noAutofit/>
          </a:bodyPr>
          <a:lstStyle/>
          <a:p>
            <a:pPr algn="l">
              <a:lnSpc>
                <a:spcPct val="114000"/>
              </a:lnSpc>
              <a:spcAft>
                <a:spcPts val="0"/>
              </a:spcAft>
            </a:pPr>
            <a:r>
              <a:rPr sz="1450" b="0" i="0">
                <a:solidFill>
                  <a:srgbClr val="475569"/>
                </a:solidFill>
                <a:latin typeface="Segoe UI"/>
              </a:rPr>
              <a:t>The next step is a classroom study; the roadmap follows from what that study reveals.</a:t>
            </a:r>
          </a:p>
        </p:txBody>
      </p:sp>
      <p:sp>
        <p:nvSpPr>
          <p:cNvPr id="8" name="Rectangle 7"/>
          <p:cNvSpPr/>
          <p:nvPr/>
        </p:nvSpPr>
        <p:spPr>
          <a:xfrm>
            <a:off x="640080" y="6437376"/>
            <a:ext cx="10908792" cy="7315"/>
          </a:xfrm>
          <a:prstGeom prst="rect">
            <a:avLst/>
          </a:prstGeom>
          <a:solidFill>
            <a:srgbClr val="D5DCEE"/>
          </a:solidFill>
          <a:ln>
            <a:noFill/>
          </a:ln>
          <a:effectLst/>
        </p:spPr>
        <p:txBody>
          <a:bodyPr rtlCol="0" anchor="ctr" wrap="square"/>
          <a:lstStyle/>
          <a:p>
            <a:pPr algn="ctr"/>
          </a:p>
        </p:txBody>
      </p:sp>
      <p:sp>
        <p:nvSpPr>
          <p:cNvPr id="9" name="TextBox 8"/>
          <p:cNvSpPr txBox="1"/>
          <p:nvPr/>
        </p:nvSpPr>
        <p:spPr>
          <a:xfrm>
            <a:off x="640080" y="6519672"/>
            <a:ext cx="7863840" cy="164592"/>
          </a:xfrm>
          <a:prstGeom prst="rect">
            <a:avLst/>
          </a:prstGeom>
          <a:noFill/>
        </p:spPr>
        <p:txBody>
          <a:bodyPr wrap="square" anchor="t" lIns="0" rIns="0" tIns="0" bIns="0">
            <a:noAutofit/>
          </a:bodyPr>
          <a:lstStyle/>
          <a:p>
            <a:pPr algn="l">
              <a:lnSpc>
                <a:spcPct val="112000"/>
              </a:lnSpc>
              <a:spcAft>
                <a:spcPts val="0"/>
              </a:spcAft>
            </a:pPr>
            <a:r>
              <a:rPr sz="800" b="0" i="0">
                <a:solidFill>
                  <a:srgbClr val="7C8AA3"/>
                </a:solidFill>
                <a:latin typeface="Segoe UI"/>
              </a:rPr>
              <a:t>StudyMapper  ·  AI-Driven Personalized Learning &amp; Academic Management</a:t>
            </a:r>
          </a:p>
        </p:txBody>
      </p:sp>
      <p:sp>
        <p:nvSpPr>
          <p:cNvPr id="10" name="TextBox 9"/>
          <p:cNvSpPr txBox="1"/>
          <p:nvPr/>
        </p:nvSpPr>
        <p:spPr>
          <a:xfrm>
            <a:off x="10058400" y="6510528"/>
            <a:ext cx="1490472" cy="182880"/>
          </a:xfrm>
          <a:prstGeom prst="rect">
            <a:avLst/>
          </a:prstGeom>
          <a:noFill/>
        </p:spPr>
        <p:txBody>
          <a:bodyPr wrap="square" anchor="t" lIns="0" rIns="0" tIns="0" bIns="0">
            <a:noAutofit/>
          </a:bodyPr>
          <a:lstStyle/>
          <a:p>
            <a:pPr algn="r">
              <a:lnSpc>
                <a:spcPct val="112000"/>
              </a:lnSpc>
              <a:spcAft>
                <a:spcPts val="0"/>
              </a:spcAft>
            </a:pPr>
            <a:r>
              <a:rPr sz="880" b="1" i="0">
                <a:solidFill>
                  <a:srgbClr val="7C8AA3"/>
                </a:solidFill>
                <a:latin typeface="Segoe UI"/>
              </a:rPr>
              <a:t>12 / 13</a:t>
            </a:r>
          </a:p>
        </p:txBody>
      </p:sp>
      <p:sp>
        <p:nvSpPr>
          <p:cNvPr id="11" name="Rounded Rectangle 10"/>
          <p:cNvSpPr/>
          <p:nvPr/>
        </p:nvSpPr>
        <p:spPr>
          <a:xfrm>
            <a:off x="672084" y="1783080"/>
            <a:ext cx="3520440" cy="3675887"/>
          </a:xfrm>
          <a:prstGeom prst="roundRect">
            <a:avLst>
              <a:gd name="adj" fmla="val 5000"/>
            </a:avLst>
          </a:prstGeom>
          <a:solidFill>
            <a:srgbClr val="E8ECF8"/>
          </a:solidFill>
          <a:ln>
            <a:noFill/>
          </a:ln>
          <a:effectLst/>
        </p:spPr>
        <p:txBody>
          <a:bodyPr rtlCol="0" anchor="ctr" wrap="square"/>
          <a:lstStyle/>
          <a:p>
            <a:pPr algn="ctr"/>
          </a:p>
        </p:txBody>
      </p:sp>
      <p:sp>
        <p:nvSpPr>
          <p:cNvPr id="12" name="Rounded Rectangle 11"/>
          <p:cNvSpPr/>
          <p:nvPr/>
        </p:nvSpPr>
        <p:spPr>
          <a:xfrm>
            <a:off x="640080" y="1737360"/>
            <a:ext cx="3520440" cy="3675887"/>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13" name="Rounded Rectangle 12"/>
          <p:cNvSpPr/>
          <p:nvPr/>
        </p:nvSpPr>
        <p:spPr>
          <a:xfrm>
            <a:off x="640080" y="1737360"/>
            <a:ext cx="3520440" cy="438912"/>
          </a:xfrm>
          <a:prstGeom prst="roundRect">
            <a:avLst>
              <a:gd name="adj" fmla="val 5000"/>
            </a:avLst>
          </a:prstGeom>
          <a:solidFill>
            <a:srgbClr val="E0F2FE"/>
          </a:solidFill>
          <a:ln>
            <a:noFill/>
          </a:ln>
          <a:effectLst/>
        </p:spPr>
        <p:txBody>
          <a:bodyPr rtlCol="0" anchor="ctr" wrap="square"/>
          <a:lstStyle/>
          <a:p>
            <a:pPr algn="ctr"/>
          </a:p>
        </p:txBody>
      </p:sp>
      <p:sp>
        <p:nvSpPr>
          <p:cNvPr id="14" name="TextBox 13"/>
          <p:cNvSpPr txBox="1"/>
          <p:nvPr/>
        </p:nvSpPr>
        <p:spPr>
          <a:xfrm>
            <a:off x="822959" y="1856231"/>
            <a:ext cx="3108960" cy="201168"/>
          </a:xfrm>
          <a:prstGeom prst="rect">
            <a:avLst/>
          </a:prstGeom>
          <a:noFill/>
        </p:spPr>
        <p:txBody>
          <a:bodyPr wrap="square" anchor="t" lIns="0" rIns="0" tIns="0" bIns="0">
            <a:noAutofit/>
          </a:bodyPr>
          <a:lstStyle/>
          <a:p>
            <a:pPr algn="l">
              <a:lnSpc>
                <a:spcPct val="112000"/>
              </a:lnSpc>
              <a:spcAft>
                <a:spcPts val="0"/>
              </a:spcAft>
            </a:pPr>
            <a:r>
              <a:rPr sz="860" b="1" i="0">
                <a:solidFill>
                  <a:srgbClr val="0EA5E9"/>
                </a:solidFill>
                <a:latin typeface="Segoe UI"/>
              </a:rPr>
              <a:t>NOW → 3 MONTHS</a:t>
            </a:r>
          </a:p>
        </p:txBody>
      </p:sp>
      <p:sp>
        <p:nvSpPr>
          <p:cNvPr id="15" name="TextBox 14"/>
          <p:cNvSpPr txBox="1"/>
          <p:nvPr/>
        </p:nvSpPr>
        <p:spPr>
          <a:xfrm>
            <a:off x="822959" y="2359152"/>
            <a:ext cx="3127248" cy="219456"/>
          </a:xfrm>
          <a:prstGeom prst="rect">
            <a:avLst/>
          </a:prstGeom>
          <a:noFill/>
        </p:spPr>
        <p:txBody>
          <a:bodyPr wrap="square" anchor="t" lIns="0" rIns="0" tIns="0" bIns="0">
            <a:noAutofit/>
          </a:bodyPr>
          <a:lstStyle/>
          <a:p>
            <a:pPr algn="l">
              <a:lnSpc>
                <a:spcPct val="112000"/>
              </a:lnSpc>
              <a:spcAft>
                <a:spcPts val="0"/>
              </a:spcAft>
            </a:pPr>
            <a:r>
              <a:rPr sz="1240" b="1" i="0">
                <a:solidFill>
                  <a:srgbClr val="0F172A"/>
                </a:solidFill>
                <a:latin typeface="Segoe UI"/>
              </a:rPr>
              <a:t>Classroom pilot</a:t>
            </a:r>
          </a:p>
        </p:txBody>
      </p:sp>
      <p:sp>
        <p:nvSpPr>
          <p:cNvPr id="16" name="TextBox 15"/>
          <p:cNvSpPr txBox="1"/>
          <p:nvPr/>
        </p:nvSpPr>
        <p:spPr>
          <a:xfrm>
            <a:off x="822959" y="2578608"/>
            <a:ext cx="3127248" cy="530352"/>
          </a:xfrm>
          <a:prstGeom prst="rect">
            <a:avLst/>
          </a:prstGeom>
          <a:noFill/>
        </p:spPr>
        <p:txBody>
          <a:bodyPr wrap="square" anchor="t" lIns="0" rIns="0" tIns="0" bIns="0">
            <a:noAutofit/>
          </a:bodyPr>
          <a:lstStyle/>
          <a:p>
            <a:pPr algn="l">
              <a:lnSpc>
                <a:spcPct val="115000"/>
              </a:lnSpc>
              <a:spcAft>
                <a:spcPts val="0"/>
              </a:spcAft>
            </a:pPr>
            <a:r>
              <a:rPr sz="880" b="0" i="0">
                <a:solidFill>
                  <a:srgbClr val="7C8AA3"/>
                </a:solidFill>
                <a:latin typeface="Segoe UI"/>
              </a:rPr>
              <a:t>Pre/post quiz with a real cohort — the first test of learning impact.</a:t>
            </a:r>
          </a:p>
        </p:txBody>
      </p:sp>
      <p:sp>
        <p:nvSpPr>
          <p:cNvPr id="17" name="Rectangle 16"/>
          <p:cNvSpPr/>
          <p:nvPr/>
        </p:nvSpPr>
        <p:spPr>
          <a:xfrm>
            <a:off x="822959" y="3145536"/>
            <a:ext cx="3108960" cy="5486"/>
          </a:xfrm>
          <a:prstGeom prst="rect">
            <a:avLst/>
          </a:prstGeom>
          <a:solidFill>
            <a:srgbClr val="E3E8F5"/>
          </a:solidFill>
          <a:ln>
            <a:noFill/>
          </a:ln>
          <a:effectLst/>
        </p:spPr>
        <p:txBody>
          <a:bodyPr rtlCol="0" anchor="ctr" wrap="square"/>
          <a:lstStyle/>
          <a:p>
            <a:pPr algn="ctr"/>
          </a:p>
        </p:txBody>
      </p:sp>
      <p:sp>
        <p:nvSpPr>
          <p:cNvPr id="18" name="TextBox 17"/>
          <p:cNvSpPr txBox="1"/>
          <p:nvPr/>
        </p:nvSpPr>
        <p:spPr>
          <a:xfrm>
            <a:off x="822959" y="3255264"/>
            <a:ext cx="3127248" cy="219456"/>
          </a:xfrm>
          <a:prstGeom prst="rect">
            <a:avLst/>
          </a:prstGeom>
          <a:noFill/>
        </p:spPr>
        <p:txBody>
          <a:bodyPr wrap="square" anchor="t" lIns="0" rIns="0" tIns="0" bIns="0">
            <a:noAutofit/>
          </a:bodyPr>
          <a:lstStyle/>
          <a:p>
            <a:pPr algn="l">
              <a:lnSpc>
                <a:spcPct val="112000"/>
              </a:lnSpc>
              <a:spcAft>
                <a:spcPts val="0"/>
              </a:spcAft>
            </a:pPr>
            <a:r>
              <a:rPr sz="1240" b="1" i="0">
                <a:solidFill>
                  <a:srgbClr val="0F172A"/>
                </a:solidFill>
                <a:latin typeface="Segoe UI"/>
              </a:rPr>
              <a:t>Optional sync</a:t>
            </a:r>
          </a:p>
        </p:txBody>
      </p:sp>
      <p:sp>
        <p:nvSpPr>
          <p:cNvPr id="19" name="TextBox 18"/>
          <p:cNvSpPr txBox="1"/>
          <p:nvPr/>
        </p:nvSpPr>
        <p:spPr>
          <a:xfrm>
            <a:off x="822959" y="3474720"/>
            <a:ext cx="3127248" cy="530352"/>
          </a:xfrm>
          <a:prstGeom prst="rect">
            <a:avLst/>
          </a:prstGeom>
          <a:noFill/>
        </p:spPr>
        <p:txBody>
          <a:bodyPr wrap="square" anchor="t" lIns="0" rIns="0" tIns="0" bIns="0">
            <a:noAutofit/>
          </a:bodyPr>
          <a:lstStyle/>
          <a:p>
            <a:pPr algn="l">
              <a:lnSpc>
                <a:spcPct val="115000"/>
              </a:lnSpc>
              <a:spcAft>
                <a:spcPts val="0"/>
              </a:spcAft>
            </a:pPr>
            <a:r>
              <a:rPr sz="880" b="0" i="0">
                <a:solidFill>
                  <a:srgbClr val="7C8AA3"/>
                </a:solidFill>
                <a:latin typeface="Segoe UI"/>
              </a:rPr>
              <a:t>Account-based, conflict-safe sync without losing local speed.</a:t>
            </a:r>
          </a:p>
        </p:txBody>
      </p:sp>
      <p:sp>
        <p:nvSpPr>
          <p:cNvPr id="20" name="Rectangle 19"/>
          <p:cNvSpPr/>
          <p:nvPr/>
        </p:nvSpPr>
        <p:spPr>
          <a:xfrm>
            <a:off x="822959" y="4041648"/>
            <a:ext cx="3108960" cy="5486"/>
          </a:xfrm>
          <a:prstGeom prst="rect">
            <a:avLst/>
          </a:prstGeom>
          <a:solidFill>
            <a:srgbClr val="E3E8F5"/>
          </a:solidFill>
          <a:ln>
            <a:noFill/>
          </a:ln>
          <a:effectLst/>
        </p:spPr>
        <p:txBody>
          <a:bodyPr rtlCol="0" anchor="ctr" wrap="square"/>
          <a:lstStyle/>
          <a:p>
            <a:pPr algn="ctr"/>
          </a:p>
        </p:txBody>
      </p:sp>
      <p:sp>
        <p:nvSpPr>
          <p:cNvPr id="21" name="TextBox 20"/>
          <p:cNvSpPr txBox="1"/>
          <p:nvPr/>
        </p:nvSpPr>
        <p:spPr>
          <a:xfrm>
            <a:off x="822959" y="4151376"/>
            <a:ext cx="3127248" cy="219456"/>
          </a:xfrm>
          <a:prstGeom prst="rect">
            <a:avLst/>
          </a:prstGeom>
          <a:noFill/>
        </p:spPr>
        <p:txBody>
          <a:bodyPr wrap="square" anchor="t" lIns="0" rIns="0" tIns="0" bIns="0">
            <a:noAutofit/>
          </a:bodyPr>
          <a:lstStyle/>
          <a:p>
            <a:pPr algn="l">
              <a:lnSpc>
                <a:spcPct val="112000"/>
              </a:lnSpc>
              <a:spcAft>
                <a:spcPts val="0"/>
              </a:spcAft>
            </a:pPr>
            <a:r>
              <a:rPr sz="1240" b="1" i="0">
                <a:solidFill>
                  <a:srgbClr val="0F172A"/>
                </a:solidFill>
                <a:latin typeface="Segoe UI"/>
              </a:rPr>
              <a:t>Accessibility pass</a:t>
            </a:r>
          </a:p>
        </p:txBody>
      </p:sp>
      <p:sp>
        <p:nvSpPr>
          <p:cNvPr id="22" name="TextBox 21"/>
          <p:cNvSpPr txBox="1"/>
          <p:nvPr/>
        </p:nvSpPr>
        <p:spPr>
          <a:xfrm>
            <a:off x="822959" y="4370832"/>
            <a:ext cx="3127248" cy="530352"/>
          </a:xfrm>
          <a:prstGeom prst="rect">
            <a:avLst/>
          </a:prstGeom>
          <a:noFill/>
        </p:spPr>
        <p:txBody>
          <a:bodyPr wrap="square" anchor="t" lIns="0" rIns="0" tIns="0" bIns="0">
            <a:noAutofit/>
          </a:bodyPr>
          <a:lstStyle/>
          <a:p>
            <a:pPr algn="l">
              <a:lnSpc>
                <a:spcPct val="115000"/>
              </a:lnSpc>
              <a:spcAft>
                <a:spcPts val="0"/>
              </a:spcAft>
            </a:pPr>
            <a:r>
              <a:rPr sz="880" b="0" i="0">
                <a:solidFill>
                  <a:srgbClr val="7C8AA3"/>
                </a:solidFill>
                <a:latin typeface="Segoe UI"/>
              </a:rPr>
              <a:t>Keyboard paths, contrast and screen-reader labels.</a:t>
            </a:r>
          </a:p>
        </p:txBody>
      </p:sp>
      <p:sp>
        <p:nvSpPr>
          <p:cNvPr id="23" name="Rectangle 22"/>
          <p:cNvSpPr/>
          <p:nvPr/>
        </p:nvSpPr>
        <p:spPr>
          <a:xfrm>
            <a:off x="822959" y="4956048"/>
            <a:ext cx="3108960" cy="5486"/>
          </a:xfrm>
          <a:prstGeom prst="rect">
            <a:avLst/>
          </a:prstGeom>
          <a:solidFill>
            <a:srgbClr val="E3E8F5"/>
          </a:solidFill>
          <a:ln>
            <a:noFill/>
          </a:ln>
          <a:effectLst/>
        </p:spPr>
        <p:txBody>
          <a:bodyPr rtlCol="0" anchor="ctr" wrap="square"/>
          <a:lstStyle/>
          <a:p>
            <a:pPr algn="ctr"/>
          </a:p>
        </p:txBody>
      </p:sp>
      <p:sp>
        <p:nvSpPr>
          <p:cNvPr id="24" name="TextBox 23"/>
          <p:cNvSpPr txBox="1"/>
          <p:nvPr/>
        </p:nvSpPr>
        <p:spPr>
          <a:xfrm>
            <a:off x="822959" y="5047488"/>
            <a:ext cx="3108960" cy="164592"/>
          </a:xfrm>
          <a:prstGeom prst="rect">
            <a:avLst/>
          </a:prstGeom>
          <a:noFill/>
        </p:spPr>
        <p:txBody>
          <a:bodyPr wrap="square" anchor="t" lIns="0" rIns="0" tIns="0" bIns="0">
            <a:noAutofit/>
          </a:bodyPr>
          <a:lstStyle/>
          <a:p>
            <a:pPr algn="l">
              <a:lnSpc>
                <a:spcPct val="112000"/>
              </a:lnSpc>
              <a:spcAft>
                <a:spcPts val="0"/>
              </a:spcAft>
            </a:pPr>
            <a:r>
              <a:rPr sz="680" b="1" i="0">
                <a:solidFill>
                  <a:srgbClr val="0EA5E9"/>
                </a:solidFill>
                <a:latin typeface="Segoe UI"/>
              </a:rPr>
              <a:t>HOW WE WILL KNOW</a:t>
            </a:r>
          </a:p>
        </p:txBody>
      </p:sp>
      <p:sp>
        <p:nvSpPr>
          <p:cNvPr id="25" name="TextBox 24"/>
          <p:cNvSpPr txBox="1"/>
          <p:nvPr/>
        </p:nvSpPr>
        <p:spPr>
          <a:xfrm>
            <a:off x="822959" y="5212080"/>
            <a:ext cx="3127248" cy="182880"/>
          </a:xfrm>
          <a:prstGeom prst="rect">
            <a:avLst/>
          </a:prstGeom>
          <a:noFill/>
        </p:spPr>
        <p:txBody>
          <a:bodyPr wrap="square" anchor="t" lIns="0" rIns="0" tIns="0" bIns="0">
            <a:noAutofit/>
          </a:bodyPr>
          <a:lstStyle/>
          <a:p>
            <a:pPr algn="l">
              <a:lnSpc>
                <a:spcPct val="112000"/>
              </a:lnSpc>
              <a:spcAft>
                <a:spcPts val="0"/>
              </a:spcAft>
            </a:pPr>
            <a:r>
              <a:rPr sz="740" b="1" i="0">
                <a:solidFill>
                  <a:srgbClr val="475569"/>
                </a:solidFill>
                <a:latin typeface="Segoe UI"/>
              </a:rPr>
              <a:t>pre/post gain in one cohort</a:t>
            </a:r>
          </a:p>
        </p:txBody>
      </p:sp>
      <p:sp>
        <p:nvSpPr>
          <p:cNvPr id="26" name="Rounded Rectangle 25"/>
          <p:cNvSpPr/>
          <p:nvPr/>
        </p:nvSpPr>
        <p:spPr>
          <a:xfrm>
            <a:off x="4366260" y="1783080"/>
            <a:ext cx="3520440" cy="3675887"/>
          </a:xfrm>
          <a:prstGeom prst="roundRect">
            <a:avLst>
              <a:gd name="adj" fmla="val 5000"/>
            </a:avLst>
          </a:prstGeom>
          <a:solidFill>
            <a:srgbClr val="E8ECF8"/>
          </a:solidFill>
          <a:ln>
            <a:noFill/>
          </a:ln>
          <a:effectLst/>
        </p:spPr>
        <p:txBody>
          <a:bodyPr rtlCol="0" anchor="ctr" wrap="square"/>
          <a:lstStyle/>
          <a:p>
            <a:pPr algn="ctr"/>
          </a:p>
        </p:txBody>
      </p:sp>
      <p:sp>
        <p:nvSpPr>
          <p:cNvPr id="27" name="Rounded Rectangle 26"/>
          <p:cNvSpPr/>
          <p:nvPr/>
        </p:nvSpPr>
        <p:spPr>
          <a:xfrm>
            <a:off x="4334256" y="1737360"/>
            <a:ext cx="3520440" cy="3675887"/>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28" name="Rounded Rectangle 27"/>
          <p:cNvSpPr/>
          <p:nvPr/>
        </p:nvSpPr>
        <p:spPr>
          <a:xfrm>
            <a:off x="4334256" y="1737360"/>
            <a:ext cx="3520440" cy="438912"/>
          </a:xfrm>
          <a:prstGeom prst="roundRect">
            <a:avLst>
              <a:gd name="adj" fmla="val 5000"/>
            </a:avLst>
          </a:prstGeom>
          <a:solidFill>
            <a:srgbClr val="EEF0FF"/>
          </a:solidFill>
          <a:ln>
            <a:noFill/>
          </a:ln>
          <a:effectLst/>
        </p:spPr>
        <p:txBody>
          <a:bodyPr rtlCol="0" anchor="ctr" wrap="square"/>
          <a:lstStyle/>
          <a:p>
            <a:pPr algn="ctr"/>
          </a:p>
        </p:txBody>
      </p:sp>
      <p:sp>
        <p:nvSpPr>
          <p:cNvPr id="29" name="TextBox 28"/>
          <p:cNvSpPr txBox="1"/>
          <p:nvPr/>
        </p:nvSpPr>
        <p:spPr>
          <a:xfrm>
            <a:off x="4517136" y="1856231"/>
            <a:ext cx="3108960" cy="201168"/>
          </a:xfrm>
          <a:prstGeom prst="rect">
            <a:avLst/>
          </a:prstGeom>
          <a:noFill/>
        </p:spPr>
        <p:txBody>
          <a:bodyPr wrap="square" anchor="t" lIns="0" rIns="0" tIns="0" bIns="0">
            <a:noAutofit/>
          </a:bodyPr>
          <a:lstStyle/>
          <a:p>
            <a:pPr algn="l">
              <a:lnSpc>
                <a:spcPct val="112000"/>
              </a:lnSpc>
              <a:spcAft>
                <a:spcPts val="0"/>
              </a:spcAft>
            </a:pPr>
            <a:r>
              <a:rPr sz="860" b="1" i="0">
                <a:solidFill>
                  <a:srgbClr val="4F5BD5"/>
                </a:solidFill>
                <a:latin typeface="Segoe UI"/>
              </a:rPr>
              <a:t>NEXT YEAR</a:t>
            </a:r>
          </a:p>
        </p:txBody>
      </p:sp>
      <p:sp>
        <p:nvSpPr>
          <p:cNvPr id="30" name="TextBox 29"/>
          <p:cNvSpPr txBox="1"/>
          <p:nvPr/>
        </p:nvSpPr>
        <p:spPr>
          <a:xfrm>
            <a:off x="4517136" y="2359152"/>
            <a:ext cx="3127248" cy="219456"/>
          </a:xfrm>
          <a:prstGeom prst="rect">
            <a:avLst/>
          </a:prstGeom>
          <a:noFill/>
        </p:spPr>
        <p:txBody>
          <a:bodyPr wrap="square" anchor="t" lIns="0" rIns="0" tIns="0" bIns="0">
            <a:noAutofit/>
          </a:bodyPr>
          <a:lstStyle/>
          <a:p>
            <a:pPr algn="l">
              <a:lnSpc>
                <a:spcPct val="112000"/>
              </a:lnSpc>
              <a:spcAft>
                <a:spcPts val="0"/>
              </a:spcAft>
            </a:pPr>
            <a:r>
              <a:rPr sz="1240" b="1" i="0">
                <a:solidFill>
                  <a:srgbClr val="0F172A"/>
                </a:solidFill>
                <a:latin typeface="Segoe UI"/>
              </a:rPr>
              <a:t>Native mobile shell</a:t>
            </a:r>
          </a:p>
        </p:txBody>
      </p:sp>
      <p:sp>
        <p:nvSpPr>
          <p:cNvPr id="31" name="TextBox 30"/>
          <p:cNvSpPr txBox="1"/>
          <p:nvPr/>
        </p:nvSpPr>
        <p:spPr>
          <a:xfrm>
            <a:off x="4517136" y="2578608"/>
            <a:ext cx="3127248" cy="530352"/>
          </a:xfrm>
          <a:prstGeom prst="rect">
            <a:avLst/>
          </a:prstGeom>
          <a:noFill/>
        </p:spPr>
        <p:txBody>
          <a:bodyPr wrap="square" anchor="t" lIns="0" rIns="0" tIns="0" bIns="0">
            <a:noAutofit/>
          </a:bodyPr>
          <a:lstStyle/>
          <a:p>
            <a:pPr algn="l">
              <a:lnSpc>
                <a:spcPct val="115000"/>
              </a:lnSpc>
              <a:spcAft>
                <a:spcPts val="0"/>
              </a:spcAft>
            </a:pPr>
            <a:r>
              <a:rPr sz="880" b="0" i="0">
                <a:solidFill>
                  <a:srgbClr val="7C8AA3"/>
                </a:solidFill>
                <a:latin typeface="Segoe UI"/>
              </a:rPr>
              <a:t>Capture small study sessions between classes.</a:t>
            </a:r>
          </a:p>
        </p:txBody>
      </p:sp>
      <p:sp>
        <p:nvSpPr>
          <p:cNvPr id="32" name="Rectangle 31"/>
          <p:cNvSpPr/>
          <p:nvPr/>
        </p:nvSpPr>
        <p:spPr>
          <a:xfrm>
            <a:off x="4517136" y="3145536"/>
            <a:ext cx="3108960" cy="5486"/>
          </a:xfrm>
          <a:prstGeom prst="rect">
            <a:avLst/>
          </a:prstGeom>
          <a:solidFill>
            <a:srgbClr val="E3E8F5"/>
          </a:solidFill>
          <a:ln>
            <a:noFill/>
          </a:ln>
          <a:effectLst/>
        </p:spPr>
        <p:txBody>
          <a:bodyPr rtlCol="0" anchor="ctr" wrap="square"/>
          <a:lstStyle/>
          <a:p>
            <a:pPr algn="ctr"/>
          </a:p>
        </p:txBody>
      </p:sp>
      <p:sp>
        <p:nvSpPr>
          <p:cNvPr id="33" name="TextBox 32"/>
          <p:cNvSpPr txBox="1"/>
          <p:nvPr/>
        </p:nvSpPr>
        <p:spPr>
          <a:xfrm>
            <a:off x="4517136" y="3255264"/>
            <a:ext cx="3127248" cy="219456"/>
          </a:xfrm>
          <a:prstGeom prst="rect">
            <a:avLst/>
          </a:prstGeom>
          <a:noFill/>
        </p:spPr>
        <p:txBody>
          <a:bodyPr wrap="square" anchor="t" lIns="0" rIns="0" tIns="0" bIns="0">
            <a:noAutofit/>
          </a:bodyPr>
          <a:lstStyle/>
          <a:p>
            <a:pPr algn="l">
              <a:lnSpc>
                <a:spcPct val="112000"/>
              </a:lnSpc>
              <a:spcAft>
                <a:spcPts val="0"/>
              </a:spcAft>
            </a:pPr>
            <a:r>
              <a:rPr sz="1240" b="1" i="0">
                <a:solidFill>
                  <a:srgbClr val="0F172A"/>
                </a:solidFill>
                <a:latin typeface="Segoe UI"/>
              </a:rPr>
              <a:t>Mentor view</a:t>
            </a:r>
          </a:p>
        </p:txBody>
      </p:sp>
      <p:sp>
        <p:nvSpPr>
          <p:cNvPr id="34" name="TextBox 33"/>
          <p:cNvSpPr txBox="1"/>
          <p:nvPr/>
        </p:nvSpPr>
        <p:spPr>
          <a:xfrm>
            <a:off x="4517136" y="3474720"/>
            <a:ext cx="3127248" cy="530352"/>
          </a:xfrm>
          <a:prstGeom prst="rect">
            <a:avLst/>
          </a:prstGeom>
          <a:noFill/>
        </p:spPr>
        <p:txBody>
          <a:bodyPr wrap="square" anchor="t" lIns="0" rIns="0" tIns="0" bIns="0">
            <a:noAutofit/>
          </a:bodyPr>
          <a:lstStyle/>
          <a:p>
            <a:pPr algn="l">
              <a:lnSpc>
                <a:spcPct val="115000"/>
              </a:lnSpc>
              <a:spcAft>
                <a:spcPts val="0"/>
              </a:spcAft>
            </a:pPr>
            <a:r>
              <a:rPr sz="880" b="0" i="0">
                <a:solidFill>
                  <a:srgbClr val="7C8AA3"/>
                </a:solidFill>
                <a:latin typeface="Segoe UI"/>
              </a:rPr>
              <a:t>A cohort view for teachers — aggregate, not surveillance.</a:t>
            </a:r>
          </a:p>
        </p:txBody>
      </p:sp>
      <p:sp>
        <p:nvSpPr>
          <p:cNvPr id="35" name="Rectangle 34"/>
          <p:cNvSpPr/>
          <p:nvPr/>
        </p:nvSpPr>
        <p:spPr>
          <a:xfrm>
            <a:off x="4517136" y="4041648"/>
            <a:ext cx="3108960" cy="5486"/>
          </a:xfrm>
          <a:prstGeom prst="rect">
            <a:avLst/>
          </a:prstGeom>
          <a:solidFill>
            <a:srgbClr val="E3E8F5"/>
          </a:solidFill>
          <a:ln>
            <a:noFill/>
          </a:ln>
          <a:effectLst/>
        </p:spPr>
        <p:txBody>
          <a:bodyPr rtlCol="0" anchor="ctr" wrap="square"/>
          <a:lstStyle/>
          <a:p>
            <a:pPr algn="ctr"/>
          </a:p>
        </p:txBody>
      </p:sp>
      <p:sp>
        <p:nvSpPr>
          <p:cNvPr id="36" name="TextBox 35"/>
          <p:cNvSpPr txBox="1"/>
          <p:nvPr/>
        </p:nvSpPr>
        <p:spPr>
          <a:xfrm>
            <a:off x="4517136" y="4151376"/>
            <a:ext cx="3127248" cy="219456"/>
          </a:xfrm>
          <a:prstGeom prst="rect">
            <a:avLst/>
          </a:prstGeom>
          <a:noFill/>
        </p:spPr>
        <p:txBody>
          <a:bodyPr wrap="square" anchor="t" lIns="0" rIns="0" tIns="0" bIns="0">
            <a:noAutofit/>
          </a:bodyPr>
          <a:lstStyle/>
          <a:p>
            <a:pPr algn="l">
              <a:lnSpc>
                <a:spcPct val="112000"/>
              </a:lnSpc>
              <a:spcAft>
                <a:spcPts val="0"/>
              </a:spcAft>
            </a:pPr>
            <a:r>
              <a:rPr sz="1240" b="1" i="0">
                <a:solidFill>
                  <a:srgbClr val="0F172A"/>
                </a:solidFill>
                <a:latin typeface="Segoe UI"/>
              </a:rPr>
              <a:t>Content review queue</a:t>
            </a:r>
          </a:p>
        </p:txBody>
      </p:sp>
      <p:sp>
        <p:nvSpPr>
          <p:cNvPr id="37" name="TextBox 36"/>
          <p:cNvSpPr txBox="1"/>
          <p:nvPr/>
        </p:nvSpPr>
        <p:spPr>
          <a:xfrm>
            <a:off x="4517136" y="4370832"/>
            <a:ext cx="3127248" cy="530352"/>
          </a:xfrm>
          <a:prstGeom prst="rect">
            <a:avLst/>
          </a:prstGeom>
          <a:noFill/>
        </p:spPr>
        <p:txBody>
          <a:bodyPr wrap="square" anchor="t" lIns="0" rIns="0" tIns="0" bIns="0">
            <a:noAutofit/>
          </a:bodyPr>
          <a:lstStyle/>
          <a:p>
            <a:pPr algn="l">
              <a:lnSpc>
                <a:spcPct val="115000"/>
              </a:lnSpc>
              <a:spcAft>
                <a:spcPts val="0"/>
              </a:spcAft>
            </a:pPr>
            <a:r>
              <a:rPr sz="880" b="0" i="0">
                <a:solidFill>
                  <a:srgbClr val="7C8AA3"/>
                </a:solidFill>
                <a:latin typeface="Segoe UI"/>
              </a:rPr>
              <a:t>Check AI-generated material before sharing.</a:t>
            </a:r>
          </a:p>
        </p:txBody>
      </p:sp>
      <p:sp>
        <p:nvSpPr>
          <p:cNvPr id="38" name="Rectangle 37"/>
          <p:cNvSpPr/>
          <p:nvPr/>
        </p:nvSpPr>
        <p:spPr>
          <a:xfrm>
            <a:off x="4517136" y="4956048"/>
            <a:ext cx="3108960" cy="5486"/>
          </a:xfrm>
          <a:prstGeom prst="rect">
            <a:avLst/>
          </a:prstGeom>
          <a:solidFill>
            <a:srgbClr val="E3E8F5"/>
          </a:solidFill>
          <a:ln>
            <a:noFill/>
          </a:ln>
          <a:effectLst/>
        </p:spPr>
        <p:txBody>
          <a:bodyPr rtlCol="0" anchor="ctr" wrap="square"/>
          <a:lstStyle/>
          <a:p>
            <a:pPr algn="ctr"/>
          </a:p>
        </p:txBody>
      </p:sp>
      <p:sp>
        <p:nvSpPr>
          <p:cNvPr id="39" name="TextBox 38"/>
          <p:cNvSpPr txBox="1"/>
          <p:nvPr/>
        </p:nvSpPr>
        <p:spPr>
          <a:xfrm>
            <a:off x="4517136" y="5047488"/>
            <a:ext cx="3108960" cy="164592"/>
          </a:xfrm>
          <a:prstGeom prst="rect">
            <a:avLst/>
          </a:prstGeom>
          <a:noFill/>
        </p:spPr>
        <p:txBody>
          <a:bodyPr wrap="square" anchor="t" lIns="0" rIns="0" tIns="0" bIns="0">
            <a:noAutofit/>
          </a:bodyPr>
          <a:lstStyle/>
          <a:p>
            <a:pPr algn="l">
              <a:lnSpc>
                <a:spcPct val="112000"/>
              </a:lnSpc>
              <a:spcAft>
                <a:spcPts val="0"/>
              </a:spcAft>
            </a:pPr>
            <a:r>
              <a:rPr sz="680" b="1" i="0">
                <a:solidFill>
                  <a:srgbClr val="4F5BD5"/>
                </a:solidFill>
                <a:latin typeface="Segoe UI"/>
              </a:rPr>
              <a:t>HOW WE WILL KNOW</a:t>
            </a:r>
          </a:p>
        </p:txBody>
      </p:sp>
      <p:sp>
        <p:nvSpPr>
          <p:cNvPr id="40" name="TextBox 39"/>
          <p:cNvSpPr txBox="1"/>
          <p:nvPr/>
        </p:nvSpPr>
        <p:spPr>
          <a:xfrm>
            <a:off x="4517136" y="5212080"/>
            <a:ext cx="3127248" cy="182880"/>
          </a:xfrm>
          <a:prstGeom prst="rect">
            <a:avLst/>
          </a:prstGeom>
          <a:noFill/>
        </p:spPr>
        <p:txBody>
          <a:bodyPr wrap="square" anchor="t" lIns="0" rIns="0" tIns="0" bIns="0">
            <a:noAutofit/>
          </a:bodyPr>
          <a:lstStyle/>
          <a:p>
            <a:pPr algn="l">
              <a:lnSpc>
                <a:spcPct val="112000"/>
              </a:lnSpc>
              <a:spcAft>
                <a:spcPts val="0"/>
              </a:spcAft>
            </a:pPr>
            <a:r>
              <a:rPr sz="740" b="1" i="0">
                <a:solidFill>
                  <a:srgbClr val="475569"/>
                </a:solidFill>
                <a:latin typeface="Segoe UI"/>
              </a:rPr>
              <a:t>weekly active students · review turnaround</a:t>
            </a:r>
          </a:p>
        </p:txBody>
      </p:sp>
      <p:sp>
        <p:nvSpPr>
          <p:cNvPr id="41" name="Rounded Rectangle 40"/>
          <p:cNvSpPr/>
          <p:nvPr/>
        </p:nvSpPr>
        <p:spPr>
          <a:xfrm>
            <a:off x="8060436" y="1783080"/>
            <a:ext cx="3520440" cy="3675887"/>
          </a:xfrm>
          <a:prstGeom prst="roundRect">
            <a:avLst>
              <a:gd name="adj" fmla="val 5000"/>
            </a:avLst>
          </a:prstGeom>
          <a:solidFill>
            <a:srgbClr val="E8ECF8"/>
          </a:solidFill>
          <a:ln>
            <a:noFill/>
          </a:ln>
          <a:effectLst/>
        </p:spPr>
        <p:txBody>
          <a:bodyPr rtlCol="0" anchor="ctr" wrap="square"/>
          <a:lstStyle/>
          <a:p>
            <a:pPr algn="ctr"/>
          </a:p>
        </p:txBody>
      </p:sp>
      <p:sp>
        <p:nvSpPr>
          <p:cNvPr id="42" name="Rounded Rectangle 41"/>
          <p:cNvSpPr/>
          <p:nvPr/>
        </p:nvSpPr>
        <p:spPr>
          <a:xfrm>
            <a:off x="8028431" y="1737360"/>
            <a:ext cx="3520440" cy="3675887"/>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43" name="Rounded Rectangle 42"/>
          <p:cNvSpPr/>
          <p:nvPr/>
        </p:nvSpPr>
        <p:spPr>
          <a:xfrm>
            <a:off x="8028431" y="1737360"/>
            <a:ext cx="3520440" cy="438912"/>
          </a:xfrm>
          <a:prstGeom prst="roundRect">
            <a:avLst>
              <a:gd name="adj" fmla="val 5000"/>
            </a:avLst>
          </a:prstGeom>
          <a:solidFill>
            <a:srgbClr val="F3EEFF"/>
          </a:solidFill>
          <a:ln>
            <a:noFill/>
          </a:ln>
          <a:effectLst/>
        </p:spPr>
        <p:txBody>
          <a:bodyPr rtlCol="0" anchor="ctr" wrap="square"/>
          <a:lstStyle/>
          <a:p>
            <a:pPr algn="ctr"/>
          </a:p>
        </p:txBody>
      </p:sp>
      <p:sp>
        <p:nvSpPr>
          <p:cNvPr id="44" name="TextBox 43"/>
          <p:cNvSpPr txBox="1"/>
          <p:nvPr/>
        </p:nvSpPr>
        <p:spPr>
          <a:xfrm>
            <a:off x="8211311" y="1856231"/>
            <a:ext cx="3108960" cy="201168"/>
          </a:xfrm>
          <a:prstGeom prst="rect">
            <a:avLst/>
          </a:prstGeom>
          <a:noFill/>
        </p:spPr>
        <p:txBody>
          <a:bodyPr wrap="square" anchor="t" lIns="0" rIns="0" tIns="0" bIns="0">
            <a:noAutofit/>
          </a:bodyPr>
          <a:lstStyle/>
          <a:p>
            <a:pPr algn="l">
              <a:lnSpc>
                <a:spcPct val="112000"/>
              </a:lnSpc>
              <a:spcAft>
                <a:spcPts val="0"/>
              </a:spcAft>
            </a:pPr>
            <a:r>
              <a:rPr sz="860" b="1" i="0">
                <a:solidFill>
                  <a:srgbClr val="8B5CF6"/>
                </a:solidFill>
                <a:latin typeface="Segoe UI"/>
              </a:rPr>
              <a:t>BEYOND</a:t>
            </a:r>
          </a:p>
        </p:txBody>
      </p:sp>
      <p:sp>
        <p:nvSpPr>
          <p:cNvPr id="45" name="TextBox 44"/>
          <p:cNvSpPr txBox="1"/>
          <p:nvPr/>
        </p:nvSpPr>
        <p:spPr>
          <a:xfrm>
            <a:off x="8211311" y="2359152"/>
            <a:ext cx="3127248" cy="219456"/>
          </a:xfrm>
          <a:prstGeom prst="rect">
            <a:avLst/>
          </a:prstGeom>
          <a:noFill/>
        </p:spPr>
        <p:txBody>
          <a:bodyPr wrap="square" anchor="t" lIns="0" rIns="0" tIns="0" bIns="0">
            <a:noAutofit/>
          </a:bodyPr>
          <a:lstStyle/>
          <a:p>
            <a:pPr algn="l">
              <a:lnSpc>
                <a:spcPct val="112000"/>
              </a:lnSpc>
              <a:spcAft>
                <a:spcPts val="0"/>
              </a:spcAft>
            </a:pPr>
            <a:r>
              <a:rPr sz="1240" b="1" i="0">
                <a:solidFill>
                  <a:srgbClr val="0F172A"/>
                </a:solidFill>
                <a:latin typeface="Segoe UI"/>
              </a:rPr>
              <a:t>Multi-language content</a:t>
            </a:r>
          </a:p>
        </p:txBody>
      </p:sp>
      <p:sp>
        <p:nvSpPr>
          <p:cNvPr id="46" name="TextBox 45"/>
          <p:cNvSpPr txBox="1"/>
          <p:nvPr/>
        </p:nvSpPr>
        <p:spPr>
          <a:xfrm>
            <a:off x="8211311" y="2578608"/>
            <a:ext cx="3127248" cy="530352"/>
          </a:xfrm>
          <a:prstGeom prst="rect">
            <a:avLst/>
          </a:prstGeom>
          <a:noFill/>
        </p:spPr>
        <p:txBody>
          <a:bodyPr wrap="square" anchor="t" lIns="0" rIns="0" tIns="0" bIns="0">
            <a:noAutofit/>
          </a:bodyPr>
          <a:lstStyle/>
          <a:p>
            <a:pPr algn="l">
              <a:lnSpc>
                <a:spcPct val="115000"/>
              </a:lnSpc>
              <a:spcAft>
                <a:spcPts val="0"/>
              </a:spcAft>
            </a:pPr>
            <a:r>
              <a:rPr sz="880" b="0" i="0">
                <a:solidFill>
                  <a:srgbClr val="7C8AA3"/>
                </a:solidFill>
                <a:latin typeface="Segoe UI"/>
              </a:rPr>
              <a:t>Localise notes and questions, not just the interface.</a:t>
            </a:r>
          </a:p>
        </p:txBody>
      </p:sp>
      <p:sp>
        <p:nvSpPr>
          <p:cNvPr id="47" name="Rectangle 46"/>
          <p:cNvSpPr/>
          <p:nvPr/>
        </p:nvSpPr>
        <p:spPr>
          <a:xfrm>
            <a:off x="8211311" y="3145536"/>
            <a:ext cx="3108960" cy="5486"/>
          </a:xfrm>
          <a:prstGeom prst="rect">
            <a:avLst/>
          </a:prstGeom>
          <a:solidFill>
            <a:srgbClr val="E3E8F5"/>
          </a:solidFill>
          <a:ln>
            <a:noFill/>
          </a:ln>
          <a:effectLst/>
        </p:spPr>
        <p:txBody>
          <a:bodyPr rtlCol="0" anchor="ctr" wrap="square"/>
          <a:lstStyle/>
          <a:p>
            <a:pPr algn="ctr"/>
          </a:p>
        </p:txBody>
      </p:sp>
      <p:sp>
        <p:nvSpPr>
          <p:cNvPr id="48" name="TextBox 47"/>
          <p:cNvSpPr txBox="1"/>
          <p:nvPr/>
        </p:nvSpPr>
        <p:spPr>
          <a:xfrm>
            <a:off x="8211311" y="3255264"/>
            <a:ext cx="3127248" cy="219456"/>
          </a:xfrm>
          <a:prstGeom prst="rect">
            <a:avLst/>
          </a:prstGeom>
          <a:noFill/>
        </p:spPr>
        <p:txBody>
          <a:bodyPr wrap="square" anchor="t" lIns="0" rIns="0" tIns="0" bIns="0">
            <a:noAutofit/>
          </a:bodyPr>
          <a:lstStyle/>
          <a:p>
            <a:pPr algn="l">
              <a:lnSpc>
                <a:spcPct val="112000"/>
              </a:lnSpc>
              <a:spcAft>
                <a:spcPts val="0"/>
              </a:spcAft>
            </a:pPr>
            <a:r>
              <a:rPr sz="1240" b="1" i="0">
                <a:solidFill>
                  <a:srgbClr val="0F172A"/>
                </a:solidFill>
                <a:latin typeface="Segoe UI"/>
              </a:rPr>
              <a:t>LMS integration</a:t>
            </a:r>
          </a:p>
        </p:txBody>
      </p:sp>
      <p:sp>
        <p:nvSpPr>
          <p:cNvPr id="49" name="TextBox 48"/>
          <p:cNvSpPr txBox="1"/>
          <p:nvPr/>
        </p:nvSpPr>
        <p:spPr>
          <a:xfrm>
            <a:off x="8211311" y="3474720"/>
            <a:ext cx="3127248" cy="530352"/>
          </a:xfrm>
          <a:prstGeom prst="rect">
            <a:avLst/>
          </a:prstGeom>
          <a:noFill/>
        </p:spPr>
        <p:txBody>
          <a:bodyPr wrap="square" anchor="t" lIns="0" rIns="0" tIns="0" bIns="0">
            <a:noAutofit/>
          </a:bodyPr>
          <a:lstStyle/>
          <a:p>
            <a:pPr algn="l">
              <a:lnSpc>
                <a:spcPct val="115000"/>
              </a:lnSpc>
              <a:spcAft>
                <a:spcPts val="0"/>
              </a:spcAft>
            </a:pPr>
            <a:r>
              <a:rPr sz="880" b="0" i="0">
                <a:solidFill>
                  <a:srgbClr val="7C8AA3"/>
                </a:solidFill>
                <a:latin typeface="Segoe UI"/>
              </a:rPr>
              <a:t>LTI-style hand-off to institutional course spaces.</a:t>
            </a:r>
          </a:p>
        </p:txBody>
      </p:sp>
      <p:sp>
        <p:nvSpPr>
          <p:cNvPr id="50" name="Rectangle 49"/>
          <p:cNvSpPr/>
          <p:nvPr/>
        </p:nvSpPr>
        <p:spPr>
          <a:xfrm>
            <a:off x="8211311" y="4041648"/>
            <a:ext cx="3108960" cy="5486"/>
          </a:xfrm>
          <a:prstGeom prst="rect">
            <a:avLst/>
          </a:prstGeom>
          <a:solidFill>
            <a:srgbClr val="E3E8F5"/>
          </a:solidFill>
          <a:ln>
            <a:noFill/>
          </a:ln>
          <a:effectLst/>
        </p:spPr>
        <p:txBody>
          <a:bodyPr rtlCol="0" anchor="ctr" wrap="square"/>
          <a:lstStyle/>
          <a:p>
            <a:pPr algn="ctr"/>
          </a:p>
        </p:txBody>
      </p:sp>
      <p:sp>
        <p:nvSpPr>
          <p:cNvPr id="51" name="TextBox 50"/>
          <p:cNvSpPr txBox="1"/>
          <p:nvPr/>
        </p:nvSpPr>
        <p:spPr>
          <a:xfrm>
            <a:off x="8211311" y="4151376"/>
            <a:ext cx="3127248" cy="219456"/>
          </a:xfrm>
          <a:prstGeom prst="rect">
            <a:avLst/>
          </a:prstGeom>
          <a:noFill/>
        </p:spPr>
        <p:txBody>
          <a:bodyPr wrap="square" anchor="t" lIns="0" rIns="0" tIns="0" bIns="0">
            <a:noAutofit/>
          </a:bodyPr>
          <a:lstStyle/>
          <a:p>
            <a:pPr algn="l">
              <a:lnSpc>
                <a:spcPct val="112000"/>
              </a:lnSpc>
              <a:spcAft>
                <a:spcPts val="0"/>
              </a:spcAft>
            </a:pPr>
            <a:r>
              <a:rPr sz="1240" b="1" i="0">
                <a:solidFill>
                  <a:srgbClr val="0F172A"/>
                </a:solidFill>
                <a:latin typeface="Segoe UI"/>
              </a:rPr>
              <a:t>Longitudinal study</a:t>
            </a:r>
          </a:p>
        </p:txBody>
      </p:sp>
      <p:sp>
        <p:nvSpPr>
          <p:cNvPr id="52" name="TextBox 51"/>
          <p:cNvSpPr txBox="1"/>
          <p:nvPr/>
        </p:nvSpPr>
        <p:spPr>
          <a:xfrm>
            <a:off x="8211311" y="4370832"/>
            <a:ext cx="3127248" cy="530352"/>
          </a:xfrm>
          <a:prstGeom prst="rect">
            <a:avLst/>
          </a:prstGeom>
          <a:noFill/>
        </p:spPr>
        <p:txBody>
          <a:bodyPr wrap="square" anchor="t" lIns="0" rIns="0" tIns="0" bIns="0">
            <a:noAutofit/>
          </a:bodyPr>
          <a:lstStyle/>
          <a:p>
            <a:pPr algn="l">
              <a:lnSpc>
                <a:spcPct val="115000"/>
              </a:lnSpc>
              <a:spcAft>
                <a:spcPts val="0"/>
              </a:spcAft>
            </a:pPr>
            <a:r>
              <a:rPr sz="880" b="0" i="0">
                <a:solidFill>
                  <a:srgbClr val="7C8AA3"/>
                </a:solidFill>
                <a:latin typeface="Segoe UI"/>
              </a:rPr>
              <a:t>A multi-semester evaluation with an education department.</a:t>
            </a:r>
          </a:p>
        </p:txBody>
      </p:sp>
      <p:sp>
        <p:nvSpPr>
          <p:cNvPr id="53" name="Rectangle 52"/>
          <p:cNvSpPr/>
          <p:nvPr/>
        </p:nvSpPr>
        <p:spPr>
          <a:xfrm>
            <a:off x="8211311" y="4956048"/>
            <a:ext cx="3108960" cy="5486"/>
          </a:xfrm>
          <a:prstGeom prst="rect">
            <a:avLst/>
          </a:prstGeom>
          <a:solidFill>
            <a:srgbClr val="E3E8F5"/>
          </a:solidFill>
          <a:ln>
            <a:noFill/>
          </a:ln>
          <a:effectLst/>
        </p:spPr>
        <p:txBody>
          <a:bodyPr rtlCol="0" anchor="ctr" wrap="square"/>
          <a:lstStyle/>
          <a:p>
            <a:pPr algn="ctr"/>
          </a:p>
        </p:txBody>
      </p:sp>
      <p:sp>
        <p:nvSpPr>
          <p:cNvPr id="54" name="TextBox 53"/>
          <p:cNvSpPr txBox="1"/>
          <p:nvPr/>
        </p:nvSpPr>
        <p:spPr>
          <a:xfrm>
            <a:off x="8211311" y="5047488"/>
            <a:ext cx="3108960" cy="164592"/>
          </a:xfrm>
          <a:prstGeom prst="rect">
            <a:avLst/>
          </a:prstGeom>
          <a:noFill/>
        </p:spPr>
        <p:txBody>
          <a:bodyPr wrap="square" anchor="t" lIns="0" rIns="0" tIns="0" bIns="0">
            <a:noAutofit/>
          </a:bodyPr>
          <a:lstStyle/>
          <a:p>
            <a:pPr algn="l">
              <a:lnSpc>
                <a:spcPct val="112000"/>
              </a:lnSpc>
              <a:spcAft>
                <a:spcPts val="0"/>
              </a:spcAft>
            </a:pPr>
            <a:r>
              <a:rPr sz="680" b="1" i="0">
                <a:solidFill>
                  <a:srgbClr val="8B5CF6"/>
                </a:solidFill>
                <a:latin typeface="Segoe UI"/>
              </a:rPr>
              <a:t>HOW WE WILL KNOW</a:t>
            </a:r>
          </a:p>
        </p:txBody>
      </p:sp>
      <p:sp>
        <p:nvSpPr>
          <p:cNvPr id="55" name="TextBox 54"/>
          <p:cNvSpPr txBox="1"/>
          <p:nvPr/>
        </p:nvSpPr>
        <p:spPr>
          <a:xfrm>
            <a:off x="8211311" y="5212080"/>
            <a:ext cx="3127248" cy="182880"/>
          </a:xfrm>
          <a:prstGeom prst="rect">
            <a:avLst/>
          </a:prstGeom>
          <a:noFill/>
        </p:spPr>
        <p:txBody>
          <a:bodyPr wrap="square" anchor="t" lIns="0" rIns="0" tIns="0" bIns="0">
            <a:noAutofit/>
          </a:bodyPr>
          <a:lstStyle/>
          <a:p>
            <a:pPr algn="l">
              <a:lnSpc>
                <a:spcPct val="112000"/>
              </a:lnSpc>
              <a:spcAft>
                <a:spcPts val="0"/>
              </a:spcAft>
            </a:pPr>
            <a:r>
              <a:rPr sz="740" b="1" i="0">
                <a:solidFill>
                  <a:srgbClr val="475569"/>
                </a:solidFill>
                <a:latin typeface="Segoe UI"/>
              </a:rPr>
              <a:t>multi-semester retention and outcomes</a:t>
            </a:r>
          </a:p>
        </p:txBody>
      </p:sp>
      <p:cxnSp>
        <p:nvCxnSpPr>
          <p:cNvPr id="56" name="Connector 55"/>
          <p:cNvCxnSpPr/>
          <p:nvPr/>
        </p:nvCxnSpPr>
        <p:spPr>
          <a:xfrm>
            <a:off x="640080" y="5687568"/>
            <a:ext cx="10908792" cy="0"/>
          </a:xfrm>
          <a:prstGeom prst="line">
            <a:avLst/>
          </a:prstGeom>
          <a:ln w="16510">
            <a:solidFill>
              <a:srgbClr val="D5DCEE"/>
            </a:solidFill>
            <a:tailEnd type="triangle" w="med" len="med"/>
          </a:ln>
          <a:effectLst/>
        </p:spPr>
      </p:cxnSp>
      <p:sp>
        <p:nvSpPr>
          <p:cNvPr id="57" name="Oval 56"/>
          <p:cNvSpPr/>
          <p:nvPr/>
        </p:nvSpPr>
        <p:spPr>
          <a:xfrm>
            <a:off x="2359152" y="5614416"/>
            <a:ext cx="146304" cy="146304"/>
          </a:xfrm>
          <a:prstGeom prst="ellipse">
            <a:avLst/>
          </a:prstGeom>
          <a:solidFill>
            <a:srgbClr val="0EA5E9"/>
          </a:solidFill>
          <a:ln>
            <a:noFill/>
          </a:ln>
          <a:effectLst/>
        </p:spPr>
        <p:txBody>
          <a:bodyPr rtlCol="0" anchor="ctr"/>
          <a:lstStyle/>
          <a:p>
            <a:pPr algn="ctr"/>
          </a:p>
        </p:txBody>
      </p:sp>
      <p:sp>
        <p:nvSpPr>
          <p:cNvPr id="58" name="Oval 57"/>
          <p:cNvSpPr/>
          <p:nvPr/>
        </p:nvSpPr>
        <p:spPr>
          <a:xfrm>
            <a:off x="6053328" y="5614416"/>
            <a:ext cx="146304" cy="146304"/>
          </a:xfrm>
          <a:prstGeom prst="ellipse">
            <a:avLst/>
          </a:prstGeom>
          <a:solidFill>
            <a:srgbClr val="4F5BD5"/>
          </a:solidFill>
          <a:ln>
            <a:noFill/>
          </a:ln>
          <a:effectLst/>
        </p:spPr>
        <p:txBody>
          <a:bodyPr rtlCol="0" anchor="ctr"/>
          <a:lstStyle/>
          <a:p>
            <a:pPr algn="ctr"/>
          </a:p>
        </p:txBody>
      </p:sp>
      <p:sp>
        <p:nvSpPr>
          <p:cNvPr id="59" name="Oval 58"/>
          <p:cNvSpPr/>
          <p:nvPr/>
        </p:nvSpPr>
        <p:spPr>
          <a:xfrm>
            <a:off x="9747504" y="5614416"/>
            <a:ext cx="146304" cy="146304"/>
          </a:xfrm>
          <a:prstGeom prst="ellipse">
            <a:avLst/>
          </a:prstGeom>
          <a:solidFill>
            <a:srgbClr val="8B5CF6"/>
          </a:solidFill>
          <a:ln>
            <a:noFill/>
          </a:ln>
          <a:effectLst/>
        </p:spPr>
        <p:txBody>
          <a:bodyPr rtlCol="0" anchor="ctr"/>
          <a:lstStyle/>
          <a:p>
            <a:pPr algn="ctr"/>
          </a:p>
        </p:txBody>
      </p:sp>
      <p:sp>
        <p:nvSpPr>
          <p:cNvPr id="60" name="TextBox 59"/>
          <p:cNvSpPr txBox="1"/>
          <p:nvPr/>
        </p:nvSpPr>
        <p:spPr>
          <a:xfrm>
            <a:off x="640080" y="5870448"/>
            <a:ext cx="10881360" cy="274320"/>
          </a:xfrm>
          <a:prstGeom prst="rect">
            <a:avLst/>
          </a:prstGeom>
          <a:noFill/>
        </p:spPr>
        <p:txBody>
          <a:bodyPr wrap="square" anchor="t" lIns="0" rIns="0" tIns="0" bIns="0">
            <a:noAutofit/>
          </a:bodyPr>
          <a:lstStyle/>
          <a:p>
            <a:pPr algn="l">
              <a:lnSpc>
                <a:spcPct val="112000"/>
              </a:lnSpc>
              <a:spcAft>
                <a:spcPts val="0"/>
              </a:spcAft>
            </a:pPr>
            <a:r>
              <a:rPr sz="1300" b="1" i="0">
                <a:solidFill>
                  <a:srgbClr val="0F172A"/>
                </a:solidFill>
                <a:latin typeface="Segoe UI"/>
              </a:rPr>
              <a:t>Prove the loop helps a student learn before adding surface area.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g_aurora.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40080" y="411480"/>
            <a:ext cx="164592" cy="164592"/>
          </a:xfrm>
          <a:prstGeom prst="roundRect">
            <a:avLst>
              <a:gd name="adj" fmla="val 25000"/>
            </a:avLst>
          </a:prstGeom>
          <a:gradFill rotWithShape="1">
            <a:gsLst>
              <a:gs pos="0">
                <a:srgbClr val="0EA5E9"/>
              </a:gs>
              <a:gs pos="100000">
                <a:srgbClr val="4F5BD5"/>
              </a:gs>
            </a:gsLst>
            <a:lin scaled="0" ang="19500000"/>
          </a:gradFill>
          <a:ln>
            <a:noFill/>
          </a:ln>
          <a:effectLst/>
        </p:spPr>
        <p:txBody>
          <a:bodyPr rtlCol="0" anchor="ctr"/>
          <a:lstStyle/>
          <a:p>
            <a:pPr algn="ctr"/>
          </a:p>
        </p:txBody>
      </p:sp>
      <p:sp>
        <p:nvSpPr>
          <p:cNvPr id="4" name="TextBox 3"/>
          <p:cNvSpPr txBox="1"/>
          <p:nvPr/>
        </p:nvSpPr>
        <p:spPr>
          <a:xfrm>
            <a:off x="886968" y="365760"/>
            <a:ext cx="1828800" cy="219456"/>
          </a:xfrm>
          <a:prstGeom prst="rect">
            <a:avLst/>
          </a:prstGeom>
          <a:noFill/>
        </p:spPr>
        <p:txBody>
          <a:bodyPr wrap="square" anchor="t" lIns="0" rIns="0" tIns="0" bIns="0">
            <a:noAutofit/>
          </a:bodyPr>
          <a:lstStyle/>
          <a:p>
            <a:pPr algn="l">
              <a:lnSpc>
                <a:spcPct val="112000"/>
              </a:lnSpc>
              <a:spcAft>
                <a:spcPts val="0"/>
              </a:spcAft>
            </a:pPr>
            <a:r>
              <a:rPr sz="950" b="1" i="0">
                <a:solidFill>
                  <a:srgbClr val="0F172A"/>
                </a:solidFill>
                <a:latin typeface="Segoe UI"/>
              </a:rPr>
              <a:t>StudyMapper</a:t>
            </a:r>
          </a:p>
        </p:txBody>
      </p:sp>
      <p:sp>
        <p:nvSpPr>
          <p:cNvPr id="5" name="TextBox 4"/>
          <p:cNvSpPr txBox="1"/>
          <p:nvPr/>
        </p:nvSpPr>
        <p:spPr>
          <a:xfrm>
            <a:off x="6035040" y="374904"/>
            <a:ext cx="5513832" cy="201168"/>
          </a:xfrm>
          <a:prstGeom prst="rect">
            <a:avLst/>
          </a:prstGeom>
          <a:noFill/>
        </p:spPr>
        <p:txBody>
          <a:bodyPr wrap="square" anchor="t" lIns="0" rIns="0" tIns="0" bIns="0">
            <a:noAutofit/>
          </a:bodyPr>
          <a:lstStyle/>
          <a:p>
            <a:pPr algn="r">
              <a:lnSpc>
                <a:spcPct val="112000"/>
              </a:lnSpc>
              <a:spcAft>
                <a:spcPts val="0"/>
              </a:spcAft>
            </a:pPr>
            <a:r>
              <a:rPr sz="950" b="1" i="0">
                <a:solidFill>
                  <a:srgbClr val="4F5BD5"/>
                </a:solidFill>
                <a:latin typeface="Segoe UI"/>
              </a:rPr>
              <a:t>12 · REFERENCES</a:t>
            </a:r>
          </a:p>
        </p:txBody>
      </p:sp>
      <p:sp>
        <p:nvSpPr>
          <p:cNvPr id="6" name="TextBox 5"/>
          <p:cNvSpPr txBox="1"/>
          <p:nvPr/>
        </p:nvSpPr>
        <p:spPr>
          <a:xfrm>
            <a:off x="640080" y="658368"/>
            <a:ext cx="10908792" cy="566928"/>
          </a:xfrm>
          <a:prstGeom prst="rect">
            <a:avLst/>
          </a:prstGeom>
          <a:noFill/>
        </p:spPr>
        <p:txBody>
          <a:bodyPr wrap="square" anchor="t" lIns="0" rIns="0" tIns="0" bIns="0">
            <a:noAutofit/>
          </a:bodyPr>
          <a:lstStyle/>
          <a:p>
            <a:pPr algn="l">
              <a:lnSpc>
                <a:spcPct val="98000"/>
              </a:lnSpc>
              <a:spcAft>
                <a:spcPts val="0"/>
              </a:spcAft>
            </a:pPr>
            <a:r>
              <a:rPr sz="3300" b="1" i="0">
                <a:solidFill>
                  <a:srgbClr val="0F172A"/>
                </a:solidFill>
                <a:latin typeface="Segoe UI"/>
              </a:rPr>
              <a:t>Sources used to verify this work</a:t>
            </a:r>
          </a:p>
        </p:txBody>
      </p:sp>
      <p:sp>
        <p:nvSpPr>
          <p:cNvPr id="7" name="TextBox 6"/>
          <p:cNvSpPr txBox="1"/>
          <p:nvPr/>
        </p:nvSpPr>
        <p:spPr>
          <a:xfrm>
            <a:off x="640080" y="1243584"/>
            <a:ext cx="10469880" cy="438912"/>
          </a:xfrm>
          <a:prstGeom prst="rect">
            <a:avLst/>
          </a:prstGeom>
          <a:noFill/>
        </p:spPr>
        <p:txBody>
          <a:bodyPr wrap="square" anchor="t" lIns="0" rIns="0" tIns="0" bIns="0">
            <a:noAutofit/>
          </a:bodyPr>
          <a:lstStyle/>
          <a:p>
            <a:pPr algn="l">
              <a:lnSpc>
                <a:spcPct val="114000"/>
              </a:lnSpc>
              <a:spcAft>
                <a:spcPts val="0"/>
              </a:spcAft>
            </a:pPr>
            <a:r>
              <a:rPr sz="1450" b="0" i="0">
                <a:solidFill>
                  <a:srgbClr val="475569"/>
                </a:solidFill>
                <a:latin typeface="Segoe UI"/>
              </a:rPr>
              <a:t>Primary sources first; technical documentation only where it was needed to confirm a claim.</a:t>
            </a:r>
          </a:p>
        </p:txBody>
      </p:sp>
      <p:sp>
        <p:nvSpPr>
          <p:cNvPr id="8" name="Rectangle 7"/>
          <p:cNvSpPr/>
          <p:nvPr/>
        </p:nvSpPr>
        <p:spPr>
          <a:xfrm>
            <a:off x="640080" y="6437376"/>
            <a:ext cx="10908792" cy="7315"/>
          </a:xfrm>
          <a:prstGeom prst="rect">
            <a:avLst/>
          </a:prstGeom>
          <a:solidFill>
            <a:srgbClr val="D5DCEE"/>
          </a:solidFill>
          <a:ln>
            <a:noFill/>
          </a:ln>
          <a:effectLst/>
        </p:spPr>
        <p:txBody>
          <a:bodyPr rtlCol="0" anchor="ctr" wrap="square"/>
          <a:lstStyle/>
          <a:p>
            <a:pPr algn="ctr"/>
          </a:p>
        </p:txBody>
      </p:sp>
      <p:sp>
        <p:nvSpPr>
          <p:cNvPr id="9" name="TextBox 8"/>
          <p:cNvSpPr txBox="1"/>
          <p:nvPr/>
        </p:nvSpPr>
        <p:spPr>
          <a:xfrm>
            <a:off x="640080" y="6519672"/>
            <a:ext cx="7863840" cy="164592"/>
          </a:xfrm>
          <a:prstGeom prst="rect">
            <a:avLst/>
          </a:prstGeom>
          <a:noFill/>
        </p:spPr>
        <p:txBody>
          <a:bodyPr wrap="square" anchor="t" lIns="0" rIns="0" tIns="0" bIns="0">
            <a:noAutofit/>
          </a:bodyPr>
          <a:lstStyle/>
          <a:p>
            <a:pPr algn="l">
              <a:lnSpc>
                <a:spcPct val="112000"/>
              </a:lnSpc>
              <a:spcAft>
                <a:spcPts val="0"/>
              </a:spcAft>
            </a:pPr>
            <a:r>
              <a:rPr sz="800" b="0" i="0">
                <a:solidFill>
                  <a:srgbClr val="7C8AA3"/>
                </a:solidFill>
                <a:latin typeface="Segoe UI"/>
              </a:rPr>
              <a:t>StudyMapper  ·  AI-Driven Personalized Learning &amp; Academic Management</a:t>
            </a:r>
          </a:p>
        </p:txBody>
      </p:sp>
      <p:sp>
        <p:nvSpPr>
          <p:cNvPr id="10" name="TextBox 9"/>
          <p:cNvSpPr txBox="1"/>
          <p:nvPr/>
        </p:nvSpPr>
        <p:spPr>
          <a:xfrm>
            <a:off x="10058400" y="6510528"/>
            <a:ext cx="1490472" cy="182880"/>
          </a:xfrm>
          <a:prstGeom prst="rect">
            <a:avLst/>
          </a:prstGeom>
          <a:noFill/>
        </p:spPr>
        <p:txBody>
          <a:bodyPr wrap="square" anchor="t" lIns="0" rIns="0" tIns="0" bIns="0">
            <a:noAutofit/>
          </a:bodyPr>
          <a:lstStyle/>
          <a:p>
            <a:pPr algn="r">
              <a:lnSpc>
                <a:spcPct val="112000"/>
              </a:lnSpc>
              <a:spcAft>
                <a:spcPts val="0"/>
              </a:spcAft>
            </a:pPr>
            <a:r>
              <a:rPr sz="880" b="1" i="0">
                <a:solidFill>
                  <a:srgbClr val="7C8AA3"/>
                </a:solidFill>
                <a:latin typeface="Segoe UI"/>
              </a:rPr>
              <a:t>13 / 13</a:t>
            </a:r>
          </a:p>
        </p:txBody>
      </p:sp>
      <p:sp>
        <p:nvSpPr>
          <p:cNvPr id="11" name="Rounded Rectangle 10"/>
          <p:cNvSpPr/>
          <p:nvPr/>
        </p:nvSpPr>
        <p:spPr>
          <a:xfrm>
            <a:off x="672084" y="1783080"/>
            <a:ext cx="5349240" cy="4160520"/>
          </a:xfrm>
          <a:prstGeom prst="roundRect">
            <a:avLst>
              <a:gd name="adj" fmla="val 5000"/>
            </a:avLst>
          </a:prstGeom>
          <a:solidFill>
            <a:srgbClr val="E8ECF8"/>
          </a:solidFill>
          <a:ln>
            <a:noFill/>
          </a:ln>
          <a:effectLst/>
        </p:spPr>
        <p:txBody>
          <a:bodyPr rtlCol="0" anchor="ctr" wrap="square"/>
          <a:lstStyle/>
          <a:p>
            <a:pPr algn="ctr"/>
          </a:p>
        </p:txBody>
      </p:sp>
      <p:sp>
        <p:nvSpPr>
          <p:cNvPr id="12" name="Rounded Rectangle 11"/>
          <p:cNvSpPr/>
          <p:nvPr/>
        </p:nvSpPr>
        <p:spPr>
          <a:xfrm>
            <a:off x="640080" y="1737360"/>
            <a:ext cx="5349240" cy="4160520"/>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13" name="TextBox 12"/>
          <p:cNvSpPr txBox="1"/>
          <p:nvPr/>
        </p:nvSpPr>
        <p:spPr>
          <a:xfrm>
            <a:off x="841247" y="1865376"/>
            <a:ext cx="4206240" cy="182880"/>
          </a:xfrm>
          <a:prstGeom prst="rect">
            <a:avLst/>
          </a:prstGeom>
          <a:noFill/>
        </p:spPr>
        <p:txBody>
          <a:bodyPr wrap="square" anchor="t" lIns="0" rIns="0" tIns="0" bIns="0">
            <a:noAutofit/>
          </a:bodyPr>
          <a:lstStyle/>
          <a:p>
            <a:pPr algn="l">
              <a:lnSpc>
                <a:spcPct val="112000"/>
              </a:lnSpc>
              <a:spcAft>
                <a:spcPts val="0"/>
              </a:spcAft>
            </a:pPr>
            <a:r>
              <a:rPr sz="819" b="1" i="0">
                <a:solidFill>
                  <a:srgbClr val="4F5BD5"/>
                </a:solidFill>
                <a:latin typeface="Segoe UI"/>
              </a:rPr>
              <a:t>PRIMARY &amp; PLATFORM</a:t>
            </a:r>
          </a:p>
        </p:txBody>
      </p:sp>
      <p:sp>
        <p:nvSpPr>
          <p:cNvPr id="14" name="TextBox 13"/>
          <p:cNvSpPr txBox="1"/>
          <p:nvPr/>
        </p:nvSpPr>
        <p:spPr>
          <a:xfrm>
            <a:off x="841247" y="2194560"/>
            <a:ext cx="310896" cy="182880"/>
          </a:xfrm>
          <a:prstGeom prst="rect">
            <a:avLst/>
          </a:prstGeom>
          <a:noFill/>
        </p:spPr>
        <p:txBody>
          <a:bodyPr wrap="square" anchor="t" lIns="0" rIns="0" tIns="0" bIns="0">
            <a:noAutofit/>
          </a:bodyPr>
          <a:lstStyle/>
          <a:p>
            <a:pPr algn="l">
              <a:lnSpc>
                <a:spcPct val="112000"/>
              </a:lnSpc>
              <a:spcAft>
                <a:spcPts val="0"/>
              </a:spcAft>
            </a:pPr>
            <a:r>
              <a:rPr sz="860" b="1" i="0">
                <a:solidFill>
                  <a:srgbClr val="4F5BD5"/>
                </a:solidFill>
                <a:latin typeface="Segoe UI"/>
              </a:rPr>
              <a:t>1</a:t>
            </a:r>
          </a:p>
        </p:txBody>
      </p:sp>
      <p:sp>
        <p:nvSpPr>
          <p:cNvPr id="15" name="TextBox 14"/>
          <p:cNvSpPr txBox="1"/>
          <p:nvPr/>
        </p:nvSpPr>
        <p:spPr>
          <a:xfrm>
            <a:off x="1133856" y="2185416"/>
            <a:ext cx="4626864" cy="493776"/>
          </a:xfrm>
          <a:prstGeom prst="rect">
            <a:avLst/>
          </a:prstGeom>
          <a:noFill/>
        </p:spPr>
        <p:txBody>
          <a:bodyPr wrap="square" anchor="t" lIns="0" rIns="0" tIns="0" bIns="0">
            <a:noAutofit/>
          </a:bodyPr>
          <a:lstStyle/>
          <a:p>
            <a:pPr algn="l">
              <a:lnSpc>
                <a:spcPct val="114000"/>
              </a:lnSpc>
              <a:spcAft>
                <a:spcPts val="0"/>
              </a:spcAft>
            </a:pPr>
            <a:r>
              <a:rPr sz="850" b="0" i="0">
                <a:solidFill>
                  <a:srgbClr val="475569"/>
                </a:solidFill>
                <a:latin typeface="Segoe UI"/>
              </a:rPr>
              <a:t>P. Venubhaskar et al., “StudyMapper: AI-Driven Personalized Learning and Academic Management System”, project abstract, ALITS, 2026–27.</a:t>
            </a:r>
          </a:p>
        </p:txBody>
      </p:sp>
      <p:sp>
        <p:nvSpPr>
          <p:cNvPr id="16" name="Rectangle 15"/>
          <p:cNvSpPr/>
          <p:nvPr/>
        </p:nvSpPr>
        <p:spPr>
          <a:xfrm>
            <a:off x="841247" y="2651760"/>
            <a:ext cx="4919472" cy="4572"/>
          </a:xfrm>
          <a:prstGeom prst="rect">
            <a:avLst/>
          </a:prstGeom>
          <a:solidFill>
            <a:srgbClr val="E3E8F5"/>
          </a:solidFill>
          <a:ln>
            <a:noFill/>
          </a:ln>
          <a:effectLst/>
        </p:spPr>
        <p:txBody>
          <a:bodyPr rtlCol="0" anchor="ctr" wrap="square"/>
          <a:lstStyle/>
          <a:p>
            <a:pPr algn="ctr"/>
          </a:p>
        </p:txBody>
      </p:sp>
      <p:sp>
        <p:nvSpPr>
          <p:cNvPr id="17" name="TextBox 16"/>
          <p:cNvSpPr txBox="1"/>
          <p:nvPr/>
        </p:nvSpPr>
        <p:spPr>
          <a:xfrm>
            <a:off x="841247" y="2715768"/>
            <a:ext cx="310896" cy="182880"/>
          </a:xfrm>
          <a:prstGeom prst="rect">
            <a:avLst/>
          </a:prstGeom>
          <a:noFill/>
        </p:spPr>
        <p:txBody>
          <a:bodyPr wrap="square" anchor="t" lIns="0" rIns="0" tIns="0" bIns="0">
            <a:noAutofit/>
          </a:bodyPr>
          <a:lstStyle/>
          <a:p>
            <a:pPr algn="l">
              <a:lnSpc>
                <a:spcPct val="112000"/>
              </a:lnSpc>
              <a:spcAft>
                <a:spcPts val="0"/>
              </a:spcAft>
            </a:pPr>
            <a:r>
              <a:rPr sz="860" b="1" i="0">
                <a:solidFill>
                  <a:srgbClr val="4F5BD5"/>
                </a:solidFill>
                <a:latin typeface="Segoe UI"/>
              </a:rPr>
              <a:t>2</a:t>
            </a:r>
          </a:p>
        </p:txBody>
      </p:sp>
      <p:sp>
        <p:nvSpPr>
          <p:cNvPr id="18" name="TextBox 17"/>
          <p:cNvSpPr txBox="1"/>
          <p:nvPr/>
        </p:nvSpPr>
        <p:spPr>
          <a:xfrm>
            <a:off x="1133856" y="2706624"/>
            <a:ext cx="4626864" cy="493776"/>
          </a:xfrm>
          <a:prstGeom prst="rect">
            <a:avLst/>
          </a:prstGeom>
          <a:noFill/>
        </p:spPr>
        <p:txBody>
          <a:bodyPr wrap="square" anchor="t" lIns="0" rIns="0" tIns="0" bIns="0">
            <a:noAutofit/>
          </a:bodyPr>
          <a:lstStyle/>
          <a:p>
            <a:pPr algn="l">
              <a:lnSpc>
                <a:spcPct val="114000"/>
              </a:lnSpc>
              <a:spcAft>
                <a:spcPts val="0"/>
              </a:spcAft>
            </a:pPr>
            <a:r>
              <a:rPr sz="850" b="0" i="0">
                <a:solidFill>
                  <a:srgbClr val="475569"/>
                </a:solidFill>
                <a:latin typeface="Segoe UI"/>
              </a:rPr>
              <a:t>StudyMapper source repository, GitHub — github.com/palturuvenubhaskar/StudyMapper. Accessed 28 October 2026.</a:t>
            </a:r>
          </a:p>
        </p:txBody>
      </p:sp>
      <p:sp>
        <p:nvSpPr>
          <p:cNvPr id="19" name="Rectangle 18"/>
          <p:cNvSpPr/>
          <p:nvPr/>
        </p:nvSpPr>
        <p:spPr>
          <a:xfrm>
            <a:off x="841247" y="3172968"/>
            <a:ext cx="4919472" cy="4572"/>
          </a:xfrm>
          <a:prstGeom prst="rect">
            <a:avLst/>
          </a:prstGeom>
          <a:solidFill>
            <a:srgbClr val="E3E8F5"/>
          </a:solidFill>
          <a:ln>
            <a:noFill/>
          </a:ln>
          <a:effectLst/>
        </p:spPr>
        <p:txBody>
          <a:bodyPr rtlCol="0" anchor="ctr" wrap="square"/>
          <a:lstStyle/>
          <a:p>
            <a:pPr algn="ctr"/>
          </a:p>
        </p:txBody>
      </p:sp>
      <p:sp>
        <p:nvSpPr>
          <p:cNvPr id="20" name="TextBox 19"/>
          <p:cNvSpPr txBox="1"/>
          <p:nvPr/>
        </p:nvSpPr>
        <p:spPr>
          <a:xfrm>
            <a:off x="841247" y="3236976"/>
            <a:ext cx="310896" cy="182880"/>
          </a:xfrm>
          <a:prstGeom prst="rect">
            <a:avLst/>
          </a:prstGeom>
          <a:noFill/>
        </p:spPr>
        <p:txBody>
          <a:bodyPr wrap="square" anchor="t" lIns="0" rIns="0" tIns="0" bIns="0">
            <a:noAutofit/>
          </a:bodyPr>
          <a:lstStyle/>
          <a:p>
            <a:pPr algn="l">
              <a:lnSpc>
                <a:spcPct val="112000"/>
              </a:lnSpc>
              <a:spcAft>
                <a:spcPts val="0"/>
              </a:spcAft>
            </a:pPr>
            <a:r>
              <a:rPr sz="860" b="1" i="0">
                <a:solidFill>
                  <a:srgbClr val="4F5BD5"/>
                </a:solidFill>
                <a:latin typeface="Segoe UI"/>
              </a:rPr>
              <a:t>3</a:t>
            </a:r>
          </a:p>
        </p:txBody>
      </p:sp>
      <p:sp>
        <p:nvSpPr>
          <p:cNvPr id="21" name="TextBox 20"/>
          <p:cNvSpPr txBox="1"/>
          <p:nvPr/>
        </p:nvSpPr>
        <p:spPr>
          <a:xfrm>
            <a:off x="1133856" y="3227832"/>
            <a:ext cx="4626864" cy="493776"/>
          </a:xfrm>
          <a:prstGeom prst="rect">
            <a:avLst/>
          </a:prstGeom>
          <a:noFill/>
        </p:spPr>
        <p:txBody>
          <a:bodyPr wrap="square" anchor="t" lIns="0" rIns="0" tIns="0" bIns="0">
            <a:noAutofit/>
          </a:bodyPr>
          <a:lstStyle/>
          <a:p>
            <a:pPr algn="l">
              <a:lnSpc>
                <a:spcPct val="114000"/>
              </a:lnSpc>
              <a:spcAft>
                <a:spcPts val="0"/>
              </a:spcAft>
            </a:pPr>
            <a:r>
              <a:rPr sz="850" b="0" i="0">
                <a:solidFill>
                  <a:srgbClr val="475569"/>
                </a:solidFill>
                <a:latin typeface="Segoe UI"/>
              </a:rPr>
              <a:t>StudyMapper live application — study-mapper.vercel.app. Accessed 28 October 2026.</a:t>
            </a:r>
          </a:p>
        </p:txBody>
      </p:sp>
      <p:sp>
        <p:nvSpPr>
          <p:cNvPr id="22" name="Rectangle 21"/>
          <p:cNvSpPr/>
          <p:nvPr/>
        </p:nvSpPr>
        <p:spPr>
          <a:xfrm>
            <a:off x="841247" y="3694176"/>
            <a:ext cx="4919472" cy="4572"/>
          </a:xfrm>
          <a:prstGeom prst="rect">
            <a:avLst/>
          </a:prstGeom>
          <a:solidFill>
            <a:srgbClr val="E3E8F5"/>
          </a:solidFill>
          <a:ln>
            <a:noFill/>
          </a:ln>
          <a:effectLst/>
        </p:spPr>
        <p:txBody>
          <a:bodyPr rtlCol="0" anchor="ctr" wrap="square"/>
          <a:lstStyle/>
          <a:p>
            <a:pPr algn="ctr"/>
          </a:p>
        </p:txBody>
      </p:sp>
      <p:sp>
        <p:nvSpPr>
          <p:cNvPr id="23" name="TextBox 22"/>
          <p:cNvSpPr txBox="1"/>
          <p:nvPr/>
        </p:nvSpPr>
        <p:spPr>
          <a:xfrm>
            <a:off x="841247" y="3758183"/>
            <a:ext cx="310896" cy="182880"/>
          </a:xfrm>
          <a:prstGeom prst="rect">
            <a:avLst/>
          </a:prstGeom>
          <a:noFill/>
        </p:spPr>
        <p:txBody>
          <a:bodyPr wrap="square" anchor="t" lIns="0" rIns="0" tIns="0" bIns="0">
            <a:noAutofit/>
          </a:bodyPr>
          <a:lstStyle/>
          <a:p>
            <a:pPr algn="l">
              <a:lnSpc>
                <a:spcPct val="112000"/>
              </a:lnSpc>
              <a:spcAft>
                <a:spcPts val="0"/>
              </a:spcAft>
            </a:pPr>
            <a:r>
              <a:rPr sz="860" b="1" i="0">
                <a:solidFill>
                  <a:srgbClr val="4F5BD5"/>
                </a:solidFill>
                <a:latin typeface="Segoe UI"/>
              </a:rPr>
              <a:t>4</a:t>
            </a:r>
          </a:p>
        </p:txBody>
      </p:sp>
      <p:sp>
        <p:nvSpPr>
          <p:cNvPr id="24" name="TextBox 23"/>
          <p:cNvSpPr txBox="1"/>
          <p:nvPr/>
        </p:nvSpPr>
        <p:spPr>
          <a:xfrm>
            <a:off x="1133856" y="3749039"/>
            <a:ext cx="4626864" cy="493776"/>
          </a:xfrm>
          <a:prstGeom prst="rect">
            <a:avLst/>
          </a:prstGeom>
          <a:noFill/>
        </p:spPr>
        <p:txBody>
          <a:bodyPr wrap="square" anchor="t" lIns="0" rIns="0" tIns="0" bIns="0">
            <a:noAutofit/>
          </a:bodyPr>
          <a:lstStyle/>
          <a:p>
            <a:pPr algn="l">
              <a:lnSpc>
                <a:spcPct val="114000"/>
              </a:lnSpc>
              <a:spcAft>
                <a:spcPts val="0"/>
              </a:spcAft>
            </a:pPr>
            <a:r>
              <a:rPr sz="850" b="0" i="0">
                <a:solidFill>
                  <a:srgbClr val="475569"/>
                </a:solidFill>
                <a:latin typeface="Segoe UI"/>
              </a:rPr>
              <a:t>Meta Open Source, React 19 documentation — react.dev. Accessed 28 October 2026.</a:t>
            </a:r>
          </a:p>
        </p:txBody>
      </p:sp>
      <p:sp>
        <p:nvSpPr>
          <p:cNvPr id="25" name="Rectangle 24"/>
          <p:cNvSpPr/>
          <p:nvPr/>
        </p:nvSpPr>
        <p:spPr>
          <a:xfrm>
            <a:off x="841247" y="4215383"/>
            <a:ext cx="4919472" cy="4572"/>
          </a:xfrm>
          <a:prstGeom prst="rect">
            <a:avLst/>
          </a:prstGeom>
          <a:solidFill>
            <a:srgbClr val="E3E8F5"/>
          </a:solidFill>
          <a:ln>
            <a:noFill/>
          </a:ln>
          <a:effectLst/>
        </p:spPr>
        <p:txBody>
          <a:bodyPr rtlCol="0" anchor="ctr" wrap="square"/>
          <a:lstStyle/>
          <a:p>
            <a:pPr algn="ctr"/>
          </a:p>
        </p:txBody>
      </p:sp>
      <p:sp>
        <p:nvSpPr>
          <p:cNvPr id="26" name="TextBox 25"/>
          <p:cNvSpPr txBox="1"/>
          <p:nvPr/>
        </p:nvSpPr>
        <p:spPr>
          <a:xfrm>
            <a:off x="841247" y="4279392"/>
            <a:ext cx="310896" cy="182880"/>
          </a:xfrm>
          <a:prstGeom prst="rect">
            <a:avLst/>
          </a:prstGeom>
          <a:noFill/>
        </p:spPr>
        <p:txBody>
          <a:bodyPr wrap="square" anchor="t" lIns="0" rIns="0" tIns="0" bIns="0">
            <a:noAutofit/>
          </a:bodyPr>
          <a:lstStyle/>
          <a:p>
            <a:pPr algn="l">
              <a:lnSpc>
                <a:spcPct val="112000"/>
              </a:lnSpc>
              <a:spcAft>
                <a:spcPts val="0"/>
              </a:spcAft>
            </a:pPr>
            <a:r>
              <a:rPr sz="860" b="1" i="0">
                <a:solidFill>
                  <a:srgbClr val="4F5BD5"/>
                </a:solidFill>
                <a:latin typeface="Segoe UI"/>
              </a:rPr>
              <a:t>5</a:t>
            </a:r>
          </a:p>
        </p:txBody>
      </p:sp>
      <p:sp>
        <p:nvSpPr>
          <p:cNvPr id="27" name="TextBox 26"/>
          <p:cNvSpPr txBox="1"/>
          <p:nvPr/>
        </p:nvSpPr>
        <p:spPr>
          <a:xfrm>
            <a:off x="1133856" y="4270248"/>
            <a:ext cx="4626864" cy="493776"/>
          </a:xfrm>
          <a:prstGeom prst="rect">
            <a:avLst/>
          </a:prstGeom>
          <a:noFill/>
        </p:spPr>
        <p:txBody>
          <a:bodyPr wrap="square" anchor="t" lIns="0" rIns="0" tIns="0" bIns="0">
            <a:noAutofit/>
          </a:bodyPr>
          <a:lstStyle/>
          <a:p>
            <a:pPr algn="l">
              <a:lnSpc>
                <a:spcPct val="114000"/>
              </a:lnSpc>
              <a:spcAft>
                <a:spcPts val="0"/>
              </a:spcAft>
            </a:pPr>
            <a:r>
              <a:rPr sz="850" b="0" i="0">
                <a:solidFill>
                  <a:srgbClr val="475569"/>
                </a:solidFill>
                <a:latin typeface="Segoe UI"/>
              </a:rPr>
              <a:t>Vite documentation — vite.dev. Build tooling and the production bundle.</a:t>
            </a:r>
          </a:p>
        </p:txBody>
      </p:sp>
      <p:sp>
        <p:nvSpPr>
          <p:cNvPr id="28" name="Rectangle 27"/>
          <p:cNvSpPr/>
          <p:nvPr/>
        </p:nvSpPr>
        <p:spPr>
          <a:xfrm>
            <a:off x="841247" y="4736592"/>
            <a:ext cx="4919472" cy="4572"/>
          </a:xfrm>
          <a:prstGeom prst="rect">
            <a:avLst/>
          </a:prstGeom>
          <a:solidFill>
            <a:srgbClr val="E3E8F5"/>
          </a:solidFill>
          <a:ln>
            <a:noFill/>
          </a:ln>
          <a:effectLst/>
        </p:spPr>
        <p:txBody>
          <a:bodyPr rtlCol="0" anchor="ctr" wrap="square"/>
          <a:lstStyle/>
          <a:p>
            <a:pPr algn="ctr"/>
          </a:p>
        </p:txBody>
      </p:sp>
      <p:sp>
        <p:nvSpPr>
          <p:cNvPr id="29" name="TextBox 28"/>
          <p:cNvSpPr txBox="1"/>
          <p:nvPr/>
        </p:nvSpPr>
        <p:spPr>
          <a:xfrm>
            <a:off x="841247" y="4800600"/>
            <a:ext cx="310896" cy="182880"/>
          </a:xfrm>
          <a:prstGeom prst="rect">
            <a:avLst/>
          </a:prstGeom>
          <a:noFill/>
        </p:spPr>
        <p:txBody>
          <a:bodyPr wrap="square" anchor="t" lIns="0" rIns="0" tIns="0" bIns="0">
            <a:noAutofit/>
          </a:bodyPr>
          <a:lstStyle/>
          <a:p>
            <a:pPr algn="l">
              <a:lnSpc>
                <a:spcPct val="112000"/>
              </a:lnSpc>
              <a:spcAft>
                <a:spcPts val="0"/>
              </a:spcAft>
            </a:pPr>
            <a:r>
              <a:rPr sz="860" b="1" i="0">
                <a:solidFill>
                  <a:srgbClr val="4F5BD5"/>
                </a:solidFill>
                <a:latin typeface="Segoe UI"/>
              </a:rPr>
              <a:t>6</a:t>
            </a:r>
          </a:p>
        </p:txBody>
      </p:sp>
      <p:sp>
        <p:nvSpPr>
          <p:cNvPr id="30" name="TextBox 29"/>
          <p:cNvSpPr txBox="1"/>
          <p:nvPr/>
        </p:nvSpPr>
        <p:spPr>
          <a:xfrm>
            <a:off x="1133856" y="4791456"/>
            <a:ext cx="4626864" cy="493776"/>
          </a:xfrm>
          <a:prstGeom prst="rect">
            <a:avLst/>
          </a:prstGeom>
          <a:noFill/>
        </p:spPr>
        <p:txBody>
          <a:bodyPr wrap="square" anchor="t" lIns="0" rIns="0" tIns="0" bIns="0">
            <a:noAutofit/>
          </a:bodyPr>
          <a:lstStyle/>
          <a:p>
            <a:pPr algn="l">
              <a:lnSpc>
                <a:spcPct val="114000"/>
              </a:lnSpc>
              <a:spcAft>
                <a:spcPts val="0"/>
              </a:spcAft>
            </a:pPr>
            <a:r>
              <a:rPr sz="850" b="0" i="0">
                <a:solidFill>
                  <a:srgbClr val="475569"/>
                </a:solidFill>
                <a:latin typeface="Segoe UI"/>
              </a:rPr>
              <a:t>Dexie.js documentation — dexie.org. IndexedDB schema, transactions and live queries.</a:t>
            </a:r>
          </a:p>
        </p:txBody>
      </p:sp>
      <p:sp>
        <p:nvSpPr>
          <p:cNvPr id="31" name="Rectangle 30"/>
          <p:cNvSpPr/>
          <p:nvPr/>
        </p:nvSpPr>
        <p:spPr>
          <a:xfrm>
            <a:off x="841247" y="5257800"/>
            <a:ext cx="4919472" cy="4572"/>
          </a:xfrm>
          <a:prstGeom prst="rect">
            <a:avLst/>
          </a:prstGeom>
          <a:solidFill>
            <a:srgbClr val="E3E8F5"/>
          </a:solidFill>
          <a:ln>
            <a:noFill/>
          </a:ln>
          <a:effectLst/>
        </p:spPr>
        <p:txBody>
          <a:bodyPr rtlCol="0" anchor="ctr" wrap="square"/>
          <a:lstStyle/>
          <a:p>
            <a:pPr algn="ctr"/>
          </a:p>
        </p:txBody>
      </p:sp>
      <p:sp>
        <p:nvSpPr>
          <p:cNvPr id="32" name="TextBox 31"/>
          <p:cNvSpPr txBox="1"/>
          <p:nvPr/>
        </p:nvSpPr>
        <p:spPr>
          <a:xfrm>
            <a:off x="841247" y="5321808"/>
            <a:ext cx="310896" cy="182880"/>
          </a:xfrm>
          <a:prstGeom prst="rect">
            <a:avLst/>
          </a:prstGeom>
          <a:noFill/>
        </p:spPr>
        <p:txBody>
          <a:bodyPr wrap="square" anchor="t" lIns="0" rIns="0" tIns="0" bIns="0">
            <a:noAutofit/>
          </a:bodyPr>
          <a:lstStyle/>
          <a:p>
            <a:pPr algn="l">
              <a:lnSpc>
                <a:spcPct val="112000"/>
              </a:lnSpc>
              <a:spcAft>
                <a:spcPts val="0"/>
              </a:spcAft>
            </a:pPr>
            <a:r>
              <a:rPr sz="860" b="1" i="0">
                <a:solidFill>
                  <a:srgbClr val="4F5BD5"/>
                </a:solidFill>
                <a:latin typeface="Segoe UI"/>
              </a:rPr>
              <a:t>7</a:t>
            </a:r>
          </a:p>
        </p:txBody>
      </p:sp>
      <p:sp>
        <p:nvSpPr>
          <p:cNvPr id="33" name="TextBox 32"/>
          <p:cNvSpPr txBox="1"/>
          <p:nvPr/>
        </p:nvSpPr>
        <p:spPr>
          <a:xfrm>
            <a:off x="1133856" y="5312664"/>
            <a:ext cx="4626864" cy="493776"/>
          </a:xfrm>
          <a:prstGeom prst="rect">
            <a:avLst/>
          </a:prstGeom>
          <a:noFill/>
        </p:spPr>
        <p:txBody>
          <a:bodyPr wrap="square" anchor="t" lIns="0" rIns="0" tIns="0" bIns="0">
            <a:noAutofit/>
          </a:bodyPr>
          <a:lstStyle/>
          <a:p>
            <a:pPr algn="l">
              <a:lnSpc>
                <a:spcPct val="114000"/>
              </a:lnSpc>
              <a:spcAft>
                <a:spcPts val="0"/>
              </a:spcAft>
            </a:pPr>
            <a:r>
              <a:rPr sz="850" b="0" i="0">
                <a:solidFill>
                  <a:srgbClr val="475569"/>
                </a:solidFill>
                <a:latin typeface="Segoe UI"/>
              </a:rPr>
              <a:t>Google, Firebase Authentication documentation — firebase.google.com/docs/auth.</a:t>
            </a:r>
          </a:p>
        </p:txBody>
      </p:sp>
      <p:sp>
        <p:nvSpPr>
          <p:cNvPr id="34" name="Rounded Rectangle 33"/>
          <p:cNvSpPr/>
          <p:nvPr/>
        </p:nvSpPr>
        <p:spPr>
          <a:xfrm>
            <a:off x="6231636" y="1783080"/>
            <a:ext cx="5349240" cy="4160520"/>
          </a:xfrm>
          <a:prstGeom prst="roundRect">
            <a:avLst>
              <a:gd name="adj" fmla="val 5000"/>
            </a:avLst>
          </a:prstGeom>
          <a:solidFill>
            <a:srgbClr val="E8ECF8"/>
          </a:solidFill>
          <a:ln>
            <a:noFill/>
          </a:ln>
          <a:effectLst/>
        </p:spPr>
        <p:txBody>
          <a:bodyPr rtlCol="0" anchor="ctr" wrap="square"/>
          <a:lstStyle/>
          <a:p>
            <a:pPr algn="ctr"/>
          </a:p>
        </p:txBody>
      </p:sp>
      <p:sp>
        <p:nvSpPr>
          <p:cNvPr id="35" name="Rounded Rectangle 34"/>
          <p:cNvSpPr/>
          <p:nvPr/>
        </p:nvSpPr>
        <p:spPr>
          <a:xfrm>
            <a:off x="6199632" y="1737360"/>
            <a:ext cx="5349240" cy="4160520"/>
          </a:xfrm>
          <a:prstGeom prst="roundRect">
            <a:avLst>
              <a:gd name="adj" fmla="val 5000"/>
            </a:avLst>
          </a:prstGeom>
          <a:solidFill>
            <a:srgbClr val="FFFFFF"/>
          </a:solidFill>
          <a:ln w="9525">
            <a:solidFill>
              <a:srgbClr val="E3E8F5"/>
            </a:solidFill>
          </a:ln>
          <a:effectLst/>
        </p:spPr>
        <p:txBody>
          <a:bodyPr rtlCol="0" anchor="ctr" wrap="square"/>
          <a:lstStyle/>
          <a:p>
            <a:pPr algn="ctr"/>
          </a:p>
        </p:txBody>
      </p:sp>
      <p:sp>
        <p:nvSpPr>
          <p:cNvPr id="36" name="TextBox 35"/>
          <p:cNvSpPr txBox="1"/>
          <p:nvPr/>
        </p:nvSpPr>
        <p:spPr>
          <a:xfrm>
            <a:off x="6400800" y="1865376"/>
            <a:ext cx="4206240" cy="182880"/>
          </a:xfrm>
          <a:prstGeom prst="rect">
            <a:avLst/>
          </a:prstGeom>
          <a:noFill/>
        </p:spPr>
        <p:txBody>
          <a:bodyPr wrap="square" anchor="t" lIns="0" rIns="0" tIns="0" bIns="0">
            <a:noAutofit/>
          </a:bodyPr>
          <a:lstStyle/>
          <a:p>
            <a:pPr algn="l">
              <a:lnSpc>
                <a:spcPct val="112000"/>
              </a:lnSpc>
              <a:spcAft>
                <a:spcPts val="0"/>
              </a:spcAft>
            </a:pPr>
            <a:r>
              <a:rPr sz="819" b="1" i="0">
                <a:solidFill>
                  <a:srgbClr val="4F5BD5"/>
                </a:solidFill>
                <a:latin typeface="Segoe UI"/>
              </a:rPr>
              <a:t>LIBRARIES &amp; METHODS</a:t>
            </a:r>
          </a:p>
        </p:txBody>
      </p:sp>
      <p:sp>
        <p:nvSpPr>
          <p:cNvPr id="37" name="TextBox 36"/>
          <p:cNvSpPr txBox="1"/>
          <p:nvPr/>
        </p:nvSpPr>
        <p:spPr>
          <a:xfrm>
            <a:off x="6400800" y="2194560"/>
            <a:ext cx="310896" cy="182880"/>
          </a:xfrm>
          <a:prstGeom prst="rect">
            <a:avLst/>
          </a:prstGeom>
          <a:noFill/>
        </p:spPr>
        <p:txBody>
          <a:bodyPr wrap="square" anchor="t" lIns="0" rIns="0" tIns="0" bIns="0">
            <a:noAutofit/>
          </a:bodyPr>
          <a:lstStyle/>
          <a:p>
            <a:pPr algn="l">
              <a:lnSpc>
                <a:spcPct val="112000"/>
              </a:lnSpc>
              <a:spcAft>
                <a:spcPts val="0"/>
              </a:spcAft>
            </a:pPr>
            <a:r>
              <a:rPr sz="860" b="1" i="0">
                <a:solidFill>
                  <a:srgbClr val="4F5BD5"/>
                </a:solidFill>
                <a:latin typeface="Segoe UI"/>
              </a:rPr>
              <a:t>8</a:t>
            </a:r>
          </a:p>
        </p:txBody>
      </p:sp>
      <p:sp>
        <p:nvSpPr>
          <p:cNvPr id="38" name="TextBox 37"/>
          <p:cNvSpPr txBox="1"/>
          <p:nvPr/>
        </p:nvSpPr>
        <p:spPr>
          <a:xfrm>
            <a:off x="6693408" y="2185416"/>
            <a:ext cx="4626864" cy="493776"/>
          </a:xfrm>
          <a:prstGeom prst="rect">
            <a:avLst/>
          </a:prstGeom>
          <a:noFill/>
        </p:spPr>
        <p:txBody>
          <a:bodyPr wrap="square" anchor="t" lIns="0" rIns="0" tIns="0" bIns="0">
            <a:noAutofit/>
          </a:bodyPr>
          <a:lstStyle/>
          <a:p>
            <a:pPr algn="l">
              <a:lnSpc>
                <a:spcPct val="114000"/>
              </a:lnSpc>
              <a:spcAft>
                <a:spcPts val="0"/>
              </a:spcAft>
            </a:pPr>
            <a:r>
              <a:rPr sz="850" b="0" i="0">
                <a:solidFill>
                  <a:srgbClr val="475569"/>
                </a:solidFill>
                <a:latin typeface="Segoe UI"/>
              </a:rPr>
              <a:t>OpenRouter API documentation — openrouter.ai/docs. Model routing, streaming and fallback.</a:t>
            </a:r>
          </a:p>
        </p:txBody>
      </p:sp>
      <p:sp>
        <p:nvSpPr>
          <p:cNvPr id="39" name="Rectangle 38"/>
          <p:cNvSpPr/>
          <p:nvPr/>
        </p:nvSpPr>
        <p:spPr>
          <a:xfrm>
            <a:off x="6400800" y="2651760"/>
            <a:ext cx="4919472" cy="4572"/>
          </a:xfrm>
          <a:prstGeom prst="rect">
            <a:avLst/>
          </a:prstGeom>
          <a:solidFill>
            <a:srgbClr val="E3E8F5"/>
          </a:solidFill>
          <a:ln>
            <a:noFill/>
          </a:ln>
          <a:effectLst/>
        </p:spPr>
        <p:txBody>
          <a:bodyPr rtlCol="0" anchor="ctr" wrap="square"/>
          <a:lstStyle/>
          <a:p>
            <a:pPr algn="ctr"/>
          </a:p>
        </p:txBody>
      </p:sp>
      <p:sp>
        <p:nvSpPr>
          <p:cNvPr id="40" name="TextBox 39"/>
          <p:cNvSpPr txBox="1"/>
          <p:nvPr/>
        </p:nvSpPr>
        <p:spPr>
          <a:xfrm>
            <a:off x="6400800" y="2715768"/>
            <a:ext cx="310896" cy="182880"/>
          </a:xfrm>
          <a:prstGeom prst="rect">
            <a:avLst/>
          </a:prstGeom>
          <a:noFill/>
        </p:spPr>
        <p:txBody>
          <a:bodyPr wrap="square" anchor="t" lIns="0" rIns="0" tIns="0" bIns="0">
            <a:noAutofit/>
          </a:bodyPr>
          <a:lstStyle/>
          <a:p>
            <a:pPr algn="l">
              <a:lnSpc>
                <a:spcPct val="112000"/>
              </a:lnSpc>
              <a:spcAft>
                <a:spcPts val="0"/>
              </a:spcAft>
            </a:pPr>
            <a:r>
              <a:rPr sz="860" b="1" i="0">
                <a:solidFill>
                  <a:srgbClr val="4F5BD5"/>
                </a:solidFill>
                <a:latin typeface="Segoe UI"/>
              </a:rPr>
              <a:t>9</a:t>
            </a:r>
          </a:p>
        </p:txBody>
      </p:sp>
      <p:sp>
        <p:nvSpPr>
          <p:cNvPr id="41" name="TextBox 40"/>
          <p:cNvSpPr txBox="1"/>
          <p:nvPr/>
        </p:nvSpPr>
        <p:spPr>
          <a:xfrm>
            <a:off x="6693408" y="2706624"/>
            <a:ext cx="4626864" cy="493776"/>
          </a:xfrm>
          <a:prstGeom prst="rect">
            <a:avLst/>
          </a:prstGeom>
          <a:noFill/>
        </p:spPr>
        <p:txBody>
          <a:bodyPr wrap="square" anchor="t" lIns="0" rIns="0" tIns="0" bIns="0">
            <a:noAutofit/>
          </a:bodyPr>
          <a:lstStyle/>
          <a:p>
            <a:pPr algn="l">
              <a:lnSpc>
                <a:spcPct val="114000"/>
              </a:lnSpc>
              <a:spcAft>
                <a:spcPts val="0"/>
              </a:spcAft>
            </a:pPr>
            <a:r>
              <a:rPr sz="850" b="0" i="0">
                <a:solidFill>
                  <a:srgbClr val="475569"/>
                </a:solidFill>
                <a:latin typeface="Segoe UI"/>
              </a:rPr>
              <a:t>Pyodide documentation — pyodide.org. Python runtime in the browser.</a:t>
            </a:r>
          </a:p>
        </p:txBody>
      </p:sp>
      <p:sp>
        <p:nvSpPr>
          <p:cNvPr id="42" name="Rectangle 41"/>
          <p:cNvSpPr/>
          <p:nvPr/>
        </p:nvSpPr>
        <p:spPr>
          <a:xfrm>
            <a:off x="6400800" y="3172968"/>
            <a:ext cx="4919472" cy="4572"/>
          </a:xfrm>
          <a:prstGeom prst="rect">
            <a:avLst/>
          </a:prstGeom>
          <a:solidFill>
            <a:srgbClr val="E3E8F5"/>
          </a:solidFill>
          <a:ln>
            <a:noFill/>
          </a:ln>
          <a:effectLst/>
        </p:spPr>
        <p:txBody>
          <a:bodyPr rtlCol="0" anchor="ctr" wrap="square"/>
          <a:lstStyle/>
          <a:p>
            <a:pPr algn="ctr"/>
          </a:p>
        </p:txBody>
      </p:sp>
      <p:sp>
        <p:nvSpPr>
          <p:cNvPr id="43" name="TextBox 42"/>
          <p:cNvSpPr txBox="1"/>
          <p:nvPr/>
        </p:nvSpPr>
        <p:spPr>
          <a:xfrm>
            <a:off x="6400800" y="3236976"/>
            <a:ext cx="310896" cy="182880"/>
          </a:xfrm>
          <a:prstGeom prst="rect">
            <a:avLst/>
          </a:prstGeom>
          <a:noFill/>
        </p:spPr>
        <p:txBody>
          <a:bodyPr wrap="square" anchor="t" lIns="0" rIns="0" tIns="0" bIns="0">
            <a:noAutofit/>
          </a:bodyPr>
          <a:lstStyle/>
          <a:p>
            <a:pPr algn="l">
              <a:lnSpc>
                <a:spcPct val="112000"/>
              </a:lnSpc>
              <a:spcAft>
                <a:spcPts val="0"/>
              </a:spcAft>
            </a:pPr>
            <a:r>
              <a:rPr sz="860" b="1" i="0">
                <a:solidFill>
                  <a:srgbClr val="4F5BD5"/>
                </a:solidFill>
                <a:latin typeface="Segoe UI"/>
              </a:rPr>
              <a:t>10</a:t>
            </a:r>
          </a:p>
        </p:txBody>
      </p:sp>
      <p:sp>
        <p:nvSpPr>
          <p:cNvPr id="44" name="TextBox 43"/>
          <p:cNvSpPr txBox="1"/>
          <p:nvPr/>
        </p:nvSpPr>
        <p:spPr>
          <a:xfrm>
            <a:off x="6693408" y="3227832"/>
            <a:ext cx="4626864" cy="493776"/>
          </a:xfrm>
          <a:prstGeom prst="rect">
            <a:avLst/>
          </a:prstGeom>
          <a:noFill/>
        </p:spPr>
        <p:txBody>
          <a:bodyPr wrap="square" anchor="t" lIns="0" rIns="0" tIns="0" bIns="0">
            <a:noAutofit/>
          </a:bodyPr>
          <a:lstStyle/>
          <a:p>
            <a:pPr algn="l">
              <a:lnSpc>
                <a:spcPct val="114000"/>
              </a:lnSpc>
              <a:spcAft>
                <a:spcPts val="0"/>
              </a:spcAft>
            </a:pPr>
            <a:r>
              <a:rPr sz="850" b="0" i="0">
                <a:solidFill>
                  <a:srgbClr val="475569"/>
                </a:solidFill>
                <a:latin typeface="Segoe UI"/>
              </a:rPr>
              <a:t>Tesseract.js, pdf.js and Mammoth.js documentation. PDF, DOCX and OCR parsing.</a:t>
            </a:r>
          </a:p>
        </p:txBody>
      </p:sp>
      <p:sp>
        <p:nvSpPr>
          <p:cNvPr id="45" name="Rectangle 44"/>
          <p:cNvSpPr/>
          <p:nvPr/>
        </p:nvSpPr>
        <p:spPr>
          <a:xfrm>
            <a:off x="6400800" y="3694176"/>
            <a:ext cx="4919472" cy="4572"/>
          </a:xfrm>
          <a:prstGeom prst="rect">
            <a:avLst/>
          </a:prstGeom>
          <a:solidFill>
            <a:srgbClr val="E3E8F5"/>
          </a:solidFill>
          <a:ln>
            <a:noFill/>
          </a:ln>
          <a:effectLst/>
        </p:spPr>
        <p:txBody>
          <a:bodyPr rtlCol="0" anchor="ctr" wrap="square"/>
          <a:lstStyle/>
          <a:p>
            <a:pPr algn="ctr"/>
          </a:p>
        </p:txBody>
      </p:sp>
      <p:sp>
        <p:nvSpPr>
          <p:cNvPr id="46" name="TextBox 45"/>
          <p:cNvSpPr txBox="1"/>
          <p:nvPr/>
        </p:nvSpPr>
        <p:spPr>
          <a:xfrm>
            <a:off x="6400800" y="3758183"/>
            <a:ext cx="310896" cy="182880"/>
          </a:xfrm>
          <a:prstGeom prst="rect">
            <a:avLst/>
          </a:prstGeom>
          <a:noFill/>
        </p:spPr>
        <p:txBody>
          <a:bodyPr wrap="square" anchor="t" lIns="0" rIns="0" tIns="0" bIns="0">
            <a:noAutofit/>
          </a:bodyPr>
          <a:lstStyle/>
          <a:p>
            <a:pPr algn="l">
              <a:lnSpc>
                <a:spcPct val="112000"/>
              </a:lnSpc>
              <a:spcAft>
                <a:spcPts val="0"/>
              </a:spcAft>
            </a:pPr>
            <a:r>
              <a:rPr sz="860" b="1" i="0">
                <a:solidFill>
                  <a:srgbClr val="4F5BD5"/>
                </a:solidFill>
                <a:latin typeface="Segoe UI"/>
              </a:rPr>
              <a:t>11</a:t>
            </a:r>
          </a:p>
        </p:txBody>
      </p:sp>
      <p:sp>
        <p:nvSpPr>
          <p:cNvPr id="47" name="TextBox 46"/>
          <p:cNvSpPr txBox="1"/>
          <p:nvPr/>
        </p:nvSpPr>
        <p:spPr>
          <a:xfrm>
            <a:off x="6693408" y="3749039"/>
            <a:ext cx="4626864" cy="493776"/>
          </a:xfrm>
          <a:prstGeom prst="rect">
            <a:avLst/>
          </a:prstGeom>
          <a:noFill/>
        </p:spPr>
        <p:txBody>
          <a:bodyPr wrap="square" anchor="t" lIns="0" rIns="0" tIns="0" bIns="0">
            <a:noAutofit/>
          </a:bodyPr>
          <a:lstStyle/>
          <a:p>
            <a:pPr algn="l">
              <a:lnSpc>
                <a:spcPct val="114000"/>
              </a:lnSpc>
              <a:spcAft>
                <a:spcPts val="0"/>
              </a:spcAft>
            </a:pPr>
            <a:r>
              <a:rPr sz="850" b="0" i="0">
                <a:solidFill>
                  <a:srgbClr val="475569"/>
                </a:solidFill>
                <a:latin typeface="Segoe UI"/>
              </a:rPr>
              <a:t>Mermaid — mermaid.js.org; KaTeX — katex.org. Diagrams and mathematical notation.</a:t>
            </a:r>
          </a:p>
        </p:txBody>
      </p:sp>
      <p:sp>
        <p:nvSpPr>
          <p:cNvPr id="48" name="Rectangle 47"/>
          <p:cNvSpPr/>
          <p:nvPr/>
        </p:nvSpPr>
        <p:spPr>
          <a:xfrm>
            <a:off x="6400800" y="4215383"/>
            <a:ext cx="4919472" cy="4572"/>
          </a:xfrm>
          <a:prstGeom prst="rect">
            <a:avLst/>
          </a:prstGeom>
          <a:solidFill>
            <a:srgbClr val="E3E8F5"/>
          </a:solidFill>
          <a:ln>
            <a:noFill/>
          </a:ln>
          <a:effectLst/>
        </p:spPr>
        <p:txBody>
          <a:bodyPr rtlCol="0" anchor="ctr" wrap="square"/>
          <a:lstStyle/>
          <a:p>
            <a:pPr algn="ctr"/>
          </a:p>
        </p:txBody>
      </p:sp>
      <p:sp>
        <p:nvSpPr>
          <p:cNvPr id="49" name="TextBox 48"/>
          <p:cNvSpPr txBox="1"/>
          <p:nvPr/>
        </p:nvSpPr>
        <p:spPr>
          <a:xfrm>
            <a:off x="6400800" y="4279392"/>
            <a:ext cx="310896" cy="182880"/>
          </a:xfrm>
          <a:prstGeom prst="rect">
            <a:avLst/>
          </a:prstGeom>
          <a:noFill/>
        </p:spPr>
        <p:txBody>
          <a:bodyPr wrap="square" anchor="t" lIns="0" rIns="0" tIns="0" bIns="0">
            <a:noAutofit/>
          </a:bodyPr>
          <a:lstStyle/>
          <a:p>
            <a:pPr algn="l">
              <a:lnSpc>
                <a:spcPct val="112000"/>
              </a:lnSpc>
              <a:spcAft>
                <a:spcPts val="0"/>
              </a:spcAft>
            </a:pPr>
            <a:r>
              <a:rPr sz="860" b="1" i="0">
                <a:solidFill>
                  <a:srgbClr val="4F5BD5"/>
                </a:solidFill>
                <a:latin typeface="Segoe UI"/>
              </a:rPr>
              <a:t>12</a:t>
            </a:r>
          </a:p>
        </p:txBody>
      </p:sp>
      <p:sp>
        <p:nvSpPr>
          <p:cNvPr id="50" name="TextBox 49"/>
          <p:cNvSpPr txBox="1"/>
          <p:nvPr/>
        </p:nvSpPr>
        <p:spPr>
          <a:xfrm>
            <a:off x="6693408" y="4270248"/>
            <a:ext cx="4626864" cy="493776"/>
          </a:xfrm>
          <a:prstGeom prst="rect">
            <a:avLst/>
          </a:prstGeom>
          <a:noFill/>
        </p:spPr>
        <p:txBody>
          <a:bodyPr wrap="square" anchor="t" lIns="0" rIns="0" tIns="0" bIns="0">
            <a:noAutofit/>
          </a:bodyPr>
          <a:lstStyle/>
          <a:p>
            <a:pPr algn="l">
              <a:lnSpc>
                <a:spcPct val="114000"/>
              </a:lnSpc>
              <a:spcAft>
                <a:spcPts val="0"/>
              </a:spcAft>
            </a:pPr>
            <a:r>
              <a:rPr sz="850" b="0" i="0">
                <a:solidFill>
                  <a:srgbClr val="475569"/>
                </a:solidFill>
                <a:latin typeface="Segoe UI"/>
              </a:rPr>
              <a:t>P. A. Woźniak, “SuperMemo 2: Algorithm and implementation”, 1987. Basis of the SM-2 scheduler.</a:t>
            </a:r>
          </a:p>
        </p:txBody>
      </p:sp>
      <p:sp>
        <p:nvSpPr>
          <p:cNvPr id="51" name="Rectangle 50"/>
          <p:cNvSpPr/>
          <p:nvPr/>
        </p:nvSpPr>
        <p:spPr>
          <a:xfrm>
            <a:off x="6400800" y="4736592"/>
            <a:ext cx="4919472" cy="4572"/>
          </a:xfrm>
          <a:prstGeom prst="rect">
            <a:avLst/>
          </a:prstGeom>
          <a:solidFill>
            <a:srgbClr val="E3E8F5"/>
          </a:solidFill>
          <a:ln>
            <a:noFill/>
          </a:ln>
          <a:effectLst/>
        </p:spPr>
        <p:txBody>
          <a:bodyPr rtlCol="0" anchor="ctr" wrap="square"/>
          <a:lstStyle/>
          <a:p>
            <a:pPr algn="ctr"/>
          </a:p>
        </p:txBody>
      </p:sp>
      <p:sp>
        <p:nvSpPr>
          <p:cNvPr id="52" name="TextBox 51"/>
          <p:cNvSpPr txBox="1"/>
          <p:nvPr/>
        </p:nvSpPr>
        <p:spPr>
          <a:xfrm>
            <a:off x="6400800" y="4800600"/>
            <a:ext cx="310896" cy="182880"/>
          </a:xfrm>
          <a:prstGeom prst="rect">
            <a:avLst/>
          </a:prstGeom>
          <a:noFill/>
        </p:spPr>
        <p:txBody>
          <a:bodyPr wrap="square" anchor="t" lIns="0" rIns="0" tIns="0" bIns="0">
            <a:noAutofit/>
          </a:bodyPr>
          <a:lstStyle/>
          <a:p>
            <a:pPr algn="l">
              <a:lnSpc>
                <a:spcPct val="112000"/>
              </a:lnSpc>
              <a:spcAft>
                <a:spcPts val="0"/>
              </a:spcAft>
            </a:pPr>
            <a:r>
              <a:rPr sz="860" b="1" i="0">
                <a:solidFill>
                  <a:srgbClr val="4F5BD5"/>
                </a:solidFill>
                <a:latin typeface="Segoe UI"/>
              </a:rPr>
              <a:t>13</a:t>
            </a:r>
          </a:p>
        </p:txBody>
      </p:sp>
      <p:sp>
        <p:nvSpPr>
          <p:cNvPr id="53" name="TextBox 52"/>
          <p:cNvSpPr txBox="1"/>
          <p:nvPr/>
        </p:nvSpPr>
        <p:spPr>
          <a:xfrm>
            <a:off x="6693408" y="4791456"/>
            <a:ext cx="4626864" cy="493776"/>
          </a:xfrm>
          <a:prstGeom prst="rect">
            <a:avLst/>
          </a:prstGeom>
          <a:noFill/>
        </p:spPr>
        <p:txBody>
          <a:bodyPr wrap="square" anchor="t" lIns="0" rIns="0" tIns="0" bIns="0">
            <a:noAutofit/>
          </a:bodyPr>
          <a:lstStyle/>
          <a:p>
            <a:pPr algn="l">
              <a:lnSpc>
                <a:spcPct val="114000"/>
              </a:lnSpc>
              <a:spcAft>
                <a:spcPts val="0"/>
              </a:spcAft>
            </a:pPr>
            <a:r>
              <a:rPr sz="850" b="0" i="0">
                <a:solidFill>
                  <a:srgbClr val="475569"/>
                </a:solidFill>
                <a:latin typeface="Segoe UI"/>
              </a:rPr>
              <a:t>Anki manual — docs.ankiweb.net. Reference implementation of spaced repetition.</a:t>
            </a:r>
          </a:p>
        </p:txBody>
      </p:sp>
      <p:sp>
        <p:nvSpPr>
          <p:cNvPr id="54" name="Rectangle 53"/>
          <p:cNvSpPr/>
          <p:nvPr/>
        </p:nvSpPr>
        <p:spPr>
          <a:xfrm>
            <a:off x="6400800" y="5257800"/>
            <a:ext cx="4919472" cy="4572"/>
          </a:xfrm>
          <a:prstGeom prst="rect">
            <a:avLst/>
          </a:prstGeom>
          <a:solidFill>
            <a:srgbClr val="E3E8F5"/>
          </a:solidFill>
          <a:ln>
            <a:noFill/>
          </a:ln>
          <a:effectLst/>
        </p:spPr>
        <p:txBody>
          <a:bodyPr rtlCol="0" anchor="ctr" wrap="square"/>
          <a:lstStyle/>
          <a:p>
            <a:pPr algn="ctr"/>
          </a:p>
        </p:txBody>
      </p:sp>
      <p:sp>
        <p:nvSpPr>
          <p:cNvPr id="55" name="TextBox 54"/>
          <p:cNvSpPr txBox="1"/>
          <p:nvPr/>
        </p:nvSpPr>
        <p:spPr>
          <a:xfrm>
            <a:off x="6400800" y="5321808"/>
            <a:ext cx="310896" cy="182880"/>
          </a:xfrm>
          <a:prstGeom prst="rect">
            <a:avLst/>
          </a:prstGeom>
          <a:noFill/>
        </p:spPr>
        <p:txBody>
          <a:bodyPr wrap="square" anchor="t" lIns="0" rIns="0" tIns="0" bIns="0">
            <a:noAutofit/>
          </a:bodyPr>
          <a:lstStyle/>
          <a:p>
            <a:pPr algn="l">
              <a:lnSpc>
                <a:spcPct val="112000"/>
              </a:lnSpc>
              <a:spcAft>
                <a:spcPts val="0"/>
              </a:spcAft>
            </a:pPr>
            <a:r>
              <a:rPr sz="860" b="1" i="0">
                <a:solidFill>
                  <a:srgbClr val="4F5BD5"/>
                </a:solidFill>
                <a:latin typeface="Segoe UI"/>
              </a:rPr>
              <a:t>14</a:t>
            </a:r>
          </a:p>
        </p:txBody>
      </p:sp>
      <p:sp>
        <p:nvSpPr>
          <p:cNvPr id="56" name="TextBox 55"/>
          <p:cNvSpPr txBox="1"/>
          <p:nvPr/>
        </p:nvSpPr>
        <p:spPr>
          <a:xfrm>
            <a:off x="6693408" y="5312664"/>
            <a:ext cx="4626864" cy="493776"/>
          </a:xfrm>
          <a:prstGeom prst="rect">
            <a:avLst/>
          </a:prstGeom>
          <a:noFill/>
        </p:spPr>
        <p:txBody>
          <a:bodyPr wrap="square" anchor="t" lIns="0" rIns="0" tIns="0" bIns="0">
            <a:noAutofit/>
          </a:bodyPr>
          <a:lstStyle/>
          <a:p>
            <a:pPr algn="l">
              <a:lnSpc>
                <a:spcPct val="114000"/>
              </a:lnSpc>
              <a:spcAft>
                <a:spcPts val="0"/>
              </a:spcAft>
            </a:pPr>
            <a:r>
              <a:rPr sz="850" b="0" i="0">
                <a:solidFill>
                  <a:srgbClr val="475569"/>
                </a:solidFill>
                <a:latin typeface="Segoe UI"/>
              </a:rPr>
              <a:t>Vitest documentation — vitest.dev. Unit testing for Vite.</a:t>
            </a:r>
          </a:p>
        </p:txBody>
      </p:sp>
      <p:sp>
        <p:nvSpPr>
          <p:cNvPr id="57" name="TextBox 56"/>
          <p:cNvSpPr txBox="1"/>
          <p:nvPr/>
        </p:nvSpPr>
        <p:spPr>
          <a:xfrm>
            <a:off x="640080" y="6053328"/>
            <a:ext cx="10881360" cy="201168"/>
          </a:xfrm>
          <a:prstGeom prst="rect">
            <a:avLst/>
          </a:prstGeom>
          <a:noFill/>
        </p:spPr>
        <p:txBody>
          <a:bodyPr wrap="square" anchor="t" lIns="0" rIns="0" tIns="0" bIns="0">
            <a:noAutofit/>
          </a:bodyPr>
          <a:lstStyle/>
          <a:p>
            <a:pPr algn="l">
              <a:lnSpc>
                <a:spcPct val="112000"/>
              </a:lnSpc>
              <a:spcAft>
                <a:spcPts val="0"/>
              </a:spcAft>
            </a:pPr>
            <a:r>
              <a:rPr sz="819" b="0" i="1">
                <a:solidFill>
                  <a:srgbClr val="7C8AA3"/>
                </a:solidFill>
                <a:latin typeface="Segoe UI"/>
              </a:rPr>
              <a:t>All web sources accessed October 2026  ·  Repository: github.com/palturuvenubhaskar/StudyMapper  ·  Live: study-mapper.vercel.app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StudyMapper — AI-Driven Personalized Learning and Academic Management System</dc:title>
  <dc:subject>Academic project presentation — 13 slides</dc:subject>
  <dc:creator>P. Venubhaskar, T. Vasanth, V. Adarsh Kumar, B. Sai Vikas, C. Narendra</dc:creator>
  <cp:keywords>adaptive learning, spaced repetition, AI, local-first, React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