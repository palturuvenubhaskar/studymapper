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Tests</c:v>
                </c:pt>
              </c:strCache>
            </c:strRef>
          </c:tx>
          <c:dPt>
            <c:idx val="0"/>
            <c:spPr>
              <a:solidFill>
                <a:srgbClr val="0F7A82"/>
              </a:solidFill>
              <a:ln w="12700">
                <a:solidFill>
                  <a:srgbClr val="FFFFFF"/>
                </a:solidFill>
              </a:ln>
            </c:spPr>
          </c:dPt>
          <c:dPt>
            <c:idx val="1"/>
            <c:spPr>
              <a:solidFill>
                <a:srgbClr val="DCE4EA"/>
              </a:solidFill>
              <a:ln w="12700">
                <a:solidFill>
                  <a:srgbClr val="FFFFFF"/>
                </a:solidFill>
              </a:ln>
            </c:spPr>
          </c:dPt>
          <c:cat>
            <c:strRef>
              <c:f>Sheet1!$A$2:$A$3</c:f>
              <c:strCache>
                <c:ptCount val="2"/>
                <c:pt idx="0">
                  <c:v>Passed</c:v>
                </c:pt>
                <c:pt idx="1">
                  <c:v>Not passing</c:v>
                </c:pt>
              </c:strCache>
            </c:strRef>
          </c:cat>
          <c:val>
            <c:numRef>
              <c:f>Sheet1!$B$2:$B$3</c:f>
              <c:numCache>
                <c:formatCode>General</c:formatCode>
                <c:ptCount val="2"/>
                <c:pt idx="0">
                  <c:v>47</c:v>
                </c:pt>
                <c:pt idx="1">
                  <c:v>0</c:v>
                </c:pt>
              </c:numCache>
            </c:numRef>
          </c:val>
        </c:ser>
        <c:firstSliceAng val="0"/>
        <c:holeSize val="72"/>
      </c:doughnutChart>
    </c:plotArea>
    <c:plotVisOnly val="1"/>
    <c:dispBlanksAs val="gap"/>
    <c:showDLblsOverMax val="0"/>
  </c:chart>
  <c:txPr>
    <a:bodyPr/>
    <a:lstStyle/>
    <a:p>
      <a:pPr>
        <a:defRPr sz="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project and the problem space, not the technology. StudyMapper is a browser-based study workspace for a single student: it turns a syllabus into an adaptive plan, generates study material, and measures what needs revision. The three captures on the right are the actual application — dashboard, planner and a generated Mermaid diagram. Mention the team and guide, then say the deck moves from why the system exists, to how it works, to what has actually been verified. Keep this to about forty seconds; the next slide explains the 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a map, not a list. The five acts answer five questions in order: why does this need to exist, what does it do, how is it engineered, what can we actually prove, and what comes next. Point out the colour convention in the bottom band — it is used consistently, so the audience can tell a design decision from a verified result from a limitation. Say that the deep technical detail is concentrated in acts three and four, which lets non-technical listeners follow the narrative without losing the engineers.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abstract slowly enough that the non-technical listeners catch the loop, then use the diagram to make it concrete. Plan takes the exam date, the difficulty of each topic and the current weakness scores; Learn is where generated notes and diagrams live; Practise is question banks, mock exams and in-browser coding; Improve turns attempts into weakness scores, schedules flashcards with SM-2 and feeds the next plan. Stress that this is one data store — the arrow returning to Plan is not a metaphor, it is the same records being recomputed.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student terms before any technology. The first card is about context switching: notes, deadlines and tests are separate, so every switch costs momentum. The second is about plans that never react — a student can follow the schedule perfectly and still under-prepare the weak topic. The third is delayed feedback: by the time marks arrive, the misconception has been practised for weeks. The bottom band converts these into three requirements that the next slides answer. Avoid blaming students; the point is that the tools do not respond.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objective has a measurement, which is the point of the slide. Adaptive planning is not “we added AI”; it is that the schedule changes when the evidence changes. Content generation is measured by artefacts that exist in the app, not by the model responding. Continuous measurement is a per-topic score, not one average. Consistency is streaks and quests, which the interface treats as a first-class feature. The right panel is equally important: saying what is out of scope protects the project from over-claiming. Institutional timetabling, formal grading and a native app were deliberately excluded.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contrast. Adaptive platforms are strong on content but weak on a personal weekly plan. AI tutors generate well but usually cannot see the learner's stored data. LMS analytics serve the institution, not the next hour. Spaced repetition is excellent but isolated. Gamification sustains habit without changing what is studied. StudyMapper's claim is modest and precise: it connects these strands in one local store. The three tags at the bottom summarise the positioning — local-first, AI optional, closed feedback loop.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lanes as a working rhythm rather than a feature list. Capture is where the syllabus, imported material and questions enter. Act is what the student touches every day: the planner, the flashcard queue and the coding workspace. Reflect is where the system earns the word adaptive — analytics, weakness scores and the habit layer feed the next plan. The sentence at the bottom is the key architectural claim: all nine modules share one store, so reflection is not a report; it is an input. If asked which module is the core, say the planner, because it consumes the output of the other eight.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from the top. The client is ordinary React; nothing exotic. The domain band is where the product logic lives and it is all local: the planner, the SM-2 scheduler, the weakness detector and the gamification rules. The services band shows two things that can fail without breaking study: the AI service and the file parser. The data band is the foundation — Dexie over IndexedDB — with Firebase Auth as an optional service on the right, connected by a dashed line because it needs the network. The point to land: AI and login are not load-bearing for the study loop.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method honestly: it was iterative and slice-based, not waterfall. Discover produced the feature list and constraints. Design produced the 40-table schema and the route map before most of the UI existed. Build moved feature by feature, keeping the app runnable. Prove is the phase students often skip — here it means an automated suite, a production build, a seeded dataset and a live deployment. The bottom band matters for technical listeners: the AI layer parses, validates and repairs structured JSON, and retries with another model rather than showing a failure to the student.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tool. Give the rationale per column. Interface: React and Vite keep the feedback loop fast for a small team. Intelligence: OpenRouter means no model training or hosting, Pyodide means coding practice needs no server execution, Mermaid and KaTeX mean diagrams and maths are rendered in the browser. Data: Dexie is the product's memory, Firebase is only identity. Quality: Vitest, Puppeteer and a production build are how claims are checked. The last line is a genuine engineering constraint — the whole project must be demonstrable without paid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side is a domain map, not a full entity-relationship diagram. Curriculum is the tree the student builds; Practice is everything generated or attempted; Planning is the schedule; Progress is the evidence layer. Say that the full schema has 40 tables, but these four clusters are the ones a listener needs to understand the product. On the right, the four-step flow is the important part: writes happen locally first, the UI reacts through live queries, AI enrichment writes back into the same tables, and recomputation is what makes the loop close. There is no server round trip in the core study path.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non-technical listeners relax, so spend time on the screen. Point out the hierarchy: greeting and resume, then three signals — subjects, progress, level and streak — then daily quests and achievements. The focus timer is visible without being dominant. The inset shows the SM-2 review queue, which is the same scheduler described earlier. The right-hand callouts explain the design intent; the list at the bottom is breadth, not a claim that every module is equally deep. All captures come from the running build, not a design mockup.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these numbers mean. The test count, build time, table count and route count are measured from this build. The table lists what each area evidences. The donut is only a pass-rate visual, not a research result. The most important sentence is the amber band: this project proves the system works and is complete against its own scope; it does not prove that students learn more. Say that openly — it strengthens the work, because it shows the team understands the difference between engineering validation and educational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the evaluators. The contributions are stated as mechanisms, not adjectives: a shared data model, an AI layer that degrades gracefully, and local-first storage. The rose panel is deliberately prominent — no learning-outcome study, no institutional deployment, no teacher dashboard, no native app. Then the trade-off table explains why: local-first buys privacy and offline study at the cost of sync; AI authoring buys speed at the cost of review; breadth buys a complete loop at the cost of depth. If a reviewer asks what you would deepen first, point to the planner and the weakness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three pillars, one sentence each. Adaptive means the plan is an output of evidence, not a static document. Explainable means a student or examiner can trace why a topic is flagged weak or why it appears tomorrow — the data is in the same store. Local-first means the product survives a bad connection and treats cloud services as optional. The evidence panel repeats only measured facts. Close with the institution line, then move to future scope. Do not add new claims in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sequencing argument is the slide. The first horizon is not more features; it is a classroom pilot with a pre/post design, because that is the missing evidence. Optional sync and accessibility make the product usable beyond one browser. The next year is about reach and review: mobile, a mentor view that aggregates rather than surveils, and a workflow for checking AI content. Beyond that is institutional integration and a longitudinal study. If asked what is realistically next, answer the pilot and the accessibility pass — both are small enough to start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references. Explain the policy: the repository and the abstract are the primary sources; the rest are official documentation used to confirm specific technical behaviour. No secondary blog posts or unattributed claims are cited. If an examiner asks about the SM-2 formulation, point to Woźniak's original description and the Anki manual as the reference implementation. The repository link is also the fastest way for an evaluator to inspect the code after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inviting questions rather than summarising again. Keep the two links visible: the live demo is the fastest way to show the loop, and the repository is where an examiner can verify implementation claims. The team panel includes roll numbers so the submission is identifiable. If time is short, offer a two-minute demo path: dashboard, planner, generated topic, flashcards. Then take questions, using the earlier slides as references for architecture and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Oval 2"/>
          <p:cNvSpPr/>
          <p:nvPr/>
        </p:nvSpPr>
        <p:spPr>
          <a:xfrm>
            <a:off x="9509760" y="-1554480"/>
            <a:ext cx="4389120" cy="4389120"/>
          </a:xfrm>
          <a:prstGeom prst="ellipse">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5394960"/>
            <a:ext cx="1737360" cy="1737360"/>
          </a:xfrm>
          <a:prstGeom prst="ellipse">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clean.png"/>
          <p:cNvPicPr>
            <a:picLocks noChangeAspect="1"/>
          </p:cNvPicPr>
          <p:nvPr/>
        </p:nvPicPr>
        <p:blipFill>
          <a:blip r:embed="rId2"/>
          <a:stretch>
            <a:fillRect/>
          </a:stretch>
        </p:blipFill>
        <p:spPr>
          <a:xfrm>
            <a:off x="566928" y="438912"/>
            <a:ext cx="2331720" cy="367554"/>
          </a:xfrm>
          <a:prstGeom prst="rect">
            <a:avLst/>
          </a:prstGeom>
        </p:spPr>
      </p:pic>
      <p:sp>
        <p:nvSpPr>
          <p:cNvPr id="6" name="TextBox 5"/>
          <p:cNvSpPr txBox="1"/>
          <p:nvPr/>
        </p:nvSpPr>
        <p:spPr>
          <a:xfrm>
            <a:off x="566928" y="1481328"/>
            <a:ext cx="585216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ACADEMIC PROJECT PRESENTATION  ·  2026–27</a:t>
            </a:r>
          </a:p>
        </p:txBody>
      </p:sp>
      <p:sp>
        <p:nvSpPr>
          <p:cNvPr id="7" name="TextBox 6"/>
          <p:cNvSpPr txBox="1"/>
          <p:nvPr/>
        </p:nvSpPr>
        <p:spPr>
          <a:xfrm>
            <a:off x="566928" y="1700784"/>
            <a:ext cx="5943600" cy="777240"/>
          </a:xfrm>
          <a:prstGeom prst="rect">
            <a:avLst/>
          </a:prstGeom>
          <a:noFill/>
        </p:spPr>
        <p:txBody>
          <a:bodyPr wrap="square" anchor="t" lIns="0" rIns="0" tIns="0" bIns="0">
            <a:noAutofit/>
          </a:bodyPr>
          <a:lstStyle/>
          <a:p>
            <a:pPr algn="l">
              <a:lnSpc>
                <a:spcPct val="95000"/>
              </a:lnSpc>
              <a:spcAft>
                <a:spcPts val="0"/>
              </a:spcAft>
            </a:pPr>
            <a:r>
              <a:rPr sz="4600" b="1" i="0">
                <a:solidFill>
                  <a:srgbClr val="152238"/>
                </a:solidFill>
                <a:latin typeface="Calibri"/>
              </a:rPr>
              <a:t>StudyMapper</a:t>
            </a:r>
          </a:p>
        </p:txBody>
      </p:sp>
      <p:sp>
        <p:nvSpPr>
          <p:cNvPr id="8" name="TextBox 7"/>
          <p:cNvSpPr txBox="1"/>
          <p:nvPr/>
        </p:nvSpPr>
        <p:spPr>
          <a:xfrm>
            <a:off x="566928" y="2487168"/>
            <a:ext cx="5623560" cy="868680"/>
          </a:xfrm>
          <a:prstGeom prst="rect">
            <a:avLst/>
          </a:prstGeom>
          <a:noFill/>
        </p:spPr>
        <p:txBody>
          <a:bodyPr wrap="square" anchor="t" lIns="0" rIns="0" tIns="0" bIns="0">
            <a:noAutofit/>
          </a:bodyPr>
          <a:lstStyle/>
          <a:p>
            <a:pPr algn="l">
              <a:lnSpc>
                <a:spcPct val="118000"/>
              </a:lnSpc>
              <a:spcAft>
                <a:spcPts val="0"/>
              </a:spcAft>
            </a:pPr>
            <a:r>
              <a:rPr sz="1500" b="0" i="0">
                <a:solidFill>
                  <a:srgbClr val="3D4A5C"/>
                </a:solidFill>
                <a:latin typeface="Calibri"/>
              </a:rPr>
              <a:t>AI-driven personalised learning and academic management — plan, learn, practise and improve in one workspace.</a:t>
            </a:r>
          </a:p>
        </p:txBody>
      </p:sp>
      <p:sp>
        <p:nvSpPr>
          <p:cNvPr id="9" name="Rectangle 8"/>
          <p:cNvSpPr/>
          <p:nvPr/>
        </p:nvSpPr>
        <p:spPr>
          <a:xfrm>
            <a:off x="566928" y="3456432"/>
            <a:ext cx="822960" cy="32004"/>
          </a:xfrm>
          <a:prstGeom prst="rect">
            <a:avLst/>
          </a:prstGeom>
          <a:solidFill>
            <a:srgbClr val="0F7A82"/>
          </a:solidFill>
          <a:ln>
            <a:noFill/>
          </a:ln>
          <a:effectLst/>
        </p:spPr>
        <p:txBody>
          <a:bodyPr rtlCol="0" anchor="ctr" wrap="square"/>
          <a:lstStyle/>
          <a:p>
            <a:pPr algn="ctr"/>
          </a:p>
        </p:txBody>
      </p:sp>
      <p:sp>
        <p:nvSpPr>
          <p:cNvPr id="10" name="TextBox 9"/>
          <p:cNvSpPr txBox="1"/>
          <p:nvPr/>
        </p:nvSpPr>
        <p:spPr>
          <a:xfrm>
            <a:off x="566928" y="3639312"/>
            <a:ext cx="5760720" cy="219456"/>
          </a:xfrm>
          <a:prstGeom prst="rect">
            <a:avLst/>
          </a:prstGeom>
          <a:noFill/>
        </p:spPr>
        <p:txBody>
          <a:bodyPr wrap="square" anchor="t" lIns="0" rIns="0" tIns="0" bIns="0">
            <a:noAutofit/>
          </a:bodyPr>
          <a:lstStyle/>
          <a:p>
            <a:pPr algn="l">
              <a:lnSpc>
                <a:spcPct val="112000"/>
              </a:lnSpc>
              <a:spcAft>
                <a:spcPts val="0"/>
              </a:spcAft>
            </a:pPr>
            <a:r>
              <a:rPr sz="780" b="1" i="0">
                <a:solidFill>
                  <a:srgbClr val="77859A"/>
                </a:solidFill>
                <a:latin typeface="Calibri"/>
              </a:rPr>
              <a:t>TEAM</a:t>
            </a:r>
          </a:p>
        </p:txBody>
      </p:sp>
      <p:sp>
        <p:nvSpPr>
          <p:cNvPr id="11" name="TextBox 10"/>
          <p:cNvSpPr txBox="1"/>
          <p:nvPr/>
        </p:nvSpPr>
        <p:spPr>
          <a:xfrm>
            <a:off x="566928" y="3822191"/>
            <a:ext cx="5852160" cy="274320"/>
          </a:xfrm>
          <a:prstGeom prst="rect">
            <a:avLst/>
          </a:prstGeom>
          <a:noFill/>
        </p:spPr>
        <p:txBody>
          <a:bodyPr wrap="square" anchor="t" lIns="0" rIns="0" tIns="0" bIns="0">
            <a:noAutofit/>
          </a:bodyPr>
          <a:lstStyle/>
          <a:p>
            <a:pPr algn="l">
              <a:lnSpc>
                <a:spcPct val="112000"/>
              </a:lnSpc>
              <a:spcAft>
                <a:spcPts val="0"/>
              </a:spcAft>
            </a:pPr>
            <a:r>
              <a:rPr sz="1050" b="1" i="0">
                <a:solidFill>
                  <a:srgbClr val="152238"/>
                </a:solidFill>
                <a:latin typeface="Calibri"/>
              </a:rPr>
              <a:t>P. Venubhaskar  ·  T. Vasanth  ·  V. Adarsh Kumar  ·  B. Sai Vikas  ·  C. Narendra</a:t>
            </a:r>
          </a:p>
        </p:txBody>
      </p:sp>
      <p:sp>
        <p:nvSpPr>
          <p:cNvPr id="12" name="TextBox 11"/>
          <p:cNvSpPr txBox="1"/>
          <p:nvPr/>
        </p:nvSpPr>
        <p:spPr>
          <a:xfrm>
            <a:off x="566928" y="4169663"/>
            <a:ext cx="576072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GUIDE  ·  Ms. C. Sravani</a:t>
            </a:r>
          </a:p>
        </p:txBody>
      </p:sp>
      <p:sp>
        <p:nvSpPr>
          <p:cNvPr id="13" name="TextBox 12"/>
          <p:cNvSpPr txBox="1"/>
          <p:nvPr/>
        </p:nvSpPr>
        <p:spPr>
          <a:xfrm>
            <a:off x="566928" y="4480560"/>
            <a:ext cx="5760720" cy="457200"/>
          </a:xfrm>
          <a:prstGeom prst="rect">
            <a:avLst/>
          </a:prstGeom>
          <a:noFill/>
        </p:spPr>
        <p:txBody>
          <a:bodyPr wrap="square" anchor="t" lIns="0" rIns="0" tIns="0" bIns="0">
            <a:noAutofit/>
          </a:bodyPr>
          <a:lstStyle/>
          <a:p>
            <a:pPr algn="l">
              <a:lnSpc>
                <a:spcPct val="125000"/>
              </a:lnSpc>
              <a:spcAft>
                <a:spcPts val="0"/>
              </a:spcAft>
            </a:pPr>
            <a:r>
              <a:rPr sz="950" b="0" i="0">
                <a:solidFill>
                  <a:srgbClr val="77859A"/>
                </a:solidFill>
                <a:latin typeface="Calibri"/>
              </a:rPr>
              <a:t>Department of Computer Science &amp; Engineering</a:t>
            </a:r>
          </a:p>
          <a:p>
            <a:pPr algn="l">
              <a:lnSpc>
                <a:spcPct val="125000"/>
              </a:lnSpc>
              <a:spcAft>
                <a:spcPts val="0"/>
              </a:spcAft>
            </a:pPr>
            <a:r>
              <a:rPr sz="950" b="0" i="0">
                <a:solidFill>
                  <a:srgbClr val="77859A"/>
                </a:solidFill>
                <a:latin typeface="Calibri"/>
              </a:rPr>
              <a:t>Anantha Lakshmi Institute of Technology &amp; Sciences (Autonomous)</a:t>
            </a:r>
          </a:p>
        </p:txBody>
      </p:sp>
      <p:sp>
        <p:nvSpPr>
          <p:cNvPr id="14" name="Rounded Rectangle 13"/>
          <p:cNvSpPr/>
          <p:nvPr/>
        </p:nvSpPr>
        <p:spPr>
          <a:xfrm>
            <a:off x="566928" y="5230368"/>
            <a:ext cx="3017520" cy="329184"/>
          </a:xfrm>
          <a:prstGeom prst="roundRect">
            <a:avLst>
              <a:gd name="adj" fmla="val 50000"/>
            </a:avLst>
          </a:prstGeom>
          <a:solidFill>
            <a:srgbClr val="0F7A82"/>
          </a:solidFill>
          <a:ln>
            <a:noFill/>
          </a:ln>
          <a:effectLst/>
        </p:spPr>
        <p:txBody>
          <a:bodyPr rtlCol="0" anchor="ctr" wrap="square" lIns="54864" rIns="54864" tIns="0" bIns="0"/>
          <a:lstStyle/>
          <a:p>
            <a:pPr algn="ctr"/>
            <a:r>
              <a:rPr sz="900" b="1">
                <a:solidFill>
                  <a:srgbClr val="FFFFFF"/>
                </a:solidFill>
                <a:latin typeface="Calibri"/>
              </a:rPr>
              <a:t>Live demo  ·  study-mapper.vercel.app</a:t>
            </a:r>
          </a:p>
        </p:txBody>
      </p:sp>
      <p:sp>
        <p:nvSpPr>
          <p:cNvPr id="15" name="Rounded Rectangle 14"/>
          <p:cNvSpPr/>
          <p:nvPr/>
        </p:nvSpPr>
        <p:spPr>
          <a:xfrm>
            <a:off x="3712463" y="5230368"/>
            <a:ext cx="1600200" cy="329184"/>
          </a:xfrm>
          <a:prstGeom prst="roundRect">
            <a:avLst>
              <a:gd name="adj" fmla="val 50000"/>
            </a:avLst>
          </a:prstGeom>
          <a:solidFill>
            <a:srgbClr val="E9F4EE"/>
          </a:solidFill>
          <a:ln>
            <a:noFill/>
          </a:ln>
          <a:effectLst/>
        </p:spPr>
        <p:txBody>
          <a:bodyPr rtlCol="0" anchor="ctr" wrap="square" lIns="54864" rIns="54864" tIns="0" bIns="0"/>
          <a:lstStyle/>
          <a:p>
            <a:pPr algn="ctr"/>
            <a:r>
              <a:rPr sz="900" b="1">
                <a:solidFill>
                  <a:srgbClr val="2B7A58"/>
                </a:solidFill>
                <a:latin typeface="Calibri"/>
              </a:rPr>
              <a:t>47 / 47 tests</a:t>
            </a:r>
          </a:p>
        </p:txBody>
      </p:sp>
      <p:sp>
        <p:nvSpPr>
          <p:cNvPr id="16" name="TextBox 15"/>
          <p:cNvSpPr txBox="1"/>
          <p:nvPr/>
        </p:nvSpPr>
        <p:spPr>
          <a:xfrm>
            <a:off x="566928" y="5742432"/>
            <a:ext cx="5669280" cy="457200"/>
          </a:xfrm>
          <a:prstGeom prst="rect">
            <a:avLst/>
          </a:prstGeom>
          <a:noFill/>
        </p:spPr>
        <p:txBody>
          <a:bodyPr wrap="square" anchor="t" lIns="0" rIns="0" tIns="0" bIns="0">
            <a:noAutofit/>
          </a:bodyPr>
          <a:lstStyle/>
          <a:p>
            <a:pPr algn="l">
              <a:lnSpc>
                <a:spcPct val="120000"/>
              </a:lnSpc>
              <a:spcAft>
                <a:spcPts val="0"/>
              </a:spcAft>
            </a:pPr>
            <a:r>
              <a:rPr sz="850" b="0" i="1">
                <a:solidFill>
                  <a:srgbClr val="77859A"/>
                </a:solidFill>
                <a:latin typeface="Calibri"/>
              </a:rPr>
              <a:t>Everything shown in this deck is drawn from the project repository and the running application.</a:t>
            </a:r>
          </a:p>
        </p:txBody>
      </p:sp>
      <p:sp>
        <p:nvSpPr>
          <p:cNvPr id="17" name="Rounded Rectangle 16"/>
          <p:cNvSpPr/>
          <p:nvPr/>
        </p:nvSpPr>
        <p:spPr>
          <a:xfrm>
            <a:off x="6748272" y="566928"/>
            <a:ext cx="4882896" cy="5742432"/>
          </a:xfrm>
          <a:prstGeom prst="roundRect">
            <a:avLst>
              <a:gd name="adj" fmla="val 3500"/>
            </a:avLst>
          </a:prstGeom>
          <a:solidFill>
            <a:srgbClr val="F5F8FA"/>
          </a:solidFill>
          <a:ln w="9525">
            <a:solidFill>
              <a:srgbClr val="DCE4EA"/>
            </a:solidFill>
          </a:ln>
          <a:effectLst/>
        </p:spPr>
        <p:txBody>
          <a:bodyPr rtlCol="0" anchor="ctr" wrap="square"/>
          <a:lstStyle/>
          <a:p>
            <a:pPr algn="ctr"/>
          </a:p>
        </p:txBody>
      </p:sp>
      <p:sp>
        <p:nvSpPr>
          <p:cNvPr id="18" name="Rounded Rectangle 17"/>
          <p:cNvSpPr/>
          <p:nvPr/>
        </p:nvSpPr>
        <p:spPr>
          <a:xfrm>
            <a:off x="7004304" y="822960"/>
            <a:ext cx="4370832" cy="2724912"/>
          </a:xfrm>
          <a:prstGeom prst="roundRect">
            <a:avLst>
              <a:gd name="adj" fmla="val 3500"/>
            </a:avLst>
          </a:prstGeom>
          <a:solidFill>
            <a:srgbClr val="FFFFFF"/>
          </a:solidFill>
          <a:ln w="9525">
            <a:solidFill>
              <a:srgbClr val="DCE4EA"/>
            </a:solidFill>
          </a:ln>
          <a:effectLst/>
        </p:spPr>
        <p:txBody>
          <a:bodyPr rtlCol="0" anchor="ctr" wrap="square"/>
          <a:lstStyle/>
          <a:p>
            <a:pPr algn="ctr"/>
          </a:p>
        </p:txBody>
      </p:sp>
      <p:pic>
        <p:nvPicPr>
          <p:cNvPr id="19" name="Picture 18" descr="dashboard-light.png"/>
          <p:cNvPicPr>
            <a:picLocks noChangeAspect="1"/>
          </p:cNvPicPr>
          <p:nvPr/>
        </p:nvPicPr>
        <p:blipFill>
          <a:blip r:embed="rId3"/>
          <a:srcRect t="4483" b="4483"/>
          <a:stretch>
            <a:fillRect/>
          </a:stretch>
        </p:blipFill>
        <p:spPr>
          <a:xfrm>
            <a:off x="7068312" y="886968"/>
            <a:ext cx="4242816" cy="2414015"/>
          </a:xfrm>
          <a:prstGeom prst="rect">
            <a:avLst/>
          </a:prstGeom>
          <a:ln w="12700">
            <a:solidFill>
              <a:srgbClr val="FFFFFF"/>
            </a:solidFill>
          </a:ln>
          <a:effectLst/>
        </p:spPr>
      </p:pic>
      <p:sp>
        <p:nvSpPr>
          <p:cNvPr id="20" name="TextBox 19"/>
          <p:cNvSpPr txBox="1"/>
          <p:nvPr/>
        </p:nvSpPr>
        <p:spPr>
          <a:xfrm>
            <a:off x="7068312" y="3328415"/>
            <a:ext cx="4242816" cy="164592"/>
          </a:xfrm>
          <a:prstGeom prst="rect">
            <a:avLst/>
          </a:prstGeom>
          <a:noFill/>
        </p:spPr>
        <p:txBody>
          <a:bodyPr wrap="square" anchor="t" lIns="0" rIns="0" tIns="0" bIns="0">
            <a:noAutofit/>
          </a:bodyPr>
          <a:lstStyle/>
          <a:p>
            <a:pPr algn="l">
              <a:lnSpc>
                <a:spcPct val="112000"/>
              </a:lnSpc>
              <a:spcAft>
                <a:spcPts val="0"/>
              </a:spcAft>
            </a:pPr>
            <a:r>
              <a:rPr sz="850" b="0" i="1">
                <a:solidFill>
                  <a:srgbClr val="77859A"/>
                </a:solidFill>
                <a:latin typeface="Calibri"/>
              </a:rPr>
              <a:t>Dashboard — the daily workspace</a:t>
            </a:r>
          </a:p>
        </p:txBody>
      </p:sp>
      <p:sp>
        <p:nvSpPr>
          <p:cNvPr id="21" name="Rounded Rectangle 20"/>
          <p:cNvSpPr/>
          <p:nvPr/>
        </p:nvSpPr>
        <p:spPr>
          <a:xfrm>
            <a:off x="7004304" y="3913632"/>
            <a:ext cx="2084831" cy="1389888"/>
          </a:xfrm>
          <a:prstGeom prst="roundRect">
            <a:avLst>
              <a:gd name="adj" fmla="val 3500"/>
            </a:avLst>
          </a:prstGeom>
          <a:solidFill>
            <a:srgbClr val="FFFFFF"/>
          </a:solidFill>
          <a:ln w="9525">
            <a:solidFill>
              <a:srgbClr val="DCE4EA"/>
            </a:solidFill>
          </a:ln>
          <a:effectLst/>
        </p:spPr>
        <p:txBody>
          <a:bodyPr rtlCol="0" anchor="ctr" wrap="square"/>
          <a:lstStyle/>
          <a:p>
            <a:pPr algn="ctr"/>
          </a:p>
        </p:txBody>
      </p:sp>
      <p:pic>
        <p:nvPicPr>
          <p:cNvPr id="22" name="Picture 21" descr="planner-schedule.png"/>
          <p:cNvPicPr>
            <a:picLocks noChangeAspect="1"/>
          </p:cNvPicPr>
          <p:nvPr/>
        </p:nvPicPr>
        <p:blipFill>
          <a:blip r:embed="rId4"/>
          <a:srcRect t="5229" b="5229"/>
          <a:stretch>
            <a:fillRect/>
          </a:stretch>
        </p:blipFill>
        <p:spPr>
          <a:xfrm>
            <a:off x="7050024" y="3959352"/>
            <a:ext cx="1993391" cy="1115568"/>
          </a:xfrm>
          <a:prstGeom prst="rect">
            <a:avLst/>
          </a:prstGeom>
          <a:ln w="12700">
            <a:solidFill>
              <a:srgbClr val="FFFFFF"/>
            </a:solidFill>
          </a:ln>
          <a:effectLst/>
        </p:spPr>
      </p:pic>
      <p:sp>
        <p:nvSpPr>
          <p:cNvPr id="23" name="TextBox 22"/>
          <p:cNvSpPr txBox="1"/>
          <p:nvPr/>
        </p:nvSpPr>
        <p:spPr>
          <a:xfrm>
            <a:off x="7050024" y="5084064"/>
            <a:ext cx="1993391" cy="164592"/>
          </a:xfrm>
          <a:prstGeom prst="rect">
            <a:avLst/>
          </a:prstGeom>
          <a:noFill/>
        </p:spPr>
        <p:txBody>
          <a:bodyPr wrap="square" anchor="t" lIns="0" rIns="0" tIns="0" bIns="0">
            <a:noAutofit/>
          </a:bodyPr>
          <a:lstStyle/>
          <a:p>
            <a:pPr algn="l">
              <a:lnSpc>
                <a:spcPct val="112000"/>
              </a:lnSpc>
              <a:spcAft>
                <a:spcPts val="0"/>
              </a:spcAft>
            </a:pPr>
            <a:r>
              <a:rPr sz="850" b="0" i="1">
                <a:solidFill>
                  <a:srgbClr val="77859A"/>
                </a:solidFill>
                <a:latin typeface="Calibri"/>
              </a:rPr>
              <a:t>Adaptive planner</a:t>
            </a:r>
          </a:p>
        </p:txBody>
      </p:sp>
      <p:sp>
        <p:nvSpPr>
          <p:cNvPr id="24" name="Rounded Rectangle 23"/>
          <p:cNvSpPr/>
          <p:nvPr/>
        </p:nvSpPr>
        <p:spPr>
          <a:xfrm>
            <a:off x="9290304" y="3913632"/>
            <a:ext cx="2084831" cy="1389888"/>
          </a:xfrm>
          <a:prstGeom prst="roundRect">
            <a:avLst>
              <a:gd name="adj" fmla="val 3500"/>
            </a:avLst>
          </a:prstGeom>
          <a:solidFill>
            <a:srgbClr val="FFFFFF"/>
          </a:solidFill>
          <a:ln w="9525">
            <a:solidFill>
              <a:srgbClr val="DCE4EA"/>
            </a:solidFill>
          </a:ln>
          <a:effectLst/>
        </p:spPr>
        <p:txBody>
          <a:bodyPr rtlCol="0" anchor="ctr" wrap="square"/>
          <a:lstStyle/>
          <a:p>
            <a:pPr algn="ctr"/>
          </a:p>
        </p:txBody>
      </p:sp>
      <p:pic>
        <p:nvPicPr>
          <p:cNvPr id="25" name="Picture 24" descr="topic-diagram.png"/>
          <p:cNvPicPr>
            <a:picLocks noChangeAspect="1"/>
          </p:cNvPicPr>
          <p:nvPr/>
        </p:nvPicPr>
        <p:blipFill>
          <a:blip r:embed="rId5"/>
          <a:srcRect t="5229" b="5229"/>
          <a:stretch>
            <a:fillRect/>
          </a:stretch>
        </p:blipFill>
        <p:spPr>
          <a:xfrm>
            <a:off x="9336024" y="3959352"/>
            <a:ext cx="1993391" cy="1115568"/>
          </a:xfrm>
          <a:prstGeom prst="rect">
            <a:avLst/>
          </a:prstGeom>
          <a:ln w="12700">
            <a:solidFill>
              <a:srgbClr val="FFFFFF"/>
            </a:solidFill>
          </a:ln>
          <a:effectLst/>
        </p:spPr>
      </p:pic>
      <p:sp>
        <p:nvSpPr>
          <p:cNvPr id="26" name="TextBox 25"/>
          <p:cNvSpPr txBox="1"/>
          <p:nvPr/>
        </p:nvSpPr>
        <p:spPr>
          <a:xfrm>
            <a:off x="9336024" y="5084064"/>
            <a:ext cx="1993391" cy="164592"/>
          </a:xfrm>
          <a:prstGeom prst="rect">
            <a:avLst/>
          </a:prstGeom>
          <a:noFill/>
        </p:spPr>
        <p:txBody>
          <a:bodyPr wrap="square" anchor="t" lIns="0" rIns="0" tIns="0" bIns="0">
            <a:noAutofit/>
          </a:bodyPr>
          <a:lstStyle/>
          <a:p>
            <a:pPr algn="l">
              <a:lnSpc>
                <a:spcPct val="112000"/>
              </a:lnSpc>
              <a:spcAft>
                <a:spcPts val="0"/>
              </a:spcAft>
            </a:pPr>
            <a:r>
              <a:rPr sz="850" b="0" i="1">
                <a:solidFill>
                  <a:srgbClr val="77859A"/>
                </a:solidFill>
                <a:latin typeface="Calibri"/>
              </a:rPr>
              <a:t>Generated diagram</a:t>
            </a:r>
          </a:p>
        </p:txBody>
      </p:sp>
      <p:sp>
        <p:nvSpPr>
          <p:cNvPr id="27" name="TextBox 26"/>
          <p:cNvSpPr txBox="1"/>
          <p:nvPr/>
        </p:nvSpPr>
        <p:spPr>
          <a:xfrm>
            <a:off x="7004304" y="5559552"/>
            <a:ext cx="4370832" cy="457200"/>
          </a:xfrm>
          <a:prstGeom prst="rect">
            <a:avLst/>
          </a:prstGeom>
          <a:noFill/>
        </p:spPr>
        <p:txBody>
          <a:bodyPr wrap="square" anchor="t" lIns="0" rIns="0" tIns="0" bIns="0">
            <a:noAutofit/>
          </a:bodyPr>
          <a:lstStyle/>
          <a:p>
            <a:pPr algn="l">
              <a:lnSpc>
                <a:spcPct val="120000"/>
              </a:lnSpc>
              <a:spcAft>
                <a:spcPts val="0"/>
              </a:spcAft>
            </a:pPr>
            <a:r>
              <a:rPr sz="800" b="0" i="1">
                <a:solidFill>
                  <a:srgbClr val="77859A"/>
                </a:solidFill>
                <a:latin typeface="Calibri"/>
              </a:rPr>
              <a:t>Genuine captures from the application at 1440 × 900, light theme. No mockups.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AGENDA</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Eighteen slides, five acts</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Why the system exists, what it does, how it is built, what is verified, and where it goes next.</a:t>
            </a:r>
          </a:p>
        </p:txBody>
      </p:sp>
      <p:sp>
        <p:nvSpPr>
          <p:cNvPr id="7" name="TextBox 6"/>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02 / 18</a:t>
            </a:r>
          </a:p>
        </p:txBody>
      </p:sp>
      <p:sp>
        <p:nvSpPr>
          <p:cNvPr id="8" name="Rectangle 7"/>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9" name="TextBox 8"/>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0" name="Pentagon 9"/>
          <p:cNvSpPr/>
          <p:nvPr/>
        </p:nvSpPr>
        <p:spPr>
          <a:xfrm>
            <a:off x="566928" y="1755648"/>
            <a:ext cx="2331720" cy="438912"/>
          </a:xfrm>
          <a:prstGeom prst="homePlate">
            <a:avLst/>
          </a:prstGeom>
          <a:solidFill>
            <a:srgbClr val="0F7A82"/>
          </a:solidFill>
          <a:ln>
            <a:noFill/>
          </a:ln>
          <a:effectLst/>
        </p:spPr>
        <p:txBody>
          <a:bodyPr rtlCol="0" anchor="ctr" lIns="164592" tIns="0" bIns="0"/>
          <a:lstStyle/>
          <a:p>
            <a:pPr algn="ctr"/>
            <a:r>
              <a:rPr sz="850" b="1">
                <a:solidFill>
                  <a:srgbClr val="FFFFFF"/>
                </a:solidFill>
                <a:latin typeface="Calibri"/>
              </a:rPr>
              <a:t>01  FOUNDATIONS</a:t>
            </a:r>
          </a:p>
        </p:txBody>
      </p:sp>
      <p:sp>
        <p:nvSpPr>
          <p:cNvPr id="11" name="Rounded Rectangle 10"/>
          <p:cNvSpPr/>
          <p:nvPr/>
        </p:nvSpPr>
        <p:spPr>
          <a:xfrm>
            <a:off x="566928" y="2304288"/>
            <a:ext cx="2084831" cy="29077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12" name="Rectangle 11"/>
          <p:cNvSpPr/>
          <p:nvPr/>
        </p:nvSpPr>
        <p:spPr>
          <a:xfrm>
            <a:off x="583387" y="2414016"/>
            <a:ext cx="41148" cy="2688336"/>
          </a:xfrm>
          <a:prstGeom prst="rect">
            <a:avLst/>
          </a:prstGeom>
          <a:solidFill>
            <a:srgbClr val="0F7A82"/>
          </a:solidFill>
          <a:ln>
            <a:noFill/>
          </a:ln>
          <a:effectLst/>
        </p:spPr>
        <p:txBody>
          <a:bodyPr rtlCol="0" anchor="ctr" wrap="square"/>
          <a:lstStyle/>
          <a:p>
            <a:pPr algn="ctr"/>
          </a:p>
        </p:txBody>
      </p:sp>
      <p:sp>
        <p:nvSpPr>
          <p:cNvPr id="13" name="TextBox 12"/>
          <p:cNvSpPr txBox="1"/>
          <p:nvPr/>
        </p:nvSpPr>
        <p:spPr>
          <a:xfrm>
            <a:off x="749808" y="2505456"/>
            <a:ext cx="173736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SLIDES 03–06</a:t>
            </a:r>
          </a:p>
        </p:txBody>
      </p:sp>
      <p:sp>
        <p:nvSpPr>
          <p:cNvPr id="14" name="TextBox 13"/>
          <p:cNvSpPr txBox="1"/>
          <p:nvPr/>
        </p:nvSpPr>
        <p:spPr>
          <a:xfrm>
            <a:off x="749808" y="2724912"/>
            <a:ext cx="1783080" cy="502920"/>
          </a:xfrm>
          <a:prstGeom prst="rect">
            <a:avLst/>
          </a:prstGeom>
          <a:noFill/>
        </p:spPr>
        <p:txBody>
          <a:bodyPr wrap="square" anchor="t" lIns="0" rIns="0" tIns="0" bIns="0">
            <a:noAutofit/>
          </a:bodyPr>
          <a:lstStyle/>
          <a:p>
            <a:pPr algn="l">
              <a:lnSpc>
                <a:spcPct val="118000"/>
              </a:lnSpc>
              <a:spcAft>
                <a:spcPts val="0"/>
              </a:spcAft>
            </a:pPr>
            <a:r>
              <a:rPr sz="940" b="0" i="0">
                <a:solidFill>
                  <a:srgbClr val="77859A"/>
                </a:solidFill>
                <a:latin typeface="Calibri"/>
              </a:rPr>
              <a:t>Abstract, problem, objectives and existing work.</a:t>
            </a:r>
          </a:p>
        </p:txBody>
      </p:sp>
      <p:sp>
        <p:nvSpPr>
          <p:cNvPr id="15" name="TextBox 14"/>
          <p:cNvSpPr txBox="1"/>
          <p:nvPr/>
        </p:nvSpPr>
        <p:spPr>
          <a:xfrm>
            <a:off x="749808" y="3328416"/>
            <a:ext cx="1783080" cy="914400"/>
          </a:xfrm>
          <a:prstGeom prst="rect">
            <a:avLst/>
          </a:prstGeom>
          <a:noFill/>
        </p:spPr>
        <p:txBody>
          <a:bodyPr wrap="square" anchor="t" lIns="0" rIns="0" tIns="0" bIns="0">
            <a:noAutofit/>
          </a:bodyPr>
          <a:lstStyle/>
          <a:p>
            <a:pPr algn="l">
              <a:lnSpc>
                <a:spcPct val="150000"/>
              </a:lnSpc>
              <a:spcAft>
                <a:spcPts val="0"/>
              </a:spcAft>
            </a:pPr>
            <a:r>
              <a:rPr sz="880" b="0" i="0">
                <a:solidFill>
                  <a:srgbClr val="3D4A5C"/>
                </a:solidFill>
                <a:latin typeface="Calibri"/>
              </a:rPr>
              <a:t>·  Context &amp; motivation</a:t>
            </a:r>
          </a:p>
          <a:p>
            <a:pPr algn="l">
              <a:lnSpc>
                <a:spcPct val="150000"/>
              </a:lnSpc>
              <a:spcAft>
                <a:spcPts val="0"/>
              </a:spcAft>
            </a:pPr>
            <a:r>
              <a:rPr sz="880" b="0" i="0">
                <a:solidFill>
                  <a:srgbClr val="3D4A5C"/>
                </a:solidFill>
                <a:latin typeface="Calibri"/>
              </a:rPr>
              <a:t>·  Problem definition</a:t>
            </a:r>
          </a:p>
          <a:p>
            <a:pPr algn="l">
              <a:lnSpc>
                <a:spcPct val="150000"/>
              </a:lnSpc>
              <a:spcAft>
                <a:spcPts val="0"/>
              </a:spcAft>
            </a:pPr>
            <a:r>
              <a:rPr sz="880" b="0" i="0">
                <a:solidFill>
                  <a:srgbClr val="3D4A5C"/>
                </a:solidFill>
                <a:latin typeface="Calibri"/>
              </a:rPr>
              <a:t>·  Objectives &amp; scope</a:t>
            </a:r>
          </a:p>
          <a:p>
            <a:pPr algn="l">
              <a:lnSpc>
                <a:spcPct val="150000"/>
              </a:lnSpc>
              <a:spcAft>
                <a:spcPts val="0"/>
              </a:spcAft>
            </a:pPr>
            <a:r>
              <a:rPr sz="880" b="0" i="0">
                <a:solidFill>
                  <a:srgbClr val="3D4A5C"/>
                </a:solidFill>
                <a:latin typeface="Calibri"/>
              </a:rPr>
              <a:t>·  Literature review</a:t>
            </a:r>
          </a:p>
        </p:txBody>
      </p:sp>
      <p:sp>
        <p:nvSpPr>
          <p:cNvPr id="16" name="Rectangle 15"/>
          <p:cNvSpPr/>
          <p:nvPr/>
        </p:nvSpPr>
        <p:spPr>
          <a:xfrm>
            <a:off x="749808" y="4224528"/>
            <a:ext cx="1719072" cy="5486"/>
          </a:xfrm>
          <a:prstGeom prst="rect">
            <a:avLst/>
          </a:prstGeom>
          <a:solidFill>
            <a:srgbClr val="DCE4EA"/>
          </a:solidFill>
          <a:ln>
            <a:noFill/>
          </a:ln>
          <a:effectLst/>
        </p:spPr>
        <p:txBody>
          <a:bodyPr rtlCol="0" anchor="ctr" wrap="square"/>
          <a:lstStyle/>
          <a:p>
            <a:pPr algn="ctr"/>
          </a:p>
        </p:txBody>
      </p:sp>
      <p:sp>
        <p:nvSpPr>
          <p:cNvPr id="17" name="TextBox 16"/>
          <p:cNvSpPr txBox="1"/>
          <p:nvPr/>
        </p:nvSpPr>
        <p:spPr>
          <a:xfrm>
            <a:off x="749808" y="4297680"/>
            <a:ext cx="1737360" cy="164592"/>
          </a:xfrm>
          <a:prstGeom prst="rect">
            <a:avLst/>
          </a:prstGeom>
          <a:noFill/>
        </p:spPr>
        <p:txBody>
          <a:bodyPr wrap="square" anchor="t" lIns="0" rIns="0" tIns="0" bIns="0">
            <a:noAutofit/>
          </a:bodyPr>
          <a:lstStyle/>
          <a:p>
            <a:pPr algn="l">
              <a:lnSpc>
                <a:spcPct val="112000"/>
              </a:lnSpc>
              <a:spcAft>
                <a:spcPts val="0"/>
              </a:spcAft>
            </a:pPr>
            <a:r>
              <a:rPr sz="660" b="1" i="0">
                <a:solidFill>
                  <a:srgbClr val="0F7A82"/>
                </a:solidFill>
                <a:latin typeface="Calibri"/>
              </a:rPr>
              <a:t>OUTCOME</a:t>
            </a:r>
          </a:p>
        </p:txBody>
      </p:sp>
      <p:sp>
        <p:nvSpPr>
          <p:cNvPr id="18" name="TextBox 17"/>
          <p:cNvSpPr txBox="1"/>
          <p:nvPr/>
        </p:nvSpPr>
        <p:spPr>
          <a:xfrm>
            <a:off x="749808" y="4462272"/>
            <a:ext cx="1755648" cy="640080"/>
          </a:xfrm>
          <a:prstGeom prst="rect">
            <a:avLst/>
          </a:prstGeom>
          <a:noFill/>
        </p:spPr>
        <p:txBody>
          <a:bodyPr wrap="square" anchor="t" lIns="0" rIns="0" tIns="0" bIns="0">
            <a:noAutofit/>
          </a:bodyPr>
          <a:lstStyle/>
          <a:p>
            <a:pPr algn="l">
              <a:lnSpc>
                <a:spcPct val="118000"/>
              </a:lnSpc>
              <a:spcAft>
                <a:spcPts val="0"/>
              </a:spcAft>
            </a:pPr>
            <a:r>
              <a:rPr sz="840" b="0" i="0">
                <a:solidFill>
                  <a:srgbClr val="3D4A5C"/>
                </a:solidFill>
                <a:latin typeface="Calibri"/>
              </a:rPr>
              <a:t>You will know the problem, the scope and the gap.</a:t>
            </a:r>
          </a:p>
        </p:txBody>
      </p:sp>
      <p:sp>
        <p:nvSpPr>
          <p:cNvPr id="19" name="Chevron 18"/>
          <p:cNvSpPr/>
          <p:nvPr/>
        </p:nvSpPr>
        <p:spPr>
          <a:xfrm>
            <a:off x="2743200" y="1755648"/>
            <a:ext cx="2331720" cy="438912"/>
          </a:xfrm>
          <a:prstGeom prst="chevron">
            <a:avLst/>
          </a:prstGeom>
          <a:solidFill>
            <a:srgbClr val="0A565C"/>
          </a:solidFill>
          <a:ln>
            <a:noFill/>
          </a:ln>
          <a:effectLst/>
        </p:spPr>
        <p:txBody>
          <a:bodyPr rtlCol="0" anchor="ctr" lIns="164592" tIns="0" bIns="0"/>
          <a:lstStyle/>
          <a:p>
            <a:pPr algn="ctr"/>
            <a:r>
              <a:rPr sz="850" b="1">
                <a:solidFill>
                  <a:srgbClr val="FFFFFF"/>
                </a:solidFill>
                <a:latin typeface="Calibri"/>
              </a:rPr>
              <a:t>02  THE SYSTEM</a:t>
            </a:r>
          </a:p>
        </p:txBody>
      </p:sp>
      <p:sp>
        <p:nvSpPr>
          <p:cNvPr id="20" name="Rounded Rectangle 19"/>
          <p:cNvSpPr/>
          <p:nvPr/>
        </p:nvSpPr>
        <p:spPr>
          <a:xfrm>
            <a:off x="2743200" y="2304288"/>
            <a:ext cx="2084831" cy="29077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21" name="Rectangle 20"/>
          <p:cNvSpPr/>
          <p:nvPr/>
        </p:nvSpPr>
        <p:spPr>
          <a:xfrm>
            <a:off x="2759659" y="2414016"/>
            <a:ext cx="41148" cy="2688336"/>
          </a:xfrm>
          <a:prstGeom prst="rect">
            <a:avLst/>
          </a:prstGeom>
          <a:solidFill>
            <a:srgbClr val="0A565C"/>
          </a:solidFill>
          <a:ln>
            <a:noFill/>
          </a:ln>
          <a:effectLst/>
        </p:spPr>
        <p:txBody>
          <a:bodyPr rtlCol="0" anchor="ctr" wrap="square"/>
          <a:lstStyle/>
          <a:p>
            <a:pPr algn="ctr"/>
          </a:p>
        </p:txBody>
      </p:sp>
      <p:sp>
        <p:nvSpPr>
          <p:cNvPr id="22" name="TextBox 21"/>
          <p:cNvSpPr txBox="1"/>
          <p:nvPr/>
        </p:nvSpPr>
        <p:spPr>
          <a:xfrm>
            <a:off x="2926080" y="2505456"/>
            <a:ext cx="1737360" cy="182880"/>
          </a:xfrm>
          <a:prstGeom prst="rect">
            <a:avLst/>
          </a:prstGeom>
          <a:noFill/>
        </p:spPr>
        <p:txBody>
          <a:bodyPr wrap="square" anchor="t" lIns="0" rIns="0" tIns="0" bIns="0">
            <a:noAutofit/>
          </a:bodyPr>
          <a:lstStyle/>
          <a:p>
            <a:pPr algn="l">
              <a:lnSpc>
                <a:spcPct val="112000"/>
              </a:lnSpc>
              <a:spcAft>
                <a:spcPts val="0"/>
              </a:spcAft>
            </a:pPr>
            <a:r>
              <a:rPr sz="780" b="1" i="0">
                <a:solidFill>
                  <a:srgbClr val="0A565C"/>
                </a:solidFill>
                <a:latin typeface="Calibri"/>
              </a:rPr>
              <a:t>SLIDES 07–09</a:t>
            </a:r>
          </a:p>
        </p:txBody>
      </p:sp>
      <p:sp>
        <p:nvSpPr>
          <p:cNvPr id="23" name="TextBox 22"/>
          <p:cNvSpPr txBox="1"/>
          <p:nvPr/>
        </p:nvSpPr>
        <p:spPr>
          <a:xfrm>
            <a:off x="2926080" y="2724912"/>
            <a:ext cx="1783080" cy="502920"/>
          </a:xfrm>
          <a:prstGeom prst="rect">
            <a:avLst/>
          </a:prstGeom>
          <a:noFill/>
        </p:spPr>
        <p:txBody>
          <a:bodyPr wrap="square" anchor="t" lIns="0" rIns="0" tIns="0" bIns="0">
            <a:noAutofit/>
          </a:bodyPr>
          <a:lstStyle/>
          <a:p>
            <a:pPr algn="l">
              <a:lnSpc>
                <a:spcPct val="118000"/>
              </a:lnSpc>
              <a:spcAft>
                <a:spcPts val="0"/>
              </a:spcAft>
            </a:pPr>
            <a:r>
              <a:rPr sz="940" b="0" i="0">
                <a:solidFill>
                  <a:srgbClr val="77859A"/>
                </a:solidFill>
                <a:latin typeface="Calibri"/>
              </a:rPr>
              <a:t>The product loop, its architecture and the method.</a:t>
            </a:r>
          </a:p>
        </p:txBody>
      </p:sp>
      <p:sp>
        <p:nvSpPr>
          <p:cNvPr id="24" name="TextBox 23"/>
          <p:cNvSpPr txBox="1"/>
          <p:nvPr/>
        </p:nvSpPr>
        <p:spPr>
          <a:xfrm>
            <a:off x="2926080" y="3328416"/>
            <a:ext cx="1783080" cy="914400"/>
          </a:xfrm>
          <a:prstGeom prst="rect">
            <a:avLst/>
          </a:prstGeom>
          <a:noFill/>
        </p:spPr>
        <p:txBody>
          <a:bodyPr wrap="square" anchor="t" lIns="0" rIns="0" tIns="0" bIns="0">
            <a:noAutofit/>
          </a:bodyPr>
          <a:lstStyle/>
          <a:p>
            <a:pPr algn="l">
              <a:lnSpc>
                <a:spcPct val="150000"/>
              </a:lnSpc>
              <a:spcAft>
                <a:spcPts val="0"/>
              </a:spcAft>
            </a:pPr>
            <a:r>
              <a:rPr sz="880" b="0" i="0">
                <a:solidFill>
                  <a:srgbClr val="3D4A5C"/>
                </a:solidFill>
                <a:latin typeface="Calibri"/>
              </a:rPr>
              <a:t>·  Proposed modules</a:t>
            </a:r>
          </a:p>
          <a:p>
            <a:pPr algn="l">
              <a:lnSpc>
                <a:spcPct val="150000"/>
              </a:lnSpc>
              <a:spcAft>
                <a:spcPts val="0"/>
              </a:spcAft>
            </a:pPr>
            <a:r>
              <a:rPr sz="880" b="0" i="0">
                <a:solidFill>
                  <a:srgbClr val="3D4A5C"/>
                </a:solidFill>
                <a:latin typeface="Calibri"/>
              </a:rPr>
              <a:t>·  Layered architecture</a:t>
            </a:r>
          </a:p>
          <a:p>
            <a:pPr algn="l">
              <a:lnSpc>
                <a:spcPct val="150000"/>
              </a:lnSpc>
              <a:spcAft>
                <a:spcPts val="0"/>
              </a:spcAft>
            </a:pPr>
            <a:r>
              <a:rPr sz="880" b="0" i="0">
                <a:solidFill>
                  <a:srgbClr val="3D4A5C"/>
                </a:solidFill>
                <a:latin typeface="Calibri"/>
              </a:rPr>
              <a:t>·  Development method</a:t>
            </a:r>
          </a:p>
        </p:txBody>
      </p:sp>
      <p:sp>
        <p:nvSpPr>
          <p:cNvPr id="25" name="Rectangle 24"/>
          <p:cNvSpPr/>
          <p:nvPr/>
        </p:nvSpPr>
        <p:spPr>
          <a:xfrm>
            <a:off x="2926080" y="4224528"/>
            <a:ext cx="1719072" cy="5486"/>
          </a:xfrm>
          <a:prstGeom prst="rect">
            <a:avLst/>
          </a:prstGeom>
          <a:solidFill>
            <a:srgbClr val="DCE4EA"/>
          </a:solidFill>
          <a:ln>
            <a:noFill/>
          </a:ln>
          <a:effectLst/>
        </p:spPr>
        <p:txBody>
          <a:bodyPr rtlCol="0" anchor="ctr" wrap="square"/>
          <a:lstStyle/>
          <a:p>
            <a:pPr algn="ctr"/>
          </a:p>
        </p:txBody>
      </p:sp>
      <p:sp>
        <p:nvSpPr>
          <p:cNvPr id="26" name="TextBox 25"/>
          <p:cNvSpPr txBox="1"/>
          <p:nvPr/>
        </p:nvSpPr>
        <p:spPr>
          <a:xfrm>
            <a:off x="2926080" y="4297680"/>
            <a:ext cx="1737360" cy="164592"/>
          </a:xfrm>
          <a:prstGeom prst="rect">
            <a:avLst/>
          </a:prstGeom>
          <a:noFill/>
        </p:spPr>
        <p:txBody>
          <a:bodyPr wrap="square" anchor="t" lIns="0" rIns="0" tIns="0" bIns="0">
            <a:noAutofit/>
          </a:bodyPr>
          <a:lstStyle/>
          <a:p>
            <a:pPr algn="l">
              <a:lnSpc>
                <a:spcPct val="112000"/>
              </a:lnSpc>
              <a:spcAft>
                <a:spcPts val="0"/>
              </a:spcAft>
            </a:pPr>
            <a:r>
              <a:rPr sz="660" b="1" i="0">
                <a:solidFill>
                  <a:srgbClr val="0A565C"/>
                </a:solidFill>
                <a:latin typeface="Calibri"/>
              </a:rPr>
              <a:t>OUTCOME</a:t>
            </a:r>
          </a:p>
        </p:txBody>
      </p:sp>
      <p:sp>
        <p:nvSpPr>
          <p:cNvPr id="27" name="TextBox 26"/>
          <p:cNvSpPr txBox="1"/>
          <p:nvPr/>
        </p:nvSpPr>
        <p:spPr>
          <a:xfrm>
            <a:off x="2926080" y="4462272"/>
            <a:ext cx="1755648" cy="640080"/>
          </a:xfrm>
          <a:prstGeom prst="rect">
            <a:avLst/>
          </a:prstGeom>
          <a:noFill/>
        </p:spPr>
        <p:txBody>
          <a:bodyPr wrap="square" anchor="t" lIns="0" rIns="0" tIns="0" bIns="0">
            <a:noAutofit/>
          </a:bodyPr>
          <a:lstStyle/>
          <a:p>
            <a:pPr algn="l">
              <a:lnSpc>
                <a:spcPct val="118000"/>
              </a:lnSpc>
              <a:spcAft>
                <a:spcPts val="0"/>
              </a:spcAft>
            </a:pPr>
            <a:r>
              <a:rPr sz="840" b="0" i="0">
                <a:solidFill>
                  <a:srgbClr val="3D4A5C"/>
                </a:solidFill>
                <a:latin typeface="Calibri"/>
              </a:rPr>
              <a:t>You will see how the nine modules connect.</a:t>
            </a:r>
          </a:p>
        </p:txBody>
      </p:sp>
      <p:sp>
        <p:nvSpPr>
          <p:cNvPr id="28" name="Chevron 27"/>
          <p:cNvSpPr/>
          <p:nvPr/>
        </p:nvSpPr>
        <p:spPr>
          <a:xfrm>
            <a:off x="4919472" y="1755648"/>
            <a:ext cx="2331720" cy="438912"/>
          </a:xfrm>
          <a:prstGeom prst="chevron">
            <a:avLst/>
          </a:prstGeom>
          <a:solidFill>
            <a:srgbClr val="0F7A82"/>
          </a:solidFill>
          <a:ln>
            <a:noFill/>
          </a:ln>
          <a:effectLst/>
        </p:spPr>
        <p:txBody>
          <a:bodyPr rtlCol="0" anchor="ctr" lIns="164592" tIns="0" bIns="0"/>
          <a:lstStyle/>
          <a:p>
            <a:pPr algn="ctr"/>
            <a:r>
              <a:rPr sz="850" b="1">
                <a:solidFill>
                  <a:srgbClr val="FFFFFF"/>
                </a:solidFill>
                <a:latin typeface="Calibri"/>
              </a:rPr>
              <a:t>03  ENGINEERING</a:t>
            </a:r>
          </a:p>
        </p:txBody>
      </p:sp>
      <p:sp>
        <p:nvSpPr>
          <p:cNvPr id="29" name="Rounded Rectangle 28"/>
          <p:cNvSpPr/>
          <p:nvPr/>
        </p:nvSpPr>
        <p:spPr>
          <a:xfrm>
            <a:off x="4919472" y="2304288"/>
            <a:ext cx="2084831" cy="29077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0" name="Rectangle 29"/>
          <p:cNvSpPr/>
          <p:nvPr/>
        </p:nvSpPr>
        <p:spPr>
          <a:xfrm>
            <a:off x="4935931" y="2414016"/>
            <a:ext cx="41148" cy="2688336"/>
          </a:xfrm>
          <a:prstGeom prst="rect">
            <a:avLst/>
          </a:prstGeom>
          <a:solidFill>
            <a:srgbClr val="0F7A82"/>
          </a:solidFill>
          <a:ln>
            <a:noFill/>
          </a:ln>
          <a:effectLst/>
        </p:spPr>
        <p:txBody>
          <a:bodyPr rtlCol="0" anchor="ctr" wrap="square"/>
          <a:lstStyle/>
          <a:p>
            <a:pPr algn="ctr"/>
          </a:p>
        </p:txBody>
      </p:sp>
      <p:sp>
        <p:nvSpPr>
          <p:cNvPr id="31" name="TextBox 30"/>
          <p:cNvSpPr txBox="1"/>
          <p:nvPr/>
        </p:nvSpPr>
        <p:spPr>
          <a:xfrm>
            <a:off x="5102352" y="2505456"/>
            <a:ext cx="173736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SLIDES 10–12</a:t>
            </a:r>
          </a:p>
        </p:txBody>
      </p:sp>
      <p:sp>
        <p:nvSpPr>
          <p:cNvPr id="32" name="TextBox 31"/>
          <p:cNvSpPr txBox="1"/>
          <p:nvPr/>
        </p:nvSpPr>
        <p:spPr>
          <a:xfrm>
            <a:off x="5102352" y="2724912"/>
            <a:ext cx="1783080" cy="502920"/>
          </a:xfrm>
          <a:prstGeom prst="rect">
            <a:avLst/>
          </a:prstGeom>
          <a:noFill/>
        </p:spPr>
        <p:txBody>
          <a:bodyPr wrap="square" anchor="t" lIns="0" rIns="0" tIns="0" bIns="0">
            <a:noAutofit/>
          </a:bodyPr>
          <a:lstStyle/>
          <a:p>
            <a:pPr algn="l">
              <a:lnSpc>
                <a:spcPct val="118000"/>
              </a:lnSpc>
              <a:spcAft>
                <a:spcPts val="0"/>
              </a:spcAft>
            </a:pPr>
            <a:r>
              <a:rPr sz="940" b="0" i="0">
                <a:solidFill>
                  <a:srgbClr val="77859A"/>
                </a:solidFill>
                <a:latin typeface="Calibri"/>
              </a:rPr>
              <a:t>The decisions that make it work in a browser.</a:t>
            </a:r>
          </a:p>
        </p:txBody>
      </p:sp>
      <p:sp>
        <p:nvSpPr>
          <p:cNvPr id="33" name="TextBox 32"/>
          <p:cNvSpPr txBox="1"/>
          <p:nvPr/>
        </p:nvSpPr>
        <p:spPr>
          <a:xfrm>
            <a:off x="5102352" y="3328416"/>
            <a:ext cx="1783080" cy="914400"/>
          </a:xfrm>
          <a:prstGeom prst="rect">
            <a:avLst/>
          </a:prstGeom>
          <a:noFill/>
        </p:spPr>
        <p:txBody>
          <a:bodyPr wrap="square" anchor="t" lIns="0" rIns="0" tIns="0" bIns="0">
            <a:noAutofit/>
          </a:bodyPr>
          <a:lstStyle/>
          <a:p>
            <a:pPr algn="l">
              <a:lnSpc>
                <a:spcPct val="150000"/>
              </a:lnSpc>
              <a:spcAft>
                <a:spcPts val="0"/>
              </a:spcAft>
            </a:pPr>
            <a:r>
              <a:rPr sz="880" b="0" i="0">
                <a:solidFill>
                  <a:srgbClr val="3D4A5C"/>
                </a:solidFill>
                <a:latin typeface="Calibri"/>
              </a:rPr>
              <a:t>·  Technology choices</a:t>
            </a:r>
          </a:p>
          <a:p>
            <a:pPr algn="l">
              <a:lnSpc>
                <a:spcPct val="150000"/>
              </a:lnSpc>
              <a:spcAft>
                <a:spcPts val="0"/>
              </a:spcAft>
            </a:pPr>
            <a:r>
              <a:rPr sz="880" b="0" i="0">
                <a:solidFill>
                  <a:srgbClr val="3D4A5C"/>
                </a:solidFill>
                <a:latin typeface="Calibri"/>
              </a:rPr>
              <a:t>·  Data model &amp; flow</a:t>
            </a:r>
          </a:p>
          <a:p>
            <a:pPr algn="l">
              <a:lnSpc>
                <a:spcPct val="150000"/>
              </a:lnSpc>
              <a:spcAft>
                <a:spcPts val="0"/>
              </a:spcAft>
            </a:pPr>
            <a:r>
              <a:rPr sz="880" b="0" i="0">
                <a:solidFill>
                  <a:srgbClr val="3D4A5C"/>
                </a:solidFill>
                <a:latin typeface="Calibri"/>
              </a:rPr>
              <a:t>·  Interface design</a:t>
            </a:r>
          </a:p>
        </p:txBody>
      </p:sp>
      <p:sp>
        <p:nvSpPr>
          <p:cNvPr id="34" name="Rectangle 33"/>
          <p:cNvSpPr/>
          <p:nvPr/>
        </p:nvSpPr>
        <p:spPr>
          <a:xfrm>
            <a:off x="5102352" y="4224528"/>
            <a:ext cx="1719072" cy="5486"/>
          </a:xfrm>
          <a:prstGeom prst="rect">
            <a:avLst/>
          </a:prstGeom>
          <a:solidFill>
            <a:srgbClr val="DCE4EA"/>
          </a:solidFill>
          <a:ln>
            <a:noFill/>
          </a:ln>
          <a:effectLst/>
        </p:spPr>
        <p:txBody>
          <a:bodyPr rtlCol="0" anchor="ctr" wrap="square"/>
          <a:lstStyle/>
          <a:p>
            <a:pPr algn="ctr"/>
          </a:p>
        </p:txBody>
      </p:sp>
      <p:sp>
        <p:nvSpPr>
          <p:cNvPr id="35" name="TextBox 34"/>
          <p:cNvSpPr txBox="1"/>
          <p:nvPr/>
        </p:nvSpPr>
        <p:spPr>
          <a:xfrm>
            <a:off x="5102352" y="4297680"/>
            <a:ext cx="1737360" cy="164592"/>
          </a:xfrm>
          <a:prstGeom prst="rect">
            <a:avLst/>
          </a:prstGeom>
          <a:noFill/>
        </p:spPr>
        <p:txBody>
          <a:bodyPr wrap="square" anchor="t" lIns="0" rIns="0" tIns="0" bIns="0">
            <a:noAutofit/>
          </a:bodyPr>
          <a:lstStyle/>
          <a:p>
            <a:pPr algn="l">
              <a:lnSpc>
                <a:spcPct val="112000"/>
              </a:lnSpc>
              <a:spcAft>
                <a:spcPts val="0"/>
              </a:spcAft>
            </a:pPr>
            <a:r>
              <a:rPr sz="660" b="1" i="0">
                <a:solidFill>
                  <a:srgbClr val="0F7A82"/>
                </a:solidFill>
                <a:latin typeface="Calibri"/>
              </a:rPr>
              <a:t>OUTCOME</a:t>
            </a:r>
          </a:p>
        </p:txBody>
      </p:sp>
      <p:sp>
        <p:nvSpPr>
          <p:cNvPr id="36" name="TextBox 35"/>
          <p:cNvSpPr txBox="1"/>
          <p:nvPr/>
        </p:nvSpPr>
        <p:spPr>
          <a:xfrm>
            <a:off x="5102352" y="4462272"/>
            <a:ext cx="1755648" cy="640080"/>
          </a:xfrm>
          <a:prstGeom prst="rect">
            <a:avLst/>
          </a:prstGeom>
          <a:noFill/>
        </p:spPr>
        <p:txBody>
          <a:bodyPr wrap="square" anchor="t" lIns="0" rIns="0" tIns="0" bIns="0">
            <a:noAutofit/>
          </a:bodyPr>
          <a:lstStyle/>
          <a:p>
            <a:pPr algn="l">
              <a:lnSpc>
                <a:spcPct val="118000"/>
              </a:lnSpc>
              <a:spcAft>
                <a:spcPts val="0"/>
              </a:spcAft>
            </a:pPr>
            <a:r>
              <a:rPr sz="840" b="0" i="0">
                <a:solidFill>
                  <a:srgbClr val="3D4A5C"/>
                </a:solidFill>
                <a:latin typeface="Calibri"/>
              </a:rPr>
              <a:t>You will see the data model and interface decisions.</a:t>
            </a:r>
          </a:p>
        </p:txBody>
      </p:sp>
      <p:sp>
        <p:nvSpPr>
          <p:cNvPr id="37" name="Chevron 36"/>
          <p:cNvSpPr/>
          <p:nvPr/>
        </p:nvSpPr>
        <p:spPr>
          <a:xfrm>
            <a:off x="7095744" y="1755648"/>
            <a:ext cx="2331720" cy="438912"/>
          </a:xfrm>
          <a:prstGeom prst="chevron">
            <a:avLst/>
          </a:prstGeom>
          <a:solidFill>
            <a:srgbClr val="0A565C"/>
          </a:solidFill>
          <a:ln>
            <a:noFill/>
          </a:ln>
          <a:effectLst/>
        </p:spPr>
        <p:txBody>
          <a:bodyPr rtlCol="0" anchor="ctr" lIns="164592" tIns="0" bIns="0"/>
          <a:lstStyle/>
          <a:p>
            <a:pPr algn="ctr"/>
            <a:r>
              <a:rPr sz="850" b="1">
                <a:solidFill>
                  <a:srgbClr val="FFFFFF"/>
                </a:solidFill>
                <a:latin typeface="Calibri"/>
              </a:rPr>
              <a:t>04  EVIDENCE</a:t>
            </a:r>
          </a:p>
        </p:txBody>
      </p:sp>
      <p:sp>
        <p:nvSpPr>
          <p:cNvPr id="38" name="Rounded Rectangle 37"/>
          <p:cNvSpPr/>
          <p:nvPr/>
        </p:nvSpPr>
        <p:spPr>
          <a:xfrm>
            <a:off x="7095744" y="2304288"/>
            <a:ext cx="2084831" cy="29077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9" name="Rectangle 38"/>
          <p:cNvSpPr/>
          <p:nvPr/>
        </p:nvSpPr>
        <p:spPr>
          <a:xfrm>
            <a:off x="7112203" y="2414016"/>
            <a:ext cx="41148" cy="2688336"/>
          </a:xfrm>
          <a:prstGeom prst="rect">
            <a:avLst/>
          </a:prstGeom>
          <a:solidFill>
            <a:srgbClr val="0A565C"/>
          </a:solidFill>
          <a:ln>
            <a:noFill/>
          </a:ln>
          <a:effectLst/>
        </p:spPr>
        <p:txBody>
          <a:bodyPr rtlCol="0" anchor="ctr" wrap="square"/>
          <a:lstStyle/>
          <a:p>
            <a:pPr algn="ctr"/>
          </a:p>
        </p:txBody>
      </p:sp>
      <p:sp>
        <p:nvSpPr>
          <p:cNvPr id="40" name="TextBox 39"/>
          <p:cNvSpPr txBox="1"/>
          <p:nvPr/>
        </p:nvSpPr>
        <p:spPr>
          <a:xfrm>
            <a:off x="7278624" y="2505456"/>
            <a:ext cx="1737360" cy="182880"/>
          </a:xfrm>
          <a:prstGeom prst="rect">
            <a:avLst/>
          </a:prstGeom>
          <a:noFill/>
        </p:spPr>
        <p:txBody>
          <a:bodyPr wrap="square" anchor="t" lIns="0" rIns="0" tIns="0" bIns="0">
            <a:noAutofit/>
          </a:bodyPr>
          <a:lstStyle/>
          <a:p>
            <a:pPr algn="l">
              <a:lnSpc>
                <a:spcPct val="112000"/>
              </a:lnSpc>
              <a:spcAft>
                <a:spcPts val="0"/>
              </a:spcAft>
            </a:pPr>
            <a:r>
              <a:rPr sz="780" b="1" i="0">
                <a:solidFill>
                  <a:srgbClr val="0A565C"/>
                </a:solidFill>
                <a:latin typeface="Calibri"/>
              </a:rPr>
              <a:t>SLIDES 13–14</a:t>
            </a:r>
          </a:p>
        </p:txBody>
      </p:sp>
      <p:sp>
        <p:nvSpPr>
          <p:cNvPr id="41" name="TextBox 40"/>
          <p:cNvSpPr txBox="1"/>
          <p:nvPr/>
        </p:nvSpPr>
        <p:spPr>
          <a:xfrm>
            <a:off x="7278624" y="2724912"/>
            <a:ext cx="1783080" cy="502920"/>
          </a:xfrm>
          <a:prstGeom prst="rect">
            <a:avLst/>
          </a:prstGeom>
          <a:noFill/>
        </p:spPr>
        <p:txBody>
          <a:bodyPr wrap="square" anchor="t" lIns="0" rIns="0" tIns="0" bIns="0">
            <a:noAutofit/>
          </a:bodyPr>
          <a:lstStyle/>
          <a:p>
            <a:pPr algn="l">
              <a:lnSpc>
                <a:spcPct val="118000"/>
              </a:lnSpc>
              <a:spcAft>
                <a:spcPts val="0"/>
              </a:spcAft>
            </a:pPr>
            <a:r>
              <a:rPr sz="940" b="0" i="0">
                <a:solidFill>
                  <a:srgbClr val="77859A"/>
                </a:solidFill>
                <a:latin typeface="Calibri"/>
              </a:rPr>
              <a:t>What was tested, and what is not claimed.</a:t>
            </a:r>
          </a:p>
        </p:txBody>
      </p:sp>
      <p:sp>
        <p:nvSpPr>
          <p:cNvPr id="42" name="TextBox 41"/>
          <p:cNvSpPr txBox="1"/>
          <p:nvPr/>
        </p:nvSpPr>
        <p:spPr>
          <a:xfrm>
            <a:off x="7278624" y="3328416"/>
            <a:ext cx="1783080" cy="914400"/>
          </a:xfrm>
          <a:prstGeom prst="rect">
            <a:avLst/>
          </a:prstGeom>
          <a:noFill/>
        </p:spPr>
        <p:txBody>
          <a:bodyPr wrap="square" anchor="t" lIns="0" rIns="0" tIns="0" bIns="0">
            <a:noAutofit/>
          </a:bodyPr>
          <a:lstStyle/>
          <a:p>
            <a:pPr algn="l">
              <a:lnSpc>
                <a:spcPct val="150000"/>
              </a:lnSpc>
              <a:spcAft>
                <a:spcPts val="0"/>
              </a:spcAft>
            </a:pPr>
            <a:r>
              <a:rPr sz="880" b="0" i="0">
                <a:solidFill>
                  <a:srgbClr val="3D4A5C"/>
                </a:solidFill>
                <a:latin typeface="Calibri"/>
              </a:rPr>
              <a:t>·  Verified results</a:t>
            </a:r>
          </a:p>
          <a:p>
            <a:pPr algn="l">
              <a:lnSpc>
                <a:spcPct val="150000"/>
              </a:lnSpc>
              <a:spcAft>
                <a:spcPts val="0"/>
              </a:spcAft>
            </a:pPr>
            <a:r>
              <a:rPr sz="880" b="0" i="0">
                <a:solidFill>
                  <a:srgbClr val="3D4A5C"/>
                </a:solidFill>
                <a:latin typeface="Calibri"/>
              </a:rPr>
              <a:t>·  Contributions</a:t>
            </a:r>
          </a:p>
          <a:p>
            <a:pPr algn="l">
              <a:lnSpc>
                <a:spcPct val="150000"/>
              </a:lnSpc>
              <a:spcAft>
                <a:spcPts val="0"/>
              </a:spcAft>
            </a:pPr>
            <a:r>
              <a:rPr sz="880" b="0" i="0">
                <a:solidFill>
                  <a:srgbClr val="3D4A5C"/>
                </a:solidFill>
                <a:latin typeface="Calibri"/>
              </a:rPr>
              <a:t>·  Limitations</a:t>
            </a:r>
          </a:p>
        </p:txBody>
      </p:sp>
      <p:sp>
        <p:nvSpPr>
          <p:cNvPr id="43" name="Rectangle 42"/>
          <p:cNvSpPr/>
          <p:nvPr/>
        </p:nvSpPr>
        <p:spPr>
          <a:xfrm>
            <a:off x="7278624" y="4224528"/>
            <a:ext cx="1719072" cy="5486"/>
          </a:xfrm>
          <a:prstGeom prst="rect">
            <a:avLst/>
          </a:prstGeom>
          <a:solidFill>
            <a:srgbClr val="DCE4EA"/>
          </a:solidFill>
          <a:ln>
            <a:noFill/>
          </a:ln>
          <a:effectLst/>
        </p:spPr>
        <p:txBody>
          <a:bodyPr rtlCol="0" anchor="ctr" wrap="square"/>
          <a:lstStyle/>
          <a:p>
            <a:pPr algn="ctr"/>
          </a:p>
        </p:txBody>
      </p:sp>
      <p:sp>
        <p:nvSpPr>
          <p:cNvPr id="44" name="TextBox 43"/>
          <p:cNvSpPr txBox="1"/>
          <p:nvPr/>
        </p:nvSpPr>
        <p:spPr>
          <a:xfrm>
            <a:off x="7278624" y="4297680"/>
            <a:ext cx="1737360" cy="164592"/>
          </a:xfrm>
          <a:prstGeom prst="rect">
            <a:avLst/>
          </a:prstGeom>
          <a:noFill/>
        </p:spPr>
        <p:txBody>
          <a:bodyPr wrap="square" anchor="t" lIns="0" rIns="0" tIns="0" bIns="0">
            <a:noAutofit/>
          </a:bodyPr>
          <a:lstStyle/>
          <a:p>
            <a:pPr algn="l">
              <a:lnSpc>
                <a:spcPct val="112000"/>
              </a:lnSpc>
              <a:spcAft>
                <a:spcPts val="0"/>
              </a:spcAft>
            </a:pPr>
            <a:r>
              <a:rPr sz="660" b="1" i="0">
                <a:solidFill>
                  <a:srgbClr val="0A565C"/>
                </a:solidFill>
                <a:latin typeface="Calibri"/>
              </a:rPr>
              <a:t>OUTCOME</a:t>
            </a:r>
          </a:p>
        </p:txBody>
      </p:sp>
      <p:sp>
        <p:nvSpPr>
          <p:cNvPr id="45" name="TextBox 44"/>
          <p:cNvSpPr txBox="1"/>
          <p:nvPr/>
        </p:nvSpPr>
        <p:spPr>
          <a:xfrm>
            <a:off x="7278624" y="4462272"/>
            <a:ext cx="1755648" cy="640080"/>
          </a:xfrm>
          <a:prstGeom prst="rect">
            <a:avLst/>
          </a:prstGeom>
          <a:noFill/>
        </p:spPr>
        <p:txBody>
          <a:bodyPr wrap="square" anchor="t" lIns="0" rIns="0" tIns="0" bIns="0">
            <a:noAutofit/>
          </a:bodyPr>
          <a:lstStyle/>
          <a:p>
            <a:pPr algn="l">
              <a:lnSpc>
                <a:spcPct val="118000"/>
              </a:lnSpc>
              <a:spcAft>
                <a:spcPts val="0"/>
              </a:spcAft>
            </a:pPr>
            <a:r>
              <a:rPr sz="840" b="0" i="0">
                <a:solidFill>
                  <a:srgbClr val="3D4A5C"/>
                </a:solidFill>
                <a:latin typeface="Calibri"/>
              </a:rPr>
              <a:t>You will know exactly what was tested — and what was not.</a:t>
            </a:r>
          </a:p>
        </p:txBody>
      </p:sp>
      <p:sp>
        <p:nvSpPr>
          <p:cNvPr id="46" name="Chevron 45"/>
          <p:cNvSpPr/>
          <p:nvPr/>
        </p:nvSpPr>
        <p:spPr>
          <a:xfrm>
            <a:off x="9272015" y="1755648"/>
            <a:ext cx="2331720" cy="438912"/>
          </a:xfrm>
          <a:prstGeom prst="chevron">
            <a:avLst/>
          </a:prstGeom>
          <a:solidFill>
            <a:srgbClr val="0F7A82"/>
          </a:solidFill>
          <a:ln>
            <a:noFill/>
          </a:ln>
          <a:effectLst/>
        </p:spPr>
        <p:txBody>
          <a:bodyPr rtlCol="0" anchor="ctr" lIns="164592" tIns="0" bIns="0"/>
          <a:lstStyle/>
          <a:p>
            <a:pPr algn="ctr"/>
            <a:r>
              <a:rPr sz="850" b="1">
                <a:solidFill>
                  <a:srgbClr val="FFFFFF"/>
                </a:solidFill>
                <a:latin typeface="Calibri"/>
              </a:rPr>
              <a:t>05  CLOSE</a:t>
            </a:r>
          </a:p>
        </p:txBody>
      </p:sp>
      <p:sp>
        <p:nvSpPr>
          <p:cNvPr id="47" name="Rounded Rectangle 46"/>
          <p:cNvSpPr/>
          <p:nvPr/>
        </p:nvSpPr>
        <p:spPr>
          <a:xfrm>
            <a:off x="9272015" y="2304288"/>
            <a:ext cx="2084831" cy="29077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48" name="Rectangle 47"/>
          <p:cNvSpPr/>
          <p:nvPr/>
        </p:nvSpPr>
        <p:spPr>
          <a:xfrm>
            <a:off x="9288475" y="2414016"/>
            <a:ext cx="41148" cy="2688336"/>
          </a:xfrm>
          <a:prstGeom prst="rect">
            <a:avLst/>
          </a:prstGeom>
          <a:solidFill>
            <a:srgbClr val="0F7A82"/>
          </a:solidFill>
          <a:ln>
            <a:noFill/>
          </a:ln>
          <a:effectLst/>
        </p:spPr>
        <p:txBody>
          <a:bodyPr rtlCol="0" anchor="ctr" wrap="square"/>
          <a:lstStyle/>
          <a:p>
            <a:pPr algn="ctr"/>
          </a:p>
        </p:txBody>
      </p:sp>
      <p:sp>
        <p:nvSpPr>
          <p:cNvPr id="49" name="TextBox 48"/>
          <p:cNvSpPr txBox="1"/>
          <p:nvPr/>
        </p:nvSpPr>
        <p:spPr>
          <a:xfrm>
            <a:off x="9454895" y="2505456"/>
            <a:ext cx="173736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SLIDES 15–18</a:t>
            </a:r>
          </a:p>
        </p:txBody>
      </p:sp>
      <p:sp>
        <p:nvSpPr>
          <p:cNvPr id="50" name="TextBox 49"/>
          <p:cNvSpPr txBox="1"/>
          <p:nvPr/>
        </p:nvSpPr>
        <p:spPr>
          <a:xfrm>
            <a:off x="9454895" y="2724912"/>
            <a:ext cx="1783080" cy="502920"/>
          </a:xfrm>
          <a:prstGeom prst="rect">
            <a:avLst/>
          </a:prstGeom>
          <a:noFill/>
        </p:spPr>
        <p:txBody>
          <a:bodyPr wrap="square" anchor="t" lIns="0" rIns="0" tIns="0" bIns="0">
            <a:noAutofit/>
          </a:bodyPr>
          <a:lstStyle/>
          <a:p>
            <a:pPr algn="l">
              <a:lnSpc>
                <a:spcPct val="118000"/>
              </a:lnSpc>
              <a:spcAft>
                <a:spcPts val="0"/>
              </a:spcAft>
            </a:pPr>
            <a:r>
              <a:rPr sz="940" b="0" i="0">
                <a:solidFill>
                  <a:srgbClr val="77859A"/>
                </a:solidFill>
                <a:latin typeface="Calibri"/>
              </a:rPr>
              <a:t>Conclusion, next steps and sources.</a:t>
            </a:r>
          </a:p>
        </p:txBody>
      </p:sp>
      <p:sp>
        <p:nvSpPr>
          <p:cNvPr id="51" name="TextBox 50"/>
          <p:cNvSpPr txBox="1"/>
          <p:nvPr/>
        </p:nvSpPr>
        <p:spPr>
          <a:xfrm>
            <a:off x="9454895" y="3328416"/>
            <a:ext cx="1783080" cy="914400"/>
          </a:xfrm>
          <a:prstGeom prst="rect">
            <a:avLst/>
          </a:prstGeom>
          <a:noFill/>
        </p:spPr>
        <p:txBody>
          <a:bodyPr wrap="square" anchor="t" lIns="0" rIns="0" tIns="0" bIns="0">
            <a:noAutofit/>
          </a:bodyPr>
          <a:lstStyle/>
          <a:p>
            <a:pPr algn="l">
              <a:lnSpc>
                <a:spcPct val="150000"/>
              </a:lnSpc>
              <a:spcAft>
                <a:spcPts val="0"/>
              </a:spcAft>
            </a:pPr>
            <a:r>
              <a:rPr sz="880" b="0" i="0">
                <a:solidFill>
                  <a:srgbClr val="3D4A5C"/>
                </a:solidFill>
                <a:latin typeface="Calibri"/>
              </a:rPr>
              <a:t>·  Conclusion</a:t>
            </a:r>
          </a:p>
          <a:p>
            <a:pPr algn="l">
              <a:lnSpc>
                <a:spcPct val="150000"/>
              </a:lnSpc>
              <a:spcAft>
                <a:spcPts val="0"/>
              </a:spcAft>
            </a:pPr>
            <a:r>
              <a:rPr sz="880" b="0" i="0">
                <a:solidFill>
                  <a:srgbClr val="3D4A5C"/>
                </a:solidFill>
                <a:latin typeface="Calibri"/>
              </a:rPr>
              <a:t>·  Future scope</a:t>
            </a:r>
          </a:p>
          <a:p>
            <a:pPr algn="l">
              <a:lnSpc>
                <a:spcPct val="150000"/>
              </a:lnSpc>
              <a:spcAft>
                <a:spcPts val="0"/>
              </a:spcAft>
            </a:pPr>
            <a:r>
              <a:rPr sz="880" b="0" i="0">
                <a:solidFill>
                  <a:srgbClr val="3D4A5C"/>
                </a:solidFill>
                <a:latin typeface="Calibri"/>
              </a:rPr>
              <a:t>·  References</a:t>
            </a:r>
          </a:p>
          <a:p>
            <a:pPr algn="l">
              <a:lnSpc>
                <a:spcPct val="150000"/>
              </a:lnSpc>
              <a:spcAft>
                <a:spcPts val="0"/>
              </a:spcAft>
            </a:pPr>
            <a:r>
              <a:rPr sz="880" b="0" i="0">
                <a:solidFill>
                  <a:srgbClr val="3D4A5C"/>
                </a:solidFill>
                <a:latin typeface="Calibri"/>
              </a:rPr>
              <a:t>·  Questions</a:t>
            </a:r>
          </a:p>
        </p:txBody>
      </p:sp>
      <p:sp>
        <p:nvSpPr>
          <p:cNvPr id="52" name="Rectangle 51"/>
          <p:cNvSpPr/>
          <p:nvPr/>
        </p:nvSpPr>
        <p:spPr>
          <a:xfrm>
            <a:off x="9454895" y="4224528"/>
            <a:ext cx="1719072" cy="5486"/>
          </a:xfrm>
          <a:prstGeom prst="rect">
            <a:avLst/>
          </a:prstGeom>
          <a:solidFill>
            <a:srgbClr val="DCE4EA"/>
          </a:solidFill>
          <a:ln>
            <a:noFill/>
          </a:ln>
          <a:effectLst/>
        </p:spPr>
        <p:txBody>
          <a:bodyPr rtlCol="0" anchor="ctr" wrap="square"/>
          <a:lstStyle/>
          <a:p>
            <a:pPr algn="ctr"/>
          </a:p>
        </p:txBody>
      </p:sp>
      <p:sp>
        <p:nvSpPr>
          <p:cNvPr id="53" name="TextBox 52"/>
          <p:cNvSpPr txBox="1"/>
          <p:nvPr/>
        </p:nvSpPr>
        <p:spPr>
          <a:xfrm>
            <a:off x="9454895" y="4297680"/>
            <a:ext cx="1737360" cy="164592"/>
          </a:xfrm>
          <a:prstGeom prst="rect">
            <a:avLst/>
          </a:prstGeom>
          <a:noFill/>
        </p:spPr>
        <p:txBody>
          <a:bodyPr wrap="square" anchor="t" lIns="0" rIns="0" tIns="0" bIns="0">
            <a:noAutofit/>
          </a:bodyPr>
          <a:lstStyle/>
          <a:p>
            <a:pPr algn="l">
              <a:lnSpc>
                <a:spcPct val="112000"/>
              </a:lnSpc>
              <a:spcAft>
                <a:spcPts val="0"/>
              </a:spcAft>
            </a:pPr>
            <a:r>
              <a:rPr sz="660" b="1" i="0">
                <a:solidFill>
                  <a:srgbClr val="0F7A82"/>
                </a:solidFill>
                <a:latin typeface="Calibri"/>
              </a:rPr>
              <a:t>OUTCOME</a:t>
            </a:r>
          </a:p>
        </p:txBody>
      </p:sp>
      <p:sp>
        <p:nvSpPr>
          <p:cNvPr id="54" name="TextBox 53"/>
          <p:cNvSpPr txBox="1"/>
          <p:nvPr/>
        </p:nvSpPr>
        <p:spPr>
          <a:xfrm>
            <a:off x="9454895" y="4462272"/>
            <a:ext cx="1755648" cy="640080"/>
          </a:xfrm>
          <a:prstGeom prst="rect">
            <a:avLst/>
          </a:prstGeom>
          <a:noFill/>
        </p:spPr>
        <p:txBody>
          <a:bodyPr wrap="square" anchor="t" lIns="0" rIns="0" tIns="0" bIns="0">
            <a:noAutofit/>
          </a:bodyPr>
          <a:lstStyle/>
          <a:p>
            <a:pPr algn="l">
              <a:lnSpc>
                <a:spcPct val="118000"/>
              </a:lnSpc>
              <a:spcAft>
                <a:spcPts val="0"/>
              </a:spcAft>
            </a:pPr>
            <a:r>
              <a:rPr sz="840" b="0" i="0">
                <a:solidFill>
                  <a:srgbClr val="3D4A5C"/>
                </a:solidFill>
                <a:latin typeface="Calibri"/>
              </a:rPr>
              <a:t>You will know the next steps and the sources.</a:t>
            </a:r>
          </a:p>
        </p:txBody>
      </p:sp>
      <p:sp>
        <p:nvSpPr>
          <p:cNvPr id="55" name="Rounded Rectangle 54"/>
          <p:cNvSpPr/>
          <p:nvPr/>
        </p:nvSpPr>
        <p:spPr>
          <a:xfrm>
            <a:off x="566928" y="5413248"/>
            <a:ext cx="11064240" cy="676656"/>
          </a:xfrm>
          <a:prstGeom prst="roundRect">
            <a:avLst>
              <a:gd name="adj" fmla="val 6000"/>
            </a:avLst>
          </a:prstGeom>
          <a:solidFill>
            <a:srgbClr val="F5F8FA"/>
          </a:solidFill>
          <a:ln w="9525">
            <a:solidFill>
              <a:srgbClr val="DCE4EA"/>
            </a:solidFill>
          </a:ln>
          <a:effectLst/>
        </p:spPr>
        <p:txBody>
          <a:bodyPr rtlCol="0" anchor="ctr" wrap="square"/>
          <a:lstStyle/>
          <a:p>
            <a:pPr algn="ctr"/>
          </a:p>
        </p:txBody>
      </p:sp>
      <p:sp>
        <p:nvSpPr>
          <p:cNvPr id="56" name="TextBox 55"/>
          <p:cNvSpPr txBox="1"/>
          <p:nvPr/>
        </p:nvSpPr>
        <p:spPr>
          <a:xfrm>
            <a:off x="786384" y="5504688"/>
            <a:ext cx="201168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HOW TO READ THIS DECK</a:t>
            </a:r>
          </a:p>
        </p:txBody>
      </p:sp>
      <p:sp>
        <p:nvSpPr>
          <p:cNvPr id="57" name="TextBox 56"/>
          <p:cNvSpPr txBox="1"/>
          <p:nvPr/>
        </p:nvSpPr>
        <p:spPr>
          <a:xfrm>
            <a:off x="786384" y="5678424"/>
            <a:ext cx="10607040" cy="310896"/>
          </a:xfrm>
          <a:prstGeom prst="rect">
            <a:avLst/>
          </a:prstGeom>
          <a:noFill/>
        </p:spPr>
        <p:txBody>
          <a:bodyPr wrap="square" anchor="t" lIns="0" rIns="0" tIns="0" bIns="0">
            <a:noAutofit/>
          </a:bodyPr>
          <a:lstStyle/>
          <a:p>
            <a:pPr algn="l">
              <a:lnSpc>
                <a:spcPct val="120000"/>
              </a:lnSpc>
              <a:spcAft>
                <a:spcPts val="0"/>
              </a:spcAft>
            </a:pPr>
            <a:r>
              <a:rPr sz="950" b="0" i="0">
                <a:solidFill>
                  <a:srgbClr val="3D4A5C"/>
                </a:solidFill>
                <a:latin typeface="Calibri"/>
              </a:rPr>
              <a:t>Teal marks the system, amber marks evidence, rose marks a limitation. Implementation claims come from the repository; every screenshot is from the running 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01 · ABSTRACT</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A study loop that responds to the learner</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StudyMapper turns a syllabus into an adaptive plan, generates study material, and measures what actually needs revision — in one browser-based workspace.</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FOUNDATIONS</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03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TextBox 10"/>
          <p:cNvSpPr txBox="1"/>
          <p:nvPr/>
        </p:nvSpPr>
        <p:spPr>
          <a:xfrm>
            <a:off x="566928" y="1810512"/>
            <a:ext cx="53949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IN ONE PARAGRAPH</a:t>
            </a:r>
          </a:p>
        </p:txBody>
      </p:sp>
      <p:sp>
        <p:nvSpPr>
          <p:cNvPr id="12" name="TextBox 11"/>
          <p:cNvSpPr txBox="1"/>
          <p:nvPr/>
        </p:nvSpPr>
        <p:spPr>
          <a:xfrm>
            <a:off x="566928" y="2011680"/>
            <a:ext cx="5394960" cy="1051560"/>
          </a:xfrm>
          <a:prstGeom prst="rect">
            <a:avLst/>
          </a:prstGeom>
          <a:noFill/>
        </p:spPr>
        <p:txBody>
          <a:bodyPr wrap="square" anchor="t" lIns="0" rIns="0" tIns="0" bIns="0">
            <a:noAutofit/>
          </a:bodyPr>
          <a:lstStyle/>
          <a:p>
            <a:pPr algn="l">
              <a:lnSpc>
                <a:spcPct val="125000"/>
              </a:lnSpc>
              <a:spcAft>
                <a:spcPts val="0"/>
              </a:spcAft>
            </a:pPr>
            <a:r>
              <a:rPr sz="1040" b="0" i="0">
                <a:solidFill>
                  <a:srgbClr val="3D4A5C"/>
                </a:solidFill>
                <a:latin typeface="Calibri"/>
              </a:rPr>
              <a:t>The system combines curriculum management, AI-assisted content generation, spaced-repetition scheduling and practice analytics. A student builds or imports a syllabus, receives a difficulty-aware study plan, studies generated notes and diagrams, practises with question banks, and sees weak topics recomputed from recent activity. Data lives locally in the browser; AI and sign-in are optional services.</a:t>
            </a:r>
          </a:p>
        </p:txBody>
      </p:sp>
      <p:sp>
        <p:nvSpPr>
          <p:cNvPr id="13" name="TextBox 12"/>
          <p:cNvSpPr txBox="1"/>
          <p:nvPr/>
        </p:nvSpPr>
        <p:spPr>
          <a:xfrm>
            <a:off x="566928" y="3273552"/>
            <a:ext cx="53949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WHY IT MATTERED</a:t>
            </a:r>
          </a:p>
        </p:txBody>
      </p:sp>
      <p:sp>
        <p:nvSpPr>
          <p:cNvPr id="14" name="Rectangle 13"/>
          <p:cNvSpPr/>
          <p:nvPr/>
        </p:nvSpPr>
        <p:spPr>
          <a:xfrm>
            <a:off x="566928" y="3547872"/>
            <a:ext cx="82296" cy="82296"/>
          </a:xfrm>
          <a:prstGeom prst="rect">
            <a:avLst/>
          </a:prstGeom>
          <a:solidFill>
            <a:srgbClr val="0F7A82"/>
          </a:solidFill>
          <a:ln>
            <a:noFill/>
          </a:ln>
          <a:effectLst/>
        </p:spPr>
        <p:txBody>
          <a:bodyPr rtlCol="0" anchor="ctr" wrap="square"/>
          <a:lstStyle/>
          <a:p>
            <a:pPr algn="ctr"/>
          </a:p>
        </p:txBody>
      </p:sp>
      <p:sp>
        <p:nvSpPr>
          <p:cNvPr id="15" name="TextBox 14"/>
          <p:cNvSpPr txBox="1"/>
          <p:nvPr/>
        </p:nvSpPr>
        <p:spPr>
          <a:xfrm>
            <a:off x="786384" y="3493008"/>
            <a:ext cx="5166360" cy="219456"/>
          </a:xfrm>
          <a:prstGeom prst="rect">
            <a:avLst/>
          </a:prstGeom>
          <a:noFill/>
        </p:spPr>
        <p:txBody>
          <a:bodyPr wrap="square" anchor="t" lIns="0" rIns="0" tIns="0" bIns="0">
            <a:noAutofit/>
          </a:bodyPr>
          <a:lstStyle/>
          <a:p>
            <a:pPr algn="l">
              <a:lnSpc>
                <a:spcPct val="112000"/>
              </a:lnSpc>
              <a:spcAft>
                <a:spcPts val="0"/>
              </a:spcAft>
            </a:pPr>
            <a:r>
              <a:rPr sz="1080" b="1" i="0">
                <a:solidFill>
                  <a:srgbClr val="152238"/>
                </a:solidFill>
                <a:latin typeface="Calibri"/>
              </a:rPr>
              <a:t>Study time is fixed; attention is not.</a:t>
            </a:r>
          </a:p>
        </p:txBody>
      </p:sp>
      <p:sp>
        <p:nvSpPr>
          <p:cNvPr id="16" name="TextBox 15"/>
          <p:cNvSpPr txBox="1"/>
          <p:nvPr/>
        </p:nvSpPr>
        <p:spPr>
          <a:xfrm>
            <a:off x="786384" y="3694176"/>
            <a:ext cx="5166360" cy="411480"/>
          </a:xfrm>
          <a:prstGeom prst="rect">
            <a:avLst/>
          </a:prstGeom>
          <a:noFill/>
        </p:spPr>
        <p:txBody>
          <a:bodyPr wrap="square" anchor="t" lIns="0" rIns="0" tIns="0" bIns="0">
            <a:noAutofit/>
          </a:bodyPr>
          <a:lstStyle/>
          <a:p>
            <a:pPr algn="l">
              <a:lnSpc>
                <a:spcPct val="116000"/>
              </a:lnSpc>
              <a:spcAft>
                <a:spcPts val="0"/>
              </a:spcAft>
            </a:pPr>
            <a:r>
              <a:rPr sz="919" b="0" i="0">
                <a:solidFill>
                  <a:srgbClr val="77859A"/>
                </a:solidFill>
                <a:latin typeface="Calibri"/>
              </a:rPr>
              <a:t>A plan that ignores difficulty and weak topics wastes the hours a student does have.</a:t>
            </a:r>
          </a:p>
        </p:txBody>
      </p:sp>
      <p:sp>
        <p:nvSpPr>
          <p:cNvPr id="17" name="Rectangle 16"/>
          <p:cNvSpPr/>
          <p:nvPr/>
        </p:nvSpPr>
        <p:spPr>
          <a:xfrm>
            <a:off x="566928" y="4261104"/>
            <a:ext cx="82296" cy="82296"/>
          </a:xfrm>
          <a:prstGeom prst="rect">
            <a:avLst/>
          </a:prstGeom>
          <a:solidFill>
            <a:srgbClr val="0F7A82"/>
          </a:solidFill>
          <a:ln>
            <a:noFill/>
          </a:ln>
          <a:effectLst/>
        </p:spPr>
        <p:txBody>
          <a:bodyPr rtlCol="0" anchor="ctr" wrap="square"/>
          <a:lstStyle/>
          <a:p>
            <a:pPr algn="ctr"/>
          </a:p>
        </p:txBody>
      </p:sp>
      <p:sp>
        <p:nvSpPr>
          <p:cNvPr id="18" name="TextBox 17"/>
          <p:cNvSpPr txBox="1"/>
          <p:nvPr/>
        </p:nvSpPr>
        <p:spPr>
          <a:xfrm>
            <a:off x="786384" y="4206240"/>
            <a:ext cx="5166360" cy="219456"/>
          </a:xfrm>
          <a:prstGeom prst="rect">
            <a:avLst/>
          </a:prstGeom>
          <a:noFill/>
        </p:spPr>
        <p:txBody>
          <a:bodyPr wrap="square" anchor="t" lIns="0" rIns="0" tIns="0" bIns="0">
            <a:noAutofit/>
          </a:bodyPr>
          <a:lstStyle/>
          <a:p>
            <a:pPr algn="l">
              <a:lnSpc>
                <a:spcPct val="112000"/>
              </a:lnSpc>
              <a:spcAft>
                <a:spcPts val="0"/>
              </a:spcAft>
            </a:pPr>
            <a:r>
              <a:rPr sz="1080" b="1" i="0">
                <a:solidFill>
                  <a:srgbClr val="152238"/>
                </a:solidFill>
                <a:latin typeface="Calibri"/>
              </a:rPr>
              <a:t>Feedback arrives after the exam.</a:t>
            </a:r>
          </a:p>
        </p:txBody>
      </p:sp>
      <p:sp>
        <p:nvSpPr>
          <p:cNvPr id="19" name="TextBox 18"/>
          <p:cNvSpPr txBox="1"/>
          <p:nvPr/>
        </p:nvSpPr>
        <p:spPr>
          <a:xfrm>
            <a:off x="786384" y="4407408"/>
            <a:ext cx="5166360" cy="411480"/>
          </a:xfrm>
          <a:prstGeom prst="rect">
            <a:avLst/>
          </a:prstGeom>
          <a:noFill/>
        </p:spPr>
        <p:txBody>
          <a:bodyPr wrap="square" anchor="t" lIns="0" rIns="0" tIns="0" bIns="0">
            <a:noAutofit/>
          </a:bodyPr>
          <a:lstStyle/>
          <a:p>
            <a:pPr algn="l">
              <a:lnSpc>
                <a:spcPct val="116000"/>
              </a:lnSpc>
              <a:spcAft>
                <a:spcPts val="0"/>
              </a:spcAft>
            </a:pPr>
            <a:r>
              <a:rPr sz="919" b="0" i="0">
                <a:solidFill>
                  <a:srgbClr val="77859A"/>
                </a:solidFill>
                <a:latin typeface="Calibri"/>
              </a:rPr>
              <a:t>Continuous practice data makes weakness visible while it can still be acted on.</a:t>
            </a:r>
          </a:p>
        </p:txBody>
      </p:sp>
      <p:sp>
        <p:nvSpPr>
          <p:cNvPr id="20" name="Rectangle 19"/>
          <p:cNvSpPr/>
          <p:nvPr/>
        </p:nvSpPr>
        <p:spPr>
          <a:xfrm>
            <a:off x="566928" y="4974336"/>
            <a:ext cx="82296" cy="82296"/>
          </a:xfrm>
          <a:prstGeom prst="rect">
            <a:avLst/>
          </a:prstGeom>
          <a:solidFill>
            <a:srgbClr val="0F7A82"/>
          </a:solidFill>
          <a:ln>
            <a:noFill/>
          </a:ln>
          <a:effectLst/>
        </p:spPr>
        <p:txBody>
          <a:bodyPr rtlCol="0" anchor="ctr" wrap="square"/>
          <a:lstStyle/>
          <a:p>
            <a:pPr algn="ctr"/>
          </a:p>
        </p:txBody>
      </p:sp>
      <p:sp>
        <p:nvSpPr>
          <p:cNvPr id="21" name="TextBox 20"/>
          <p:cNvSpPr txBox="1"/>
          <p:nvPr/>
        </p:nvSpPr>
        <p:spPr>
          <a:xfrm>
            <a:off x="786384" y="4919472"/>
            <a:ext cx="5166360" cy="219456"/>
          </a:xfrm>
          <a:prstGeom prst="rect">
            <a:avLst/>
          </a:prstGeom>
          <a:noFill/>
        </p:spPr>
        <p:txBody>
          <a:bodyPr wrap="square" anchor="t" lIns="0" rIns="0" tIns="0" bIns="0">
            <a:noAutofit/>
          </a:bodyPr>
          <a:lstStyle/>
          <a:p>
            <a:pPr algn="l">
              <a:lnSpc>
                <a:spcPct val="112000"/>
              </a:lnSpc>
              <a:spcAft>
                <a:spcPts val="0"/>
              </a:spcAft>
            </a:pPr>
            <a:r>
              <a:rPr sz="1080" b="1" i="0">
                <a:solidFill>
                  <a:srgbClr val="152238"/>
                </a:solidFill>
                <a:latin typeface="Calibri"/>
              </a:rPr>
              <a:t>Study tools are scattered.</a:t>
            </a:r>
          </a:p>
        </p:txBody>
      </p:sp>
      <p:sp>
        <p:nvSpPr>
          <p:cNvPr id="22" name="TextBox 21"/>
          <p:cNvSpPr txBox="1"/>
          <p:nvPr/>
        </p:nvSpPr>
        <p:spPr>
          <a:xfrm>
            <a:off x="786384" y="5120640"/>
            <a:ext cx="5166360" cy="411480"/>
          </a:xfrm>
          <a:prstGeom prst="rect">
            <a:avLst/>
          </a:prstGeom>
          <a:noFill/>
        </p:spPr>
        <p:txBody>
          <a:bodyPr wrap="square" anchor="t" lIns="0" rIns="0" tIns="0" bIns="0">
            <a:noAutofit/>
          </a:bodyPr>
          <a:lstStyle/>
          <a:p>
            <a:pPr algn="l">
              <a:lnSpc>
                <a:spcPct val="116000"/>
              </a:lnSpc>
              <a:spcAft>
                <a:spcPts val="0"/>
              </a:spcAft>
            </a:pPr>
            <a:r>
              <a:rPr sz="919" b="0" i="0">
                <a:solidFill>
                  <a:srgbClr val="77859A"/>
                </a:solidFill>
                <a:latin typeface="Calibri"/>
              </a:rPr>
              <a:t>Notes, plans, tests and progress sit in different apps, so context is lost between them.</a:t>
            </a:r>
          </a:p>
        </p:txBody>
      </p:sp>
      <p:sp>
        <p:nvSpPr>
          <p:cNvPr id="23" name="TextBox 22"/>
          <p:cNvSpPr txBox="1"/>
          <p:nvPr/>
        </p:nvSpPr>
        <p:spPr>
          <a:xfrm>
            <a:off x="566928" y="5650992"/>
            <a:ext cx="5394960" cy="201168"/>
          </a:xfrm>
          <a:prstGeom prst="rect">
            <a:avLst/>
          </a:prstGeom>
          <a:noFill/>
        </p:spPr>
        <p:txBody>
          <a:bodyPr wrap="square" anchor="t" lIns="0" rIns="0" tIns="0" bIns="0">
            <a:noAutofit/>
          </a:bodyPr>
          <a:lstStyle/>
          <a:p>
            <a:pPr algn="l">
              <a:lnSpc>
                <a:spcPct val="112000"/>
              </a:lnSpc>
              <a:spcAft>
                <a:spcPts val="0"/>
              </a:spcAft>
            </a:pPr>
            <a:r>
              <a:rPr sz="819" b="1" i="0">
                <a:solidFill>
                  <a:srgbClr val="0F7A82"/>
                </a:solidFill>
                <a:latin typeface="Calibri"/>
              </a:rPr>
              <a:t>DESIGN PRINCIPLE  ·  The plan is an output of evidence, not a document.</a:t>
            </a:r>
          </a:p>
        </p:txBody>
      </p:sp>
      <p:sp>
        <p:nvSpPr>
          <p:cNvPr id="24" name="TextBox 23"/>
          <p:cNvSpPr txBox="1"/>
          <p:nvPr/>
        </p:nvSpPr>
        <p:spPr>
          <a:xfrm>
            <a:off x="566928" y="5943600"/>
            <a:ext cx="5486400" cy="365760"/>
          </a:xfrm>
          <a:prstGeom prst="rect">
            <a:avLst/>
          </a:prstGeom>
          <a:noFill/>
        </p:spPr>
        <p:txBody>
          <a:bodyPr wrap="square" anchor="t" lIns="0" rIns="0" tIns="0" bIns="0">
            <a:noAutofit/>
          </a:bodyPr>
          <a:lstStyle/>
          <a:p>
            <a:pPr algn="l">
              <a:lnSpc>
                <a:spcPct val="112000"/>
              </a:lnSpc>
              <a:spcAft>
                <a:spcPts val="0"/>
              </a:spcAft>
            </a:pPr>
            <a:r>
              <a:rPr sz="850" b="0" i="1">
                <a:solidFill>
                  <a:srgbClr val="77859A"/>
                </a:solidFill>
                <a:latin typeface="Calibri"/>
              </a:rPr>
              <a:t>Built as a single-page React application. No server is required for the core study loop.</a:t>
            </a:r>
          </a:p>
        </p:txBody>
      </p:sp>
      <p:sp>
        <p:nvSpPr>
          <p:cNvPr id="25" name="Rounded Rectangle 24"/>
          <p:cNvSpPr/>
          <p:nvPr/>
        </p:nvSpPr>
        <p:spPr>
          <a:xfrm>
            <a:off x="6327648" y="1783080"/>
            <a:ext cx="5285232" cy="4270248"/>
          </a:xfrm>
          <a:prstGeom prst="roundRect">
            <a:avLst>
              <a:gd name="adj" fmla="val 3000"/>
            </a:avLst>
          </a:prstGeom>
          <a:solidFill>
            <a:srgbClr val="F5F8FA"/>
          </a:solidFill>
          <a:ln w="9525">
            <a:solidFill>
              <a:srgbClr val="DCE4EA"/>
            </a:solidFill>
          </a:ln>
          <a:effectLst/>
        </p:spPr>
        <p:txBody>
          <a:bodyPr rtlCol="0" anchor="ctr" wrap="square"/>
          <a:lstStyle/>
          <a:p>
            <a:pPr algn="ctr"/>
          </a:p>
        </p:txBody>
      </p:sp>
      <p:sp>
        <p:nvSpPr>
          <p:cNvPr id="26" name="TextBox 25"/>
          <p:cNvSpPr txBox="1"/>
          <p:nvPr/>
        </p:nvSpPr>
        <p:spPr>
          <a:xfrm>
            <a:off x="6565392" y="1938528"/>
            <a:ext cx="484632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THE LEARNING LOOP</a:t>
            </a:r>
          </a:p>
        </p:txBody>
      </p:sp>
      <p:sp>
        <p:nvSpPr>
          <p:cNvPr id="27" name="Rounded Rectangle 26"/>
          <p:cNvSpPr/>
          <p:nvPr/>
        </p:nvSpPr>
        <p:spPr>
          <a:xfrm>
            <a:off x="8119872" y="2176272"/>
            <a:ext cx="1847088" cy="84124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28" name="Rectangle 27"/>
          <p:cNvSpPr/>
          <p:nvPr/>
        </p:nvSpPr>
        <p:spPr>
          <a:xfrm>
            <a:off x="8136331" y="2286000"/>
            <a:ext cx="41148" cy="621792"/>
          </a:xfrm>
          <a:prstGeom prst="rect">
            <a:avLst/>
          </a:prstGeom>
          <a:solidFill>
            <a:srgbClr val="0F7A82"/>
          </a:solidFill>
          <a:ln>
            <a:noFill/>
          </a:ln>
          <a:effectLst/>
        </p:spPr>
        <p:txBody>
          <a:bodyPr rtlCol="0" anchor="ctr" wrap="square"/>
          <a:lstStyle/>
          <a:p>
            <a:pPr algn="ctr"/>
          </a:p>
        </p:txBody>
      </p:sp>
      <p:sp>
        <p:nvSpPr>
          <p:cNvPr id="29" name="TextBox 28"/>
          <p:cNvSpPr txBox="1"/>
          <p:nvPr/>
        </p:nvSpPr>
        <p:spPr>
          <a:xfrm>
            <a:off x="8284464" y="2359152"/>
            <a:ext cx="16002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PLAN</a:t>
            </a:r>
          </a:p>
        </p:txBody>
      </p:sp>
      <p:sp>
        <p:nvSpPr>
          <p:cNvPr id="30" name="TextBox 29"/>
          <p:cNvSpPr txBox="1"/>
          <p:nvPr/>
        </p:nvSpPr>
        <p:spPr>
          <a:xfrm>
            <a:off x="8284464" y="2578608"/>
            <a:ext cx="1572768" cy="402336"/>
          </a:xfrm>
          <a:prstGeom prst="rect">
            <a:avLst/>
          </a:prstGeom>
          <a:noFill/>
        </p:spPr>
        <p:txBody>
          <a:bodyPr wrap="square" anchor="t" lIns="0" rIns="0" tIns="0" bIns="0">
            <a:noAutofit/>
          </a:bodyPr>
          <a:lstStyle/>
          <a:p>
            <a:pPr algn="l">
              <a:lnSpc>
                <a:spcPct val="110000"/>
              </a:lnSpc>
              <a:spcAft>
                <a:spcPts val="0"/>
              </a:spcAft>
            </a:pPr>
            <a:r>
              <a:rPr sz="750" b="0" i="0">
                <a:solidFill>
                  <a:srgbClr val="77859A"/>
                </a:solidFill>
                <a:latin typeface="Calibri"/>
              </a:rPr>
              <a:t>Exam date, difficulty, weak scores</a:t>
            </a:r>
          </a:p>
        </p:txBody>
      </p:sp>
      <p:sp>
        <p:nvSpPr>
          <p:cNvPr id="31" name="Rounded Rectangle 30"/>
          <p:cNvSpPr/>
          <p:nvPr/>
        </p:nvSpPr>
        <p:spPr>
          <a:xfrm>
            <a:off x="9701784" y="3511296"/>
            <a:ext cx="1847088" cy="84124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2" name="Rectangle 31"/>
          <p:cNvSpPr/>
          <p:nvPr/>
        </p:nvSpPr>
        <p:spPr>
          <a:xfrm>
            <a:off x="9718243" y="3621024"/>
            <a:ext cx="41148" cy="621792"/>
          </a:xfrm>
          <a:prstGeom prst="rect">
            <a:avLst/>
          </a:prstGeom>
          <a:solidFill>
            <a:srgbClr val="2E5C9A"/>
          </a:solidFill>
          <a:ln>
            <a:noFill/>
          </a:ln>
          <a:effectLst/>
        </p:spPr>
        <p:txBody>
          <a:bodyPr rtlCol="0" anchor="ctr" wrap="square"/>
          <a:lstStyle/>
          <a:p>
            <a:pPr algn="ctr"/>
          </a:p>
        </p:txBody>
      </p:sp>
      <p:sp>
        <p:nvSpPr>
          <p:cNvPr id="33" name="TextBox 32"/>
          <p:cNvSpPr txBox="1"/>
          <p:nvPr/>
        </p:nvSpPr>
        <p:spPr>
          <a:xfrm>
            <a:off x="9866376" y="3694176"/>
            <a:ext cx="16002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LEARN</a:t>
            </a:r>
          </a:p>
        </p:txBody>
      </p:sp>
      <p:sp>
        <p:nvSpPr>
          <p:cNvPr id="34" name="TextBox 33"/>
          <p:cNvSpPr txBox="1"/>
          <p:nvPr/>
        </p:nvSpPr>
        <p:spPr>
          <a:xfrm>
            <a:off x="9866376" y="3913632"/>
            <a:ext cx="1572768" cy="402336"/>
          </a:xfrm>
          <a:prstGeom prst="rect">
            <a:avLst/>
          </a:prstGeom>
          <a:noFill/>
        </p:spPr>
        <p:txBody>
          <a:bodyPr wrap="square" anchor="t" lIns="0" rIns="0" tIns="0" bIns="0">
            <a:noAutofit/>
          </a:bodyPr>
          <a:lstStyle/>
          <a:p>
            <a:pPr algn="l">
              <a:lnSpc>
                <a:spcPct val="110000"/>
              </a:lnSpc>
              <a:spcAft>
                <a:spcPts val="0"/>
              </a:spcAft>
            </a:pPr>
            <a:r>
              <a:rPr sz="750" b="0" i="0">
                <a:solidFill>
                  <a:srgbClr val="77859A"/>
                </a:solidFill>
                <a:latin typeface="Calibri"/>
              </a:rPr>
              <a:t>Notes, diagrams, imported PDFs</a:t>
            </a:r>
          </a:p>
        </p:txBody>
      </p:sp>
      <p:sp>
        <p:nvSpPr>
          <p:cNvPr id="35" name="Rounded Rectangle 34"/>
          <p:cNvSpPr/>
          <p:nvPr/>
        </p:nvSpPr>
        <p:spPr>
          <a:xfrm>
            <a:off x="8119872" y="4846320"/>
            <a:ext cx="1847088" cy="84124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6" name="Rectangle 35"/>
          <p:cNvSpPr/>
          <p:nvPr/>
        </p:nvSpPr>
        <p:spPr>
          <a:xfrm>
            <a:off x="8136331" y="4956048"/>
            <a:ext cx="41148" cy="621792"/>
          </a:xfrm>
          <a:prstGeom prst="rect">
            <a:avLst/>
          </a:prstGeom>
          <a:solidFill>
            <a:srgbClr val="B0781C"/>
          </a:solidFill>
          <a:ln>
            <a:noFill/>
          </a:ln>
          <a:effectLst/>
        </p:spPr>
        <p:txBody>
          <a:bodyPr rtlCol="0" anchor="ctr" wrap="square"/>
          <a:lstStyle/>
          <a:p>
            <a:pPr algn="ctr"/>
          </a:p>
        </p:txBody>
      </p:sp>
      <p:sp>
        <p:nvSpPr>
          <p:cNvPr id="37" name="TextBox 36"/>
          <p:cNvSpPr txBox="1"/>
          <p:nvPr/>
        </p:nvSpPr>
        <p:spPr>
          <a:xfrm>
            <a:off x="8284464" y="5029200"/>
            <a:ext cx="16002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PRACTISE</a:t>
            </a:r>
          </a:p>
        </p:txBody>
      </p:sp>
      <p:sp>
        <p:nvSpPr>
          <p:cNvPr id="38" name="TextBox 37"/>
          <p:cNvSpPr txBox="1"/>
          <p:nvPr/>
        </p:nvSpPr>
        <p:spPr>
          <a:xfrm>
            <a:off x="8284464" y="5248656"/>
            <a:ext cx="1572768" cy="402336"/>
          </a:xfrm>
          <a:prstGeom prst="rect">
            <a:avLst/>
          </a:prstGeom>
          <a:noFill/>
        </p:spPr>
        <p:txBody>
          <a:bodyPr wrap="square" anchor="t" lIns="0" rIns="0" tIns="0" bIns="0">
            <a:noAutofit/>
          </a:bodyPr>
          <a:lstStyle/>
          <a:p>
            <a:pPr algn="l">
              <a:lnSpc>
                <a:spcPct val="110000"/>
              </a:lnSpc>
              <a:spcAft>
                <a:spcPts val="0"/>
              </a:spcAft>
            </a:pPr>
            <a:r>
              <a:rPr sz="750" b="0" i="0">
                <a:solidFill>
                  <a:srgbClr val="77859A"/>
                </a:solidFill>
                <a:latin typeface="Calibri"/>
              </a:rPr>
              <a:t>Question banks, mock exams, code</a:t>
            </a:r>
          </a:p>
        </p:txBody>
      </p:sp>
      <p:sp>
        <p:nvSpPr>
          <p:cNvPr id="39" name="Rounded Rectangle 38"/>
          <p:cNvSpPr/>
          <p:nvPr/>
        </p:nvSpPr>
        <p:spPr>
          <a:xfrm>
            <a:off x="6528816" y="3511296"/>
            <a:ext cx="1847088" cy="84124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40" name="Rectangle 39"/>
          <p:cNvSpPr/>
          <p:nvPr/>
        </p:nvSpPr>
        <p:spPr>
          <a:xfrm>
            <a:off x="6545275" y="3621024"/>
            <a:ext cx="41148" cy="621792"/>
          </a:xfrm>
          <a:prstGeom prst="rect">
            <a:avLst/>
          </a:prstGeom>
          <a:solidFill>
            <a:srgbClr val="2B7A58"/>
          </a:solidFill>
          <a:ln>
            <a:noFill/>
          </a:ln>
          <a:effectLst/>
        </p:spPr>
        <p:txBody>
          <a:bodyPr rtlCol="0" anchor="ctr" wrap="square"/>
          <a:lstStyle/>
          <a:p>
            <a:pPr algn="ctr"/>
          </a:p>
        </p:txBody>
      </p:sp>
      <p:sp>
        <p:nvSpPr>
          <p:cNvPr id="41" name="TextBox 40"/>
          <p:cNvSpPr txBox="1"/>
          <p:nvPr/>
        </p:nvSpPr>
        <p:spPr>
          <a:xfrm>
            <a:off x="6693407" y="3694176"/>
            <a:ext cx="16002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IMPROVE</a:t>
            </a:r>
          </a:p>
        </p:txBody>
      </p:sp>
      <p:sp>
        <p:nvSpPr>
          <p:cNvPr id="42" name="TextBox 41"/>
          <p:cNvSpPr txBox="1"/>
          <p:nvPr/>
        </p:nvSpPr>
        <p:spPr>
          <a:xfrm>
            <a:off x="6693407" y="3913632"/>
            <a:ext cx="1572768" cy="402336"/>
          </a:xfrm>
          <a:prstGeom prst="rect">
            <a:avLst/>
          </a:prstGeom>
          <a:noFill/>
        </p:spPr>
        <p:txBody>
          <a:bodyPr wrap="square" anchor="t" lIns="0" rIns="0" tIns="0" bIns="0">
            <a:noAutofit/>
          </a:bodyPr>
          <a:lstStyle/>
          <a:p>
            <a:pPr algn="l">
              <a:lnSpc>
                <a:spcPct val="110000"/>
              </a:lnSpc>
              <a:spcAft>
                <a:spcPts val="0"/>
              </a:spcAft>
            </a:pPr>
            <a:r>
              <a:rPr sz="750" b="0" i="0">
                <a:solidFill>
                  <a:srgbClr val="77859A"/>
                </a:solidFill>
                <a:latin typeface="Calibri"/>
              </a:rPr>
              <a:t>Weakness score, SM-2 review, re-plan</a:t>
            </a:r>
          </a:p>
        </p:txBody>
      </p:sp>
      <p:sp>
        <p:nvSpPr>
          <p:cNvPr id="43" name="Oval 42"/>
          <p:cNvSpPr/>
          <p:nvPr/>
        </p:nvSpPr>
        <p:spPr>
          <a:xfrm>
            <a:off x="8595360" y="3310128"/>
            <a:ext cx="868680" cy="868680"/>
          </a:xfrm>
          <a:prstGeom prst="ellipse">
            <a:avLst/>
          </a:prstGeom>
          <a:solidFill>
            <a:srgbClr val="FFFFFF"/>
          </a:solidFill>
          <a:ln w="9525">
            <a:solidFill>
              <a:srgbClr val="DCE4EA"/>
            </a:solidFill>
          </a:ln>
          <a:effectLst/>
        </p:spPr>
        <p:txBody>
          <a:bodyPr rtlCol="0" anchor="ctr"/>
          <a:lstStyle/>
          <a:p>
            <a:pPr algn="ctr"/>
          </a:p>
        </p:txBody>
      </p:sp>
      <p:sp>
        <p:nvSpPr>
          <p:cNvPr id="44" name="TextBox 43"/>
          <p:cNvSpPr txBox="1"/>
          <p:nvPr/>
        </p:nvSpPr>
        <p:spPr>
          <a:xfrm>
            <a:off x="8613648" y="3511296"/>
            <a:ext cx="832104" cy="457200"/>
          </a:xfrm>
          <a:prstGeom prst="rect">
            <a:avLst/>
          </a:prstGeom>
          <a:noFill/>
        </p:spPr>
        <p:txBody>
          <a:bodyPr wrap="square" anchor="t" lIns="0" rIns="0" tIns="0" bIns="0">
            <a:noAutofit/>
          </a:bodyPr>
          <a:lstStyle/>
          <a:p>
            <a:pPr algn="ctr">
              <a:lnSpc>
                <a:spcPct val="100000"/>
              </a:lnSpc>
              <a:spcAft>
                <a:spcPts val="0"/>
              </a:spcAft>
            </a:pPr>
            <a:r>
              <a:rPr sz="860" b="1" i="0">
                <a:solidFill>
                  <a:srgbClr val="0F7A82"/>
                </a:solidFill>
                <a:latin typeface="Calibri"/>
              </a:rPr>
              <a:t>ONE</a:t>
            </a:r>
          </a:p>
          <a:p>
            <a:pPr algn="ctr">
              <a:lnSpc>
                <a:spcPct val="100000"/>
              </a:lnSpc>
              <a:spcAft>
                <a:spcPts val="0"/>
              </a:spcAft>
            </a:pPr>
            <a:r>
              <a:rPr sz="860" b="1" i="0">
                <a:solidFill>
                  <a:srgbClr val="0F7A82"/>
                </a:solidFill>
                <a:latin typeface="Calibri"/>
              </a:rPr>
              <a:t>LOOP</a:t>
            </a:r>
          </a:p>
        </p:txBody>
      </p:sp>
      <p:cxnSp>
        <p:nvCxnSpPr>
          <p:cNvPr id="45" name="Connector 44"/>
          <p:cNvCxnSpPr/>
          <p:nvPr/>
        </p:nvCxnSpPr>
        <p:spPr>
          <a:xfrm>
            <a:off x="9290304" y="3044952"/>
            <a:ext cx="585216" cy="429768"/>
          </a:xfrm>
          <a:prstGeom prst="line">
            <a:avLst/>
          </a:prstGeom>
          <a:ln w="1524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040112" y="4352544"/>
            <a:ext cx="585216" cy="457200"/>
          </a:xfrm>
          <a:prstGeom prst="line">
            <a:avLst/>
          </a:prstGeom>
          <a:ln w="1524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7534656" y="4681728"/>
            <a:ext cx="585216" cy="585216"/>
          </a:xfrm>
          <a:prstGeom prst="line">
            <a:avLst/>
          </a:prstGeom>
          <a:ln w="1524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7461504" y="3054096"/>
            <a:ext cx="585216" cy="457200"/>
          </a:xfrm>
          <a:prstGeom prst="line">
            <a:avLst/>
          </a:prstGeom>
          <a:ln w="1524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565392" y="5833872"/>
            <a:ext cx="4846320" cy="201168"/>
          </a:xfrm>
          <a:prstGeom prst="rect">
            <a:avLst/>
          </a:prstGeom>
          <a:noFill/>
        </p:spPr>
        <p:txBody>
          <a:bodyPr wrap="square" anchor="t" lIns="0" rIns="0" tIns="0" bIns="0">
            <a:noAutofit/>
          </a:bodyPr>
          <a:lstStyle/>
          <a:p>
            <a:pPr algn="l">
              <a:lnSpc>
                <a:spcPct val="112000"/>
              </a:lnSpc>
              <a:spcAft>
                <a:spcPts val="0"/>
              </a:spcAft>
            </a:pPr>
            <a:r>
              <a:rPr sz="800" b="0" i="1">
                <a:solidFill>
                  <a:srgbClr val="77859A"/>
                </a:solidFill>
                <a:latin typeface="Calibri"/>
              </a:rPr>
              <a:t>Each pass writes back to the same store, so the next plan starts from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02 · PROBLEM</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The gap is not content — it is response</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Students rarely fail for lack of material. They fail because nothing in their day responds to what they actually understand.</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FOUNDATIONS</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04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847088"/>
            <a:ext cx="3611880" cy="299923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12" name="Rectangle 11"/>
          <p:cNvSpPr/>
          <p:nvPr/>
        </p:nvSpPr>
        <p:spPr>
          <a:xfrm>
            <a:off x="583387" y="1956816"/>
            <a:ext cx="41148" cy="2779776"/>
          </a:xfrm>
          <a:prstGeom prst="rect">
            <a:avLst/>
          </a:prstGeom>
          <a:solidFill>
            <a:srgbClr val="A64B39"/>
          </a:solidFill>
          <a:ln>
            <a:noFill/>
          </a:ln>
          <a:effectLst/>
        </p:spPr>
        <p:txBody>
          <a:bodyPr rtlCol="0" anchor="ctr" wrap="square"/>
          <a:lstStyle/>
          <a:p>
            <a:pPr algn="ctr"/>
          </a:p>
        </p:txBody>
      </p:sp>
      <p:sp>
        <p:nvSpPr>
          <p:cNvPr id="13" name="TextBox 12"/>
          <p:cNvSpPr txBox="1"/>
          <p:nvPr/>
        </p:nvSpPr>
        <p:spPr>
          <a:xfrm>
            <a:off x="786384" y="2048256"/>
            <a:ext cx="548640" cy="228600"/>
          </a:xfrm>
          <a:prstGeom prst="rect">
            <a:avLst/>
          </a:prstGeom>
          <a:noFill/>
        </p:spPr>
        <p:txBody>
          <a:bodyPr wrap="square" anchor="t" lIns="0" rIns="0" tIns="0" bIns="0">
            <a:noAutofit/>
          </a:bodyPr>
          <a:lstStyle/>
          <a:p>
            <a:pPr algn="l">
              <a:lnSpc>
                <a:spcPct val="112000"/>
              </a:lnSpc>
              <a:spcAft>
                <a:spcPts val="0"/>
              </a:spcAft>
            </a:pPr>
            <a:r>
              <a:rPr sz="900" b="1" i="0">
                <a:solidFill>
                  <a:srgbClr val="A64B39"/>
                </a:solidFill>
                <a:latin typeface="Calibri"/>
              </a:rPr>
              <a:t>01</a:t>
            </a:r>
          </a:p>
        </p:txBody>
      </p:sp>
      <p:sp>
        <p:nvSpPr>
          <p:cNvPr id="14" name="TextBox 13"/>
          <p:cNvSpPr txBox="1"/>
          <p:nvPr/>
        </p:nvSpPr>
        <p:spPr>
          <a:xfrm>
            <a:off x="786384" y="2286000"/>
            <a:ext cx="3154680" cy="45720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Fragmented workflow</a:t>
            </a:r>
          </a:p>
        </p:txBody>
      </p:sp>
      <p:sp>
        <p:nvSpPr>
          <p:cNvPr id="15" name="TextBox 14"/>
          <p:cNvSpPr txBox="1"/>
          <p:nvPr/>
        </p:nvSpPr>
        <p:spPr>
          <a:xfrm>
            <a:off x="786384" y="2761488"/>
            <a:ext cx="3182112" cy="548640"/>
          </a:xfrm>
          <a:prstGeom prst="rect">
            <a:avLst/>
          </a:prstGeom>
          <a:noFill/>
        </p:spPr>
        <p:txBody>
          <a:bodyPr wrap="square" anchor="t" lIns="0" rIns="0" tIns="0" bIns="0">
            <a:noAutofit/>
          </a:bodyPr>
          <a:lstStyle/>
          <a:p>
            <a:pPr algn="l">
              <a:lnSpc>
                <a:spcPct val="124000"/>
              </a:lnSpc>
              <a:spcAft>
                <a:spcPts val="0"/>
              </a:spcAft>
            </a:pPr>
            <a:r>
              <a:rPr sz="980" b="0" i="0">
                <a:solidFill>
                  <a:srgbClr val="3D4A5C"/>
                </a:solidFill>
                <a:latin typeface="Calibri"/>
              </a:rPr>
              <a:t>Notes live in one app, deadlines in another, tests in a third. Context is lost every time a student switches.</a:t>
            </a:r>
          </a:p>
        </p:txBody>
      </p:sp>
      <p:sp>
        <p:nvSpPr>
          <p:cNvPr id="16" name="TextBox 15"/>
          <p:cNvSpPr txBox="1"/>
          <p:nvPr/>
        </p:nvSpPr>
        <p:spPr>
          <a:xfrm>
            <a:off x="786384" y="3346704"/>
            <a:ext cx="3154680" cy="457200"/>
          </a:xfrm>
          <a:prstGeom prst="rect">
            <a:avLst/>
          </a:prstGeom>
          <a:noFill/>
        </p:spPr>
        <p:txBody>
          <a:bodyPr wrap="square" anchor="t" lIns="0" rIns="0" tIns="0" bIns="0">
            <a:noAutofit/>
          </a:bodyPr>
          <a:lstStyle/>
          <a:p>
            <a:pPr algn="l">
              <a:lnSpc>
                <a:spcPct val="118000"/>
              </a:lnSpc>
              <a:spcAft>
                <a:spcPts val="0"/>
              </a:spcAft>
            </a:pPr>
            <a:r>
              <a:rPr sz="869" b="0" i="1">
                <a:solidFill>
                  <a:srgbClr val="77859A"/>
                </a:solidFill>
                <a:latin typeface="Calibri"/>
              </a:rPr>
              <a:t>A student rewrites the same notes in three tools.</a:t>
            </a:r>
          </a:p>
        </p:txBody>
      </p:sp>
      <p:sp>
        <p:nvSpPr>
          <p:cNvPr id="17" name="Rectangle 16"/>
          <p:cNvSpPr/>
          <p:nvPr/>
        </p:nvSpPr>
        <p:spPr>
          <a:xfrm>
            <a:off x="786384" y="3977639"/>
            <a:ext cx="3127248" cy="7315"/>
          </a:xfrm>
          <a:prstGeom prst="rect">
            <a:avLst/>
          </a:prstGeom>
          <a:solidFill>
            <a:srgbClr val="DCE4EA"/>
          </a:solidFill>
          <a:ln>
            <a:noFill/>
          </a:ln>
          <a:effectLst/>
        </p:spPr>
        <p:txBody>
          <a:bodyPr rtlCol="0" anchor="ctr" wrap="square"/>
          <a:lstStyle/>
          <a:p>
            <a:pPr algn="ctr"/>
          </a:p>
        </p:txBody>
      </p:sp>
      <p:sp>
        <p:nvSpPr>
          <p:cNvPr id="18" name="TextBox 17"/>
          <p:cNvSpPr txBox="1"/>
          <p:nvPr/>
        </p:nvSpPr>
        <p:spPr>
          <a:xfrm>
            <a:off x="786384" y="4059936"/>
            <a:ext cx="3108960" cy="182880"/>
          </a:xfrm>
          <a:prstGeom prst="rect">
            <a:avLst/>
          </a:prstGeom>
          <a:noFill/>
        </p:spPr>
        <p:txBody>
          <a:bodyPr wrap="square" anchor="t" lIns="0" rIns="0" tIns="0" bIns="0">
            <a:noAutofit/>
          </a:bodyPr>
          <a:lstStyle/>
          <a:p>
            <a:pPr algn="l">
              <a:lnSpc>
                <a:spcPct val="112000"/>
              </a:lnSpc>
              <a:spcAft>
                <a:spcPts val="0"/>
              </a:spcAft>
            </a:pPr>
            <a:r>
              <a:rPr sz="720" b="1" i="0">
                <a:solidFill>
                  <a:srgbClr val="77859A"/>
                </a:solidFill>
                <a:latin typeface="Calibri"/>
              </a:rPr>
              <a:t>COST TO THE STUDENT</a:t>
            </a:r>
          </a:p>
        </p:txBody>
      </p:sp>
      <p:sp>
        <p:nvSpPr>
          <p:cNvPr id="19" name="TextBox 18"/>
          <p:cNvSpPr txBox="1"/>
          <p:nvPr/>
        </p:nvSpPr>
        <p:spPr>
          <a:xfrm>
            <a:off x="786384" y="4224528"/>
            <a:ext cx="3108960" cy="457200"/>
          </a:xfrm>
          <a:prstGeom prst="rect">
            <a:avLst/>
          </a:prstGeom>
          <a:noFill/>
        </p:spPr>
        <p:txBody>
          <a:bodyPr wrap="square" anchor="t" lIns="0" rIns="0" tIns="0" bIns="0">
            <a:noAutofit/>
          </a:bodyPr>
          <a:lstStyle/>
          <a:p>
            <a:pPr algn="l">
              <a:lnSpc>
                <a:spcPct val="115000"/>
              </a:lnSpc>
              <a:spcAft>
                <a:spcPts val="0"/>
              </a:spcAft>
            </a:pPr>
            <a:r>
              <a:rPr sz="940" b="1" i="0">
                <a:solidFill>
                  <a:srgbClr val="A64B39"/>
                </a:solidFill>
                <a:latin typeface="Calibri"/>
              </a:rPr>
              <a:t>Revision restarts from zero.</a:t>
            </a:r>
          </a:p>
        </p:txBody>
      </p:sp>
      <p:sp>
        <p:nvSpPr>
          <p:cNvPr id="20" name="Rounded Rectangle 19"/>
          <p:cNvSpPr/>
          <p:nvPr/>
        </p:nvSpPr>
        <p:spPr>
          <a:xfrm>
            <a:off x="4315968" y="1847088"/>
            <a:ext cx="3611880" cy="299923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21" name="Rectangle 20"/>
          <p:cNvSpPr/>
          <p:nvPr/>
        </p:nvSpPr>
        <p:spPr>
          <a:xfrm>
            <a:off x="4332427" y="1956816"/>
            <a:ext cx="41148" cy="2779776"/>
          </a:xfrm>
          <a:prstGeom prst="rect">
            <a:avLst/>
          </a:prstGeom>
          <a:solidFill>
            <a:srgbClr val="A64B39"/>
          </a:solidFill>
          <a:ln>
            <a:noFill/>
          </a:ln>
          <a:effectLst/>
        </p:spPr>
        <p:txBody>
          <a:bodyPr rtlCol="0" anchor="ctr" wrap="square"/>
          <a:lstStyle/>
          <a:p>
            <a:pPr algn="ctr"/>
          </a:p>
        </p:txBody>
      </p:sp>
      <p:sp>
        <p:nvSpPr>
          <p:cNvPr id="22" name="TextBox 21"/>
          <p:cNvSpPr txBox="1"/>
          <p:nvPr/>
        </p:nvSpPr>
        <p:spPr>
          <a:xfrm>
            <a:off x="4535424" y="2048256"/>
            <a:ext cx="548640" cy="228600"/>
          </a:xfrm>
          <a:prstGeom prst="rect">
            <a:avLst/>
          </a:prstGeom>
          <a:noFill/>
        </p:spPr>
        <p:txBody>
          <a:bodyPr wrap="square" anchor="t" lIns="0" rIns="0" tIns="0" bIns="0">
            <a:noAutofit/>
          </a:bodyPr>
          <a:lstStyle/>
          <a:p>
            <a:pPr algn="l">
              <a:lnSpc>
                <a:spcPct val="112000"/>
              </a:lnSpc>
              <a:spcAft>
                <a:spcPts val="0"/>
              </a:spcAft>
            </a:pPr>
            <a:r>
              <a:rPr sz="900" b="1" i="0">
                <a:solidFill>
                  <a:srgbClr val="A64B39"/>
                </a:solidFill>
                <a:latin typeface="Calibri"/>
              </a:rPr>
              <a:t>02</a:t>
            </a:r>
          </a:p>
        </p:txBody>
      </p:sp>
      <p:sp>
        <p:nvSpPr>
          <p:cNvPr id="23" name="TextBox 22"/>
          <p:cNvSpPr txBox="1"/>
          <p:nvPr/>
        </p:nvSpPr>
        <p:spPr>
          <a:xfrm>
            <a:off x="4535424" y="2286000"/>
            <a:ext cx="3154680" cy="45720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Static study plans</a:t>
            </a:r>
          </a:p>
        </p:txBody>
      </p:sp>
      <p:sp>
        <p:nvSpPr>
          <p:cNvPr id="24" name="TextBox 23"/>
          <p:cNvSpPr txBox="1"/>
          <p:nvPr/>
        </p:nvSpPr>
        <p:spPr>
          <a:xfrm>
            <a:off x="4535424" y="2761488"/>
            <a:ext cx="3182112" cy="548640"/>
          </a:xfrm>
          <a:prstGeom prst="rect">
            <a:avLst/>
          </a:prstGeom>
          <a:noFill/>
        </p:spPr>
        <p:txBody>
          <a:bodyPr wrap="square" anchor="t" lIns="0" rIns="0" tIns="0" bIns="0">
            <a:noAutofit/>
          </a:bodyPr>
          <a:lstStyle/>
          <a:p>
            <a:pPr algn="l">
              <a:lnSpc>
                <a:spcPct val="124000"/>
              </a:lnSpc>
              <a:spcAft>
                <a:spcPts val="0"/>
              </a:spcAft>
            </a:pPr>
            <a:r>
              <a:rPr sz="980" b="0" i="0">
                <a:solidFill>
                  <a:srgbClr val="3D4A5C"/>
                </a:solidFill>
                <a:latin typeface="Calibri"/>
              </a:rPr>
              <a:t>A plan made once ignores topic difficulty, weak areas and slipping dates. It stays comfortable while the exam gets closer.</a:t>
            </a:r>
          </a:p>
        </p:txBody>
      </p:sp>
      <p:sp>
        <p:nvSpPr>
          <p:cNvPr id="25" name="TextBox 24"/>
          <p:cNvSpPr txBox="1"/>
          <p:nvPr/>
        </p:nvSpPr>
        <p:spPr>
          <a:xfrm>
            <a:off x="4535424" y="3346704"/>
            <a:ext cx="3154680" cy="457200"/>
          </a:xfrm>
          <a:prstGeom prst="rect">
            <a:avLst/>
          </a:prstGeom>
          <a:noFill/>
        </p:spPr>
        <p:txBody>
          <a:bodyPr wrap="square" anchor="t" lIns="0" rIns="0" tIns="0" bIns="0">
            <a:noAutofit/>
          </a:bodyPr>
          <a:lstStyle/>
          <a:p>
            <a:pPr algn="l">
              <a:lnSpc>
                <a:spcPct val="118000"/>
              </a:lnSpc>
              <a:spcAft>
                <a:spcPts val="0"/>
              </a:spcAft>
            </a:pPr>
            <a:r>
              <a:rPr sz="869" b="0" i="1">
                <a:solidFill>
                  <a:srgbClr val="77859A"/>
                </a:solidFill>
                <a:latin typeface="Calibri"/>
              </a:rPr>
              <a:t>The weakest topic gets the same 30 minutes as the strongest.</a:t>
            </a:r>
          </a:p>
        </p:txBody>
      </p:sp>
      <p:sp>
        <p:nvSpPr>
          <p:cNvPr id="26" name="Rectangle 25"/>
          <p:cNvSpPr/>
          <p:nvPr/>
        </p:nvSpPr>
        <p:spPr>
          <a:xfrm>
            <a:off x="4535424" y="3977639"/>
            <a:ext cx="3127248" cy="7315"/>
          </a:xfrm>
          <a:prstGeom prst="rect">
            <a:avLst/>
          </a:prstGeom>
          <a:solidFill>
            <a:srgbClr val="DCE4EA"/>
          </a:solidFill>
          <a:ln>
            <a:noFill/>
          </a:ln>
          <a:effectLst/>
        </p:spPr>
        <p:txBody>
          <a:bodyPr rtlCol="0" anchor="ctr" wrap="square"/>
          <a:lstStyle/>
          <a:p>
            <a:pPr algn="ctr"/>
          </a:p>
        </p:txBody>
      </p:sp>
      <p:sp>
        <p:nvSpPr>
          <p:cNvPr id="27" name="TextBox 26"/>
          <p:cNvSpPr txBox="1"/>
          <p:nvPr/>
        </p:nvSpPr>
        <p:spPr>
          <a:xfrm>
            <a:off x="4535424" y="4059936"/>
            <a:ext cx="3108960" cy="182880"/>
          </a:xfrm>
          <a:prstGeom prst="rect">
            <a:avLst/>
          </a:prstGeom>
          <a:noFill/>
        </p:spPr>
        <p:txBody>
          <a:bodyPr wrap="square" anchor="t" lIns="0" rIns="0" tIns="0" bIns="0">
            <a:noAutofit/>
          </a:bodyPr>
          <a:lstStyle/>
          <a:p>
            <a:pPr algn="l">
              <a:lnSpc>
                <a:spcPct val="112000"/>
              </a:lnSpc>
              <a:spcAft>
                <a:spcPts val="0"/>
              </a:spcAft>
            </a:pPr>
            <a:r>
              <a:rPr sz="720" b="1" i="0">
                <a:solidFill>
                  <a:srgbClr val="77859A"/>
                </a:solidFill>
                <a:latin typeface="Calibri"/>
              </a:rPr>
              <a:t>COST TO THE STUDENT</a:t>
            </a:r>
          </a:p>
        </p:txBody>
      </p:sp>
      <p:sp>
        <p:nvSpPr>
          <p:cNvPr id="28" name="TextBox 27"/>
          <p:cNvSpPr txBox="1"/>
          <p:nvPr/>
        </p:nvSpPr>
        <p:spPr>
          <a:xfrm>
            <a:off x="4535424" y="4224528"/>
            <a:ext cx="3108960" cy="457200"/>
          </a:xfrm>
          <a:prstGeom prst="rect">
            <a:avLst/>
          </a:prstGeom>
          <a:noFill/>
        </p:spPr>
        <p:txBody>
          <a:bodyPr wrap="square" anchor="t" lIns="0" rIns="0" tIns="0" bIns="0">
            <a:noAutofit/>
          </a:bodyPr>
          <a:lstStyle/>
          <a:p>
            <a:pPr algn="l">
              <a:lnSpc>
                <a:spcPct val="115000"/>
              </a:lnSpc>
              <a:spcAft>
                <a:spcPts val="0"/>
              </a:spcAft>
            </a:pPr>
            <a:r>
              <a:rPr sz="940" b="1" i="0">
                <a:solidFill>
                  <a:srgbClr val="A64B39"/>
                </a:solidFill>
                <a:latin typeface="Calibri"/>
              </a:rPr>
              <a:t>Time goes where it is easiest, not where it is needed.</a:t>
            </a:r>
          </a:p>
        </p:txBody>
      </p:sp>
      <p:sp>
        <p:nvSpPr>
          <p:cNvPr id="29" name="Rounded Rectangle 28"/>
          <p:cNvSpPr/>
          <p:nvPr/>
        </p:nvSpPr>
        <p:spPr>
          <a:xfrm>
            <a:off x="8065007" y="1847088"/>
            <a:ext cx="3611880" cy="299923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0" name="Rectangle 29"/>
          <p:cNvSpPr/>
          <p:nvPr/>
        </p:nvSpPr>
        <p:spPr>
          <a:xfrm>
            <a:off x="8081467" y="1956816"/>
            <a:ext cx="41148" cy="2779776"/>
          </a:xfrm>
          <a:prstGeom prst="rect">
            <a:avLst/>
          </a:prstGeom>
          <a:solidFill>
            <a:srgbClr val="A64B39"/>
          </a:solidFill>
          <a:ln>
            <a:noFill/>
          </a:ln>
          <a:effectLst/>
        </p:spPr>
        <p:txBody>
          <a:bodyPr rtlCol="0" anchor="ctr" wrap="square"/>
          <a:lstStyle/>
          <a:p>
            <a:pPr algn="ctr"/>
          </a:p>
        </p:txBody>
      </p:sp>
      <p:sp>
        <p:nvSpPr>
          <p:cNvPr id="31" name="TextBox 30"/>
          <p:cNvSpPr txBox="1"/>
          <p:nvPr/>
        </p:nvSpPr>
        <p:spPr>
          <a:xfrm>
            <a:off x="8284463" y="2048256"/>
            <a:ext cx="548640" cy="228600"/>
          </a:xfrm>
          <a:prstGeom prst="rect">
            <a:avLst/>
          </a:prstGeom>
          <a:noFill/>
        </p:spPr>
        <p:txBody>
          <a:bodyPr wrap="square" anchor="t" lIns="0" rIns="0" tIns="0" bIns="0">
            <a:noAutofit/>
          </a:bodyPr>
          <a:lstStyle/>
          <a:p>
            <a:pPr algn="l">
              <a:lnSpc>
                <a:spcPct val="112000"/>
              </a:lnSpc>
              <a:spcAft>
                <a:spcPts val="0"/>
              </a:spcAft>
            </a:pPr>
            <a:r>
              <a:rPr sz="900" b="1" i="0">
                <a:solidFill>
                  <a:srgbClr val="A64B39"/>
                </a:solidFill>
                <a:latin typeface="Calibri"/>
              </a:rPr>
              <a:t>03</a:t>
            </a:r>
          </a:p>
        </p:txBody>
      </p:sp>
      <p:sp>
        <p:nvSpPr>
          <p:cNvPr id="32" name="TextBox 31"/>
          <p:cNvSpPr txBox="1"/>
          <p:nvPr/>
        </p:nvSpPr>
        <p:spPr>
          <a:xfrm>
            <a:off x="8284463" y="2286000"/>
            <a:ext cx="3154680" cy="45720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Feedback after the fact</a:t>
            </a:r>
          </a:p>
        </p:txBody>
      </p:sp>
      <p:sp>
        <p:nvSpPr>
          <p:cNvPr id="33" name="TextBox 32"/>
          <p:cNvSpPr txBox="1"/>
          <p:nvPr/>
        </p:nvSpPr>
        <p:spPr>
          <a:xfrm>
            <a:off x="8284463" y="2761488"/>
            <a:ext cx="3182112" cy="548640"/>
          </a:xfrm>
          <a:prstGeom prst="rect">
            <a:avLst/>
          </a:prstGeom>
          <a:noFill/>
        </p:spPr>
        <p:txBody>
          <a:bodyPr wrap="square" anchor="t" lIns="0" rIns="0" tIns="0" bIns="0">
            <a:noAutofit/>
          </a:bodyPr>
          <a:lstStyle/>
          <a:p>
            <a:pPr algn="l">
              <a:lnSpc>
                <a:spcPct val="124000"/>
              </a:lnSpc>
              <a:spcAft>
                <a:spcPts val="0"/>
              </a:spcAft>
            </a:pPr>
            <a:r>
              <a:rPr sz="980" b="0" i="0">
                <a:solidFill>
                  <a:srgbClr val="3D4A5C"/>
                </a:solidFill>
                <a:latin typeface="Calibri"/>
              </a:rPr>
              <a:t>Progress becomes visible only when marks arrive. Misconceptions survive weeks of practice unchallenged.</a:t>
            </a:r>
          </a:p>
        </p:txBody>
      </p:sp>
      <p:sp>
        <p:nvSpPr>
          <p:cNvPr id="34" name="TextBox 33"/>
          <p:cNvSpPr txBox="1"/>
          <p:nvPr/>
        </p:nvSpPr>
        <p:spPr>
          <a:xfrm>
            <a:off x="8284463" y="3346704"/>
            <a:ext cx="3154680" cy="457200"/>
          </a:xfrm>
          <a:prstGeom prst="rect">
            <a:avLst/>
          </a:prstGeom>
          <a:noFill/>
        </p:spPr>
        <p:txBody>
          <a:bodyPr wrap="square" anchor="t" lIns="0" rIns="0" tIns="0" bIns="0">
            <a:noAutofit/>
          </a:bodyPr>
          <a:lstStyle/>
          <a:p>
            <a:pPr algn="l">
              <a:lnSpc>
                <a:spcPct val="118000"/>
              </a:lnSpc>
              <a:spcAft>
                <a:spcPts val="0"/>
              </a:spcAft>
            </a:pPr>
            <a:r>
              <a:rPr sz="869" b="0" i="1">
                <a:solidFill>
                  <a:srgbClr val="77859A"/>
                </a:solidFill>
                <a:latin typeface="Calibri"/>
              </a:rPr>
              <a:t>A wrong method is repeated until the mock exam.</a:t>
            </a:r>
          </a:p>
        </p:txBody>
      </p:sp>
      <p:sp>
        <p:nvSpPr>
          <p:cNvPr id="35" name="Rectangle 34"/>
          <p:cNvSpPr/>
          <p:nvPr/>
        </p:nvSpPr>
        <p:spPr>
          <a:xfrm>
            <a:off x="8284463" y="3977639"/>
            <a:ext cx="3127248" cy="7315"/>
          </a:xfrm>
          <a:prstGeom prst="rect">
            <a:avLst/>
          </a:prstGeom>
          <a:solidFill>
            <a:srgbClr val="DCE4EA"/>
          </a:solidFill>
          <a:ln>
            <a:noFill/>
          </a:ln>
          <a:effectLst/>
        </p:spPr>
        <p:txBody>
          <a:bodyPr rtlCol="0" anchor="ctr" wrap="square"/>
          <a:lstStyle/>
          <a:p>
            <a:pPr algn="ctr"/>
          </a:p>
        </p:txBody>
      </p:sp>
      <p:sp>
        <p:nvSpPr>
          <p:cNvPr id="36" name="TextBox 35"/>
          <p:cNvSpPr txBox="1"/>
          <p:nvPr/>
        </p:nvSpPr>
        <p:spPr>
          <a:xfrm>
            <a:off x="8284463" y="4059936"/>
            <a:ext cx="3108960" cy="182880"/>
          </a:xfrm>
          <a:prstGeom prst="rect">
            <a:avLst/>
          </a:prstGeom>
          <a:noFill/>
        </p:spPr>
        <p:txBody>
          <a:bodyPr wrap="square" anchor="t" lIns="0" rIns="0" tIns="0" bIns="0">
            <a:noAutofit/>
          </a:bodyPr>
          <a:lstStyle/>
          <a:p>
            <a:pPr algn="l">
              <a:lnSpc>
                <a:spcPct val="112000"/>
              </a:lnSpc>
              <a:spcAft>
                <a:spcPts val="0"/>
              </a:spcAft>
            </a:pPr>
            <a:r>
              <a:rPr sz="720" b="1" i="0">
                <a:solidFill>
                  <a:srgbClr val="77859A"/>
                </a:solidFill>
                <a:latin typeface="Calibri"/>
              </a:rPr>
              <a:t>COST TO THE STUDENT</a:t>
            </a:r>
          </a:p>
        </p:txBody>
      </p:sp>
      <p:sp>
        <p:nvSpPr>
          <p:cNvPr id="37" name="TextBox 36"/>
          <p:cNvSpPr txBox="1"/>
          <p:nvPr/>
        </p:nvSpPr>
        <p:spPr>
          <a:xfrm>
            <a:off x="8284463" y="4224528"/>
            <a:ext cx="3108960" cy="457200"/>
          </a:xfrm>
          <a:prstGeom prst="rect">
            <a:avLst/>
          </a:prstGeom>
          <a:noFill/>
        </p:spPr>
        <p:txBody>
          <a:bodyPr wrap="square" anchor="t" lIns="0" rIns="0" tIns="0" bIns="0">
            <a:noAutofit/>
          </a:bodyPr>
          <a:lstStyle/>
          <a:p>
            <a:pPr algn="l">
              <a:lnSpc>
                <a:spcPct val="115000"/>
              </a:lnSpc>
              <a:spcAft>
                <a:spcPts val="0"/>
              </a:spcAft>
            </a:pPr>
            <a:r>
              <a:rPr sz="940" b="1" i="0">
                <a:solidFill>
                  <a:srgbClr val="A64B39"/>
                </a:solidFill>
                <a:latin typeface="Calibri"/>
              </a:rPr>
              <a:t>The same mistakes repeat.</a:t>
            </a:r>
          </a:p>
        </p:txBody>
      </p:sp>
      <p:sp>
        <p:nvSpPr>
          <p:cNvPr id="38" name="Rounded Rectangle 37"/>
          <p:cNvSpPr/>
          <p:nvPr/>
        </p:nvSpPr>
        <p:spPr>
          <a:xfrm>
            <a:off x="566928" y="5074920"/>
            <a:ext cx="11064240" cy="1024128"/>
          </a:xfrm>
          <a:prstGeom prst="roundRect">
            <a:avLst>
              <a:gd name="adj" fmla="val 6000"/>
            </a:avLst>
          </a:prstGeom>
          <a:solidFill>
            <a:srgbClr val="F5F8FA"/>
          </a:solidFill>
          <a:ln w="9525">
            <a:solidFill>
              <a:srgbClr val="DCE4EA"/>
            </a:solidFill>
          </a:ln>
          <a:effectLst/>
        </p:spPr>
        <p:txBody>
          <a:bodyPr rtlCol="0" anchor="ctr" wrap="square"/>
          <a:lstStyle/>
          <a:p>
            <a:pPr algn="ctr"/>
          </a:p>
        </p:txBody>
      </p:sp>
      <p:sp>
        <p:nvSpPr>
          <p:cNvPr id="39" name="TextBox 38"/>
          <p:cNvSpPr txBox="1"/>
          <p:nvPr/>
        </p:nvSpPr>
        <p:spPr>
          <a:xfrm>
            <a:off x="786384" y="5230368"/>
            <a:ext cx="21945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DESIGN IMPLICATION</a:t>
            </a:r>
          </a:p>
        </p:txBody>
      </p:sp>
      <p:sp>
        <p:nvSpPr>
          <p:cNvPr id="40" name="TextBox 39"/>
          <p:cNvSpPr txBox="1"/>
          <p:nvPr/>
        </p:nvSpPr>
        <p:spPr>
          <a:xfrm>
            <a:off x="786384" y="5431536"/>
            <a:ext cx="2148840" cy="457200"/>
          </a:xfrm>
          <a:prstGeom prst="rect">
            <a:avLst/>
          </a:prstGeom>
          <a:noFill/>
        </p:spPr>
        <p:txBody>
          <a:bodyPr wrap="square" anchor="t" lIns="0" rIns="0" tIns="0" bIns="0">
            <a:noAutofit/>
          </a:bodyPr>
          <a:lstStyle/>
          <a:p>
            <a:pPr algn="l">
              <a:lnSpc>
                <a:spcPct val="120000"/>
              </a:lnSpc>
              <a:spcAft>
                <a:spcPts val="0"/>
              </a:spcAft>
            </a:pPr>
            <a:r>
              <a:rPr sz="950" b="0" i="0">
                <a:solidFill>
                  <a:srgbClr val="3D4A5C"/>
                </a:solidFill>
                <a:latin typeface="Calibri"/>
              </a:rPr>
              <a:t>Three failures define</a:t>
            </a:r>
          </a:p>
          <a:p>
            <a:pPr algn="l">
              <a:lnSpc>
                <a:spcPct val="120000"/>
              </a:lnSpc>
              <a:spcAft>
                <a:spcPts val="0"/>
              </a:spcAft>
            </a:pPr>
            <a:r>
              <a:rPr sz="950" b="0" i="0">
                <a:solidFill>
                  <a:srgbClr val="3D4A5C"/>
                </a:solidFill>
                <a:latin typeface="Calibri"/>
              </a:rPr>
              <a:t>the requirements.</a:t>
            </a:r>
          </a:p>
        </p:txBody>
      </p:sp>
      <p:sp>
        <p:nvSpPr>
          <p:cNvPr id="41" name="TextBox 40"/>
          <p:cNvSpPr txBox="1"/>
          <p:nvPr/>
        </p:nvSpPr>
        <p:spPr>
          <a:xfrm>
            <a:off x="3017520" y="5294376"/>
            <a:ext cx="2514600" cy="219456"/>
          </a:xfrm>
          <a:prstGeom prst="rect">
            <a:avLst/>
          </a:prstGeom>
          <a:noFill/>
        </p:spPr>
        <p:txBody>
          <a:bodyPr wrap="square" anchor="t" lIns="0" rIns="0" tIns="0" bIns="0">
            <a:noAutofit/>
          </a:bodyPr>
          <a:lstStyle/>
          <a:p>
            <a:pPr algn="l">
              <a:lnSpc>
                <a:spcPct val="112000"/>
              </a:lnSpc>
              <a:spcAft>
                <a:spcPts val="0"/>
              </a:spcAft>
            </a:pPr>
            <a:r>
              <a:rPr sz="1019" b="1" i="0">
                <a:solidFill>
                  <a:srgbClr val="152238"/>
                </a:solidFill>
                <a:latin typeface="Calibri"/>
              </a:rPr>
              <a:t>One workspace</a:t>
            </a:r>
          </a:p>
        </p:txBody>
      </p:sp>
      <p:sp>
        <p:nvSpPr>
          <p:cNvPr id="42" name="TextBox 41"/>
          <p:cNvSpPr txBox="1"/>
          <p:nvPr/>
        </p:nvSpPr>
        <p:spPr>
          <a:xfrm>
            <a:off x="3017520" y="5522976"/>
            <a:ext cx="2514600" cy="201168"/>
          </a:xfrm>
          <a:prstGeom prst="rect">
            <a:avLst/>
          </a:prstGeom>
          <a:noFill/>
        </p:spPr>
        <p:txBody>
          <a:bodyPr wrap="square" anchor="t" lIns="0" rIns="0" tIns="0" bIns="0">
            <a:noAutofit/>
          </a:bodyPr>
          <a:lstStyle/>
          <a:p>
            <a:pPr algn="l">
              <a:lnSpc>
                <a:spcPct val="112000"/>
              </a:lnSpc>
              <a:spcAft>
                <a:spcPts val="0"/>
              </a:spcAft>
            </a:pPr>
            <a:r>
              <a:rPr sz="860" b="0" i="0">
                <a:solidFill>
                  <a:srgbClr val="77859A"/>
                </a:solidFill>
                <a:latin typeface="Calibri"/>
              </a:rPr>
              <a:t>context survives</a:t>
            </a:r>
          </a:p>
        </p:txBody>
      </p:sp>
      <p:cxnSp>
        <p:nvCxnSpPr>
          <p:cNvPr id="43" name="Connector 42"/>
          <p:cNvCxnSpPr/>
          <p:nvPr/>
        </p:nvCxnSpPr>
        <p:spPr>
          <a:xfrm>
            <a:off x="5623559" y="5586984"/>
            <a:ext cx="237744" cy="0"/>
          </a:xfrm>
          <a:prstGeom prst="line">
            <a:avLst/>
          </a:prstGeom>
          <a:ln w="1651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97879" y="5294376"/>
            <a:ext cx="2514600" cy="219456"/>
          </a:xfrm>
          <a:prstGeom prst="rect">
            <a:avLst/>
          </a:prstGeom>
          <a:noFill/>
        </p:spPr>
        <p:txBody>
          <a:bodyPr wrap="square" anchor="t" lIns="0" rIns="0" tIns="0" bIns="0">
            <a:noAutofit/>
          </a:bodyPr>
          <a:lstStyle/>
          <a:p>
            <a:pPr algn="l">
              <a:lnSpc>
                <a:spcPct val="112000"/>
              </a:lnSpc>
              <a:spcAft>
                <a:spcPts val="0"/>
              </a:spcAft>
            </a:pPr>
            <a:r>
              <a:rPr sz="1019" b="1" i="0">
                <a:solidFill>
                  <a:srgbClr val="152238"/>
                </a:solidFill>
                <a:latin typeface="Calibri"/>
              </a:rPr>
              <a:t>A plan that recomputes</a:t>
            </a:r>
          </a:p>
        </p:txBody>
      </p:sp>
      <p:sp>
        <p:nvSpPr>
          <p:cNvPr id="45" name="TextBox 44"/>
          <p:cNvSpPr txBox="1"/>
          <p:nvPr/>
        </p:nvSpPr>
        <p:spPr>
          <a:xfrm>
            <a:off x="5897879" y="5522976"/>
            <a:ext cx="2514600" cy="201168"/>
          </a:xfrm>
          <a:prstGeom prst="rect">
            <a:avLst/>
          </a:prstGeom>
          <a:noFill/>
        </p:spPr>
        <p:txBody>
          <a:bodyPr wrap="square" anchor="t" lIns="0" rIns="0" tIns="0" bIns="0">
            <a:noAutofit/>
          </a:bodyPr>
          <a:lstStyle/>
          <a:p>
            <a:pPr algn="l">
              <a:lnSpc>
                <a:spcPct val="112000"/>
              </a:lnSpc>
              <a:spcAft>
                <a:spcPts val="0"/>
              </a:spcAft>
            </a:pPr>
            <a:r>
              <a:rPr sz="860" b="0" i="0">
                <a:solidFill>
                  <a:srgbClr val="77859A"/>
                </a:solidFill>
                <a:latin typeface="Calibri"/>
              </a:rPr>
              <a:t>from real evidence</a:t>
            </a:r>
          </a:p>
        </p:txBody>
      </p:sp>
      <p:cxnSp>
        <p:nvCxnSpPr>
          <p:cNvPr id="46" name="Connector 45"/>
          <p:cNvCxnSpPr/>
          <p:nvPr/>
        </p:nvCxnSpPr>
        <p:spPr>
          <a:xfrm>
            <a:off x="8503919" y="5586984"/>
            <a:ext cx="237745" cy="0"/>
          </a:xfrm>
          <a:prstGeom prst="line">
            <a:avLst/>
          </a:prstGeom>
          <a:ln w="1651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778240" y="5294376"/>
            <a:ext cx="2514600" cy="219456"/>
          </a:xfrm>
          <a:prstGeom prst="rect">
            <a:avLst/>
          </a:prstGeom>
          <a:noFill/>
        </p:spPr>
        <p:txBody>
          <a:bodyPr wrap="square" anchor="t" lIns="0" rIns="0" tIns="0" bIns="0">
            <a:noAutofit/>
          </a:bodyPr>
          <a:lstStyle/>
          <a:p>
            <a:pPr algn="l">
              <a:lnSpc>
                <a:spcPct val="112000"/>
              </a:lnSpc>
              <a:spcAft>
                <a:spcPts val="0"/>
              </a:spcAft>
            </a:pPr>
            <a:r>
              <a:rPr sz="1019" b="1" i="0">
                <a:solidFill>
                  <a:srgbClr val="152238"/>
                </a:solidFill>
                <a:latin typeface="Calibri"/>
              </a:rPr>
              <a:t>Measurement inside practice</a:t>
            </a:r>
          </a:p>
        </p:txBody>
      </p:sp>
      <p:sp>
        <p:nvSpPr>
          <p:cNvPr id="48" name="TextBox 47"/>
          <p:cNvSpPr txBox="1"/>
          <p:nvPr/>
        </p:nvSpPr>
        <p:spPr>
          <a:xfrm>
            <a:off x="8778240" y="5522976"/>
            <a:ext cx="2514600" cy="201168"/>
          </a:xfrm>
          <a:prstGeom prst="rect">
            <a:avLst/>
          </a:prstGeom>
          <a:noFill/>
        </p:spPr>
        <p:txBody>
          <a:bodyPr wrap="square" anchor="t" lIns="0" rIns="0" tIns="0" bIns="0">
            <a:noAutofit/>
          </a:bodyPr>
          <a:lstStyle/>
          <a:p>
            <a:pPr algn="l">
              <a:lnSpc>
                <a:spcPct val="112000"/>
              </a:lnSpc>
              <a:spcAft>
                <a:spcPts val="0"/>
              </a:spcAft>
            </a:pPr>
            <a:r>
              <a:rPr sz="860" b="0" i="0">
                <a:solidFill>
                  <a:srgbClr val="77859A"/>
                </a:solidFill>
                <a:latin typeface="Calibri"/>
              </a:rPr>
              <a:t>not after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03 · OBJECTIVES</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Four objectives, each tied to something observable</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Scope was deliberately narrow: the individual study loop for a CSE undergraduate — not institutional administration.</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FOUNDATIONS</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05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Oval 10"/>
          <p:cNvSpPr/>
          <p:nvPr/>
        </p:nvSpPr>
        <p:spPr>
          <a:xfrm>
            <a:off x="585216" y="1865376"/>
            <a:ext cx="384048" cy="384048"/>
          </a:xfrm>
          <a:prstGeom prst="ellipse">
            <a:avLst/>
          </a:prstGeom>
          <a:solidFill>
            <a:srgbClr val="E6F2F2"/>
          </a:solidFill>
          <a:ln>
            <a:noFill/>
          </a:ln>
          <a:effectLst/>
        </p:spPr>
        <p:txBody>
          <a:bodyPr rtlCol="0" anchor="ctr" lIns="0" rIns="0" tIns="0" bIns="0"/>
          <a:lstStyle/>
          <a:p>
            <a:pPr algn="ctr"/>
            <a:r>
              <a:rPr sz="900" b="1">
                <a:solidFill>
                  <a:srgbClr val="0F7A82"/>
                </a:solidFill>
                <a:latin typeface="Calibri"/>
              </a:rPr>
              <a:t>01</a:t>
            </a:r>
          </a:p>
        </p:txBody>
      </p:sp>
      <p:sp>
        <p:nvSpPr>
          <p:cNvPr id="12" name="TextBox 11"/>
          <p:cNvSpPr txBox="1"/>
          <p:nvPr/>
        </p:nvSpPr>
        <p:spPr>
          <a:xfrm>
            <a:off x="1133856" y="1810512"/>
            <a:ext cx="6583680" cy="256032"/>
          </a:xfrm>
          <a:prstGeom prst="rect">
            <a:avLst/>
          </a:prstGeom>
          <a:noFill/>
        </p:spPr>
        <p:txBody>
          <a:bodyPr wrap="square" anchor="t" lIns="0" rIns="0" tIns="0" bIns="0">
            <a:noAutofit/>
          </a:bodyPr>
          <a:lstStyle/>
          <a:p>
            <a:pPr algn="l">
              <a:lnSpc>
                <a:spcPct val="112000"/>
              </a:lnSpc>
              <a:spcAft>
                <a:spcPts val="0"/>
              </a:spcAft>
            </a:pPr>
            <a:r>
              <a:rPr sz="1300" b="1" i="0">
                <a:solidFill>
                  <a:srgbClr val="152238"/>
                </a:solidFill>
                <a:latin typeface="Calibri"/>
              </a:rPr>
              <a:t>Make planning adaptive</a:t>
            </a:r>
          </a:p>
        </p:txBody>
      </p:sp>
      <p:sp>
        <p:nvSpPr>
          <p:cNvPr id="13" name="TextBox 12"/>
          <p:cNvSpPr txBox="1"/>
          <p:nvPr/>
        </p:nvSpPr>
        <p:spPr>
          <a:xfrm>
            <a:off x="1133856" y="2084831"/>
            <a:ext cx="6629400" cy="411480"/>
          </a:xfrm>
          <a:prstGeom prst="rect">
            <a:avLst/>
          </a:prstGeom>
          <a:noFill/>
        </p:spPr>
        <p:txBody>
          <a:bodyPr wrap="square" anchor="t" lIns="0" rIns="0" tIns="0" bIns="0">
            <a:noAutofit/>
          </a:bodyPr>
          <a:lstStyle/>
          <a:p>
            <a:pPr algn="l">
              <a:lnSpc>
                <a:spcPct val="118000"/>
              </a:lnSpc>
              <a:spcAft>
                <a:spcPts val="0"/>
              </a:spcAft>
            </a:pPr>
            <a:r>
              <a:rPr sz="1019" b="0" i="0">
                <a:solidFill>
                  <a:srgbClr val="3D4A5C"/>
                </a:solidFill>
                <a:latin typeface="Calibri"/>
              </a:rPr>
              <a:t>Regenerate the schedule from exam date, topic difficulty and weak scores.</a:t>
            </a:r>
          </a:p>
        </p:txBody>
      </p:sp>
      <p:sp>
        <p:nvSpPr>
          <p:cNvPr id="14" name="TextBox 13"/>
          <p:cNvSpPr txBox="1"/>
          <p:nvPr/>
        </p:nvSpPr>
        <p:spPr>
          <a:xfrm>
            <a:off x="1133856" y="2468880"/>
            <a:ext cx="6583680" cy="182880"/>
          </a:xfrm>
          <a:prstGeom prst="rect">
            <a:avLst/>
          </a:prstGeom>
          <a:noFill/>
        </p:spPr>
        <p:txBody>
          <a:bodyPr wrap="square" anchor="t" lIns="0" rIns="0" tIns="0" bIns="0">
            <a:noAutofit/>
          </a:bodyPr>
          <a:lstStyle/>
          <a:p>
            <a:pPr algn="l">
              <a:lnSpc>
                <a:spcPct val="112000"/>
              </a:lnSpc>
              <a:spcAft>
                <a:spcPts val="0"/>
              </a:spcAft>
            </a:pPr>
            <a:r>
              <a:rPr sz="840" b="1" i="0">
                <a:solidFill>
                  <a:srgbClr val="0F7A82"/>
                </a:solidFill>
                <a:latin typeface="Calibri"/>
              </a:rPr>
              <a:t>Measured by  ·  A plan that visibly changes after practice.</a:t>
            </a:r>
          </a:p>
        </p:txBody>
      </p:sp>
      <p:sp>
        <p:nvSpPr>
          <p:cNvPr id="15" name="Rectangle 14"/>
          <p:cNvSpPr/>
          <p:nvPr/>
        </p:nvSpPr>
        <p:spPr>
          <a:xfrm>
            <a:off x="1133856" y="2706624"/>
            <a:ext cx="6583680" cy="7315"/>
          </a:xfrm>
          <a:prstGeom prst="rect">
            <a:avLst/>
          </a:prstGeom>
          <a:solidFill>
            <a:srgbClr val="DCE4EA"/>
          </a:solidFill>
          <a:ln>
            <a:noFill/>
          </a:ln>
          <a:effectLst/>
        </p:spPr>
        <p:txBody>
          <a:bodyPr rtlCol="0" anchor="ctr" wrap="square"/>
          <a:lstStyle/>
          <a:p>
            <a:pPr algn="ctr"/>
          </a:p>
        </p:txBody>
      </p:sp>
      <p:sp>
        <p:nvSpPr>
          <p:cNvPr id="16" name="Oval 15"/>
          <p:cNvSpPr/>
          <p:nvPr/>
        </p:nvSpPr>
        <p:spPr>
          <a:xfrm>
            <a:off x="585216" y="2825496"/>
            <a:ext cx="384048" cy="384048"/>
          </a:xfrm>
          <a:prstGeom prst="ellipse">
            <a:avLst/>
          </a:prstGeom>
          <a:solidFill>
            <a:srgbClr val="E6F2F2"/>
          </a:solidFill>
          <a:ln>
            <a:noFill/>
          </a:ln>
          <a:effectLst/>
        </p:spPr>
        <p:txBody>
          <a:bodyPr rtlCol="0" anchor="ctr" lIns="0" rIns="0" tIns="0" bIns="0"/>
          <a:lstStyle/>
          <a:p>
            <a:pPr algn="ctr"/>
            <a:r>
              <a:rPr sz="900" b="1">
                <a:solidFill>
                  <a:srgbClr val="0F7A82"/>
                </a:solidFill>
                <a:latin typeface="Calibri"/>
              </a:rPr>
              <a:t>02</a:t>
            </a:r>
          </a:p>
        </p:txBody>
      </p:sp>
      <p:sp>
        <p:nvSpPr>
          <p:cNvPr id="17" name="TextBox 16"/>
          <p:cNvSpPr txBox="1"/>
          <p:nvPr/>
        </p:nvSpPr>
        <p:spPr>
          <a:xfrm>
            <a:off x="1133856" y="2770632"/>
            <a:ext cx="6583680" cy="256032"/>
          </a:xfrm>
          <a:prstGeom prst="rect">
            <a:avLst/>
          </a:prstGeom>
          <a:noFill/>
        </p:spPr>
        <p:txBody>
          <a:bodyPr wrap="square" anchor="t" lIns="0" rIns="0" tIns="0" bIns="0">
            <a:noAutofit/>
          </a:bodyPr>
          <a:lstStyle/>
          <a:p>
            <a:pPr algn="l">
              <a:lnSpc>
                <a:spcPct val="112000"/>
              </a:lnSpc>
              <a:spcAft>
                <a:spcPts val="0"/>
              </a:spcAft>
            </a:pPr>
            <a:r>
              <a:rPr sz="1300" b="1" i="0">
                <a:solidFill>
                  <a:srgbClr val="152238"/>
                </a:solidFill>
                <a:latin typeface="Calibri"/>
              </a:rPr>
              <a:t>Turn source material into study assets</a:t>
            </a:r>
          </a:p>
        </p:txBody>
      </p:sp>
      <p:sp>
        <p:nvSpPr>
          <p:cNvPr id="18" name="TextBox 17"/>
          <p:cNvSpPr txBox="1"/>
          <p:nvPr/>
        </p:nvSpPr>
        <p:spPr>
          <a:xfrm>
            <a:off x="1133856" y="3044952"/>
            <a:ext cx="6629400" cy="411480"/>
          </a:xfrm>
          <a:prstGeom prst="rect">
            <a:avLst/>
          </a:prstGeom>
          <a:noFill/>
        </p:spPr>
        <p:txBody>
          <a:bodyPr wrap="square" anchor="t" lIns="0" rIns="0" tIns="0" bIns="0">
            <a:noAutofit/>
          </a:bodyPr>
          <a:lstStyle/>
          <a:p>
            <a:pPr algn="l">
              <a:lnSpc>
                <a:spcPct val="118000"/>
              </a:lnSpc>
              <a:spcAft>
                <a:spcPts val="0"/>
              </a:spcAft>
            </a:pPr>
            <a:r>
              <a:rPr sz="1019" b="0" i="0">
                <a:solidFill>
                  <a:srgbClr val="3D4A5C"/>
                </a:solidFill>
                <a:latin typeface="Calibri"/>
              </a:rPr>
              <a:t>Generate notes, diagrams, questions and flashcards from a syllabus or an imported PDF.</a:t>
            </a:r>
          </a:p>
        </p:txBody>
      </p:sp>
      <p:sp>
        <p:nvSpPr>
          <p:cNvPr id="19" name="TextBox 18"/>
          <p:cNvSpPr txBox="1"/>
          <p:nvPr/>
        </p:nvSpPr>
        <p:spPr>
          <a:xfrm>
            <a:off x="1133856" y="3429000"/>
            <a:ext cx="6583680" cy="182880"/>
          </a:xfrm>
          <a:prstGeom prst="rect">
            <a:avLst/>
          </a:prstGeom>
          <a:noFill/>
        </p:spPr>
        <p:txBody>
          <a:bodyPr wrap="square" anchor="t" lIns="0" rIns="0" tIns="0" bIns="0">
            <a:noAutofit/>
          </a:bodyPr>
          <a:lstStyle/>
          <a:p>
            <a:pPr algn="l">
              <a:lnSpc>
                <a:spcPct val="112000"/>
              </a:lnSpc>
              <a:spcAft>
                <a:spcPts val="0"/>
              </a:spcAft>
            </a:pPr>
            <a:r>
              <a:rPr sz="840" b="1" i="0">
                <a:solidFill>
                  <a:srgbClr val="0F7A82"/>
                </a:solidFill>
                <a:latin typeface="Calibri"/>
              </a:rPr>
              <a:t>Measured by  ·  Artefacts created and stored inside the app.</a:t>
            </a:r>
          </a:p>
        </p:txBody>
      </p:sp>
      <p:sp>
        <p:nvSpPr>
          <p:cNvPr id="20" name="Rectangle 19"/>
          <p:cNvSpPr/>
          <p:nvPr/>
        </p:nvSpPr>
        <p:spPr>
          <a:xfrm>
            <a:off x="1133856" y="3666744"/>
            <a:ext cx="6583680" cy="7315"/>
          </a:xfrm>
          <a:prstGeom prst="rect">
            <a:avLst/>
          </a:prstGeom>
          <a:solidFill>
            <a:srgbClr val="DCE4EA"/>
          </a:solidFill>
          <a:ln>
            <a:noFill/>
          </a:ln>
          <a:effectLst/>
        </p:spPr>
        <p:txBody>
          <a:bodyPr rtlCol="0" anchor="ctr" wrap="square"/>
          <a:lstStyle/>
          <a:p>
            <a:pPr algn="ctr"/>
          </a:p>
        </p:txBody>
      </p:sp>
      <p:sp>
        <p:nvSpPr>
          <p:cNvPr id="21" name="Oval 20"/>
          <p:cNvSpPr/>
          <p:nvPr/>
        </p:nvSpPr>
        <p:spPr>
          <a:xfrm>
            <a:off x="585216" y="3785615"/>
            <a:ext cx="384048" cy="384048"/>
          </a:xfrm>
          <a:prstGeom prst="ellipse">
            <a:avLst/>
          </a:prstGeom>
          <a:solidFill>
            <a:srgbClr val="E6F2F2"/>
          </a:solidFill>
          <a:ln>
            <a:noFill/>
          </a:ln>
          <a:effectLst/>
        </p:spPr>
        <p:txBody>
          <a:bodyPr rtlCol="0" anchor="ctr" lIns="0" rIns="0" tIns="0" bIns="0"/>
          <a:lstStyle/>
          <a:p>
            <a:pPr algn="ctr"/>
            <a:r>
              <a:rPr sz="900" b="1">
                <a:solidFill>
                  <a:srgbClr val="0F7A82"/>
                </a:solidFill>
                <a:latin typeface="Calibri"/>
              </a:rPr>
              <a:t>03</a:t>
            </a:r>
          </a:p>
        </p:txBody>
      </p:sp>
      <p:sp>
        <p:nvSpPr>
          <p:cNvPr id="22" name="TextBox 21"/>
          <p:cNvSpPr txBox="1"/>
          <p:nvPr/>
        </p:nvSpPr>
        <p:spPr>
          <a:xfrm>
            <a:off x="1133856" y="3730752"/>
            <a:ext cx="6583680" cy="256032"/>
          </a:xfrm>
          <a:prstGeom prst="rect">
            <a:avLst/>
          </a:prstGeom>
          <a:noFill/>
        </p:spPr>
        <p:txBody>
          <a:bodyPr wrap="square" anchor="t" lIns="0" rIns="0" tIns="0" bIns="0">
            <a:noAutofit/>
          </a:bodyPr>
          <a:lstStyle/>
          <a:p>
            <a:pPr algn="l">
              <a:lnSpc>
                <a:spcPct val="112000"/>
              </a:lnSpc>
              <a:spcAft>
                <a:spcPts val="0"/>
              </a:spcAft>
            </a:pPr>
            <a:r>
              <a:rPr sz="1300" b="1" i="0">
                <a:solidFill>
                  <a:srgbClr val="152238"/>
                </a:solidFill>
                <a:latin typeface="Calibri"/>
              </a:rPr>
              <a:t>Measure understanding continuously</a:t>
            </a:r>
          </a:p>
        </p:txBody>
      </p:sp>
      <p:sp>
        <p:nvSpPr>
          <p:cNvPr id="23" name="TextBox 22"/>
          <p:cNvSpPr txBox="1"/>
          <p:nvPr/>
        </p:nvSpPr>
        <p:spPr>
          <a:xfrm>
            <a:off x="1133856" y="4005072"/>
            <a:ext cx="6629400" cy="411480"/>
          </a:xfrm>
          <a:prstGeom prst="rect">
            <a:avLst/>
          </a:prstGeom>
          <a:noFill/>
        </p:spPr>
        <p:txBody>
          <a:bodyPr wrap="square" anchor="t" lIns="0" rIns="0" tIns="0" bIns="0">
            <a:noAutofit/>
          </a:bodyPr>
          <a:lstStyle/>
          <a:p>
            <a:pPr algn="l">
              <a:lnSpc>
                <a:spcPct val="118000"/>
              </a:lnSpc>
              <a:spcAft>
                <a:spcPts val="0"/>
              </a:spcAft>
            </a:pPr>
            <a:r>
              <a:rPr sz="1019" b="0" i="0">
                <a:solidFill>
                  <a:srgbClr val="3D4A5C"/>
                </a:solidFill>
                <a:latin typeface="Calibri"/>
              </a:rPr>
              <a:t>Score every attempt and expose weak topics rather than a single average.</a:t>
            </a:r>
          </a:p>
        </p:txBody>
      </p:sp>
      <p:sp>
        <p:nvSpPr>
          <p:cNvPr id="24" name="TextBox 23"/>
          <p:cNvSpPr txBox="1"/>
          <p:nvPr/>
        </p:nvSpPr>
        <p:spPr>
          <a:xfrm>
            <a:off x="1133856" y="4389120"/>
            <a:ext cx="6583680" cy="182880"/>
          </a:xfrm>
          <a:prstGeom prst="rect">
            <a:avLst/>
          </a:prstGeom>
          <a:noFill/>
        </p:spPr>
        <p:txBody>
          <a:bodyPr wrap="square" anchor="t" lIns="0" rIns="0" tIns="0" bIns="0">
            <a:noAutofit/>
          </a:bodyPr>
          <a:lstStyle/>
          <a:p>
            <a:pPr algn="l">
              <a:lnSpc>
                <a:spcPct val="112000"/>
              </a:lnSpc>
              <a:spcAft>
                <a:spcPts val="0"/>
              </a:spcAft>
            </a:pPr>
            <a:r>
              <a:rPr sz="840" b="1" i="0">
                <a:solidFill>
                  <a:srgbClr val="0F7A82"/>
                </a:solidFill>
                <a:latin typeface="Calibri"/>
              </a:rPr>
              <a:t>Measured by  ·  A 0–100 weakness score per topic.</a:t>
            </a:r>
          </a:p>
        </p:txBody>
      </p:sp>
      <p:sp>
        <p:nvSpPr>
          <p:cNvPr id="25" name="Rectangle 24"/>
          <p:cNvSpPr/>
          <p:nvPr/>
        </p:nvSpPr>
        <p:spPr>
          <a:xfrm>
            <a:off x="1133856" y="4626864"/>
            <a:ext cx="6583680" cy="7315"/>
          </a:xfrm>
          <a:prstGeom prst="rect">
            <a:avLst/>
          </a:prstGeom>
          <a:solidFill>
            <a:srgbClr val="DCE4EA"/>
          </a:solidFill>
          <a:ln>
            <a:noFill/>
          </a:ln>
          <a:effectLst/>
        </p:spPr>
        <p:txBody>
          <a:bodyPr rtlCol="0" anchor="ctr" wrap="square"/>
          <a:lstStyle/>
          <a:p>
            <a:pPr algn="ctr"/>
          </a:p>
        </p:txBody>
      </p:sp>
      <p:sp>
        <p:nvSpPr>
          <p:cNvPr id="26" name="Oval 25"/>
          <p:cNvSpPr/>
          <p:nvPr/>
        </p:nvSpPr>
        <p:spPr>
          <a:xfrm>
            <a:off x="585216" y="4745736"/>
            <a:ext cx="384048" cy="384048"/>
          </a:xfrm>
          <a:prstGeom prst="ellipse">
            <a:avLst/>
          </a:prstGeom>
          <a:solidFill>
            <a:srgbClr val="E6F2F2"/>
          </a:solidFill>
          <a:ln>
            <a:noFill/>
          </a:ln>
          <a:effectLst/>
        </p:spPr>
        <p:txBody>
          <a:bodyPr rtlCol="0" anchor="ctr" lIns="0" rIns="0" tIns="0" bIns="0"/>
          <a:lstStyle/>
          <a:p>
            <a:pPr algn="ctr"/>
            <a:r>
              <a:rPr sz="900" b="1">
                <a:solidFill>
                  <a:srgbClr val="0F7A82"/>
                </a:solidFill>
                <a:latin typeface="Calibri"/>
              </a:rPr>
              <a:t>04</a:t>
            </a:r>
          </a:p>
        </p:txBody>
      </p:sp>
      <p:sp>
        <p:nvSpPr>
          <p:cNvPr id="27" name="TextBox 26"/>
          <p:cNvSpPr txBox="1"/>
          <p:nvPr/>
        </p:nvSpPr>
        <p:spPr>
          <a:xfrm>
            <a:off x="1133856" y="4690872"/>
            <a:ext cx="6583680" cy="256032"/>
          </a:xfrm>
          <a:prstGeom prst="rect">
            <a:avLst/>
          </a:prstGeom>
          <a:noFill/>
        </p:spPr>
        <p:txBody>
          <a:bodyPr wrap="square" anchor="t" lIns="0" rIns="0" tIns="0" bIns="0">
            <a:noAutofit/>
          </a:bodyPr>
          <a:lstStyle/>
          <a:p>
            <a:pPr algn="l">
              <a:lnSpc>
                <a:spcPct val="112000"/>
              </a:lnSpc>
              <a:spcAft>
                <a:spcPts val="0"/>
              </a:spcAft>
            </a:pPr>
            <a:r>
              <a:rPr sz="1300" b="1" i="0">
                <a:solidFill>
                  <a:srgbClr val="152238"/>
                </a:solidFill>
                <a:latin typeface="Calibri"/>
              </a:rPr>
              <a:t>Make consistency sustainable</a:t>
            </a:r>
          </a:p>
        </p:txBody>
      </p:sp>
      <p:sp>
        <p:nvSpPr>
          <p:cNvPr id="28" name="TextBox 27"/>
          <p:cNvSpPr txBox="1"/>
          <p:nvPr/>
        </p:nvSpPr>
        <p:spPr>
          <a:xfrm>
            <a:off x="1133856" y="4965192"/>
            <a:ext cx="6629400" cy="411480"/>
          </a:xfrm>
          <a:prstGeom prst="rect">
            <a:avLst/>
          </a:prstGeom>
          <a:noFill/>
        </p:spPr>
        <p:txBody>
          <a:bodyPr wrap="square" anchor="t" lIns="0" rIns="0" tIns="0" bIns="0">
            <a:noAutofit/>
          </a:bodyPr>
          <a:lstStyle/>
          <a:p>
            <a:pPr algn="l">
              <a:lnSpc>
                <a:spcPct val="118000"/>
              </a:lnSpc>
              <a:spcAft>
                <a:spcPts val="0"/>
              </a:spcAft>
            </a:pPr>
            <a:r>
              <a:rPr sz="1019" b="0" i="0">
                <a:solidFill>
                  <a:srgbClr val="3D4A5C"/>
                </a:solidFill>
                <a:latin typeface="Calibri"/>
              </a:rPr>
              <a:t>Use streaks, XP, quests and small daily goals to reduce drop-off.</a:t>
            </a:r>
          </a:p>
        </p:txBody>
      </p:sp>
      <p:sp>
        <p:nvSpPr>
          <p:cNvPr id="29" name="TextBox 28"/>
          <p:cNvSpPr txBox="1"/>
          <p:nvPr/>
        </p:nvSpPr>
        <p:spPr>
          <a:xfrm>
            <a:off x="1133856" y="5349240"/>
            <a:ext cx="6583680" cy="182880"/>
          </a:xfrm>
          <a:prstGeom prst="rect">
            <a:avLst/>
          </a:prstGeom>
          <a:noFill/>
        </p:spPr>
        <p:txBody>
          <a:bodyPr wrap="square" anchor="t" lIns="0" rIns="0" tIns="0" bIns="0">
            <a:noAutofit/>
          </a:bodyPr>
          <a:lstStyle/>
          <a:p>
            <a:pPr algn="l">
              <a:lnSpc>
                <a:spcPct val="112000"/>
              </a:lnSpc>
              <a:spcAft>
                <a:spcPts val="0"/>
              </a:spcAft>
            </a:pPr>
            <a:r>
              <a:rPr sz="840" b="1" i="0">
                <a:solidFill>
                  <a:srgbClr val="0F7A82"/>
                </a:solidFill>
                <a:latin typeface="Calibri"/>
              </a:rPr>
              <a:t>Measured by  ·  An active streak and completed daily quests.</a:t>
            </a:r>
          </a:p>
        </p:txBody>
      </p:sp>
      <p:sp>
        <p:nvSpPr>
          <p:cNvPr id="30" name="TextBox 29"/>
          <p:cNvSpPr txBox="1"/>
          <p:nvPr/>
        </p:nvSpPr>
        <p:spPr>
          <a:xfrm>
            <a:off x="566928" y="5888736"/>
            <a:ext cx="7132320" cy="274320"/>
          </a:xfrm>
          <a:prstGeom prst="rect">
            <a:avLst/>
          </a:prstGeom>
          <a:noFill/>
        </p:spPr>
        <p:txBody>
          <a:bodyPr wrap="square" anchor="t" lIns="0" rIns="0" tIns="0" bIns="0">
            <a:noAutofit/>
          </a:bodyPr>
          <a:lstStyle/>
          <a:p>
            <a:pPr algn="l">
              <a:lnSpc>
                <a:spcPct val="112000"/>
              </a:lnSpc>
              <a:spcAft>
                <a:spcPts val="0"/>
              </a:spcAft>
            </a:pPr>
            <a:r>
              <a:rPr sz="880" b="0" i="1">
                <a:solidFill>
                  <a:srgbClr val="77859A"/>
                </a:solidFill>
                <a:latin typeface="Calibri"/>
              </a:rPr>
              <a:t>Each objective has an observable check — that is exactly what the evidence slide reports.</a:t>
            </a:r>
          </a:p>
        </p:txBody>
      </p:sp>
      <p:sp>
        <p:nvSpPr>
          <p:cNvPr id="31" name="Rounded Rectangle 30"/>
          <p:cNvSpPr/>
          <p:nvPr/>
        </p:nvSpPr>
        <p:spPr>
          <a:xfrm>
            <a:off x="8046720" y="1792224"/>
            <a:ext cx="3584448" cy="4315968"/>
          </a:xfrm>
          <a:prstGeom prst="roundRect">
            <a:avLst>
              <a:gd name="adj" fmla="val 3000"/>
            </a:avLst>
          </a:prstGeom>
          <a:solidFill>
            <a:srgbClr val="F5F8FA"/>
          </a:solidFill>
          <a:ln w="9525">
            <a:solidFill>
              <a:srgbClr val="DCE4EA"/>
            </a:solidFill>
          </a:ln>
          <a:effectLst/>
        </p:spPr>
        <p:txBody>
          <a:bodyPr rtlCol="0" anchor="ctr" wrap="square"/>
          <a:lstStyle/>
          <a:p>
            <a:pPr algn="ctr"/>
          </a:p>
        </p:txBody>
      </p:sp>
      <p:sp>
        <p:nvSpPr>
          <p:cNvPr id="32" name="TextBox 31"/>
          <p:cNvSpPr txBox="1"/>
          <p:nvPr/>
        </p:nvSpPr>
        <p:spPr>
          <a:xfrm>
            <a:off x="8247888" y="1956816"/>
            <a:ext cx="31089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SCOPE</a:t>
            </a:r>
          </a:p>
        </p:txBody>
      </p:sp>
      <p:sp>
        <p:nvSpPr>
          <p:cNvPr id="33" name="TextBox 32"/>
          <p:cNvSpPr txBox="1"/>
          <p:nvPr/>
        </p:nvSpPr>
        <p:spPr>
          <a:xfrm>
            <a:off x="8247888" y="2176272"/>
            <a:ext cx="3108960" cy="201168"/>
          </a:xfrm>
          <a:prstGeom prst="rect">
            <a:avLst/>
          </a:prstGeom>
          <a:noFill/>
        </p:spPr>
        <p:txBody>
          <a:bodyPr wrap="square" anchor="t" lIns="0" rIns="0" tIns="0" bIns="0">
            <a:noAutofit/>
          </a:bodyPr>
          <a:lstStyle/>
          <a:p>
            <a:pPr algn="l">
              <a:lnSpc>
                <a:spcPct val="112000"/>
              </a:lnSpc>
              <a:spcAft>
                <a:spcPts val="0"/>
              </a:spcAft>
            </a:pPr>
            <a:r>
              <a:rPr sz="800" b="1" i="0">
                <a:solidFill>
                  <a:srgbClr val="2B7A58"/>
                </a:solidFill>
                <a:latin typeface="Calibri"/>
              </a:rPr>
              <a:t>IN SCOPE</a:t>
            </a:r>
          </a:p>
        </p:txBody>
      </p:sp>
      <p:sp>
        <p:nvSpPr>
          <p:cNvPr id="34" name="TextBox 33"/>
          <p:cNvSpPr txBox="1"/>
          <p:nvPr/>
        </p:nvSpPr>
        <p:spPr>
          <a:xfrm>
            <a:off x="8247888" y="2377440"/>
            <a:ext cx="3154680" cy="1234440"/>
          </a:xfrm>
          <a:prstGeom prst="rect">
            <a:avLst/>
          </a:prstGeom>
          <a:noFill/>
        </p:spPr>
        <p:txBody>
          <a:bodyPr wrap="square" anchor="t" lIns="0" rIns="0" tIns="0" bIns="0">
            <a:noAutofit/>
          </a:bodyPr>
          <a:lstStyle/>
          <a:p>
            <a:pPr algn="l">
              <a:lnSpc>
                <a:spcPct val="132000"/>
              </a:lnSpc>
              <a:spcAft>
                <a:spcPts val="0"/>
              </a:spcAft>
            </a:pPr>
            <a:r>
              <a:rPr sz="940" b="0" i="0">
                <a:solidFill>
                  <a:srgbClr val="3D4A5C"/>
                </a:solidFill>
                <a:latin typeface="Calibri"/>
              </a:rPr>
              <a:t>·  CSE study loop: DBMS, OS, DSA</a:t>
            </a:r>
          </a:p>
          <a:p>
            <a:pPr algn="l">
              <a:lnSpc>
                <a:spcPct val="132000"/>
              </a:lnSpc>
              <a:spcAft>
                <a:spcPts val="0"/>
              </a:spcAft>
            </a:pPr>
            <a:r>
              <a:rPr sz="940" b="0" i="0">
                <a:solidFill>
                  <a:srgbClr val="3D4A5C"/>
                </a:solidFill>
                <a:latin typeface="Calibri"/>
              </a:rPr>
              <a:t>·  Browser, offline-first</a:t>
            </a:r>
          </a:p>
          <a:p>
            <a:pPr algn="l">
              <a:lnSpc>
                <a:spcPct val="132000"/>
              </a:lnSpc>
              <a:spcAft>
                <a:spcPts val="0"/>
              </a:spcAft>
            </a:pPr>
            <a:r>
              <a:rPr sz="940" b="0" i="0">
                <a:solidFill>
                  <a:srgbClr val="3D4A5C"/>
                </a:solidFill>
                <a:latin typeface="Calibri"/>
              </a:rPr>
              <a:t>·  Individual student</a:t>
            </a:r>
          </a:p>
          <a:p>
            <a:pPr algn="l">
              <a:lnSpc>
                <a:spcPct val="132000"/>
              </a:lnSpc>
              <a:spcAft>
                <a:spcPts val="0"/>
              </a:spcAft>
            </a:pPr>
            <a:r>
              <a:rPr sz="940" b="0" i="0">
                <a:solidFill>
                  <a:srgbClr val="3D4A5C"/>
                </a:solidFill>
                <a:latin typeface="Calibri"/>
              </a:rPr>
              <a:t>·  AI optional, not required</a:t>
            </a:r>
          </a:p>
        </p:txBody>
      </p:sp>
      <p:sp>
        <p:nvSpPr>
          <p:cNvPr id="35" name="Rectangle 34"/>
          <p:cNvSpPr/>
          <p:nvPr/>
        </p:nvSpPr>
        <p:spPr>
          <a:xfrm>
            <a:off x="8247888" y="3675887"/>
            <a:ext cx="3127248" cy="7315"/>
          </a:xfrm>
          <a:prstGeom prst="rect">
            <a:avLst/>
          </a:prstGeom>
          <a:solidFill>
            <a:srgbClr val="DCE4EA"/>
          </a:solidFill>
          <a:ln>
            <a:noFill/>
          </a:ln>
          <a:effectLst/>
        </p:spPr>
        <p:txBody>
          <a:bodyPr rtlCol="0" anchor="ctr" wrap="square"/>
          <a:lstStyle/>
          <a:p>
            <a:pPr algn="ctr"/>
          </a:p>
        </p:txBody>
      </p:sp>
      <p:sp>
        <p:nvSpPr>
          <p:cNvPr id="36" name="TextBox 35"/>
          <p:cNvSpPr txBox="1"/>
          <p:nvPr/>
        </p:nvSpPr>
        <p:spPr>
          <a:xfrm>
            <a:off x="8247888" y="3785615"/>
            <a:ext cx="3108960" cy="201168"/>
          </a:xfrm>
          <a:prstGeom prst="rect">
            <a:avLst/>
          </a:prstGeom>
          <a:noFill/>
        </p:spPr>
        <p:txBody>
          <a:bodyPr wrap="square" anchor="t" lIns="0" rIns="0" tIns="0" bIns="0">
            <a:noAutofit/>
          </a:bodyPr>
          <a:lstStyle/>
          <a:p>
            <a:pPr algn="l">
              <a:lnSpc>
                <a:spcPct val="112000"/>
              </a:lnSpc>
              <a:spcAft>
                <a:spcPts val="0"/>
              </a:spcAft>
            </a:pPr>
            <a:r>
              <a:rPr sz="800" b="1" i="0">
                <a:solidFill>
                  <a:srgbClr val="A64B39"/>
                </a:solidFill>
                <a:latin typeface="Calibri"/>
              </a:rPr>
              <a:t>OUT OF SCOPE</a:t>
            </a:r>
          </a:p>
        </p:txBody>
      </p:sp>
      <p:sp>
        <p:nvSpPr>
          <p:cNvPr id="37" name="TextBox 36"/>
          <p:cNvSpPr txBox="1"/>
          <p:nvPr/>
        </p:nvSpPr>
        <p:spPr>
          <a:xfrm>
            <a:off x="8247888" y="3986784"/>
            <a:ext cx="3154680" cy="914400"/>
          </a:xfrm>
          <a:prstGeom prst="rect">
            <a:avLst/>
          </a:prstGeom>
          <a:noFill/>
        </p:spPr>
        <p:txBody>
          <a:bodyPr wrap="square" anchor="t" lIns="0" rIns="0" tIns="0" bIns="0">
            <a:noAutofit/>
          </a:bodyPr>
          <a:lstStyle/>
          <a:p>
            <a:pPr algn="l">
              <a:lnSpc>
                <a:spcPct val="132000"/>
              </a:lnSpc>
              <a:spcAft>
                <a:spcPts val="0"/>
              </a:spcAft>
            </a:pPr>
            <a:r>
              <a:rPr sz="940" b="0" i="0">
                <a:solidFill>
                  <a:srgbClr val="3D4A5C"/>
                </a:solidFill>
                <a:latin typeface="Calibri"/>
              </a:rPr>
              <a:t>·  Institutional timetabling</a:t>
            </a:r>
          </a:p>
          <a:p>
            <a:pPr algn="l">
              <a:lnSpc>
                <a:spcPct val="132000"/>
              </a:lnSpc>
              <a:spcAft>
                <a:spcPts val="0"/>
              </a:spcAft>
            </a:pPr>
            <a:r>
              <a:rPr sz="940" b="0" i="0">
                <a:solidFill>
                  <a:srgbClr val="3D4A5C"/>
                </a:solidFill>
                <a:latin typeface="Calibri"/>
              </a:rPr>
              <a:t>·  Grading or proctored exams</a:t>
            </a:r>
          </a:p>
          <a:p>
            <a:pPr algn="l">
              <a:lnSpc>
                <a:spcPct val="132000"/>
              </a:lnSpc>
              <a:spcAft>
                <a:spcPts val="0"/>
              </a:spcAft>
            </a:pPr>
            <a:r>
              <a:rPr sz="940" b="0" i="0">
                <a:solidFill>
                  <a:srgbClr val="3D4A5C"/>
                </a:solidFill>
                <a:latin typeface="Calibri"/>
              </a:rPr>
              <a:t>·  Native mobile application</a:t>
            </a:r>
          </a:p>
        </p:txBody>
      </p:sp>
      <p:sp>
        <p:nvSpPr>
          <p:cNvPr id="38" name="TextBox 37"/>
          <p:cNvSpPr txBox="1"/>
          <p:nvPr/>
        </p:nvSpPr>
        <p:spPr>
          <a:xfrm>
            <a:off x="8247888" y="4974336"/>
            <a:ext cx="3127248"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SUCCESS CRITERIA</a:t>
            </a:r>
          </a:p>
        </p:txBody>
      </p:sp>
      <p:sp>
        <p:nvSpPr>
          <p:cNvPr id="39" name="TextBox 38"/>
          <p:cNvSpPr txBox="1"/>
          <p:nvPr/>
        </p:nvSpPr>
        <p:spPr>
          <a:xfrm>
            <a:off x="8247888" y="5175504"/>
            <a:ext cx="3200400" cy="777240"/>
          </a:xfrm>
          <a:prstGeom prst="rect">
            <a:avLst/>
          </a:prstGeom>
          <a:noFill/>
        </p:spPr>
        <p:txBody>
          <a:bodyPr wrap="square" anchor="t" lIns="0" rIns="0" tIns="0" bIns="0">
            <a:noAutofit/>
          </a:bodyPr>
          <a:lstStyle/>
          <a:p>
            <a:pPr algn="l">
              <a:lnSpc>
                <a:spcPct val="122000"/>
              </a:lnSpc>
              <a:spcAft>
                <a:spcPts val="0"/>
              </a:spcAft>
            </a:pPr>
            <a:r>
              <a:rPr sz="900" b="1" i="0">
                <a:solidFill>
                  <a:srgbClr val="152238"/>
                </a:solidFill>
                <a:latin typeface="Calibri"/>
              </a:rPr>
              <a:t>47/47 automated tests  ·  production build  ·  live deployment  ·  demo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04 · EXISTING WORK</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Five strands inform the design — none closes the loop</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The review focused on what each strand does well and what it leaves unresolved for an individual learner.</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FOUNDATIONS</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06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graphicFrame>
        <p:nvGraphicFramePr>
          <p:cNvPr id="11" name="Table 10"/>
          <p:cNvGraphicFramePr>
            <a:graphicFrameLocks noGrp="1"/>
          </p:cNvGraphicFramePr>
          <p:nvPr/>
        </p:nvGraphicFramePr>
        <p:xfrm>
          <a:off x="566928" y="1773936"/>
          <a:ext cx="11064240" cy="3328416"/>
        </p:xfrm>
        <a:graphic>
          <a:graphicData uri="http://schemas.openxmlformats.org/drawingml/2006/table">
            <a:tbl>
              <a:tblPr firstRow="1">
                <a:tableStyleId>{2D5ABB26-0587-4C30-8999-92F81FD0307C}</a:tableStyleId>
              </a:tblPr>
              <a:tblGrid>
                <a:gridCol w="2240280"/>
                <a:gridCol w="4160520"/>
                <a:gridCol w="4663440"/>
              </a:tblGrid>
              <a:tr h="402336">
                <a:tc>
                  <a:txBody>
                    <a:bodyPr wrap="square"/>
                    <a:lstStyle/>
                    <a:p>
                      <a:pPr>
                        <a:lnSpc>
                          <a:spcPct val="105000"/>
                        </a:lnSpc>
                      </a:pPr>
                      <a:r>
                        <a:rPr sz="950" b="1" i="0">
                          <a:solidFill>
                            <a:srgbClr val="FFFFFF"/>
                          </a:solidFill>
                          <a:latin typeface="Calibri"/>
                        </a:rPr>
                        <a:t>Strand</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c>
                  <a:txBody>
                    <a:bodyPr wrap="square"/>
                    <a:lstStyle/>
                    <a:p>
                      <a:pPr>
                        <a:lnSpc>
                          <a:spcPct val="105000"/>
                        </a:lnSpc>
                      </a:pPr>
                      <a:r>
                        <a:rPr sz="950" b="1" i="0">
                          <a:solidFill>
                            <a:srgbClr val="FFFFFF"/>
                          </a:solidFill>
                          <a:latin typeface="Calibri"/>
                        </a:rPr>
                        <a:t>What it does well</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c>
                  <a:txBody>
                    <a:bodyPr wrap="square"/>
                    <a:lstStyle/>
                    <a:p>
                      <a:pPr>
                        <a:lnSpc>
                          <a:spcPct val="105000"/>
                        </a:lnSpc>
                      </a:pPr>
                      <a:r>
                        <a:rPr sz="950" b="1" i="0">
                          <a:solidFill>
                            <a:srgbClr val="FFFFFF"/>
                          </a:solidFill>
                          <a:latin typeface="Calibri"/>
                        </a:rPr>
                        <a:t>What it leaves unresolved</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r>
              <a:tr h="585216">
                <a:tc>
                  <a:txBody>
                    <a:bodyPr wrap="square"/>
                    <a:lstStyle/>
                    <a:p>
                      <a:pPr>
                        <a:lnSpc>
                          <a:spcPct val="105000"/>
                        </a:lnSpc>
                      </a:pPr>
                      <a:r>
                        <a:rPr sz="940" b="1" i="0">
                          <a:solidFill>
                            <a:srgbClr val="3D4A5C"/>
                          </a:solidFill>
                          <a:latin typeface="Calibri"/>
                        </a:rPr>
                        <a:t>Adaptive learning platforms</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40" b="0" i="0">
                          <a:solidFill>
                            <a:srgbClr val="3D4A5C"/>
                          </a:solidFill>
                          <a:latin typeface="Calibri"/>
                        </a:rPr>
                        <a:t>Sequence content and mastery paths; strong structured curricula</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40" b="0" i="0">
                          <a:solidFill>
                            <a:srgbClr val="3D4A5C"/>
                          </a:solidFill>
                          <a:latin typeface="Calibri"/>
                        </a:rPr>
                        <a:t>Personal scheduling is weak; the plan rarely reacts to a single student's week</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r h="585216">
                <a:tc>
                  <a:txBody>
                    <a:bodyPr wrap="square"/>
                    <a:lstStyle/>
                    <a:p>
                      <a:pPr>
                        <a:lnSpc>
                          <a:spcPct val="105000"/>
                        </a:lnSpc>
                      </a:pPr>
                      <a:r>
                        <a:rPr sz="940" b="1" i="0">
                          <a:solidFill>
                            <a:srgbClr val="3D4A5C"/>
                          </a:solidFill>
                          <a:latin typeface="Calibri"/>
                        </a:rPr>
                        <a:t>AI tutors &amp; content generation</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40" b="0" i="0">
                          <a:solidFill>
                            <a:srgbClr val="3D4A5C"/>
                          </a:solidFill>
                          <a:latin typeface="Calibri"/>
                        </a:rPr>
                        <a:t>Explain, summarise and generate questions on demand</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40" b="0" i="0">
                          <a:solidFill>
                            <a:srgbClr val="3D4A5C"/>
                          </a:solidFill>
                          <a:latin typeface="Calibri"/>
                        </a:rPr>
                        <a:t>Usually cloud-only and disconnected from the learner's own stored data</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r>
              <a:tr h="585216">
                <a:tc>
                  <a:txBody>
                    <a:bodyPr wrap="square"/>
                    <a:lstStyle/>
                    <a:p>
                      <a:pPr>
                        <a:lnSpc>
                          <a:spcPct val="105000"/>
                        </a:lnSpc>
                      </a:pPr>
                      <a:r>
                        <a:rPr sz="940" b="1" i="0">
                          <a:solidFill>
                            <a:srgbClr val="3D4A5C"/>
                          </a:solidFill>
                          <a:latin typeface="Calibri"/>
                        </a:rPr>
                        <a:t>LMS analytics</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40" b="0" i="0">
                          <a:solidFill>
                            <a:srgbClr val="3D4A5C"/>
                          </a:solidFill>
                          <a:latin typeface="Calibri"/>
                        </a:rPr>
                        <a:t>Cohort and course dashboards; institutional reporting</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40" b="0" i="0">
                          <a:solidFill>
                            <a:srgbClr val="3D4A5C"/>
                          </a:solidFill>
                          <a:latin typeface="Calibri"/>
                        </a:rPr>
                        <a:t>An institutional view, not a decision about the next hour of study</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r h="585216">
                <a:tc>
                  <a:txBody>
                    <a:bodyPr wrap="square"/>
                    <a:lstStyle/>
                    <a:p>
                      <a:pPr>
                        <a:lnSpc>
                          <a:spcPct val="105000"/>
                        </a:lnSpc>
                      </a:pPr>
                      <a:r>
                        <a:rPr sz="940" b="1" i="0">
                          <a:solidFill>
                            <a:srgbClr val="3D4A5C"/>
                          </a:solidFill>
                          <a:latin typeface="Calibri"/>
                        </a:rPr>
                        <a:t>Spaced repetition</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40" b="0" i="0">
                          <a:solidFill>
                            <a:srgbClr val="3D4A5C"/>
                          </a:solidFill>
                          <a:latin typeface="Calibri"/>
                        </a:rPr>
                        <a:t>SM-2 schedules review at the edge of recall</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40" b="0" i="0">
                          <a:solidFill>
                            <a:srgbClr val="3D4A5C"/>
                          </a:solidFill>
                          <a:latin typeface="Calibri"/>
                        </a:rPr>
                        <a:t>Isolated from the syllabus, exam dates and the rest of the workflow</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r>
              <a:tr h="585216">
                <a:tc>
                  <a:txBody>
                    <a:bodyPr wrap="square"/>
                    <a:lstStyle/>
                    <a:p>
                      <a:pPr>
                        <a:lnSpc>
                          <a:spcPct val="105000"/>
                        </a:lnSpc>
                      </a:pPr>
                      <a:r>
                        <a:rPr sz="940" b="1" i="0">
                          <a:solidFill>
                            <a:srgbClr val="3D4A5C"/>
                          </a:solidFill>
                          <a:latin typeface="Calibri"/>
                        </a:rPr>
                        <a:t>Gamified learning</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40" b="0" i="0">
                          <a:solidFill>
                            <a:srgbClr val="3D4A5C"/>
                          </a:solidFill>
                          <a:latin typeface="Calibri"/>
                        </a:rPr>
                        <a:t>XP, streaks and quests sustain habit and return visits</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40" b="0" i="0">
                          <a:solidFill>
                            <a:srgbClr val="3D4A5C"/>
                          </a:solidFill>
                          <a:latin typeface="Calibri"/>
                        </a:rPr>
                        <a:t>Engagement without adaptation; points do not change what is studied</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bl>
          </a:graphicData>
        </a:graphic>
      </p:graphicFrame>
      <p:sp>
        <p:nvSpPr>
          <p:cNvPr id="12" name="Rounded Rectangle 11"/>
          <p:cNvSpPr/>
          <p:nvPr/>
        </p:nvSpPr>
        <p:spPr>
          <a:xfrm>
            <a:off x="566928" y="5413248"/>
            <a:ext cx="11064240" cy="731520"/>
          </a:xfrm>
          <a:prstGeom prst="roundRect">
            <a:avLst>
              <a:gd name="adj" fmla="val 6000"/>
            </a:avLst>
          </a:prstGeom>
          <a:solidFill>
            <a:srgbClr val="F5F8FA"/>
          </a:solidFill>
          <a:ln w="9525">
            <a:solidFill>
              <a:srgbClr val="DCE4EA"/>
            </a:solidFill>
          </a:ln>
          <a:effectLst/>
        </p:spPr>
        <p:txBody>
          <a:bodyPr rtlCol="0" anchor="ctr" wrap="square"/>
          <a:lstStyle/>
          <a:p>
            <a:pPr algn="ctr"/>
          </a:p>
        </p:txBody>
      </p:sp>
      <p:sp>
        <p:nvSpPr>
          <p:cNvPr id="13" name="TextBox 12"/>
          <p:cNvSpPr txBox="1"/>
          <p:nvPr/>
        </p:nvSpPr>
        <p:spPr>
          <a:xfrm>
            <a:off x="786384" y="5522976"/>
            <a:ext cx="118872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POSITIONING</a:t>
            </a:r>
          </a:p>
        </p:txBody>
      </p:sp>
      <p:sp>
        <p:nvSpPr>
          <p:cNvPr id="14" name="TextBox 13"/>
          <p:cNvSpPr txBox="1"/>
          <p:nvPr/>
        </p:nvSpPr>
        <p:spPr>
          <a:xfrm>
            <a:off x="786384" y="5705856"/>
            <a:ext cx="10515600" cy="310896"/>
          </a:xfrm>
          <a:prstGeom prst="rect">
            <a:avLst/>
          </a:prstGeom>
          <a:noFill/>
        </p:spPr>
        <p:txBody>
          <a:bodyPr wrap="square" anchor="t" lIns="0" rIns="0" tIns="0" bIns="0">
            <a:noAutofit/>
          </a:bodyPr>
          <a:lstStyle/>
          <a:p>
            <a:pPr algn="l">
              <a:lnSpc>
                <a:spcPct val="112000"/>
              </a:lnSpc>
              <a:spcAft>
                <a:spcPts val="0"/>
              </a:spcAft>
            </a:pPr>
            <a:r>
              <a:rPr sz="980" b="0" i="0">
                <a:solidFill>
                  <a:srgbClr val="3D4A5C"/>
                </a:solidFill>
                <a:latin typeface="Calibri"/>
              </a:rPr>
              <a:t>StudyMapper is not another LMS. It is a personal layer that connects planning, content, practice and measurement — and keeps working offline.</a:t>
            </a:r>
          </a:p>
        </p:txBody>
      </p:sp>
      <p:sp>
        <p:nvSpPr>
          <p:cNvPr id="15" name="TextBox 14"/>
          <p:cNvSpPr txBox="1"/>
          <p:nvPr/>
        </p:nvSpPr>
        <p:spPr>
          <a:xfrm>
            <a:off x="6583680" y="5522976"/>
            <a:ext cx="4846320" cy="182880"/>
          </a:xfrm>
          <a:prstGeom prst="rect">
            <a:avLst/>
          </a:prstGeom>
          <a:noFill/>
        </p:spPr>
        <p:txBody>
          <a:bodyPr wrap="square" anchor="t" lIns="0" rIns="0" tIns="0" bIns="0">
            <a:noAutofit/>
          </a:bodyPr>
          <a:lstStyle/>
          <a:p>
            <a:pPr algn="r">
              <a:lnSpc>
                <a:spcPct val="112000"/>
              </a:lnSpc>
              <a:spcAft>
                <a:spcPts val="0"/>
              </a:spcAft>
            </a:pPr>
            <a:r>
              <a:rPr sz="720" b="1" i="0">
                <a:solidFill>
                  <a:srgbClr val="0F7A82"/>
                </a:solidFill>
                <a:latin typeface="Calibri"/>
              </a:rPr>
              <a:t>LOCAL-FIRST   ·   AI OPTIONAL   ·   CLOSED LOOP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05 · PROPOSED SYSTEM</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Nine modules, arranged as three connected lanes</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Capture the material, act on it daily, then reflect — and let reflection change the next action.</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THE SYSTEM</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07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810512"/>
            <a:ext cx="969264" cy="1078992"/>
          </a:xfrm>
          <a:prstGeom prst="roundRect">
            <a:avLst>
              <a:gd name="adj" fmla="val 6000"/>
            </a:avLst>
          </a:prstGeom>
          <a:solidFill>
            <a:srgbClr val="E6F2F2"/>
          </a:solidFill>
          <a:ln>
            <a:noFill/>
          </a:ln>
          <a:effectLst/>
        </p:spPr>
        <p:txBody>
          <a:bodyPr rtlCol="0" anchor="ctr" wrap="square"/>
          <a:lstStyle/>
          <a:p>
            <a:pPr algn="ctr"/>
          </a:p>
        </p:txBody>
      </p:sp>
      <p:sp>
        <p:nvSpPr>
          <p:cNvPr id="12" name="TextBox 11"/>
          <p:cNvSpPr txBox="1"/>
          <p:nvPr/>
        </p:nvSpPr>
        <p:spPr>
          <a:xfrm>
            <a:off x="603504" y="2048256"/>
            <a:ext cx="896112" cy="603504"/>
          </a:xfrm>
          <a:prstGeom prst="rect">
            <a:avLst/>
          </a:prstGeom>
          <a:noFill/>
        </p:spPr>
        <p:txBody>
          <a:bodyPr wrap="square" anchor="t" lIns="0" rIns="0" tIns="0" bIns="0">
            <a:noAutofit/>
          </a:bodyPr>
          <a:lstStyle/>
          <a:p>
            <a:pPr algn="ctr">
              <a:lnSpc>
                <a:spcPct val="115000"/>
              </a:lnSpc>
              <a:spcAft>
                <a:spcPts val="0"/>
              </a:spcAft>
            </a:pPr>
            <a:r>
              <a:rPr sz="819" b="1" i="0">
                <a:solidFill>
                  <a:srgbClr val="0F7A82"/>
                </a:solidFill>
                <a:latin typeface="Calibri"/>
              </a:rPr>
              <a:t>CAPTURE</a:t>
            </a:r>
          </a:p>
          <a:p>
            <a:pPr algn="ctr">
              <a:lnSpc>
                <a:spcPct val="115000"/>
              </a:lnSpc>
              <a:spcAft>
                <a:spcPts val="0"/>
              </a:spcAft>
            </a:pPr>
            <a:r>
              <a:rPr sz="819" b="1" i="0">
                <a:solidFill>
                  <a:srgbClr val="0F7A82"/>
                </a:solidFill>
                <a:latin typeface="Calibri"/>
              </a:rPr>
              <a:t>&amp; ORGANISE</a:t>
            </a:r>
          </a:p>
        </p:txBody>
      </p:sp>
      <p:sp>
        <p:nvSpPr>
          <p:cNvPr id="13" name="Rounded Rectangle 12"/>
          <p:cNvSpPr/>
          <p:nvPr/>
        </p:nvSpPr>
        <p:spPr>
          <a:xfrm>
            <a:off x="1719072" y="1810512"/>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14" name="Rectangle 13"/>
          <p:cNvSpPr/>
          <p:nvPr/>
        </p:nvSpPr>
        <p:spPr>
          <a:xfrm>
            <a:off x="1735531" y="1920240"/>
            <a:ext cx="41148" cy="859536"/>
          </a:xfrm>
          <a:prstGeom prst="rect">
            <a:avLst/>
          </a:prstGeom>
          <a:solidFill>
            <a:srgbClr val="0F7A82"/>
          </a:solidFill>
          <a:ln>
            <a:noFill/>
          </a:ln>
          <a:effectLst/>
        </p:spPr>
        <p:txBody>
          <a:bodyPr rtlCol="0" anchor="ctr" wrap="square"/>
          <a:lstStyle/>
          <a:p>
            <a:pPr algn="ctr"/>
          </a:p>
        </p:txBody>
      </p:sp>
      <p:sp>
        <p:nvSpPr>
          <p:cNvPr id="15" name="TextBox 14"/>
          <p:cNvSpPr txBox="1"/>
          <p:nvPr/>
        </p:nvSpPr>
        <p:spPr>
          <a:xfrm>
            <a:off x="4480560" y="1920240"/>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01</a:t>
            </a:r>
          </a:p>
        </p:txBody>
      </p:sp>
      <p:sp>
        <p:nvSpPr>
          <p:cNvPr id="16" name="TextBox 15"/>
          <p:cNvSpPr txBox="1"/>
          <p:nvPr/>
        </p:nvSpPr>
        <p:spPr>
          <a:xfrm>
            <a:off x="1901952" y="1947672"/>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Subjects &amp; topics</a:t>
            </a:r>
          </a:p>
        </p:txBody>
      </p:sp>
      <p:sp>
        <p:nvSpPr>
          <p:cNvPr id="17" name="TextBox 16"/>
          <p:cNvSpPr txBox="1"/>
          <p:nvPr/>
        </p:nvSpPr>
        <p:spPr>
          <a:xfrm>
            <a:off x="1901952" y="2203704"/>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A syllabus tree — subject, unit, topic — with progress on every node.</a:t>
            </a:r>
          </a:p>
        </p:txBody>
      </p:sp>
      <p:sp>
        <p:nvSpPr>
          <p:cNvPr id="18" name="Rounded Rectangle 17"/>
          <p:cNvSpPr/>
          <p:nvPr/>
        </p:nvSpPr>
        <p:spPr>
          <a:xfrm>
            <a:off x="5038344" y="1810512"/>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19" name="Rectangle 18"/>
          <p:cNvSpPr/>
          <p:nvPr/>
        </p:nvSpPr>
        <p:spPr>
          <a:xfrm>
            <a:off x="5054803" y="1920240"/>
            <a:ext cx="41148" cy="859536"/>
          </a:xfrm>
          <a:prstGeom prst="rect">
            <a:avLst/>
          </a:prstGeom>
          <a:solidFill>
            <a:srgbClr val="0F7A82"/>
          </a:solidFill>
          <a:ln>
            <a:noFill/>
          </a:ln>
          <a:effectLst/>
        </p:spPr>
        <p:txBody>
          <a:bodyPr rtlCol="0" anchor="ctr" wrap="square"/>
          <a:lstStyle/>
          <a:p>
            <a:pPr algn="ctr"/>
          </a:p>
        </p:txBody>
      </p:sp>
      <p:sp>
        <p:nvSpPr>
          <p:cNvPr id="20" name="TextBox 19"/>
          <p:cNvSpPr txBox="1"/>
          <p:nvPr/>
        </p:nvSpPr>
        <p:spPr>
          <a:xfrm>
            <a:off x="7799831" y="1920240"/>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02</a:t>
            </a:r>
          </a:p>
        </p:txBody>
      </p:sp>
      <p:sp>
        <p:nvSpPr>
          <p:cNvPr id="21" name="TextBox 20"/>
          <p:cNvSpPr txBox="1"/>
          <p:nvPr/>
        </p:nvSpPr>
        <p:spPr>
          <a:xfrm>
            <a:off x="5221224" y="1947672"/>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Notes &amp; imports</a:t>
            </a:r>
          </a:p>
        </p:txBody>
      </p:sp>
      <p:sp>
        <p:nvSpPr>
          <p:cNvPr id="22" name="TextBox 21"/>
          <p:cNvSpPr txBox="1"/>
          <p:nvPr/>
        </p:nvSpPr>
        <p:spPr>
          <a:xfrm>
            <a:off x="5221224" y="2203704"/>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Generate notes, or bring PDFs, DOCX and images through the parsing pipeline.</a:t>
            </a:r>
          </a:p>
        </p:txBody>
      </p:sp>
      <p:sp>
        <p:nvSpPr>
          <p:cNvPr id="23" name="Rounded Rectangle 22"/>
          <p:cNvSpPr/>
          <p:nvPr/>
        </p:nvSpPr>
        <p:spPr>
          <a:xfrm>
            <a:off x="8357616" y="1810512"/>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24" name="Rectangle 23"/>
          <p:cNvSpPr/>
          <p:nvPr/>
        </p:nvSpPr>
        <p:spPr>
          <a:xfrm>
            <a:off x="8374075" y="1920240"/>
            <a:ext cx="41148" cy="859536"/>
          </a:xfrm>
          <a:prstGeom prst="rect">
            <a:avLst/>
          </a:prstGeom>
          <a:solidFill>
            <a:srgbClr val="0F7A82"/>
          </a:solidFill>
          <a:ln>
            <a:noFill/>
          </a:ln>
          <a:effectLst/>
        </p:spPr>
        <p:txBody>
          <a:bodyPr rtlCol="0" anchor="ctr" wrap="square"/>
          <a:lstStyle/>
          <a:p>
            <a:pPr algn="ctr"/>
          </a:p>
        </p:txBody>
      </p:sp>
      <p:sp>
        <p:nvSpPr>
          <p:cNvPr id="25" name="TextBox 24"/>
          <p:cNvSpPr txBox="1"/>
          <p:nvPr/>
        </p:nvSpPr>
        <p:spPr>
          <a:xfrm>
            <a:off x="11119104" y="1920240"/>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03</a:t>
            </a:r>
          </a:p>
        </p:txBody>
      </p:sp>
      <p:sp>
        <p:nvSpPr>
          <p:cNvPr id="26" name="TextBox 25"/>
          <p:cNvSpPr txBox="1"/>
          <p:nvPr/>
        </p:nvSpPr>
        <p:spPr>
          <a:xfrm>
            <a:off x="8540496" y="1947672"/>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Question banks</a:t>
            </a:r>
          </a:p>
        </p:txBody>
      </p:sp>
      <p:sp>
        <p:nvSpPr>
          <p:cNvPr id="27" name="TextBox 26"/>
          <p:cNvSpPr txBox="1"/>
          <p:nvPr/>
        </p:nvSpPr>
        <p:spPr>
          <a:xfrm>
            <a:off x="8540496" y="2203704"/>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Multiple-choice and descriptive questions, with AI-generated model answers.</a:t>
            </a:r>
          </a:p>
        </p:txBody>
      </p:sp>
      <p:sp>
        <p:nvSpPr>
          <p:cNvPr id="28" name="Rounded Rectangle 27"/>
          <p:cNvSpPr/>
          <p:nvPr/>
        </p:nvSpPr>
        <p:spPr>
          <a:xfrm>
            <a:off x="566928" y="3145536"/>
            <a:ext cx="969264" cy="1078992"/>
          </a:xfrm>
          <a:prstGeom prst="roundRect">
            <a:avLst>
              <a:gd name="adj" fmla="val 6000"/>
            </a:avLst>
          </a:prstGeom>
          <a:solidFill>
            <a:srgbClr val="EAF0F8"/>
          </a:solidFill>
          <a:ln>
            <a:noFill/>
          </a:ln>
          <a:effectLst/>
        </p:spPr>
        <p:txBody>
          <a:bodyPr rtlCol="0" anchor="ctr" wrap="square"/>
          <a:lstStyle/>
          <a:p>
            <a:pPr algn="ctr"/>
          </a:p>
        </p:txBody>
      </p:sp>
      <p:sp>
        <p:nvSpPr>
          <p:cNvPr id="29" name="TextBox 28"/>
          <p:cNvSpPr txBox="1"/>
          <p:nvPr/>
        </p:nvSpPr>
        <p:spPr>
          <a:xfrm>
            <a:off x="603504" y="3383280"/>
            <a:ext cx="896112" cy="603504"/>
          </a:xfrm>
          <a:prstGeom prst="rect">
            <a:avLst/>
          </a:prstGeom>
          <a:noFill/>
        </p:spPr>
        <p:txBody>
          <a:bodyPr wrap="square" anchor="t" lIns="0" rIns="0" tIns="0" bIns="0">
            <a:noAutofit/>
          </a:bodyPr>
          <a:lstStyle/>
          <a:p>
            <a:pPr algn="ctr">
              <a:lnSpc>
                <a:spcPct val="115000"/>
              </a:lnSpc>
              <a:spcAft>
                <a:spcPts val="0"/>
              </a:spcAft>
            </a:pPr>
            <a:r>
              <a:rPr sz="819" b="1" i="0">
                <a:solidFill>
                  <a:srgbClr val="2E5C9A"/>
                </a:solidFill>
                <a:latin typeface="Calibri"/>
              </a:rPr>
              <a:t>DECIDE</a:t>
            </a:r>
          </a:p>
          <a:p>
            <a:pPr algn="ctr">
              <a:lnSpc>
                <a:spcPct val="115000"/>
              </a:lnSpc>
              <a:spcAft>
                <a:spcPts val="0"/>
              </a:spcAft>
            </a:pPr>
            <a:r>
              <a:rPr sz="819" b="1" i="0">
                <a:solidFill>
                  <a:srgbClr val="2E5C9A"/>
                </a:solidFill>
                <a:latin typeface="Calibri"/>
              </a:rPr>
              <a:t>&amp; ACT</a:t>
            </a:r>
          </a:p>
        </p:txBody>
      </p:sp>
      <p:sp>
        <p:nvSpPr>
          <p:cNvPr id="30" name="Rounded Rectangle 29"/>
          <p:cNvSpPr/>
          <p:nvPr/>
        </p:nvSpPr>
        <p:spPr>
          <a:xfrm>
            <a:off x="1719072" y="3145536"/>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1" name="Rectangle 30"/>
          <p:cNvSpPr/>
          <p:nvPr/>
        </p:nvSpPr>
        <p:spPr>
          <a:xfrm>
            <a:off x="1735531" y="3255264"/>
            <a:ext cx="41148" cy="859536"/>
          </a:xfrm>
          <a:prstGeom prst="rect">
            <a:avLst/>
          </a:prstGeom>
          <a:solidFill>
            <a:srgbClr val="2E5C9A"/>
          </a:solidFill>
          <a:ln>
            <a:noFill/>
          </a:ln>
          <a:effectLst/>
        </p:spPr>
        <p:txBody>
          <a:bodyPr rtlCol="0" anchor="ctr" wrap="square"/>
          <a:lstStyle/>
          <a:p>
            <a:pPr algn="ctr"/>
          </a:p>
        </p:txBody>
      </p:sp>
      <p:sp>
        <p:nvSpPr>
          <p:cNvPr id="32" name="TextBox 31"/>
          <p:cNvSpPr txBox="1"/>
          <p:nvPr/>
        </p:nvSpPr>
        <p:spPr>
          <a:xfrm>
            <a:off x="4480560" y="3255264"/>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04</a:t>
            </a:r>
          </a:p>
        </p:txBody>
      </p:sp>
      <p:sp>
        <p:nvSpPr>
          <p:cNvPr id="33" name="TextBox 32"/>
          <p:cNvSpPr txBox="1"/>
          <p:nvPr/>
        </p:nvSpPr>
        <p:spPr>
          <a:xfrm>
            <a:off x="1901952" y="3282696"/>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Adaptive planner</a:t>
            </a:r>
          </a:p>
        </p:txBody>
      </p:sp>
      <p:sp>
        <p:nvSpPr>
          <p:cNvPr id="34" name="TextBox 33"/>
          <p:cNvSpPr txBox="1"/>
          <p:nvPr/>
        </p:nvSpPr>
        <p:spPr>
          <a:xfrm>
            <a:off x="1901952" y="3538728"/>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A day-by-day schedule from difficulty, exam date and panic mode.</a:t>
            </a:r>
          </a:p>
        </p:txBody>
      </p:sp>
      <p:sp>
        <p:nvSpPr>
          <p:cNvPr id="35" name="Rounded Rectangle 34"/>
          <p:cNvSpPr/>
          <p:nvPr/>
        </p:nvSpPr>
        <p:spPr>
          <a:xfrm>
            <a:off x="5038344" y="3145536"/>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6" name="Rectangle 35"/>
          <p:cNvSpPr/>
          <p:nvPr/>
        </p:nvSpPr>
        <p:spPr>
          <a:xfrm>
            <a:off x="5054803" y="3255264"/>
            <a:ext cx="41148" cy="859536"/>
          </a:xfrm>
          <a:prstGeom prst="rect">
            <a:avLst/>
          </a:prstGeom>
          <a:solidFill>
            <a:srgbClr val="2E5C9A"/>
          </a:solidFill>
          <a:ln>
            <a:noFill/>
          </a:ln>
          <a:effectLst/>
        </p:spPr>
        <p:txBody>
          <a:bodyPr rtlCol="0" anchor="ctr" wrap="square"/>
          <a:lstStyle/>
          <a:p>
            <a:pPr algn="ctr"/>
          </a:p>
        </p:txBody>
      </p:sp>
      <p:sp>
        <p:nvSpPr>
          <p:cNvPr id="37" name="TextBox 36"/>
          <p:cNvSpPr txBox="1"/>
          <p:nvPr/>
        </p:nvSpPr>
        <p:spPr>
          <a:xfrm>
            <a:off x="7799831" y="3255264"/>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05</a:t>
            </a:r>
          </a:p>
        </p:txBody>
      </p:sp>
      <p:sp>
        <p:nvSpPr>
          <p:cNvPr id="38" name="TextBox 37"/>
          <p:cNvSpPr txBox="1"/>
          <p:nvPr/>
        </p:nvSpPr>
        <p:spPr>
          <a:xfrm>
            <a:off x="5221224" y="3282696"/>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Flashcards · SM-2</a:t>
            </a:r>
          </a:p>
        </p:txBody>
      </p:sp>
      <p:sp>
        <p:nvSpPr>
          <p:cNvPr id="39" name="TextBox 38"/>
          <p:cNvSpPr txBox="1"/>
          <p:nvPr/>
        </p:nvSpPr>
        <p:spPr>
          <a:xfrm>
            <a:off x="5221224" y="3538728"/>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Review at the edge of recall; the queue is built from topic and history.</a:t>
            </a:r>
          </a:p>
        </p:txBody>
      </p:sp>
      <p:sp>
        <p:nvSpPr>
          <p:cNvPr id="40" name="Rounded Rectangle 39"/>
          <p:cNvSpPr/>
          <p:nvPr/>
        </p:nvSpPr>
        <p:spPr>
          <a:xfrm>
            <a:off x="8357616" y="3145536"/>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41" name="Rectangle 40"/>
          <p:cNvSpPr/>
          <p:nvPr/>
        </p:nvSpPr>
        <p:spPr>
          <a:xfrm>
            <a:off x="8374075" y="3255264"/>
            <a:ext cx="41148" cy="859536"/>
          </a:xfrm>
          <a:prstGeom prst="rect">
            <a:avLst/>
          </a:prstGeom>
          <a:solidFill>
            <a:srgbClr val="2E5C9A"/>
          </a:solidFill>
          <a:ln>
            <a:noFill/>
          </a:ln>
          <a:effectLst/>
        </p:spPr>
        <p:txBody>
          <a:bodyPr rtlCol="0" anchor="ctr" wrap="square"/>
          <a:lstStyle/>
          <a:p>
            <a:pPr algn="ctr"/>
          </a:p>
        </p:txBody>
      </p:sp>
      <p:sp>
        <p:nvSpPr>
          <p:cNvPr id="42" name="TextBox 41"/>
          <p:cNvSpPr txBox="1"/>
          <p:nvPr/>
        </p:nvSpPr>
        <p:spPr>
          <a:xfrm>
            <a:off x="11119104" y="3255264"/>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06</a:t>
            </a:r>
          </a:p>
        </p:txBody>
      </p:sp>
      <p:sp>
        <p:nvSpPr>
          <p:cNvPr id="43" name="TextBox 42"/>
          <p:cNvSpPr txBox="1"/>
          <p:nvPr/>
        </p:nvSpPr>
        <p:spPr>
          <a:xfrm>
            <a:off x="8540496" y="3282696"/>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Coding practice</a:t>
            </a:r>
          </a:p>
        </p:txBody>
      </p:sp>
      <p:sp>
        <p:nvSpPr>
          <p:cNvPr id="44" name="TextBox 43"/>
          <p:cNvSpPr txBox="1"/>
          <p:nvPr/>
        </p:nvSpPr>
        <p:spPr>
          <a:xfrm>
            <a:off x="8540496" y="3538728"/>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Python problems run in the browser through Pyodide — nothing to install.</a:t>
            </a:r>
          </a:p>
        </p:txBody>
      </p:sp>
      <p:sp>
        <p:nvSpPr>
          <p:cNvPr id="45" name="Rounded Rectangle 44"/>
          <p:cNvSpPr/>
          <p:nvPr/>
        </p:nvSpPr>
        <p:spPr>
          <a:xfrm>
            <a:off x="566928" y="4480560"/>
            <a:ext cx="969264" cy="1078992"/>
          </a:xfrm>
          <a:prstGeom prst="roundRect">
            <a:avLst>
              <a:gd name="adj" fmla="val 6000"/>
            </a:avLst>
          </a:prstGeom>
          <a:solidFill>
            <a:srgbClr val="FBF3E2"/>
          </a:solidFill>
          <a:ln>
            <a:noFill/>
          </a:ln>
          <a:effectLst/>
        </p:spPr>
        <p:txBody>
          <a:bodyPr rtlCol="0" anchor="ctr" wrap="square"/>
          <a:lstStyle/>
          <a:p>
            <a:pPr algn="ctr"/>
          </a:p>
        </p:txBody>
      </p:sp>
      <p:sp>
        <p:nvSpPr>
          <p:cNvPr id="46" name="TextBox 45"/>
          <p:cNvSpPr txBox="1"/>
          <p:nvPr/>
        </p:nvSpPr>
        <p:spPr>
          <a:xfrm>
            <a:off x="603504" y="4718304"/>
            <a:ext cx="896112" cy="603504"/>
          </a:xfrm>
          <a:prstGeom prst="rect">
            <a:avLst/>
          </a:prstGeom>
          <a:noFill/>
        </p:spPr>
        <p:txBody>
          <a:bodyPr wrap="square" anchor="t" lIns="0" rIns="0" tIns="0" bIns="0">
            <a:noAutofit/>
          </a:bodyPr>
          <a:lstStyle/>
          <a:p>
            <a:pPr algn="ctr">
              <a:lnSpc>
                <a:spcPct val="115000"/>
              </a:lnSpc>
              <a:spcAft>
                <a:spcPts val="0"/>
              </a:spcAft>
            </a:pPr>
            <a:r>
              <a:rPr sz="819" b="1" i="0">
                <a:solidFill>
                  <a:srgbClr val="B0781C"/>
                </a:solidFill>
                <a:latin typeface="Calibri"/>
              </a:rPr>
              <a:t>REFLECT</a:t>
            </a:r>
          </a:p>
          <a:p>
            <a:pPr algn="ctr">
              <a:lnSpc>
                <a:spcPct val="115000"/>
              </a:lnSpc>
              <a:spcAft>
                <a:spcPts val="0"/>
              </a:spcAft>
            </a:pPr>
            <a:r>
              <a:rPr sz="819" b="1" i="0">
                <a:solidFill>
                  <a:srgbClr val="B0781C"/>
                </a:solidFill>
                <a:latin typeface="Calibri"/>
              </a:rPr>
              <a:t>&amp; SUSTAIN</a:t>
            </a:r>
          </a:p>
        </p:txBody>
      </p:sp>
      <p:sp>
        <p:nvSpPr>
          <p:cNvPr id="47" name="Rounded Rectangle 46"/>
          <p:cNvSpPr/>
          <p:nvPr/>
        </p:nvSpPr>
        <p:spPr>
          <a:xfrm>
            <a:off x="1719072" y="4480560"/>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48" name="Rectangle 47"/>
          <p:cNvSpPr/>
          <p:nvPr/>
        </p:nvSpPr>
        <p:spPr>
          <a:xfrm>
            <a:off x="1735531" y="4590288"/>
            <a:ext cx="41148" cy="859536"/>
          </a:xfrm>
          <a:prstGeom prst="rect">
            <a:avLst/>
          </a:prstGeom>
          <a:solidFill>
            <a:srgbClr val="B0781C"/>
          </a:solidFill>
          <a:ln>
            <a:noFill/>
          </a:ln>
          <a:effectLst/>
        </p:spPr>
        <p:txBody>
          <a:bodyPr rtlCol="0" anchor="ctr" wrap="square"/>
          <a:lstStyle/>
          <a:p>
            <a:pPr algn="ctr"/>
          </a:p>
        </p:txBody>
      </p:sp>
      <p:sp>
        <p:nvSpPr>
          <p:cNvPr id="49" name="TextBox 48"/>
          <p:cNvSpPr txBox="1"/>
          <p:nvPr/>
        </p:nvSpPr>
        <p:spPr>
          <a:xfrm>
            <a:off x="4480560" y="4590288"/>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07</a:t>
            </a:r>
          </a:p>
        </p:txBody>
      </p:sp>
      <p:sp>
        <p:nvSpPr>
          <p:cNvPr id="50" name="TextBox 49"/>
          <p:cNvSpPr txBox="1"/>
          <p:nvPr/>
        </p:nvSpPr>
        <p:spPr>
          <a:xfrm>
            <a:off x="1901952" y="4617720"/>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Analytics &amp; weakness</a:t>
            </a:r>
          </a:p>
        </p:txBody>
      </p:sp>
      <p:sp>
        <p:nvSpPr>
          <p:cNvPr id="51" name="TextBox 50"/>
          <p:cNvSpPr txBox="1"/>
          <p:nvPr/>
        </p:nvSpPr>
        <p:spPr>
          <a:xfrm>
            <a:off x="1901952" y="4873752"/>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A 0–100 score per topic, recomputed from the last seven days.</a:t>
            </a:r>
          </a:p>
        </p:txBody>
      </p:sp>
      <p:sp>
        <p:nvSpPr>
          <p:cNvPr id="52" name="Rounded Rectangle 51"/>
          <p:cNvSpPr/>
          <p:nvPr/>
        </p:nvSpPr>
        <p:spPr>
          <a:xfrm>
            <a:off x="5038344" y="4480560"/>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53" name="Rectangle 52"/>
          <p:cNvSpPr/>
          <p:nvPr/>
        </p:nvSpPr>
        <p:spPr>
          <a:xfrm>
            <a:off x="5054803" y="4590288"/>
            <a:ext cx="41148" cy="859536"/>
          </a:xfrm>
          <a:prstGeom prst="rect">
            <a:avLst/>
          </a:prstGeom>
          <a:solidFill>
            <a:srgbClr val="B0781C"/>
          </a:solidFill>
          <a:ln>
            <a:noFill/>
          </a:ln>
          <a:effectLst/>
        </p:spPr>
        <p:txBody>
          <a:bodyPr rtlCol="0" anchor="ctr" wrap="square"/>
          <a:lstStyle/>
          <a:p>
            <a:pPr algn="ctr"/>
          </a:p>
        </p:txBody>
      </p:sp>
      <p:sp>
        <p:nvSpPr>
          <p:cNvPr id="54" name="TextBox 53"/>
          <p:cNvSpPr txBox="1"/>
          <p:nvPr/>
        </p:nvSpPr>
        <p:spPr>
          <a:xfrm>
            <a:off x="7799831" y="4590288"/>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08</a:t>
            </a:r>
          </a:p>
        </p:txBody>
      </p:sp>
      <p:sp>
        <p:nvSpPr>
          <p:cNvPr id="55" name="TextBox 54"/>
          <p:cNvSpPr txBox="1"/>
          <p:nvPr/>
        </p:nvSpPr>
        <p:spPr>
          <a:xfrm>
            <a:off x="5221224" y="4617720"/>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Gamification</a:t>
            </a:r>
          </a:p>
        </p:txBody>
      </p:sp>
      <p:sp>
        <p:nvSpPr>
          <p:cNvPr id="56" name="TextBox 55"/>
          <p:cNvSpPr txBox="1"/>
          <p:nvPr/>
        </p:nvSpPr>
        <p:spPr>
          <a:xfrm>
            <a:off x="5221224" y="4873752"/>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XP, levels, streaks, daily quests and achievements for consistency.</a:t>
            </a:r>
          </a:p>
        </p:txBody>
      </p:sp>
      <p:sp>
        <p:nvSpPr>
          <p:cNvPr id="57" name="Rounded Rectangle 56"/>
          <p:cNvSpPr/>
          <p:nvPr/>
        </p:nvSpPr>
        <p:spPr>
          <a:xfrm>
            <a:off x="8357616" y="4480560"/>
            <a:ext cx="3154680" cy="1078992"/>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58" name="Rectangle 57"/>
          <p:cNvSpPr/>
          <p:nvPr/>
        </p:nvSpPr>
        <p:spPr>
          <a:xfrm>
            <a:off x="8374075" y="4590288"/>
            <a:ext cx="41148" cy="859536"/>
          </a:xfrm>
          <a:prstGeom prst="rect">
            <a:avLst/>
          </a:prstGeom>
          <a:solidFill>
            <a:srgbClr val="B0781C"/>
          </a:solidFill>
          <a:ln>
            <a:noFill/>
          </a:ln>
          <a:effectLst/>
        </p:spPr>
        <p:txBody>
          <a:bodyPr rtlCol="0" anchor="ctr" wrap="square"/>
          <a:lstStyle/>
          <a:p>
            <a:pPr algn="ctr"/>
          </a:p>
        </p:txBody>
      </p:sp>
      <p:sp>
        <p:nvSpPr>
          <p:cNvPr id="59" name="TextBox 58"/>
          <p:cNvSpPr txBox="1"/>
          <p:nvPr/>
        </p:nvSpPr>
        <p:spPr>
          <a:xfrm>
            <a:off x="11119104" y="4590288"/>
            <a:ext cx="256032" cy="164592"/>
          </a:xfrm>
          <a:prstGeom prst="rect">
            <a:avLst/>
          </a:prstGeom>
          <a:noFill/>
        </p:spPr>
        <p:txBody>
          <a:bodyPr wrap="square" anchor="t" lIns="0" rIns="0" tIns="0" bIns="0">
            <a:noAutofit/>
          </a:bodyPr>
          <a:lstStyle/>
          <a:p>
            <a:pPr algn="r">
              <a:lnSpc>
                <a:spcPct val="112000"/>
              </a:lnSpc>
              <a:spcAft>
                <a:spcPts val="0"/>
              </a:spcAft>
            </a:pPr>
            <a:r>
              <a:rPr sz="680" b="1" i="0">
                <a:solidFill>
                  <a:srgbClr val="77859A"/>
                </a:solidFill>
                <a:latin typeface="Calibri"/>
              </a:rPr>
              <a:t>09</a:t>
            </a:r>
          </a:p>
        </p:txBody>
      </p:sp>
      <p:sp>
        <p:nvSpPr>
          <p:cNvPr id="60" name="TextBox 59"/>
          <p:cNvSpPr txBox="1"/>
          <p:nvPr/>
        </p:nvSpPr>
        <p:spPr>
          <a:xfrm>
            <a:off x="8540496" y="4617720"/>
            <a:ext cx="2514600" cy="219456"/>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AI assistant</a:t>
            </a:r>
          </a:p>
        </p:txBody>
      </p:sp>
      <p:sp>
        <p:nvSpPr>
          <p:cNvPr id="61" name="TextBox 60"/>
          <p:cNvSpPr txBox="1"/>
          <p:nvPr/>
        </p:nvSpPr>
        <p:spPr>
          <a:xfrm>
            <a:off x="8540496" y="4873752"/>
            <a:ext cx="2788920" cy="566928"/>
          </a:xfrm>
          <a:prstGeom prst="rect">
            <a:avLst/>
          </a:prstGeom>
          <a:noFill/>
        </p:spPr>
        <p:txBody>
          <a:bodyPr wrap="square" anchor="t" lIns="0" rIns="0" tIns="0" bIns="0">
            <a:noAutofit/>
          </a:bodyPr>
          <a:lstStyle/>
          <a:p>
            <a:pPr algn="l">
              <a:lnSpc>
                <a:spcPct val="118000"/>
              </a:lnSpc>
              <a:spcAft>
                <a:spcPts val="0"/>
              </a:spcAft>
            </a:pPr>
            <a:r>
              <a:rPr sz="869" b="0" i="0">
                <a:solidFill>
                  <a:srgbClr val="77859A"/>
                </a:solidFill>
                <a:latin typeface="Calibri"/>
              </a:rPr>
              <a:t>A study chat with six-model fallback, streaming and JSON repair.</a:t>
            </a:r>
          </a:p>
        </p:txBody>
      </p:sp>
      <p:sp>
        <p:nvSpPr>
          <p:cNvPr id="62" name="TextBox 61"/>
          <p:cNvSpPr txBox="1"/>
          <p:nvPr/>
        </p:nvSpPr>
        <p:spPr>
          <a:xfrm>
            <a:off x="566928" y="5760720"/>
            <a:ext cx="11064240" cy="274320"/>
          </a:xfrm>
          <a:prstGeom prst="rect">
            <a:avLst/>
          </a:prstGeom>
          <a:noFill/>
        </p:spPr>
        <p:txBody>
          <a:bodyPr wrap="square" anchor="t" lIns="0" rIns="0" tIns="0" bIns="0">
            <a:noAutofit/>
          </a:bodyPr>
          <a:lstStyle/>
          <a:p>
            <a:pPr algn="l">
              <a:lnSpc>
                <a:spcPct val="112000"/>
              </a:lnSpc>
              <a:spcAft>
                <a:spcPts val="0"/>
              </a:spcAft>
            </a:pPr>
            <a:r>
              <a:rPr sz="919" b="0" i="1">
                <a:solidFill>
                  <a:srgbClr val="3D4A5C"/>
                </a:solidFill>
                <a:latin typeface="Calibri"/>
              </a:rPr>
              <a:t>Every module writes to the same local store — which is why the third lane can change what the second lane does tomorrow.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06 · ARCHITECTURE</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A browser-first architecture with optional services</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The core study loop keeps working with no server; AI and identity are services, not dependencies.</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THE SYSTEM</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08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1700784" y="1792224"/>
            <a:ext cx="7004304" cy="859536"/>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12" name="Rounded Rectangle 11"/>
          <p:cNvSpPr/>
          <p:nvPr/>
        </p:nvSpPr>
        <p:spPr>
          <a:xfrm>
            <a:off x="566928" y="1792224"/>
            <a:ext cx="1005840" cy="859536"/>
          </a:xfrm>
          <a:prstGeom prst="roundRect">
            <a:avLst>
              <a:gd name="adj" fmla="val 5000"/>
            </a:avLst>
          </a:prstGeom>
          <a:solidFill>
            <a:srgbClr val="0A565C"/>
          </a:solidFill>
          <a:ln>
            <a:noFill/>
          </a:ln>
          <a:effectLst/>
        </p:spPr>
        <p:txBody>
          <a:bodyPr rtlCol="0" anchor="ctr" wrap="square"/>
          <a:lstStyle/>
          <a:p>
            <a:pPr algn="ctr"/>
          </a:p>
        </p:txBody>
      </p:sp>
      <p:sp>
        <p:nvSpPr>
          <p:cNvPr id="13" name="TextBox 12"/>
          <p:cNvSpPr txBox="1"/>
          <p:nvPr/>
        </p:nvSpPr>
        <p:spPr>
          <a:xfrm>
            <a:off x="566928" y="1792224"/>
            <a:ext cx="1005840" cy="859536"/>
          </a:xfrm>
          <a:prstGeom prst="rect">
            <a:avLst/>
          </a:prstGeom>
          <a:noFill/>
        </p:spPr>
        <p:txBody>
          <a:bodyPr wrap="square" anchor="ctr" lIns="0" rIns="0" tIns="0" bIns="0">
            <a:noAutofit/>
          </a:bodyPr>
          <a:lstStyle/>
          <a:p>
            <a:pPr algn="ctr">
              <a:lnSpc>
                <a:spcPct val="110000"/>
              </a:lnSpc>
              <a:spcAft>
                <a:spcPts val="0"/>
              </a:spcAft>
            </a:pPr>
            <a:r>
              <a:rPr sz="780" b="1" i="0">
                <a:solidFill>
                  <a:srgbClr val="FFFFFF"/>
                </a:solidFill>
                <a:latin typeface="Calibri"/>
              </a:rPr>
              <a:t>CLIENT</a:t>
            </a:r>
          </a:p>
        </p:txBody>
      </p:sp>
      <p:sp>
        <p:nvSpPr>
          <p:cNvPr id="14" name="Rounded Rectangle 13"/>
          <p:cNvSpPr/>
          <p:nvPr/>
        </p:nvSpPr>
        <p:spPr>
          <a:xfrm>
            <a:off x="1810512" y="1975104"/>
            <a:ext cx="2188464"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React 19 + Vite SPA</a:t>
            </a:r>
          </a:p>
        </p:txBody>
      </p:sp>
      <p:sp>
        <p:nvSpPr>
          <p:cNvPr id="15" name="Rounded Rectangle 14"/>
          <p:cNvSpPr/>
          <p:nvPr/>
        </p:nvSpPr>
        <p:spPr>
          <a:xfrm>
            <a:off x="4108704" y="1975104"/>
            <a:ext cx="2188464"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46 routed views</a:t>
            </a:r>
          </a:p>
        </p:txBody>
      </p:sp>
      <p:sp>
        <p:nvSpPr>
          <p:cNvPr id="16" name="Rounded Rectangle 15"/>
          <p:cNvSpPr/>
          <p:nvPr/>
        </p:nvSpPr>
        <p:spPr>
          <a:xfrm>
            <a:off x="6406895" y="1975104"/>
            <a:ext cx="2188464"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Responsive + theme</a:t>
            </a:r>
          </a:p>
        </p:txBody>
      </p:sp>
      <p:cxnSp>
        <p:nvCxnSpPr>
          <p:cNvPr id="17" name="Connector 16"/>
          <p:cNvCxnSpPr/>
          <p:nvPr/>
        </p:nvCxnSpPr>
        <p:spPr>
          <a:xfrm>
            <a:off x="5120640" y="2651760"/>
            <a:ext cx="0" cy="146304"/>
          </a:xfrm>
          <a:prstGeom prst="line">
            <a:avLst/>
          </a:prstGeom>
          <a:ln w="1524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700784" y="2798064"/>
            <a:ext cx="7004304" cy="859536"/>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19" name="Rounded Rectangle 18"/>
          <p:cNvSpPr/>
          <p:nvPr/>
        </p:nvSpPr>
        <p:spPr>
          <a:xfrm>
            <a:off x="566928" y="2798064"/>
            <a:ext cx="1005840" cy="859536"/>
          </a:xfrm>
          <a:prstGeom prst="roundRect">
            <a:avLst>
              <a:gd name="adj" fmla="val 5000"/>
            </a:avLst>
          </a:prstGeom>
          <a:solidFill>
            <a:srgbClr val="0A565C"/>
          </a:solidFill>
          <a:ln>
            <a:noFill/>
          </a:ln>
          <a:effectLst/>
        </p:spPr>
        <p:txBody>
          <a:bodyPr rtlCol="0" anchor="ctr" wrap="square"/>
          <a:lstStyle/>
          <a:p>
            <a:pPr algn="ctr"/>
          </a:p>
        </p:txBody>
      </p:sp>
      <p:sp>
        <p:nvSpPr>
          <p:cNvPr id="20" name="TextBox 19"/>
          <p:cNvSpPr txBox="1"/>
          <p:nvPr/>
        </p:nvSpPr>
        <p:spPr>
          <a:xfrm>
            <a:off x="566928" y="2798064"/>
            <a:ext cx="1005840" cy="859536"/>
          </a:xfrm>
          <a:prstGeom prst="rect">
            <a:avLst/>
          </a:prstGeom>
          <a:noFill/>
        </p:spPr>
        <p:txBody>
          <a:bodyPr wrap="square" anchor="ctr" lIns="0" rIns="0" tIns="0" bIns="0">
            <a:noAutofit/>
          </a:bodyPr>
          <a:lstStyle/>
          <a:p>
            <a:pPr algn="ctr">
              <a:lnSpc>
                <a:spcPct val="110000"/>
              </a:lnSpc>
              <a:spcAft>
                <a:spcPts val="0"/>
              </a:spcAft>
            </a:pPr>
            <a:r>
              <a:rPr sz="780" b="1" i="0">
                <a:solidFill>
                  <a:srgbClr val="FFFFFF"/>
                </a:solidFill>
                <a:latin typeface="Calibri"/>
              </a:rPr>
              <a:t>DOMAIN</a:t>
            </a:r>
          </a:p>
          <a:p>
            <a:pPr algn="ctr">
              <a:lnSpc>
                <a:spcPct val="110000"/>
              </a:lnSpc>
              <a:spcAft>
                <a:spcPts val="0"/>
              </a:spcAft>
            </a:pPr>
            <a:r>
              <a:rPr sz="780" b="1" i="0">
                <a:solidFill>
                  <a:srgbClr val="FFFFFF"/>
                </a:solidFill>
                <a:latin typeface="Calibri"/>
              </a:rPr>
              <a:t>LOGIC</a:t>
            </a:r>
          </a:p>
        </p:txBody>
      </p:sp>
      <p:sp>
        <p:nvSpPr>
          <p:cNvPr id="21" name="Rounded Rectangle 20"/>
          <p:cNvSpPr/>
          <p:nvPr/>
        </p:nvSpPr>
        <p:spPr>
          <a:xfrm>
            <a:off x="1810512" y="2980944"/>
            <a:ext cx="1613916"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Adaptive planner</a:t>
            </a:r>
          </a:p>
        </p:txBody>
      </p:sp>
      <p:sp>
        <p:nvSpPr>
          <p:cNvPr id="22" name="Rounded Rectangle 21"/>
          <p:cNvSpPr/>
          <p:nvPr/>
        </p:nvSpPr>
        <p:spPr>
          <a:xfrm>
            <a:off x="3534156" y="2980944"/>
            <a:ext cx="1613916"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SM-2 scheduler</a:t>
            </a:r>
          </a:p>
        </p:txBody>
      </p:sp>
      <p:sp>
        <p:nvSpPr>
          <p:cNvPr id="23" name="Rounded Rectangle 22"/>
          <p:cNvSpPr/>
          <p:nvPr/>
        </p:nvSpPr>
        <p:spPr>
          <a:xfrm>
            <a:off x="5257800" y="2980944"/>
            <a:ext cx="1613916"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Weakness detector</a:t>
            </a:r>
          </a:p>
        </p:txBody>
      </p:sp>
      <p:sp>
        <p:nvSpPr>
          <p:cNvPr id="24" name="Rounded Rectangle 23"/>
          <p:cNvSpPr/>
          <p:nvPr/>
        </p:nvSpPr>
        <p:spPr>
          <a:xfrm>
            <a:off x="6981444" y="2980944"/>
            <a:ext cx="1613916"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Gamification</a:t>
            </a:r>
          </a:p>
        </p:txBody>
      </p:sp>
      <p:cxnSp>
        <p:nvCxnSpPr>
          <p:cNvPr id="25" name="Connector 24"/>
          <p:cNvCxnSpPr/>
          <p:nvPr/>
        </p:nvCxnSpPr>
        <p:spPr>
          <a:xfrm>
            <a:off x="5120640" y="3657600"/>
            <a:ext cx="0" cy="146304"/>
          </a:xfrm>
          <a:prstGeom prst="line">
            <a:avLst/>
          </a:prstGeom>
          <a:ln w="1524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700784" y="3803904"/>
            <a:ext cx="7004304" cy="859536"/>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27" name="Rounded Rectangle 26"/>
          <p:cNvSpPr/>
          <p:nvPr/>
        </p:nvSpPr>
        <p:spPr>
          <a:xfrm>
            <a:off x="566928" y="3803904"/>
            <a:ext cx="1005840" cy="859536"/>
          </a:xfrm>
          <a:prstGeom prst="roundRect">
            <a:avLst>
              <a:gd name="adj" fmla="val 5000"/>
            </a:avLst>
          </a:prstGeom>
          <a:solidFill>
            <a:srgbClr val="0A565C"/>
          </a:solidFill>
          <a:ln>
            <a:noFill/>
          </a:ln>
          <a:effectLst/>
        </p:spPr>
        <p:txBody>
          <a:bodyPr rtlCol="0" anchor="ctr" wrap="square"/>
          <a:lstStyle/>
          <a:p>
            <a:pPr algn="ctr"/>
          </a:p>
        </p:txBody>
      </p:sp>
      <p:sp>
        <p:nvSpPr>
          <p:cNvPr id="28" name="TextBox 27"/>
          <p:cNvSpPr txBox="1"/>
          <p:nvPr/>
        </p:nvSpPr>
        <p:spPr>
          <a:xfrm>
            <a:off x="566928" y="3803904"/>
            <a:ext cx="1005840" cy="859536"/>
          </a:xfrm>
          <a:prstGeom prst="rect">
            <a:avLst/>
          </a:prstGeom>
          <a:noFill/>
        </p:spPr>
        <p:txBody>
          <a:bodyPr wrap="square" anchor="ctr" lIns="0" rIns="0" tIns="0" bIns="0">
            <a:noAutofit/>
          </a:bodyPr>
          <a:lstStyle/>
          <a:p>
            <a:pPr algn="ctr">
              <a:lnSpc>
                <a:spcPct val="110000"/>
              </a:lnSpc>
              <a:spcAft>
                <a:spcPts val="0"/>
              </a:spcAft>
            </a:pPr>
            <a:r>
              <a:rPr sz="780" b="1" i="0">
                <a:solidFill>
                  <a:srgbClr val="FFFFFF"/>
                </a:solidFill>
                <a:latin typeface="Calibri"/>
              </a:rPr>
              <a:t>SERVICES</a:t>
            </a:r>
          </a:p>
        </p:txBody>
      </p:sp>
      <p:sp>
        <p:nvSpPr>
          <p:cNvPr id="29" name="Rounded Rectangle 28"/>
          <p:cNvSpPr/>
          <p:nvPr/>
        </p:nvSpPr>
        <p:spPr>
          <a:xfrm>
            <a:off x="1810512" y="3986784"/>
            <a:ext cx="3337560"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AI service · fallback, streaming, JSON repair</a:t>
            </a:r>
          </a:p>
        </p:txBody>
      </p:sp>
      <p:sp>
        <p:nvSpPr>
          <p:cNvPr id="30" name="Rounded Rectangle 29"/>
          <p:cNvSpPr/>
          <p:nvPr/>
        </p:nvSpPr>
        <p:spPr>
          <a:xfrm>
            <a:off x="5257800" y="3986784"/>
            <a:ext cx="3337560"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File parser · OCR, PDF, DOCX</a:t>
            </a:r>
          </a:p>
        </p:txBody>
      </p:sp>
      <p:cxnSp>
        <p:nvCxnSpPr>
          <p:cNvPr id="31" name="Connector 30"/>
          <p:cNvCxnSpPr/>
          <p:nvPr/>
        </p:nvCxnSpPr>
        <p:spPr>
          <a:xfrm>
            <a:off x="5120640" y="4663440"/>
            <a:ext cx="0" cy="146304"/>
          </a:xfrm>
          <a:prstGeom prst="line">
            <a:avLst/>
          </a:prstGeom>
          <a:ln w="15240">
            <a:solidFill>
              <a:srgbClr val="0F7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700784" y="4809744"/>
            <a:ext cx="7004304" cy="859536"/>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33" name="Rounded Rectangle 32"/>
          <p:cNvSpPr/>
          <p:nvPr/>
        </p:nvSpPr>
        <p:spPr>
          <a:xfrm>
            <a:off x="566928" y="4809744"/>
            <a:ext cx="1005840" cy="859536"/>
          </a:xfrm>
          <a:prstGeom prst="roundRect">
            <a:avLst>
              <a:gd name="adj" fmla="val 5000"/>
            </a:avLst>
          </a:prstGeom>
          <a:solidFill>
            <a:srgbClr val="0A565C"/>
          </a:solidFill>
          <a:ln>
            <a:noFill/>
          </a:ln>
          <a:effectLst/>
        </p:spPr>
        <p:txBody>
          <a:bodyPr rtlCol="0" anchor="ctr" wrap="square"/>
          <a:lstStyle/>
          <a:p>
            <a:pPr algn="ctr"/>
          </a:p>
        </p:txBody>
      </p:sp>
      <p:sp>
        <p:nvSpPr>
          <p:cNvPr id="34" name="TextBox 33"/>
          <p:cNvSpPr txBox="1"/>
          <p:nvPr/>
        </p:nvSpPr>
        <p:spPr>
          <a:xfrm>
            <a:off x="566928" y="4809744"/>
            <a:ext cx="1005840" cy="859536"/>
          </a:xfrm>
          <a:prstGeom prst="rect">
            <a:avLst/>
          </a:prstGeom>
          <a:noFill/>
        </p:spPr>
        <p:txBody>
          <a:bodyPr wrap="square" anchor="ctr" lIns="0" rIns="0" tIns="0" bIns="0">
            <a:noAutofit/>
          </a:bodyPr>
          <a:lstStyle/>
          <a:p>
            <a:pPr algn="ctr">
              <a:lnSpc>
                <a:spcPct val="110000"/>
              </a:lnSpc>
              <a:spcAft>
                <a:spcPts val="0"/>
              </a:spcAft>
            </a:pPr>
            <a:r>
              <a:rPr sz="780" b="1" i="0">
                <a:solidFill>
                  <a:srgbClr val="FFFFFF"/>
                </a:solidFill>
                <a:latin typeface="Calibri"/>
              </a:rPr>
              <a:t>DATA &amp;</a:t>
            </a:r>
          </a:p>
          <a:p>
            <a:pPr algn="ctr">
              <a:lnSpc>
                <a:spcPct val="110000"/>
              </a:lnSpc>
              <a:spcAft>
                <a:spcPts val="0"/>
              </a:spcAft>
            </a:pPr>
            <a:r>
              <a:rPr sz="780" b="1" i="0">
                <a:solidFill>
                  <a:srgbClr val="FFFFFF"/>
                </a:solidFill>
                <a:latin typeface="Calibri"/>
              </a:rPr>
              <a:t>IDENTITY</a:t>
            </a:r>
          </a:p>
        </p:txBody>
      </p:sp>
      <p:sp>
        <p:nvSpPr>
          <p:cNvPr id="35" name="Rounded Rectangle 34"/>
          <p:cNvSpPr/>
          <p:nvPr/>
        </p:nvSpPr>
        <p:spPr>
          <a:xfrm>
            <a:off x="1810512" y="4992624"/>
            <a:ext cx="3337560"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Dexie.js · 40 tables · offline</a:t>
            </a:r>
          </a:p>
        </p:txBody>
      </p:sp>
      <p:sp>
        <p:nvSpPr>
          <p:cNvPr id="36" name="Rounded Rectangle 35"/>
          <p:cNvSpPr/>
          <p:nvPr/>
        </p:nvSpPr>
        <p:spPr>
          <a:xfrm>
            <a:off x="5257800" y="4992624"/>
            <a:ext cx="3337560" cy="493776"/>
          </a:xfrm>
          <a:prstGeom prst="roundRect">
            <a:avLst>
              <a:gd name="adj" fmla="val 12000"/>
            </a:avLst>
          </a:prstGeom>
          <a:solidFill>
            <a:srgbClr val="FFFFFF"/>
          </a:solidFill>
          <a:ln w="9525">
            <a:solidFill>
              <a:srgbClr val="DCE4EA"/>
            </a:solidFill>
          </a:ln>
          <a:effectLst/>
        </p:spPr>
        <p:txBody>
          <a:bodyPr rtlCol="0" anchor="ctr" wrap="square" lIns="54864" rIns="54864" tIns="0" bIns="0"/>
          <a:lstStyle/>
          <a:p>
            <a:pPr algn="ctr"/>
            <a:r>
              <a:rPr sz="840" b="0">
                <a:solidFill>
                  <a:srgbClr val="152238"/>
                </a:solidFill>
                <a:latin typeface="Calibri"/>
              </a:rPr>
              <a:t>Firebase Auth · optional</a:t>
            </a:r>
          </a:p>
        </p:txBody>
      </p:sp>
      <p:sp>
        <p:nvSpPr>
          <p:cNvPr id="37" name="TextBox 36"/>
          <p:cNvSpPr txBox="1"/>
          <p:nvPr/>
        </p:nvSpPr>
        <p:spPr>
          <a:xfrm>
            <a:off x="8887968" y="1773936"/>
            <a:ext cx="2743200" cy="182880"/>
          </a:xfrm>
          <a:prstGeom prst="rect">
            <a:avLst/>
          </a:prstGeom>
          <a:noFill/>
        </p:spPr>
        <p:txBody>
          <a:bodyPr wrap="square" anchor="t" lIns="0" rIns="0" tIns="0" bIns="0">
            <a:noAutofit/>
          </a:bodyPr>
          <a:lstStyle/>
          <a:p>
            <a:pPr algn="l">
              <a:lnSpc>
                <a:spcPct val="112000"/>
              </a:lnSpc>
              <a:spcAft>
                <a:spcPts val="0"/>
              </a:spcAft>
            </a:pPr>
            <a:r>
              <a:rPr sz="780" b="1" i="0">
                <a:solidFill>
                  <a:srgbClr val="77859A"/>
                </a:solidFill>
                <a:latin typeface="Calibri"/>
              </a:rPr>
              <a:t>EXTERNAL SERVICES</a:t>
            </a:r>
          </a:p>
        </p:txBody>
      </p:sp>
      <p:sp>
        <p:nvSpPr>
          <p:cNvPr id="38" name="Rounded Rectangle 37"/>
          <p:cNvSpPr/>
          <p:nvPr/>
        </p:nvSpPr>
        <p:spPr>
          <a:xfrm>
            <a:off x="8887968" y="3803904"/>
            <a:ext cx="2743200" cy="859536"/>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9" name="Rectangle 38"/>
          <p:cNvSpPr/>
          <p:nvPr/>
        </p:nvSpPr>
        <p:spPr>
          <a:xfrm>
            <a:off x="8904427" y="3913632"/>
            <a:ext cx="41148" cy="640080"/>
          </a:xfrm>
          <a:prstGeom prst="rect">
            <a:avLst/>
          </a:prstGeom>
          <a:solidFill>
            <a:srgbClr val="B0781C"/>
          </a:solidFill>
          <a:ln>
            <a:noFill/>
          </a:ln>
          <a:effectLst/>
        </p:spPr>
        <p:txBody>
          <a:bodyPr rtlCol="0" anchor="ctr" wrap="square"/>
          <a:lstStyle/>
          <a:p>
            <a:pPr algn="ctr"/>
          </a:p>
        </p:txBody>
      </p:sp>
      <p:sp>
        <p:nvSpPr>
          <p:cNvPr id="40" name="TextBox 39"/>
          <p:cNvSpPr txBox="1"/>
          <p:nvPr/>
        </p:nvSpPr>
        <p:spPr>
          <a:xfrm>
            <a:off x="9070848" y="3922776"/>
            <a:ext cx="2423160" cy="201168"/>
          </a:xfrm>
          <a:prstGeom prst="rect">
            <a:avLst/>
          </a:prstGeom>
          <a:noFill/>
        </p:spPr>
        <p:txBody>
          <a:bodyPr wrap="square" anchor="t" lIns="0" rIns="0" tIns="0" bIns="0">
            <a:noAutofit/>
          </a:bodyPr>
          <a:lstStyle/>
          <a:p>
            <a:pPr algn="l">
              <a:lnSpc>
                <a:spcPct val="112000"/>
              </a:lnSpc>
              <a:spcAft>
                <a:spcPts val="0"/>
              </a:spcAft>
            </a:pPr>
            <a:r>
              <a:rPr sz="919" b="1" i="0">
                <a:solidFill>
                  <a:srgbClr val="152238"/>
                </a:solidFill>
                <a:latin typeface="Calibri"/>
              </a:rPr>
              <a:t>OpenRouter API</a:t>
            </a:r>
          </a:p>
        </p:txBody>
      </p:sp>
      <p:sp>
        <p:nvSpPr>
          <p:cNvPr id="41" name="TextBox 40"/>
          <p:cNvSpPr txBox="1"/>
          <p:nvPr/>
        </p:nvSpPr>
        <p:spPr>
          <a:xfrm>
            <a:off x="9070848" y="4133088"/>
            <a:ext cx="2395728" cy="457200"/>
          </a:xfrm>
          <a:prstGeom prst="rect">
            <a:avLst/>
          </a:prstGeom>
          <a:noFill/>
        </p:spPr>
        <p:txBody>
          <a:bodyPr wrap="square" anchor="t" lIns="0" rIns="0" tIns="0" bIns="0">
            <a:noAutofit/>
          </a:bodyPr>
          <a:lstStyle/>
          <a:p>
            <a:pPr algn="l">
              <a:lnSpc>
                <a:spcPct val="115000"/>
              </a:lnSpc>
              <a:spcAft>
                <a:spcPts val="0"/>
              </a:spcAft>
            </a:pPr>
            <a:r>
              <a:rPr sz="760" b="0" i="0">
                <a:solidFill>
                  <a:srgbClr val="77859A"/>
                </a:solidFill>
                <a:latin typeface="Calibri"/>
              </a:rPr>
              <a:t>Free-tier models · 6-model fallback · streaming · JSON repair</a:t>
            </a:r>
          </a:p>
        </p:txBody>
      </p:sp>
      <p:cxnSp>
        <p:nvCxnSpPr>
          <p:cNvPr id="42" name="Connector 41"/>
          <p:cNvCxnSpPr/>
          <p:nvPr/>
        </p:nvCxnSpPr>
        <p:spPr>
          <a:xfrm>
            <a:off x="8723376" y="4233672"/>
            <a:ext cx="146304" cy="0"/>
          </a:xfrm>
          <a:prstGeom prst="line">
            <a:avLst/>
          </a:prstGeom>
          <a:ln w="12700">
            <a:solidFill>
              <a:srgbClr val="B0781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8887968" y="4809744"/>
            <a:ext cx="2743200" cy="859536"/>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44" name="Rectangle 43"/>
          <p:cNvSpPr/>
          <p:nvPr/>
        </p:nvSpPr>
        <p:spPr>
          <a:xfrm>
            <a:off x="8904427" y="4919472"/>
            <a:ext cx="41148" cy="640080"/>
          </a:xfrm>
          <a:prstGeom prst="rect">
            <a:avLst/>
          </a:prstGeom>
          <a:solidFill>
            <a:srgbClr val="B0781C"/>
          </a:solidFill>
          <a:ln>
            <a:noFill/>
          </a:ln>
          <a:effectLst/>
        </p:spPr>
        <p:txBody>
          <a:bodyPr rtlCol="0" anchor="ctr" wrap="square"/>
          <a:lstStyle/>
          <a:p>
            <a:pPr algn="ctr"/>
          </a:p>
        </p:txBody>
      </p:sp>
      <p:sp>
        <p:nvSpPr>
          <p:cNvPr id="45" name="TextBox 44"/>
          <p:cNvSpPr txBox="1"/>
          <p:nvPr/>
        </p:nvSpPr>
        <p:spPr>
          <a:xfrm>
            <a:off x="9070848" y="4928616"/>
            <a:ext cx="2423160" cy="201168"/>
          </a:xfrm>
          <a:prstGeom prst="rect">
            <a:avLst/>
          </a:prstGeom>
          <a:noFill/>
        </p:spPr>
        <p:txBody>
          <a:bodyPr wrap="square" anchor="t" lIns="0" rIns="0" tIns="0" bIns="0">
            <a:noAutofit/>
          </a:bodyPr>
          <a:lstStyle/>
          <a:p>
            <a:pPr algn="l">
              <a:lnSpc>
                <a:spcPct val="112000"/>
              </a:lnSpc>
              <a:spcAft>
                <a:spcPts val="0"/>
              </a:spcAft>
            </a:pPr>
            <a:r>
              <a:rPr sz="919" b="1" i="0">
                <a:solidFill>
                  <a:srgbClr val="152238"/>
                </a:solidFill>
                <a:latin typeface="Calibri"/>
              </a:rPr>
              <a:t>Firebase Auth</a:t>
            </a:r>
          </a:p>
        </p:txBody>
      </p:sp>
      <p:sp>
        <p:nvSpPr>
          <p:cNvPr id="46" name="TextBox 45"/>
          <p:cNvSpPr txBox="1"/>
          <p:nvPr/>
        </p:nvSpPr>
        <p:spPr>
          <a:xfrm>
            <a:off x="9070848" y="5138928"/>
            <a:ext cx="2395728" cy="457200"/>
          </a:xfrm>
          <a:prstGeom prst="rect">
            <a:avLst/>
          </a:prstGeom>
          <a:noFill/>
        </p:spPr>
        <p:txBody>
          <a:bodyPr wrap="square" anchor="t" lIns="0" rIns="0" tIns="0" bIns="0">
            <a:noAutofit/>
          </a:bodyPr>
          <a:lstStyle/>
          <a:p>
            <a:pPr algn="l">
              <a:lnSpc>
                <a:spcPct val="115000"/>
              </a:lnSpc>
              <a:spcAft>
                <a:spcPts val="0"/>
              </a:spcAft>
            </a:pPr>
            <a:r>
              <a:rPr sz="760" b="0" i="0">
                <a:solidFill>
                  <a:srgbClr val="77859A"/>
                </a:solidFill>
                <a:latin typeface="Calibri"/>
              </a:rPr>
              <a:t>Google, email and phone sign-in — optional</a:t>
            </a:r>
          </a:p>
        </p:txBody>
      </p:sp>
      <p:cxnSp>
        <p:nvCxnSpPr>
          <p:cNvPr id="47" name="Connector 46"/>
          <p:cNvCxnSpPr/>
          <p:nvPr/>
        </p:nvCxnSpPr>
        <p:spPr>
          <a:xfrm>
            <a:off x="8723376" y="5239512"/>
            <a:ext cx="146304" cy="0"/>
          </a:xfrm>
          <a:prstGeom prst="line">
            <a:avLst/>
          </a:prstGeom>
          <a:ln w="12700">
            <a:solidFill>
              <a:srgbClr val="B0781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887968" y="1792224"/>
            <a:ext cx="2743200" cy="1225296"/>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49" name="TextBox 48"/>
          <p:cNvSpPr txBox="1"/>
          <p:nvPr/>
        </p:nvSpPr>
        <p:spPr>
          <a:xfrm>
            <a:off x="9070848" y="1874519"/>
            <a:ext cx="2423160" cy="182880"/>
          </a:xfrm>
          <a:prstGeom prst="rect">
            <a:avLst/>
          </a:prstGeom>
          <a:noFill/>
        </p:spPr>
        <p:txBody>
          <a:bodyPr wrap="square" anchor="t" lIns="0" rIns="0" tIns="0" bIns="0">
            <a:noAutofit/>
          </a:bodyPr>
          <a:lstStyle/>
          <a:p>
            <a:pPr algn="l">
              <a:lnSpc>
                <a:spcPct val="112000"/>
              </a:lnSpc>
              <a:spcAft>
                <a:spcPts val="0"/>
              </a:spcAft>
            </a:pPr>
            <a:r>
              <a:rPr sz="740" b="1" i="0">
                <a:solidFill>
                  <a:srgbClr val="0F7A82"/>
                </a:solidFill>
                <a:latin typeface="Calibri"/>
              </a:rPr>
              <a:t>WHY IT MATTERS</a:t>
            </a:r>
          </a:p>
        </p:txBody>
      </p:sp>
      <p:sp>
        <p:nvSpPr>
          <p:cNvPr id="50" name="TextBox 49"/>
          <p:cNvSpPr txBox="1"/>
          <p:nvPr/>
        </p:nvSpPr>
        <p:spPr>
          <a:xfrm>
            <a:off x="9070848" y="2048256"/>
            <a:ext cx="2423160" cy="384048"/>
          </a:xfrm>
          <a:prstGeom prst="rect">
            <a:avLst/>
          </a:prstGeom>
          <a:noFill/>
        </p:spPr>
        <p:txBody>
          <a:bodyPr wrap="square" anchor="t" lIns="0" rIns="0" tIns="0" bIns="0">
            <a:noAutofit/>
          </a:bodyPr>
          <a:lstStyle/>
          <a:p>
            <a:pPr algn="l">
              <a:lnSpc>
                <a:spcPct val="116000"/>
              </a:lnSpc>
              <a:spcAft>
                <a:spcPts val="0"/>
              </a:spcAft>
            </a:pPr>
            <a:r>
              <a:rPr sz="760" b="0" i="0">
                <a:solidFill>
                  <a:srgbClr val="3D4A5C"/>
                </a:solidFill>
                <a:latin typeface="Calibri"/>
              </a:rPr>
              <a:t>Study continues on a weak connection; generated content is cached locally.</a:t>
            </a:r>
          </a:p>
        </p:txBody>
      </p:sp>
      <p:cxnSp>
        <p:nvCxnSpPr>
          <p:cNvPr id="51" name="Connector 50"/>
          <p:cNvCxnSpPr/>
          <p:nvPr/>
        </p:nvCxnSpPr>
        <p:spPr>
          <a:xfrm>
            <a:off x="9070848" y="2523744"/>
            <a:ext cx="292608" cy="0"/>
          </a:xfrm>
          <a:prstGeom prst="line">
            <a:avLst/>
          </a:prstGeom>
          <a:ln w="15240">
            <a:solidFill>
              <a:srgbClr val="152238"/>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436608" y="2450592"/>
            <a:ext cx="2057400" cy="164592"/>
          </a:xfrm>
          <a:prstGeom prst="rect">
            <a:avLst/>
          </a:prstGeom>
          <a:noFill/>
        </p:spPr>
        <p:txBody>
          <a:bodyPr wrap="square" anchor="t" lIns="0" rIns="0" tIns="0" bIns="0">
            <a:noAutofit/>
          </a:bodyPr>
          <a:lstStyle/>
          <a:p>
            <a:pPr algn="l">
              <a:lnSpc>
                <a:spcPct val="112000"/>
              </a:lnSpc>
              <a:spcAft>
                <a:spcPts val="0"/>
              </a:spcAft>
            </a:pPr>
            <a:r>
              <a:rPr sz="700" b="0" i="0">
                <a:solidFill>
                  <a:srgbClr val="77859A"/>
                </a:solidFill>
                <a:latin typeface="Calibri"/>
              </a:rPr>
              <a:t>Runs in the browser</a:t>
            </a:r>
          </a:p>
        </p:txBody>
      </p:sp>
      <p:cxnSp>
        <p:nvCxnSpPr>
          <p:cNvPr id="53" name="Connector 52"/>
          <p:cNvCxnSpPr/>
          <p:nvPr/>
        </p:nvCxnSpPr>
        <p:spPr>
          <a:xfrm>
            <a:off x="9070848" y="2779776"/>
            <a:ext cx="292608" cy="0"/>
          </a:xfrm>
          <a:prstGeom prst="line">
            <a:avLst/>
          </a:prstGeom>
          <a:ln w="15240">
            <a:solidFill>
              <a:srgbClr val="B0781C"/>
            </a:solidFill>
            <a:prstDash val="dash"/>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436608" y="2706624"/>
            <a:ext cx="2057400" cy="164592"/>
          </a:xfrm>
          <a:prstGeom prst="rect">
            <a:avLst/>
          </a:prstGeom>
          <a:noFill/>
        </p:spPr>
        <p:txBody>
          <a:bodyPr wrap="square" anchor="t" lIns="0" rIns="0" tIns="0" bIns="0">
            <a:noAutofit/>
          </a:bodyPr>
          <a:lstStyle/>
          <a:p>
            <a:pPr algn="l">
              <a:lnSpc>
                <a:spcPct val="112000"/>
              </a:lnSpc>
              <a:spcAft>
                <a:spcPts val="0"/>
              </a:spcAft>
            </a:pPr>
            <a:r>
              <a:rPr sz="700" b="0" i="0">
                <a:solidFill>
                  <a:srgbClr val="77859A"/>
                </a:solidFill>
                <a:latin typeface="Calibri"/>
              </a:rPr>
              <a:t>Needs the network</a:t>
            </a:r>
          </a:p>
        </p:txBody>
      </p:sp>
      <p:sp>
        <p:nvSpPr>
          <p:cNvPr id="55" name="Rounded Rectangle 54"/>
          <p:cNvSpPr/>
          <p:nvPr/>
        </p:nvSpPr>
        <p:spPr>
          <a:xfrm>
            <a:off x="566928" y="5870448"/>
            <a:ext cx="8138160" cy="402336"/>
          </a:xfrm>
          <a:prstGeom prst="roundRect">
            <a:avLst>
              <a:gd name="adj" fmla="val 30000"/>
            </a:avLst>
          </a:prstGeom>
          <a:solidFill>
            <a:srgbClr val="E6F2F2"/>
          </a:solidFill>
          <a:ln>
            <a:noFill/>
          </a:ln>
          <a:effectLst/>
        </p:spPr>
        <p:txBody>
          <a:bodyPr rtlCol="0" anchor="ctr" wrap="square"/>
          <a:lstStyle/>
          <a:p>
            <a:pPr algn="ctr"/>
          </a:p>
        </p:txBody>
      </p:sp>
      <p:sp>
        <p:nvSpPr>
          <p:cNvPr id="56" name="TextBox 55"/>
          <p:cNvSpPr txBox="1"/>
          <p:nvPr/>
        </p:nvSpPr>
        <p:spPr>
          <a:xfrm>
            <a:off x="786384" y="5961888"/>
            <a:ext cx="7772400" cy="228600"/>
          </a:xfrm>
          <a:prstGeom prst="rect">
            <a:avLst/>
          </a:prstGeom>
          <a:noFill/>
        </p:spPr>
        <p:txBody>
          <a:bodyPr wrap="square" anchor="t" lIns="0" rIns="0" tIns="0" bIns="0">
            <a:noAutofit/>
          </a:bodyPr>
          <a:lstStyle/>
          <a:p>
            <a:pPr algn="l">
              <a:lnSpc>
                <a:spcPct val="112000"/>
              </a:lnSpc>
              <a:spcAft>
                <a:spcPts val="0"/>
              </a:spcAft>
            </a:pPr>
            <a:r>
              <a:rPr sz="860" b="1" i="0">
                <a:solidFill>
                  <a:srgbClr val="0A565C"/>
                </a:solidFill>
                <a:latin typeface="Calibri"/>
              </a:rPr>
              <a:t>Privacy by default: attempts and notes stay in the browser; cloud is opt-in.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07 · METHOD</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Built in four phases, each ending in a working slice</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The project followed a vertical-slice method: every phase produced something runnable and testable, not a document.</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THE SYSTEM</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09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Pentagon 10"/>
          <p:cNvSpPr/>
          <p:nvPr/>
        </p:nvSpPr>
        <p:spPr>
          <a:xfrm>
            <a:off x="566928" y="1773936"/>
            <a:ext cx="2834640" cy="475488"/>
          </a:xfrm>
          <a:prstGeom prst="homePlate">
            <a:avLst/>
          </a:prstGeom>
          <a:solidFill>
            <a:srgbClr val="0F7A82"/>
          </a:solidFill>
          <a:ln>
            <a:noFill/>
          </a:ln>
          <a:effectLst/>
        </p:spPr>
        <p:txBody>
          <a:bodyPr rtlCol="0" anchor="ctr" lIns="164592" tIns="0" bIns="0"/>
          <a:lstStyle/>
          <a:p>
            <a:pPr algn="ctr"/>
            <a:r>
              <a:rPr sz="919" b="1">
                <a:solidFill>
                  <a:srgbClr val="FFFFFF"/>
                </a:solidFill>
                <a:latin typeface="Calibri"/>
              </a:rPr>
              <a:t>01  DISCOVER</a:t>
            </a:r>
          </a:p>
        </p:txBody>
      </p:sp>
      <p:sp>
        <p:nvSpPr>
          <p:cNvPr id="12" name="Rounded Rectangle 11"/>
          <p:cNvSpPr/>
          <p:nvPr/>
        </p:nvSpPr>
        <p:spPr>
          <a:xfrm>
            <a:off x="566928" y="2395728"/>
            <a:ext cx="2670048" cy="294436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13" name="Rectangle 12"/>
          <p:cNvSpPr/>
          <p:nvPr/>
        </p:nvSpPr>
        <p:spPr>
          <a:xfrm>
            <a:off x="583387" y="2505456"/>
            <a:ext cx="41148" cy="2724912"/>
          </a:xfrm>
          <a:prstGeom prst="rect">
            <a:avLst/>
          </a:prstGeom>
          <a:solidFill>
            <a:srgbClr val="0F7A82"/>
          </a:solidFill>
          <a:ln>
            <a:noFill/>
          </a:ln>
          <a:effectLst/>
        </p:spPr>
        <p:txBody>
          <a:bodyPr rtlCol="0" anchor="ctr" wrap="square"/>
          <a:lstStyle/>
          <a:p>
            <a:pPr algn="ctr"/>
          </a:p>
        </p:txBody>
      </p:sp>
      <p:sp>
        <p:nvSpPr>
          <p:cNvPr id="14" name="TextBox 13"/>
          <p:cNvSpPr txBox="1"/>
          <p:nvPr/>
        </p:nvSpPr>
        <p:spPr>
          <a:xfrm>
            <a:off x="749808" y="2542032"/>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77859A"/>
                </a:solidFill>
                <a:latin typeface="Calibri"/>
              </a:rPr>
              <a:t>ACTIVITIES</a:t>
            </a:r>
          </a:p>
        </p:txBody>
      </p:sp>
      <p:sp>
        <p:nvSpPr>
          <p:cNvPr id="15" name="TextBox 14"/>
          <p:cNvSpPr txBox="1"/>
          <p:nvPr/>
        </p:nvSpPr>
        <p:spPr>
          <a:xfrm>
            <a:off x="749808" y="2724912"/>
            <a:ext cx="2331720" cy="1097280"/>
          </a:xfrm>
          <a:prstGeom prst="rect">
            <a:avLst/>
          </a:prstGeom>
          <a:noFill/>
        </p:spPr>
        <p:txBody>
          <a:bodyPr wrap="square" anchor="t" lIns="0" rIns="0" tIns="0" bIns="0">
            <a:noAutofit/>
          </a:bodyPr>
          <a:lstStyle/>
          <a:p>
            <a:pPr algn="l">
              <a:lnSpc>
                <a:spcPct val="128000"/>
              </a:lnSpc>
              <a:spcAft>
                <a:spcPts val="0"/>
              </a:spcAft>
            </a:pPr>
            <a:r>
              <a:rPr sz="869" b="0" i="0">
                <a:solidFill>
                  <a:srgbClr val="3D4A5C"/>
                </a:solidFill>
                <a:latin typeface="Calibri"/>
              </a:rPr>
              <a:t>·  Peer interviews on study habits</a:t>
            </a:r>
          </a:p>
          <a:p>
            <a:pPr algn="l">
              <a:lnSpc>
                <a:spcPct val="128000"/>
              </a:lnSpc>
              <a:spcAft>
                <a:spcPts val="0"/>
              </a:spcAft>
            </a:pPr>
            <a:r>
              <a:rPr sz="869" b="0" i="0">
                <a:solidFill>
                  <a:srgbClr val="3D4A5C"/>
                </a:solidFill>
                <a:latin typeface="Calibri"/>
              </a:rPr>
              <a:t>·  Audit of existing study tools</a:t>
            </a:r>
          </a:p>
          <a:p>
            <a:pPr algn="l">
              <a:lnSpc>
                <a:spcPct val="128000"/>
              </a:lnSpc>
              <a:spcAft>
                <a:spcPts val="0"/>
              </a:spcAft>
            </a:pPr>
            <a:r>
              <a:rPr sz="869" b="0" i="0">
                <a:solidFill>
                  <a:srgbClr val="3D4A5C"/>
                </a:solidFill>
                <a:latin typeface="Calibri"/>
              </a:rPr>
              <a:t>·  Feature shortlist and constraints</a:t>
            </a:r>
          </a:p>
        </p:txBody>
      </p:sp>
      <p:sp>
        <p:nvSpPr>
          <p:cNvPr id="16" name="Rectangle 15"/>
          <p:cNvSpPr/>
          <p:nvPr/>
        </p:nvSpPr>
        <p:spPr>
          <a:xfrm>
            <a:off x="749808" y="3822191"/>
            <a:ext cx="2304288" cy="7315"/>
          </a:xfrm>
          <a:prstGeom prst="rect">
            <a:avLst/>
          </a:prstGeom>
          <a:solidFill>
            <a:srgbClr val="DCE4EA"/>
          </a:solidFill>
          <a:ln>
            <a:noFill/>
          </a:ln>
          <a:effectLst/>
        </p:spPr>
        <p:txBody>
          <a:bodyPr rtlCol="0" anchor="ctr" wrap="square"/>
          <a:lstStyle/>
          <a:p>
            <a:pPr algn="ctr"/>
          </a:p>
        </p:txBody>
      </p:sp>
      <p:sp>
        <p:nvSpPr>
          <p:cNvPr id="17" name="TextBox 16"/>
          <p:cNvSpPr txBox="1"/>
          <p:nvPr/>
        </p:nvSpPr>
        <p:spPr>
          <a:xfrm>
            <a:off x="749808" y="3895344"/>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0F7A82"/>
                </a:solidFill>
                <a:latin typeface="Calibri"/>
              </a:rPr>
              <a:t>ARTEFACT</a:t>
            </a:r>
          </a:p>
        </p:txBody>
      </p:sp>
      <p:sp>
        <p:nvSpPr>
          <p:cNvPr id="18" name="TextBox 17"/>
          <p:cNvSpPr txBox="1"/>
          <p:nvPr/>
        </p:nvSpPr>
        <p:spPr>
          <a:xfrm>
            <a:off x="749808" y="4059936"/>
            <a:ext cx="2331720" cy="365760"/>
          </a:xfrm>
          <a:prstGeom prst="rect">
            <a:avLst/>
          </a:prstGeom>
          <a:noFill/>
        </p:spPr>
        <p:txBody>
          <a:bodyPr wrap="square" anchor="t" lIns="0" rIns="0" tIns="0" bIns="0">
            <a:noAutofit/>
          </a:bodyPr>
          <a:lstStyle/>
          <a:p>
            <a:pPr algn="l">
              <a:lnSpc>
                <a:spcPct val="110000"/>
              </a:lnSpc>
              <a:spcAft>
                <a:spcPts val="0"/>
              </a:spcAft>
            </a:pPr>
            <a:r>
              <a:rPr sz="880" b="1" i="0">
                <a:solidFill>
                  <a:srgbClr val="152238"/>
                </a:solidFill>
                <a:latin typeface="Calibri"/>
              </a:rPr>
              <a:t>Problem statement + feature list</a:t>
            </a:r>
          </a:p>
        </p:txBody>
      </p:sp>
      <p:sp>
        <p:nvSpPr>
          <p:cNvPr id="19" name="Rectangle 18"/>
          <p:cNvSpPr/>
          <p:nvPr/>
        </p:nvSpPr>
        <p:spPr>
          <a:xfrm>
            <a:off x="749808" y="4498848"/>
            <a:ext cx="2304288" cy="7315"/>
          </a:xfrm>
          <a:prstGeom prst="rect">
            <a:avLst/>
          </a:prstGeom>
          <a:solidFill>
            <a:srgbClr val="DCE4EA"/>
          </a:solidFill>
          <a:ln>
            <a:noFill/>
          </a:ln>
          <a:effectLst/>
        </p:spPr>
        <p:txBody>
          <a:bodyPr rtlCol="0" anchor="ctr" wrap="square"/>
          <a:lstStyle/>
          <a:p>
            <a:pPr algn="ctr"/>
          </a:p>
        </p:txBody>
      </p:sp>
      <p:sp>
        <p:nvSpPr>
          <p:cNvPr id="20" name="TextBox 19"/>
          <p:cNvSpPr txBox="1"/>
          <p:nvPr/>
        </p:nvSpPr>
        <p:spPr>
          <a:xfrm>
            <a:off x="749808" y="4572000"/>
            <a:ext cx="2286000" cy="182880"/>
          </a:xfrm>
          <a:prstGeom prst="rect">
            <a:avLst/>
          </a:prstGeom>
          <a:noFill/>
        </p:spPr>
        <p:txBody>
          <a:bodyPr wrap="square" anchor="t" lIns="0" rIns="0" tIns="0" bIns="0">
            <a:noAutofit/>
          </a:bodyPr>
          <a:lstStyle/>
          <a:p>
            <a:pPr algn="l">
              <a:lnSpc>
                <a:spcPct val="112000"/>
              </a:lnSpc>
              <a:spcAft>
                <a:spcPts val="0"/>
              </a:spcAft>
            </a:pPr>
            <a:r>
              <a:rPr sz="680" b="1" i="0">
                <a:solidFill>
                  <a:srgbClr val="77859A"/>
                </a:solidFill>
                <a:latin typeface="Calibri"/>
              </a:rPr>
              <a:t>WHY THIS PHASE</a:t>
            </a:r>
          </a:p>
        </p:txBody>
      </p:sp>
      <p:sp>
        <p:nvSpPr>
          <p:cNvPr id="21" name="TextBox 20"/>
          <p:cNvSpPr txBox="1"/>
          <p:nvPr/>
        </p:nvSpPr>
        <p:spPr>
          <a:xfrm>
            <a:off x="749808" y="4736592"/>
            <a:ext cx="2331720" cy="475488"/>
          </a:xfrm>
          <a:prstGeom prst="rect">
            <a:avLst/>
          </a:prstGeom>
          <a:noFill/>
        </p:spPr>
        <p:txBody>
          <a:bodyPr wrap="square" anchor="t" lIns="0" rIns="0" tIns="0" bIns="0">
            <a:noAutofit/>
          </a:bodyPr>
          <a:lstStyle/>
          <a:p>
            <a:pPr algn="l">
              <a:lnSpc>
                <a:spcPct val="114000"/>
              </a:lnSpc>
              <a:spcAft>
                <a:spcPts val="0"/>
              </a:spcAft>
            </a:pPr>
            <a:r>
              <a:rPr sz="780" b="0" i="1">
                <a:solidFill>
                  <a:srgbClr val="77859A"/>
                </a:solidFill>
                <a:latin typeface="Calibri"/>
              </a:rPr>
              <a:t>Understand the student's week before choosing features.</a:t>
            </a:r>
          </a:p>
        </p:txBody>
      </p:sp>
      <p:sp>
        <p:nvSpPr>
          <p:cNvPr id="22" name="Chevron 21"/>
          <p:cNvSpPr/>
          <p:nvPr/>
        </p:nvSpPr>
        <p:spPr>
          <a:xfrm>
            <a:off x="3291840" y="1773936"/>
            <a:ext cx="2834640" cy="475488"/>
          </a:xfrm>
          <a:prstGeom prst="chevron">
            <a:avLst/>
          </a:prstGeom>
          <a:solidFill>
            <a:srgbClr val="0A565C"/>
          </a:solidFill>
          <a:ln>
            <a:noFill/>
          </a:ln>
          <a:effectLst/>
        </p:spPr>
        <p:txBody>
          <a:bodyPr rtlCol="0" anchor="ctr" lIns="164592" tIns="0" bIns="0"/>
          <a:lstStyle/>
          <a:p>
            <a:pPr algn="ctr"/>
            <a:r>
              <a:rPr sz="919" b="1">
                <a:solidFill>
                  <a:srgbClr val="FFFFFF"/>
                </a:solidFill>
                <a:latin typeface="Calibri"/>
              </a:rPr>
              <a:t>02  DESIGN</a:t>
            </a:r>
          </a:p>
        </p:txBody>
      </p:sp>
      <p:sp>
        <p:nvSpPr>
          <p:cNvPr id="23" name="Rounded Rectangle 22"/>
          <p:cNvSpPr/>
          <p:nvPr/>
        </p:nvSpPr>
        <p:spPr>
          <a:xfrm>
            <a:off x="3291840" y="2395728"/>
            <a:ext cx="2670048" cy="294436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24" name="Rectangle 23"/>
          <p:cNvSpPr/>
          <p:nvPr/>
        </p:nvSpPr>
        <p:spPr>
          <a:xfrm>
            <a:off x="3308299" y="2505456"/>
            <a:ext cx="41148" cy="2724912"/>
          </a:xfrm>
          <a:prstGeom prst="rect">
            <a:avLst/>
          </a:prstGeom>
          <a:solidFill>
            <a:srgbClr val="0A565C"/>
          </a:solidFill>
          <a:ln>
            <a:noFill/>
          </a:ln>
          <a:effectLst/>
        </p:spPr>
        <p:txBody>
          <a:bodyPr rtlCol="0" anchor="ctr" wrap="square"/>
          <a:lstStyle/>
          <a:p>
            <a:pPr algn="ctr"/>
          </a:p>
        </p:txBody>
      </p:sp>
      <p:sp>
        <p:nvSpPr>
          <p:cNvPr id="25" name="TextBox 24"/>
          <p:cNvSpPr txBox="1"/>
          <p:nvPr/>
        </p:nvSpPr>
        <p:spPr>
          <a:xfrm>
            <a:off x="3474720" y="2542032"/>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77859A"/>
                </a:solidFill>
                <a:latin typeface="Calibri"/>
              </a:rPr>
              <a:t>ACTIVITIES</a:t>
            </a:r>
          </a:p>
        </p:txBody>
      </p:sp>
      <p:sp>
        <p:nvSpPr>
          <p:cNvPr id="26" name="TextBox 25"/>
          <p:cNvSpPr txBox="1"/>
          <p:nvPr/>
        </p:nvSpPr>
        <p:spPr>
          <a:xfrm>
            <a:off x="3474720" y="2724912"/>
            <a:ext cx="2331720" cy="1097280"/>
          </a:xfrm>
          <a:prstGeom prst="rect">
            <a:avLst/>
          </a:prstGeom>
          <a:noFill/>
        </p:spPr>
        <p:txBody>
          <a:bodyPr wrap="square" anchor="t" lIns="0" rIns="0" tIns="0" bIns="0">
            <a:noAutofit/>
          </a:bodyPr>
          <a:lstStyle/>
          <a:p>
            <a:pPr algn="l">
              <a:lnSpc>
                <a:spcPct val="128000"/>
              </a:lnSpc>
              <a:spcAft>
                <a:spcPts val="0"/>
              </a:spcAft>
            </a:pPr>
            <a:r>
              <a:rPr sz="869" b="0" i="0">
                <a:solidFill>
                  <a:srgbClr val="3D4A5C"/>
                </a:solidFill>
                <a:latin typeface="Calibri"/>
              </a:rPr>
              <a:t>·  40-table data model</a:t>
            </a:r>
          </a:p>
          <a:p>
            <a:pPr algn="l">
              <a:lnSpc>
                <a:spcPct val="128000"/>
              </a:lnSpc>
              <a:spcAft>
                <a:spcPts val="0"/>
              </a:spcAft>
            </a:pPr>
            <a:r>
              <a:rPr sz="869" b="0" i="0">
                <a:solidFill>
                  <a:srgbClr val="3D4A5C"/>
                </a:solidFill>
                <a:latin typeface="Calibri"/>
              </a:rPr>
              <a:t>·  46-route interface map</a:t>
            </a:r>
          </a:p>
          <a:p>
            <a:pPr algn="l">
              <a:lnSpc>
                <a:spcPct val="128000"/>
              </a:lnSpc>
              <a:spcAft>
                <a:spcPts val="0"/>
              </a:spcAft>
            </a:pPr>
            <a:r>
              <a:rPr sz="869" b="0" i="0">
                <a:solidFill>
                  <a:srgbClr val="3D4A5C"/>
                </a:solidFill>
                <a:latin typeface="Calibri"/>
              </a:rPr>
              <a:t>·  AI prompt and fallback contracts</a:t>
            </a:r>
          </a:p>
        </p:txBody>
      </p:sp>
      <p:sp>
        <p:nvSpPr>
          <p:cNvPr id="27" name="Rectangle 26"/>
          <p:cNvSpPr/>
          <p:nvPr/>
        </p:nvSpPr>
        <p:spPr>
          <a:xfrm>
            <a:off x="3474720" y="3822191"/>
            <a:ext cx="2304288" cy="7315"/>
          </a:xfrm>
          <a:prstGeom prst="rect">
            <a:avLst/>
          </a:prstGeom>
          <a:solidFill>
            <a:srgbClr val="DCE4EA"/>
          </a:solidFill>
          <a:ln>
            <a:noFill/>
          </a:ln>
          <a:effectLst/>
        </p:spPr>
        <p:txBody>
          <a:bodyPr rtlCol="0" anchor="ctr" wrap="square"/>
          <a:lstStyle/>
          <a:p>
            <a:pPr algn="ctr"/>
          </a:p>
        </p:txBody>
      </p:sp>
      <p:sp>
        <p:nvSpPr>
          <p:cNvPr id="28" name="TextBox 27"/>
          <p:cNvSpPr txBox="1"/>
          <p:nvPr/>
        </p:nvSpPr>
        <p:spPr>
          <a:xfrm>
            <a:off x="3474720" y="3895344"/>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0A565C"/>
                </a:solidFill>
                <a:latin typeface="Calibri"/>
              </a:rPr>
              <a:t>ARTEFACT</a:t>
            </a:r>
          </a:p>
        </p:txBody>
      </p:sp>
      <p:sp>
        <p:nvSpPr>
          <p:cNvPr id="29" name="TextBox 28"/>
          <p:cNvSpPr txBox="1"/>
          <p:nvPr/>
        </p:nvSpPr>
        <p:spPr>
          <a:xfrm>
            <a:off x="3474720" y="4059936"/>
            <a:ext cx="2331720" cy="365760"/>
          </a:xfrm>
          <a:prstGeom prst="rect">
            <a:avLst/>
          </a:prstGeom>
          <a:noFill/>
        </p:spPr>
        <p:txBody>
          <a:bodyPr wrap="square" anchor="t" lIns="0" rIns="0" tIns="0" bIns="0">
            <a:noAutofit/>
          </a:bodyPr>
          <a:lstStyle/>
          <a:p>
            <a:pPr algn="l">
              <a:lnSpc>
                <a:spcPct val="110000"/>
              </a:lnSpc>
              <a:spcAft>
                <a:spcPts val="0"/>
              </a:spcAft>
            </a:pPr>
            <a:r>
              <a:rPr sz="880" b="1" i="0">
                <a:solidFill>
                  <a:srgbClr val="152238"/>
                </a:solidFill>
                <a:latin typeface="Calibri"/>
              </a:rPr>
              <a:t>Schema + interface map</a:t>
            </a:r>
          </a:p>
        </p:txBody>
      </p:sp>
      <p:sp>
        <p:nvSpPr>
          <p:cNvPr id="30" name="Rectangle 29"/>
          <p:cNvSpPr/>
          <p:nvPr/>
        </p:nvSpPr>
        <p:spPr>
          <a:xfrm>
            <a:off x="3474720" y="4498848"/>
            <a:ext cx="2304288" cy="7315"/>
          </a:xfrm>
          <a:prstGeom prst="rect">
            <a:avLst/>
          </a:prstGeom>
          <a:solidFill>
            <a:srgbClr val="DCE4EA"/>
          </a:solidFill>
          <a:ln>
            <a:noFill/>
          </a:ln>
          <a:effectLst/>
        </p:spPr>
        <p:txBody>
          <a:bodyPr rtlCol="0" anchor="ctr" wrap="square"/>
          <a:lstStyle/>
          <a:p>
            <a:pPr algn="ctr"/>
          </a:p>
        </p:txBody>
      </p:sp>
      <p:sp>
        <p:nvSpPr>
          <p:cNvPr id="31" name="TextBox 30"/>
          <p:cNvSpPr txBox="1"/>
          <p:nvPr/>
        </p:nvSpPr>
        <p:spPr>
          <a:xfrm>
            <a:off x="3474720" y="4572000"/>
            <a:ext cx="2286000" cy="182880"/>
          </a:xfrm>
          <a:prstGeom prst="rect">
            <a:avLst/>
          </a:prstGeom>
          <a:noFill/>
        </p:spPr>
        <p:txBody>
          <a:bodyPr wrap="square" anchor="t" lIns="0" rIns="0" tIns="0" bIns="0">
            <a:noAutofit/>
          </a:bodyPr>
          <a:lstStyle/>
          <a:p>
            <a:pPr algn="l">
              <a:lnSpc>
                <a:spcPct val="112000"/>
              </a:lnSpc>
              <a:spcAft>
                <a:spcPts val="0"/>
              </a:spcAft>
            </a:pPr>
            <a:r>
              <a:rPr sz="680" b="1" i="0">
                <a:solidFill>
                  <a:srgbClr val="77859A"/>
                </a:solidFill>
                <a:latin typeface="Calibri"/>
              </a:rPr>
              <a:t>WHY THIS PHASE</a:t>
            </a:r>
          </a:p>
        </p:txBody>
      </p:sp>
      <p:sp>
        <p:nvSpPr>
          <p:cNvPr id="32" name="TextBox 31"/>
          <p:cNvSpPr txBox="1"/>
          <p:nvPr/>
        </p:nvSpPr>
        <p:spPr>
          <a:xfrm>
            <a:off x="3474720" y="4736592"/>
            <a:ext cx="2331720" cy="475488"/>
          </a:xfrm>
          <a:prstGeom prst="rect">
            <a:avLst/>
          </a:prstGeom>
          <a:noFill/>
        </p:spPr>
        <p:txBody>
          <a:bodyPr wrap="square" anchor="t" lIns="0" rIns="0" tIns="0" bIns="0">
            <a:noAutofit/>
          </a:bodyPr>
          <a:lstStyle/>
          <a:p>
            <a:pPr algn="l">
              <a:lnSpc>
                <a:spcPct val="114000"/>
              </a:lnSpc>
              <a:spcAft>
                <a:spcPts val="0"/>
              </a:spcAft>
            </a:pPr>
            <a:r>
              <a:rPr sz="780" b="0" i="1">
                <a:solidFill>
                  <a:srgbClr val="77859A"/>
                </a:solidFill>
                <a:latin typeface="Calibri"/>
              </a:rPr>
              <a:t>Decide the data model before writing screens.</a:t>
            </a:r>
          </a:p>
        </p:txBody>
      </p:sp>
      <p:sp>
        <p:nvSpPr>
          <p:cNvPr id="33" name="Chevron 32"/>
          <p:cNvSpPr/>
          <p:nvPr/>
        </p:nvSpPr>
        <p:spPr>
          <a:xfrm>
            <a:off x="6016752" y="1773936"/>
            <a:ext cx="2834640" cy="475488"/>
          </a:xfrm>
          <a:prstGeom prst="chevron">
            <a:avLst/>
          </a:prstGeom>
          <a:solidFill>
            <a:srgbClr val="0F7A82"/>
          </a:solidFill>
          <a:ln>
            <a:noFill/>
          </a:ln>
          <a:effectLst/>
        </p:spPr>
        <p:txBody>
          <a:bodyPr rtlCol="0" anchor="ctr" lIns="164592" tIns="0" bIns="0"/>
          <a:lstStyle/>
          <a:p>
            <a:pPr algn="ctr"/>
            <a:r>
              <a:rPr sz="919" b="1">
                <a:solidFill>
                  <a:srgbClr val="FFFFFF"/>
                </a:solidFill>
                <a:latin typeface="Calibri"/>
              </a:rPr>
              <a:t>03  BUILD</a:t>
            </a:r>
          </a:p>
        </p:txBody>
      </p:sp>
      <p:sp>
        <p:nvSpPr>
          <p:cNvPr id="34" name="Rounded Rectangle 33"/>
          <p:cNvSpPr/>
          <p:nvPr/>
        </p:nvSpPr>
        <p:spPr>
          <a:xfrm>
            <a:off x="6016752" y="2395728"/>
            <a:ext cx="2670048" cy="294436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35" name="Rectangle 34"/>
          <p:cNvSpPr/>
          <p:nvPr/>
        </p:nvSpPr>
        <p:spPr>
          <a:xfrm>
            <a:off x="6033211" y="2505456"/>
            <a:ext cx="41148" cy="2724912"/>
          </a:xfrm>
          <a:prstGeom prst="rect">
            <a:avLst/>
          </a:prstGeom>
          <a:solidFill>
            <a:srgbClr val="0F7A82"/>
          </a:solidFill>
          <a:ln>
            <a:noFill/>
          </a:ln>
          <a:effectLst/>
        </p:spPr>
        <p:txBody>
          <a:bodyPr rtlCol="0" anchor="ctr" wrap="square"/>
          <a:lstStyle/>
          <a:p>
            <a:pPr algn="ctr"/>
          </a:p>
        </p:txBody>
      </p:sp>
      <p:sp>
        <p:nvSpPr>
          <p:cNvPr id="36" name="TextBox 35"/>
          <p:cNvSpPr txBox="1"/>
          <p:nvPr/>
        </p:nvSpPr>
        <p:spPr>
          <a:xfrm>
            <a:off x="6199632" y="2542032"/>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77859A"/>
                </a:solidFill>
                <a:latin typeface="Calibri"/>
              </a:rPr>
              <a:t>ACTIVITIES</a:t>
            </a:r>
          </a:p>
        </p:txBody>
      </p:sp>
      <p:sp>
        <p:nvSpPr>
          <p:cNvPr id="37" name="TextBox 36"/>
          <p:cNvSpPr txBox="1"/>
          <p:nvPr/>
        </p:nvSpPr>
        <p:spPr>
          <a:xfrm>
            <a:off x="6199632" y="2724912"/>
            <a:ext cx="2331720" cy="1097280"/>
          </a:xfrm>
          <a:prstGeom prst="rect">
            <a:avLst/>
          </a:prstGeom>
          <a:noFill/>
        </p:spPr>
        <p:txBody>
          <a:bodyPr wrap="square" anchor="t" lIns="0" rIns="0" tIns="0" bIns="0">
            <a:noAutofit/>
          </a:bodyPr>
          <a:lstStyle/>
          <a:p>
            <a:pPr algn="l">
              <a:lnSpc>
                <a:spcPct val="128000"/>
              </a:lnSpc>
              <a:spcAft>
                <a:spcPts val="0"/>
              </a:spcAft>
            </a:pPr>
            <a:r>
              <a:rPr sz="869" b="0" i="0">
                <a:solidFill>
                  <a:srgbClr val="3D4A5C"/>
                </a:solidFill>
                <a:latin typeface="Calibri"/>
              </a:rPr>
              <a:t>·  Vertical feature slices</a:t>
            </a:r>
          </a:p>
          <a:p>
            <a:pPr algn="l">
              <a:lnSpc>
                <a:spcPct val="128000"/>
              </a:lnSpc>
              <a:spcAft>
                <a:spcPts val="0"/>
              </a:spcAft>
            </a:pPr>
            <a:r>
              <a:rPr sz="869" b="0" i="0">
                <a:solidFill>
                  <a:srgbClr val="3D4A5C"/>
                </a:solidFill>
                <a:latin typeface="Calibri"/>
              </a:rPr>
              <a:t>·  Shared component library</a:t>
            </a:r>
          </a:p>
          <a:p>
            <a:pPr algn="l">
              <a:lnSpc>
                <a:spcPct val="128000"/>
              </a:lnSpc>
              <a:spcAft>
                <a:spcPts val="0"/>
              </a:spcAft>
            </a:pPr>
            <a:r>
              <a:rPr sz="869" b="0" i="0">
                <a:solidFill>
                  <a:srgbClr val="3D4A5C"/>
                </a:solidFill>
                <a:latin typeface="Calibri"/>
              </a:rPr>
              <a:t>·  AI service with JSON repair</a:t>
            </a:r>
          </a:p>
        </p:txBody>
      </p:sp>
      <p:sp>
        <p:nvSpPr>
          <p:cNvPr id="38" name="Rectangle 37"/>
          <p:cNvSpPr/>
          <p:nvPr/>
        </p:nvSpPr>
        <p:spPr>
          <a:xfrm>
            <a:off x="6199632" y="3822191"/>
            <a:ext cx="2304288" cy="7315"/>
          </a:xfrm>
          <a:prstGeom prst="rect">
            <a:avLst/>
          </a:prstGeom>
          <a:solidFill>
            <a:srgbClr val="DCE4EA"/>
          </a:solidFill>
          <a:ln>
            <a:noFill/>
          </a:ln>
          <a:effectLst/>
        </p:spPr>
        <p:txBody>
          <a:bodyPr rtlCol="0" anchor="ctr" wrap="square"/>
          <a:lstStyle/>
          <a:p>
            <a:pPr algn="ctr"/>
          </a:p>
        </p:txBody>
      </p:sp>
      <p:sp>
        <p:nvSpPr>
          <p:cNvPr id="39" name="TextBox 38"/>
          <p:cNvSpPr txBox="1"/>
          <p:nvPr/>
        </p:nvSpPr>
        <p:spPr>
          <a:xfrm>
            <a:off x="6199632" y="3895344"/>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0F7A82"/>
                </a:solidFill>
                <a:latin typeface="Calibri"/>
              </a:rPr>
              <a:t>ARTEFACT</a:t>
            </a:r>
          </a:p>
        </p:txBody>
      </p:sp>
      <p:sp>
        <p:nvSpPr>
          <p:cNvPr id="40" name="TextBox 39"/>
          <p:cNvSpPr txBox="1"/>
          <p:nvPr/>
        </p:nvSpPr>
        <p:spPr>
          <a:xfrm>
            <a:off x="6199632" y="4059936"/>
            <a:ext cx="2331720" cy="365760"/>
          </a:xfrm>
          <a:prstGeom prst="rect">
            <a:avLst/>
          </a:prstGeom>
          <a:noFill/>
        </p:spPr>
        <p:txBody>
          <a:bodyPr wrap="square" anchor="t" lIns="0" rIns="0" tIns="0" bIns="0">
            <a:noAutofit/>
          </a:bodyPr>
          <a:lstStyle/>
          <a:p>
            <a:pPr algn="l">
              <a:lnSpc>
                <a:spcPct val="110000"/>
              </a:lnSpc>
              <a:spcAft>
                <a:spcPts val="0"/>
              </a:spcAft>
            </a:pPr>
            <a:r>
              <a:rPr sz="880" b="1" i="0">
                <a:solidFill>
                  <a:srgbClr val="152238"/>
                </a:solidFill>
                <a:latin typeface="Calibri"/>
              </a:rPr>
              <a:t>Working modules</a:t>
            </a:r>
          </a:p>
        </p:txBody>
      </p:sp>
      <p:sp>
        <p:nvSpPr>
          <p:cNvPr id="41" name="Rectangle 40"/>
          <p:cNvSpPr/>
          <p:nvPr/>
        </p:nvSpPr>
        <p:spPr>
          <a:xfrm>
            <a:off x="6199632" y="4498848"/>
            <a:ext cx="2304288" cy="7315"/>
          </a:xfrm>
          <a:prstGeom prst="rect">
            <a:avLst/>
          </a:prstGeom>
          <a:solidFill>
            <a:srgbClr val="DCE4EA"/>
          </a:solidFill>
          <a:ln>
            <a:noFill/>
          </a:ln>
          <a:effectLst/>
        </p:spPr>
        <p:txBody>
          <a:bodyPr rtlCol="0" anchor="ctr" wrap="square"/>
          <a:lstStyle/>
          <a:p>
            <a:pPr algn="ctr"/>
          </a:p>
        </p:txBody>
      </p:sp>
      <p:sp>
        <p:nvSpPr>
          <p:cNvPr id="42" name="TextBox 41"/>
          <p:cNvSpPr txBox="1"/>
          <p:nvPr/>
        </p:nvSpPr>
        <p:spPr>
          <a:xfrm>
            <a:off x="6199632" y="4572000"/>
            <a:ext cx="2286000" cy="182880"/>
          </a:xfrm>
          <a:prstGeom prst="rect">
            <a:avLst/>
          </a:prstGeom>
          <a:noFill/>
        </p:spPr>
        <p:txBody>
          <a:bodyPr wrap="square" anchor="t" lIns="0" rIns="0" tIns="0" bIns="0">
            <a:noAutofit/>
          </a:bodyPr>
          <a:lstStyle/>
          <a:p>
            <a:pPr algn="l">
              <a:lnSpc>
                <a:spcPct val="112000"/>
              </a:lnSpc>
              <a:spcAft>
                <a:spcPts val="0"/>
              </a:spcAft>
            </a:pPr>
            <a:r>
              <a:rPr sz="680" b="1" i="0">
                <a:solidFill>
                  <a:srgbClr val="77859A"/>
                </a:solidFill>
                <a:latin typeface="Calibri"/>
              </a:rPr>
              <a:t>WHY THIS PHASE</a:t>
            </a:r>
          </a:p>
        </p:txBody>
      </p:sp>
      <p:sp>
        <p:nvSpPr>
          <p:cNvPr id="43" name="TextBox 42"/>
          <p:cNvSpPr txBox="1"/>
          <p:nvPr/>
        </p:nvSpPr>
        <p:spPr>
          <a:xfrm>
            <a:off x="6199632" y="4736592"/>
            <a:ext cx="2331720" cy="475488"/>
          </a:xfrm>
          <a:prstGeom prst="rect">
            <a:avLst/>
          </a:prstGeom>
          <a:noFill/>
        </p:spPr>
        <p:txBody>
          <a:bodyPr wrap="square" anchor="t" lIns="0" rIns="0" tIns="0" bIns="0">
            <a:noAutofit/>
          </a:bodyPr>
          <a:lstStyle/>
          <a:p>
            <a:pPr algn="l">
              <a:lnSpc>
                <a:spcPct val="114000"/>
              </a:lnSpc>
              <a:spcAft>
                <a:spcPts val="0"/>
              </a:spcAft>
            </a:pPr>
            <a:r>
              <a:rPr sz="780" b="0" i="1">
                <a:solidFill>
                  <a:srgbClr val="77859A"/>
                </a:solidFill>
                <a:latin typeface="Calibri"/>
              </a:rPr>
              <a:t>Keep the application runnable at every step.</a:t>
            </a:r>
          </a:p>
        </p:txBody>
      </p:sp>
      <p:sp>
        <p:nvSpPr>
          <p:cNvPr id="44" name="Chevron 43"/>
          <p:cNvSpPr/>
          <p:nvPr/>
        </p:nvSpPr>
        <p:spPr>
          <a:xfrm>
            <a:off x="8741663" y="1773936"/>
            <a:ext cx="2834640" cy="475488"/>
          </a:xfrm>
          <a:prstGeom prst="chevron">
            <a:avLst/>
          </a:prstGeom>
          <a:solidFill>
            <a:srgbClr val="0A565C"/>
          </a:solidFill>
          <a:ln>
            <a:noFill/>
          </a:ln>
          <a:effectLst/>
        </p:spPr>
        <p:txBody>
          <a:bodyPr rtlCol="0" anchor="ctr" lIns="164592" tIns="0" bIns="0"/>
          <a:lstStyle/>
          <a:p>
            <a:pPr algn="ctr"/>
            <a:r>
              <a:rPr sz="919" b="1">
                <a:solidFill>
                  <a:srgbClr val="FFFFFF"/>
                </a:solidFill>
                <a:latin typeface="Calibri"/>
              </a:rPr>
              <a:t>04  PROVE</a:t>
            </a:r>
          </a:p>
        </p:txBody>
      </p:sp>
      <p:sp>
        <p:nvSpPr>
          <p:cNvPr id="45" name="Rounded Rectangle 44"/>
          <p:cNvSpPr/>
          <p:nvPr/>
        </p:nvSpPr>
        <p:spPr>
          <a:xfrm>
            <a:off x="8741663" y="2395728"/>
            <a:ext cx="2670048" cy="2944368"/>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46" name="Rectangle 45"/>
          <p:cNvSpPr/>
          <p:nvPr/>
        </p:nvSpPr>
        <p:spPr>
          <a:xfrm>
            <a:off x="8758123" y="2505456"/>
            <a:ext cx="41148" cy="2724912"/>
          </a:xfrm>
          <a:prstGeom prst="rect">
            <a:avLst/>
          </a:prstGeom>
          <a:solidFill>
            <a:srgbClr val="0A565C"/>
          </a:solidFill>
          <a:ln>
            <a:noFill/>
          </a:ln>
          <a:effectLst/>
        </p:spPr>
        <p:txBody>
          <a:bodyPr rtlCol="0" anchor="ctr" wrap="square"/>
          <a:lstStyle/>
          <a:p>
            <a:pPr algn="ctr"/>
          </a:p>
        </p:txBody>
      </p:sp>
      <p:sp>
        <p:nvSpPr>
          <p:cNvPr id="47" name="TextBox 46"/>
          <p:cNvSpPr txBox="1"/>
          <p:nvPr/>
        </p:nvSpPr>
        <p:spPr>
          <a:xfrm>
            <a:off x="8924543" y="2542032"/>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77859A"/>
                </a:solidFill>
                <a:latin typeface="Calibri"/>
              </a:rPr>
              <a:t>ACTIVITIES</a:t>
            </a:r>
          </a:p>
        </p:txBody>
      </p:sp>
      <p:sp>
        <p:nvSpPr>
          <p:cNvPr id="48" name="TextBox 47"/>
          <p:cNvSpPr txBox="1"/>
          <p:nvPr/>
        </p:nvSpPr>
        <p:spPr>
          <a:xfrm>
            <a:off x="8924543" y="2724912"/>
            <a:ext cx="2331720" cy="1097280"/>
          </a:xfrm>
          <a:prstGeom prst="rect">
            <a:avLst/>
          </a:prstGeom>
          <a:noFill/>
        </p:spPr>
        <p:txBody>
          <a:bodyPr wrap="square" anchor="t" lIns="0" rIns="0" tIns="0" bIns="0">
            <a:noAutofit/>
          </a:bodyPr>
          <a:lstStyle/>
          <a:p>
            <a:pPr algn="l">
              <a:lnSpc>
                <a:spcPct val="128000"/>
              </a:lnSpc>
              <a:spcAft>
                <a:spcPts val="0"/>
              </a:spcAft>
            </a:pPr>
            <a:r>
              <a:rPr sz="869" b="0" i="0">
                <a:solidFill>
                  <a:srgbClr val="3D4A5C"/>
                </a:solidFill>
                <a:latin typeface="Calibri"/>
              </a:rPr>
              <a:t>·  47 automated tests</a:t>
            </a:r>
          </a:p>
          <a:p>
            <a:pPr algn="l">
              <a:lnSpc>
                <a:spcPct val="128000"/>
              </a:lnSpc>
              <a:spcAft>
                <a:spcPts val="0"/>
              </a:spcAft>
            </a:pPr>
            <a:r>
              <a:rPr sz="869" b="0" i="0">
                <a:solidFill>
                  <a:srgbClr val="3D4A5C"/>
                </a:solidFill>
                <a:latin typeface="Calibri"/>
              </a:rPr>
              <a:t>·  Production build in 6.21 s</a:t>
            </a:r>
          </a:p>
          <a:p>
            <a:pPr algn="l">
              <a:lnSpc>
                <a:spcPct val="128000"/>
              </a:lnSpc>
              <a:spcAft>
                <a:spcPts val="0"/>
              </a:spcAft>
            </a:pPr>
            <a:r>
              <a:rPr sz="869" b="0" i="0">
                <a:solidFill>
                  <a:srgbClr val="3D4A5C"/>
                </a:solidFill>
                <a:latin typeface="Calibri"/>
              </a:rPr>
              <a:t>·  Seeded demo + 19 screens</a:t>
            </a:r>
          </a:p>
        </p:txBody>
      </p:sp>
      <p:sp>
        <p:nvSpPr>
          <p:cNvPr id="49" name="Rectangle 48"/>
          <p:cNvSpPr/>
          <p:nvPr/>
        </p:nvSpPr>
        <p:spPr>
          <a:xfrm>
            <a:off x="8924543" y="3822191"/>
            <a:ext cx="2304288" cy="7315"/>
          </a:xfrm>
          <a:prstGeom prst="rect">
            <a:avLst/>
          </a:prstGeom>
          <a:solidFill>
            <a:srgbClr val="DCE4EA"/>
          </a:solidFill>
          <a:ln>
            <a:noFill/>
          </a:ln>
          <a:effectLst/>
        </p:spPr>
        <p:txBody>
          <a:bodyPr rtlCol="0" anchor="ctr" wrap="square"/>
          <a:lstStyle/>
          <a:p>
            <a:pPr algn="ctr"/>
          </a:p>
        </p:txBody>
      </p:sp>
      <p:sp>
        <p:nvSpPr>
          <p:cNvPr id="50" name="TextBox 49"/>
          <p:cNvSpPr txBox="1"/>
          <p:nvPr/>
        </p:nvSpPr>
        <p:spPr>
          <a:xfrm>
            <a:off x="8924543" y="3895344"/>
            <a:ext cx="2286000" cy="182880"/>
          </a:xfrm>
          <a:prstGeom prst="rect">
            <a:avLst/>
          </a:prstGeom>
          <a:noFill/>
        </p:spPr>
        <p:txBody>
          <a:bodyPr wrap="square" anchor="t" lIns="0" rIns="0" tIns="0" bIns="0">
            <a:noAutofit/>
          </a:bodyPr>
          <a:lstStyle/>
          <a:p>
            <a:pPr algn="l">
              <a:lnSpc>
                <a:spcPct val="112000"/>
              </a:lnSpc>
              <a:spcAft>
                <a:spcPts val="0"/>
              </a:spcAft>
            </a:pPr>
            <a:r>
              <a:rPr sz="720" b="1" i="0">
                <a:solidFill>
                  <a:srgbClr val="0A565C"/>
                </a:solidFill>
                <a:latin typeface="Calibri"/>
              </a:rPr>
              <a:t>ARTEFACT</a:t>
            </a:r>
          </a:p>
        </p:txBody>
      </p:sp>
      <p:sp>
        <p:nvSpPr>
          <p:cNvPr id="51" name="TextBox 50"/>
          <p:cNvSpPr txBox="1"/>
          <p:nvPr/>
        </p:nvSpPr>
        <p:spPr>
          <a:xfrm>
            <a:off x="8924543" y="4059936"/>
            <a:ext cx="2331720" cy="365760"/>
          </a:xfrm>
          <a:prstGeom prst="rect">
            <a:avLst/>
          </a:prstGeom>
          <a:noFill/>
        </p:spPr>
        <p:txBody>
          <a:bodyPr wrap="square" anchor="t" lIns="0" rIns="0" tIns="0" bIns="0">
            <a:noAutofit/>
          </a:bodyPr>
          <a:lstStyle/>
          <a:p>
            <a:pPr algn="l">
              <a:lnSpc>
                <a:spcPct val="110000"/>
              </a:lnSpc>
              <a:spcAft>
                <a:spcPts val="0"/>
              </a:spcAft>
            </a:pPr>
            <a:r>
              <a:rPr sz="880" b="1" i="0">
                <a:solidFill>
                  <a:srgbClr val="152238"/>
                </a:solidFill>
                <a:latin typeface="Calibri"/>
              </a:rPr>
              <a:t>Verified build and live demo</a:t>
            </a:r>
          </a:p>
        </p:txBody>
      </p:sp>
      <p:sp>
        <p:nvSpPr>
          <p:cNvPr id="52" name="Rectangle 51"/>
          <p:cNvSpPr/>
          <p:nvPr/>
        </p:nvSpPr>
        <p:spPr>
          <a:xfrm>
            <a:off x="8924543" y="4498848"/>
            <a:ext cx="2304288" cy="7315"/>
          </a:xfrm>
          <a:prstGeom prst="rect">
            <a:avLst/>
          </a:prstGeom>
          <a:solidFill>
            <a:srgbClr val="DCE4EA"/>
          </a:solidFill>
          <a:ln>
            <a:noFill/>
          </a:ln>
          <a:effectLst/>
        </p:spPr>
        <p:txBody>
          <a:bodyPr rtlCol="0" anchor="ctr" wrap="square"/>
          <a:lstStyle/>
          <a:p>
            <a:pPr algn="ctr"/>
          </a:p>
        </p:txBody>
      </p:sp>
      <p:sp>
        <p:nvSpPr>
          <p:cNvPr id="53" name="TextBox 52"/>
          <p:cNvSpPr txBox="1"/>
          <p:nvPr/>
        </p:nvSpPr>
        <p:spPr>
          <a:xfrm>
            <a:off x="8924543" y="4572000"/>
            <a:ext cx="2286000" cy="182880"/>
          </a:xfrm>
          <a:prstGeom prst="rect">
            <a:avLst/>
          </a:prstGeom>
          <a:noFill/>
        </p:spPr>
        <p:txBody>
          <a:bodyPr wrap="square" anchor="t" lIns="0" rIns="0" tIns="0" bIns="0">
            <a:noAutofit/>
          </a:bodyPr>
          <a:lstStyle/>
          <a:p>
            <a:pPr algn="l">
              <a:lnSpc>
                <a:spcPct val="112000"/>
              </a:lnSpc>
              <a:spcAft>
                <a:spcPts val="0"/>
              </a:spcAft>
            </a:pPr>
            <a:r>
              <a:rPr sz="680" b="1" i="0">
                <a:solidFill>
                  <a:srgbClr val="77859A"/>
                </a:solidFill>
                <a:latin typeface="Calibri"/>
              </a:rPr>
              <a:t>WHY THIS PHASE</a:t>
            </a:r>
          </a:p>
        </p:txBody>
      </p:sp>
      <p:sp>
        <p:nvSpPr>
          <p:cNvPr id="54" name="TextBox 53"/>
          <p:cNvSpPr txBox="1"/>
          <p:nvPr/>
        </p:nvSpPr>
        <p:spPr>
          <a:xfrm>
            <a:off x="8924543" y="4736592"/>
            <a:ext cx="2331720" cy="475488"/>
          </a:xfrm>
          <a:prstGeom prst="rect">
            <a:avLst/>
          </a:prstGeom>
          <a:noFill/>
        </p:spPr>
        <p:txBody>
          <a:bodyPr wrap="square" anchor="t" lIns="0" rIns="0" tIns="0" bIns="0">
            <a:noAutofit/>
          </a:bodyPr>
          <a:lstStyle/>
          <a:p>
            <a:pPr algn="l">
              <a:lnSpc>
                <a:spcPct val="114000"/>
              </a:lnSpc>
              <a:spcAft>
                <a:spcPts val="0"/>
              </a:spcAft>
            </a:pPr>
            <a:r>
              <a:rPr sz="780" b="0" i="1">
                <a:solidFill>
                  <a:srgbClr val="77859A"/>
                </a:solidFill>
                <a:latin typeface="Calibri"/>
              </a:rPr>
              <a:t>Turn every claim into evidence an examiner can check.</a:t>
            </a:r>
          </a:p>
        </p:txBody>
      </p:sp>
      <p:sp>
        <p:nvSpPr>
          <p:cNvPr id="55" name="Rounded Rectangle 54"/>
          <p:cNvSpPr/>
          <p:nvPr/>
        </p:nvSpPr>
        <p:spPr>
          <a:xfrm>
            <a:off x="566928" y="5504688"/>
            <a:ext cx="11064240" cy="676656"/>
          </a:xfrm>
          <a:prstGeom prst="roundRect">
            <a:avLst>
              <a:gd name="adj" fmla="val 6000"/>
            </a:avLst>
          </a:prstGeom>
          <a:solidFill>
            <a:srgbClr val="F5F8FA"/>
          </a:solidFill>
          <a:ln w="9525">
            <a:solidFill>
              <a:srgbClr val="DCE4EA"/>
            </a:solidFill>
          </a:ln>
          <a:effectLst/>
        </p:spPr>
        <p:txBody>
          <a:bodyPr rtlCol="0" anchor="ctr" wrap="square"/>
          <a:lstStyle/>
          <a:p>
            <a:pPr algn="ctr"/>
          </a:p>
        </p:txBody>
      </p:sp>
      <p:sp>
        <p:nvSpPr>
          <p:cNvPr id="56" name="TextBox 55"/>
          <p:cNvSpPr txBox="1"/>
          <p:nvPr/>
        </p:nvSpPr>
        <p:spPr>
          <a:xfrm>
            <a:off x="786384" y="5605272"/>
            <a:ext cx="201168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ITERATION &amp; QUALITY</a:t>
            </a:r>
          </a:p>
        </p:txBody>
      </p:sp>
      <p:sp>
        <p:nvSpPr>
          <p:cNvPr id="57" name="TextBox 56"/>
          <p:cNvSpPr txBox="1"/>
          <p:nvPr/>
        </p:nvSpPr>
        <p:spPr>
          <a:xfrm>
            <a:off x="786384" y="5797296"/>
            <a:ext cx="10561320" cy="274320"/>
          </a:xfrm>
          <a:prstGeom prst="rect">
            <a:avLst/>
          </a:prstGeom>
          <a:noFill/>
        </p:spPr>
        <p:txBody>
          <a:bodyPr wrap="square" anchor="t" lIns="0" rIns="0" tIns="0" bIns="0">
            <a:noAutofit/>
          </a:bodyPr>
          <a:lstStyle/>
          <a:p>
            <a:pPr algn="l">
              <a:lnSpc>
                <a:spcPct val="112000"/>
              </a:lnSpc>
              <a:spcAft>
                <a:spcPts val="0"/>
              </a:spcAft>
            </a:pPr>
            <a:r>
              <a:rPr sz="940" b="0" i="0">
                <a:solidFill>
                  <a:srgbClr val="3D4A5C"/>
                </a:solidFill>
                <a:latin typeface="Calibri"/>
              </a:rPr>
              <a:t>Every slice shipped with tests. AI output is validated by repair-then-retry, not trusted blindly.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08 · TECHNOLOGY</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A deliberately small stack for a browser-only product</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Chosen for a small team, browser-only deployment and an offline-first study loop.</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ENGINEERING</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10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773936"/>
            <a:ext cx="2670048" cy="3639312"/>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12" name="Rectangle 11"/>
          <p:cNvSpPr/>
          <p:nvPr/>
        </p:nvSpPr>
        <p:spPr>
          <a:xfrm>
            <a:off x="566928" y="1773936"/>
            <a:ext cx="2670048" cy="54864"/>
          </a:xfrm>
          <a:prstGeom prst="rect">
            <a:avLst/>
          </a:prstGeom>
          <a:solidFill>
            <a:srgbClr val="0F7A82"/>
          </a:solidFill>
          <a:ln>
            <a:noFill/>
          </a:ln>
          <a:effectLst/>
        </p:spPr>
        <p:txBody>
          <a:bodyPr rtlCol="0" anchor="ctr" wrap="square"/>
          <a:lstStyle/>
          <a:p>
            <a:pPr algn="ctr"/>
          </a:p>
        </p:txBody>
      </p:sp>
      <p:sp>
        <p:nvSpPr>
          <p:cNvPr id="13" name="TextBox 12"/>
          <p:cNvSpPr txBox="1"/>
          <p:nvPr/>
        </p:nvSpPr>
        <p:spPr>
          <a:xfrm>
            <a:off x="749808" y="1920240"/>
            <a:ext cx="3657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01</a:t>
            </a:r>
          </a:p>
        </p:txBody>
      </p:sp>
      <p:sp>
        <p:nvSpPr>
          <p:cNvPr id="14" name="TextBox 13"/>
          <p:cNvSpPr txBox="1"/>
          <p:nvPr/>
        </p:nvSpPr>
        <p:spPr>
          <a:xfrm>
            <a:off x="749808" y="2103120"/>
            <a:ext cx="2286000" cy="256032"/>
          </a:xfrm>
          <a:prstGeom prst="rect">
            <a:avLst/>
          </a:prstGeom>
          <a:noFill/>
        </p:spPr>
        <p:txBody>
          <a:bodyPr wrap="square" anchor="t" lIns="0" rIns="0" tIns="0" bIns="0">
            <a:noAutofit/>
          </a:bodyPr>
          <a:lstStyle/>
          <a:p>
            <a:pPr algn="l">
              <a:lnSpc>
                <a:spcPct val="112000"/>
              </a:lnSpc>
              <a:spcAft>
                <a:spcPts val="0"/>
              </a:spcAft>
            </a:pPr>
            <a:r>
              <a:rPr sz="1350" b="1" i="0">
                <a:solidFill>
                  <a:srgbClr val="152238"/>
                </a:solidFill>
                <a:latin typeface="Calibri"/>
              </a:rPr>
              <a:t>Interface</a:t>
            </a:r>
          </a:p>
        </p:txBody>
      </p:sp>
      <p:sp>
        <p:nvSpPr>
          <p:cNvPr id="15" name="TextBox 14"/>
          <p:cNvSpPr txBox="1"/>
          <p:nvPr/>
        </p:nvSpPr>
        <p:spPr>
          <a:xfrm>
            <a:off x="749808" y="2395728"/>
            <a:ext cx="2331720" cy="329184"/>
          </a:xfrm>
          <a:prstGeom prst="rect">
            <a:avLst/>
          </a:prstGeom>
          <a:noFill/>
        </p:spPr>
        <p:txBody>
          <a:bodyPr wrap="square" anchor="t" lIns="0" rIns="0" tIns="0" bIns="0">
            <a:noAutofit/>
          </a:bodyPr>
          <a:lstStyle/>
          <a:p>
            <a:pPr algn="l">
              <a:lnSpc>
                <a:spcPct val="112000"/>
              </a:lnSpc>
              <a:spcAft>
                <a:spcPts val="0"/>
              </a:spcAft>
            </a:pPr>
            <a:r>
              <a:rPr sz="819" b="0" i="0">
                <a:solidFill>
                  <a:srgbClr val="77859A"/>
                </a:solidFill>
                <a:latin typeface="Calibri"/>
              </a:rPr>
              <a:t>What the student sees and touches.</a:t>
            </a:r>
          </a:p>
        </p:txBody>
      </p:sp>
      <p:sp>
        <p:nvSpPr>
          <p:cNvPr id="16" name="TextBox 15"/>
          <p:cNvSpPr txBox="1"/>
          <p:nvPr/>
        </p:nvSpPr>
        <p:spPr>
          <a:xfrm>
            <a:off x="749808" y="2834640"/>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React 19</a:t>
            </a:r>
          </a:p>
        </p:txBody>
      </p:sp>
      <p:sp>
        <p:nvSpPr>
          <p:cNvPr id="17" name="TextBox 16"/>
          <p:cNvSpPr txBox="1"/>
          <p:nvPr/>
        </p:nvSpPr>
        <p:spPr>
          <a:xfrm>
            <a:off x="749808" y="3026664"/>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Component model for 46 routed views.</a:t>
            </a:r>
          </a:p>
        </p:txBody>
      </p:sp>
      <p:sp>
        <p:nvSpPr>
          <p:cNvPr id="18" name="Rectangle 17"/>
          <p:cNvSpPr/>
          <p:nvPr/>
        </p:nvSpPr>
        <p:spPr>
          <a:xfrm>
            <a:off x="749808" y="3602736"/>
            <a:ext cx="2286000" cy="5486"/>
          </a:xfrm>
          <a:prstGeom prst="rect">
            <a:avLst/>
          </a:prstGeom>
          <a:solidFill>
            <a:srgbClr val="DCE4EA"/>
          </a:solidFill>
          <a:ln>
            <a:noFill/>
          </a:ln>
          <a:effectLst/>
        </p:spPr>
        <p:txBody>
          <a:bodyPr rtlCol="0" anchor="ctr" wrap="square"/>
          <a:lstStyle/>
          <a:p>
            <a:pPr algn="ctr"/>
          </a:p>
        </p:txBody>
      </p:sp>
      <p:sp>
        <p:nvSpPr>
          <p:cNvPr id="19" name="TextBox 18"/>
          <p:cNvSpPr txBox="1"/>
          <p:nvPr/>
        </p:nvSpPr>
        <p:spPr>
          <a:xfrm>
            <a:off x="749808" y="3675888"/>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Vite</a:t>
            </a:r>
          </a:p>
        </p:txBody>
      </p:sp>
      <p:sp>
        <p:nvSpPr>
          <p:cNvPr id="20" name="TextBox 19"/>
          <p:cNvSpPr txBox="1"/>
          <p:nvPr/>
        </p:nvSpPr>
        <p:spPr>
          <a:xfrm>
            <a:off x="749808" y="3867912"/>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Fast dev loop; 6.21 s production build.</a:t>
            </a:r>
          </a:p>
        </p:txBody>
      </p:sp>
      <p:sp>
        <p:nvSpPr>
          <p:cNvPr id="21" name="Rectangle 20"/>
          <p:cNvSpPr/>
          <p:nvPr/>
        </p:nvSpPr>
        <p:spPr>
          <a:xfrm>
            <a:off x="749808" y="4443984"/>
            <a:ext cx="2286000" cy="5486"/>
          </a:xfrm>
          <a:prstGeom prst="rect">
            <a:avLst/>
          </a:prstGeom>
          <a:solidFill>
            <a:srgbClr val="DCE4EA"/>
          </a:solidFill>
          <a:ln>
            <a:noFill/>
          </a:ln>
          <a:effectLst/>
        </p:spPr>
        <p:txBody>
          <a:bodyPr rtlCol="0" anchor="ctr" wrap="square"/>
          <a:lstStyle/>
          <a:p>
            <a:pPr algn="ctr"/>
          </a:p>
        </p:txBody>
      </p:sp>
      <p:sp>
        <p:nvSpPr>
          <p:cNvPr id="22" name="TextBox 21"/>
          <p:cNvSpPr txBox="1"/>
          <p:nvPr/>
        </p:nvSpPr>
        <p:spPr>
          <a:xfrm>
            <a:off x="749808" y="4517136"/>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CSS custom properties</a:t>
            </a:r>
          </a:p>
        </p:txBody>
      </p:sp>
      <p:sp>
        <p:nvSpPr>
          <p:cNvPr id="23" name="TextBox 22"/>
          <p:cNvSpPr txBox="1"/>
          <p:nvPr/>
        </p:nvSpPr>
        <p:spPr>
          <a:xfrm>
            <a:off x="749808" y="4709160"/>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One token set drives light and dark themes.</a:t>
            </a:r>
          </a:p>
        </p:txBody>
      </p:sp>
      <p:sp>
        <p:nvSpPr>
          <p:cNvPr id="24" name="Rounded Rectangle 23"/>
          <p:cNvSpPr/>
          <p:nvPr/>
        </p:nvSpPr>
        <p:spPr>
          <a:xfrm>
            <a:off x="3364992" y="1773936"/>
            <a:ext cx="2670048" cy="3639312"/>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25" name="Rectangle 24"/>
          <p:cNvSpPr/>
          <p:nvPr/>
        </p:nvSpPr>
        <p:spPr>
          <a:xfrm>
            <a:off x="3364992" y="1773936"/>
            <a:ext cx="2670048" cy="54864"/>
          </a:xfrm>
          <a:prstGeom prst="rect">
            <a:avLst/>
          </a:prstGeom>
          <a:solidFill>
            <a:srgbClr val="2E5C9A"/>
          </a:solidFill>
          <a:ln>
            <a:noFill/>
          </a:ln>
          <a:effectLst/>
        </p:spPr>
        <p:txBody>
          <a:bodyPr rtlCol="0" anchor="ctr" wrap="square"/>
          <a:lstStyle/>
          <a:p>
            <a:pPr algn="ctr"/>
          </a:p>
        </p:txBody>
      </p:sp>
      <p:sp>
        <p:nvSpPr>
          <p:cNvPr id="26" name="TextBox 25"/>
          <p:cNvSpPr txBox="1"/>
          <p:nvPr/>
        </p:nvSpPr>
        <p:spPr>
          <a:xfrm>
            <a:off x="3547872" y="1920240"/>
            <a:ext cx="365760" cy="182880"/>
          </a:xfrm>
          <a:prstGeom prst="rect">
            <a:avLst/>
          </a:prstGeom>
          <a:noFill/>
        </p:spPr>
        <p:txBody>
          <a:bodyPr wrap="square" anchor="t" lIns="0" rIns="0" tIns="0" bIns="0">
            <a:noAutofit/>
          </a:bodyPr>
          <a:lstStyle/>
          <a:p>
            <a:pPr algn="l">
              <a:lnSpc>
                <a:spcPct val="112000"/>
              </a:lnSpc>
              <a:spcAft>
                <a:spcPts val="0"/>
              </a:spcAft>
            </a:pPr>
            <a:r>
              <a:rPr sz="800" b="1" i="0">
                <a:solidFill>
                  <a:srgbClr val="2E5C9A"/>
                </a:solidFill>
                <a:latin typeface="Calibri"/>
              </a:rPr>
              <a:t>02</a:t>
            </a:r>
          </a:p>
        </p:txBody>
      </p:sp>
      <p:sp>
        <p:nvSpPr>
          <p:cNvPr id="27" name="TextBox 26"/>
          <p:cNvSpPr txBox="1"/>
          <p:nvPr/>
        </p:nvSpPr>
        <p:spPr>
          <a:xfrm>
            <a:off x="3547872" y="2103120"/>
            <a:ext cx="2286000" cy="256032"/>
          </a:xfrm>
          <a:prstGeom prst="rect">
            <a:avLst/>
          </a:prstGeom>
          <a:noFill/>
        </p:spPr>
        <p:txBody>
          <a:bodyPr wrap="square" anchor="t" lIns="0" rIns="0" tIns="0" bIns="0">
            <a:noAutofit/>
          </a:bodyPr>
          <a:lstStyle/>
          <a:p>
            <a:pPr algn="l">
              <a:lnSpc>
                <a:spcPct val="112000"/>
              </a:lnSpc>
              <a:spcAft>
                <a:spcPts val="0"/>
              </a:spcAft>
            </a:pPr>
            <a:r>
              <a:rPr sz="1350" b="1" i="0">
                <a:solidFill>
                  <a:srgbClr val="152238"/>
                </a:solidFill>
                <a:latin typeface="Calibri"/>
              </a:rPr>
              <a:t>Intelligence</a:t>
            </a:r>
          </a:p>
        </p:txBody>
      </p:sp>
      <p:sp>
        <p:nvSpPr>
          <p:cNvPr id="28" name="TextBox 27"/>
          <p:cNvSpPr txBox="1"/>
          <p:nvPr/>
        </p:nvSpPr>
        <p:spPr>
          <a:xfrm>
            <a:off x="3547872" y="2395728"/>
            <a:ext cx="2331720" cy="329184"/>
          </a:xfrm>
          <a:prstGeom prst="rect">
            <a:avLst/>
          </a:prstGeom>
          <a:noFill/>
        </p:spPr>
        <p:txBody>
          <a:bodyPr wrap="square" anchor="t" lIns="0" rIns="0" tIns="0" bIns="0">
            <a:noAutofit/>
          </a:bodyPr>
          <a:lstStyle/>
          <a:p>
            <a:pPr algn="l">
              <a:lnSpc>
                <a:spcPct val="112000"/>
              </a:lnSpc>
              <a:spcAft>
                <a:spcPts val="0"/>
              </a:spcAft>
            </a:pPr>
            <a:r>
              <a:rPr sz="819" b="0" i="0">
                <a:solidFill>
                  <a:srgbClr val="77859A"/>
                </a:solidFill>
                <a:latin typeface="Calibri"/>
              </a:rPr>
              <a:t>Generation and in-browser computation.</a:t>
            </a:r>
          </a:p>
        </p:txBody>
      </p:sp>
      <p:sp>
        <p:nvSpPr>
          <p:cNvPr id="29" name="TextBox 28"/>
          <p:cNvSpPr txBox="1"/>
          <p:nvPr/>
        </p:nvSpPr>
        <p:spPr>
          <a:xfrm>
            <a:off x="3547872" y="2834640"/>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OpenRouter</a:t>
            </a:r>
          </a:p>
        </p:txBody>
      </p:sp>
      <p:sp>
        <p:nvSpPr>
          <p:cNvPr id="30" name="TextBox 29"/>
          <p:cNvSpPr txBox="1"/>
          <p:nvPr/>
        </p:nvSpPr>
        <p:spPr>
          <a:xfrm>
            <a:off x="3547872" y="3026664"/>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Free-tier models with a six-model fallback chain.</a:t>
            </a:r>
          </a:p>
        </p:txBody>
      </p:sp>
      <p:sp>
        <p:nvSpPr>
          <p:cNvPr id="31" name="Rectangle 30"/>
          <p:cNvSpPr/>
          <p:nvPr/>
        </p:nvSpPr>
        <p:spPr>
          <a:xfrm>
            <a:off x="3547872" y="3602736"/>
            <a:ext cx="2286000" cy="5486"/>
          </a:xfrm>
          <a:prstGeom prst="rect">
            <a:avLst/>
          </a:prstGeom>
          <a:solidFill>
            <a:srgbClr val="DCE4EA"/>
          </a:solidFill>
          <a:ln>
            <a:noFill/>
          </a:ln>
          <a:effectLst/>
        </p:spPr>
        <p:txBody>
          <a:bodyPr rtlCol="0" anchor="ctr" wrap="square"/>
          <a:lstStyle/>
          <a:p>
            <a:pPr algn="ctr"/>
          </a:p>
        </p:txBody>
      </p:sp>
      <p:sp>
        <p:nvSpPr>
          <p:cNvPr id="32" name="TextBox 31"/>
          <p:cNvSpPr txBox="1"/>
          <p:nvPr/>
        </p:nvSpPr>
        <p:spPr>
          <a:xfrm>
            <a:off x="3547872" y="3675888"/>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Pyodide</a:t>
            </a:r>
          </a:p>
        </p:txBody>
      </p:sp>
      <p:sp>
        <p:nvSpPr>
          <p:cNvPr id="33" name="TextBox 32"/>
          <p:cNvSpPr txBox="1"/>
          <p:nvPr/>
        </p:nvSpPr>
        <p:spPr>
          <a:xfrm>
            <a:off x="3547872" y="3867912"/>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Python runs client-side for coding practice.</a:t>
            </a:r>
          </a:p>
        </p:txBody>
      </p:sp>
      <p:sp>
        <p:nvSpPr>
          <p:cNvPr id="34" name="Rectangle 33"/>
          <p:cNvSpPr/>
          <p:nvPr/>
        </p:nvSpPr>
        <p:spPr>
          <a:xfrm>
            <a:off x="3547872" y="4443984"/>
            <a:ext cx="2286000" cy="5486"/>
          </a:xfrm>
          <a:prstGeom prst="rect">
            <a:avLst/>
          </a:prstGeom>
          <a:solidFill>
            <a:srgbClr val="DCE4EA"/>
          </a:solidFill>
          <a:ln>
            <a:noFill/>
          </a:ln>
          <a:effectLst/>
        </p:spPr>
        <p:txBody>
          <a:bodyPr rtlCol="0" anchor="ctr" wrap="square"/>
          <a:lstStyle/>
          <a:p>
            <a:pPr algn="ctr"/>
          </a:p>
        </p:txBody>
      </p:sp>
      <p:sp>
        <p:nvSpPr>
          <p:cNvPr id="35" name="TextBox 34"/>
          <p:cNvSpPr txBox="1"/>
          <p:nvPr/>
        </p:nvSpPr>
        <p:spPr>
          <a:xfrm>
            <a:off x="3547872" y="4517136"/>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Mermaid + KaTeX</a:t>
            </a:r>
          </a:p>
        </p:txBody>
      </p:sp>
      <p:sp>
        <p:nvSpPr>
          <p:cNvPr id="36" name="TextBox 35"/>
          <p:cNvSpPr txBox="1"/>
          <p:nvPr/>
        </p:nvSpPr>
        <p:spPr>
          <a:xfrm>
            <a:off x="3547872" y="4709160"/>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Diagrams and mathematical notation, rendered locally.</a:t>
            </a:r>
          </a:p>
        </p:txBody>
      </p:sp>
      <p:sp>
        <p:nvSpPr>
          <p:cNvPr id="37" name="Rounded Rectangle 36"/>
          <p:cNvSpPr/>
          <p:nvPr/>
        </p:nvSpPr>
        <p:spPr>
          <a:xfrm>
            <a:off x="6163056" y="1773936"/>
            <a:ext cx="2670048" cy="3639312"/>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38" name="Rectangle 37"/>
          <p:cNvSpPr/>
          <p:nvPr/>
        </p:nvSpPr>
        <p:spPr>
          <a:xfrm>
            <a:off x="6163056" y="1773936"/>
            <a:ext cx="2670048" cy="54864"/>
          </a:xfrm>
          <a:prstGeom prst="rect">
            <a:avLst/>
          </a:prstGeom>
          <a:solidFill>
            <a:srgbClr val="B0781C"/>
          </a:solidFill>
          <a:ln>
            <a:noFill/>
          </a:ln>
          <a:effectLst/>
        </p:spPr>
        <p:txBody>
          <a:bodyPr rtlCol="0" anchor="ctr" wrap="square"/>
          <a:lstStyle/>
          <a:p>
            <a:pPr algn="ctr"/>
          </a:p>
        </p:txBody>
      </p:sp>
      <p:sp>
        <p:nvSpPr>
          <p:cNvPr id="39" name="TextBox 38"/>
          <p:cNvSpPr txBox="1"/>
          <p:nvPr/>
        </p:nvSpPr>
        <p:spPr>
          <a:xfrm>
            <a:off x="6345936" y="1920240"/>
            <a:ext cx="365760" cy="182880"/>
          </a:xfrm>
          <a:prstGeom prst="rect">
            <a:avLst/>
          </a:prstGeom>
          <a:noFill/>
        </p:spPr>
        <p:txBody>
          <a:bodyPr wrap="square" anchor="t" lIns="0" rIns="0" tIns="0" bIns="0">
            <a:noAutofit/>
          </a:bodyPr>
          <a:lstStyle/>
          <a:p>
            <a:pPr algn="l">
              <a:lnSpc>
                <a:spcPct val="112000"/>
              </a:lnSpc>
              <a:spcAft>
                <a:spcPts val="0"/>
              </a:spcAft>
            </a:pPr>
            <a:r>
              <a:rPr sz="800" b="1" i="0">
                <a:solidFill>
                  <a:srgbClr val="B0781C"/>
                </a:solidFill>
                <a:latin typeface="Calibri"/>
              </a:rPr>
              <a:t>03</a:t>
            </a:r>
          </a:p>
        </p:txBody>
      </p:sp>
      <p:sp>
        <p:nvSpPr>
          <p:cNvPr id="40" name="TextBox 39"/>
          <p:cNvSpPr txBox="1"/>
          <p:nvPr/>
        </p:nvSpPr>
        <p:spPr>
          <a:xfrm>
            <a:off x="6345936" y="2103120"/>
            <a:ext cx="2286000" cy="256032"/>
          </a:xfrm>
          <a:prstGeom prst="rect">
            <a:avLst/>
          </a:prstGeom>
          <a:noFill/>
        </p:spPr>
        <p:txBody>
          <a:bodyPr wrap="square" anchor="t" lIns="0" rIns="0" tIns="0" bIns="0">
            <a:noAutofit/>
          </a:bodyPr>
          <a:lstStyle/>
          <a:p>
            <a:pPr algn="l">
              <a:lnSpc>
                <a:spcPct val="112000"/>
              </a:lnSpc>
              <a:spcAft>
                <a:spcPts val="0"/>
              </a:spcAft>
            </a:pPr>
            <a:r>
              <a:rPr sz="1350" b="1" i="0">
                <a:solidFill>
                  <a:srgbClr val="152238"/>
                </a:solidFill>
                <a:latin typeface="Calibri"/>
              </a:rPr>
              <a:t>Data</a:t>
            </a:r>
          </a:p>
        </p:txBody>
      </p:sp>
      <p:sp>
        <p:nvSpPr>
          <p:cNvPr id="41" name="TextBox 40"/>
          <p:cNvSpPr txBox="1"/>
          <p:nvPr/>
        </p:nvSpPr>
        <p:spPr>
          <a:xfrm>
            <a:off x="6345936" y="2395728"/>
            <a:ext cx="2331720" cy="329184"/>
          </a:xfrm>
          <a:prstGeom prst="rect">
            <a:avLst/>
          </a:prstGeom>
          <a:noFill/>
        </p:spPr>
        <p:txBody>
          <a:bodyPr wrap="square" anchor="t" lIns="0" rIns="0" tIns="0" bIns="0">
            <a:noAutofit/>
          </a:bodyPr>
          <a:lstStyle/>
          <a:p>
            <a:pPr algn="l">
              <a:lnSpc>
                <a:spcPct val="112000"/>
              </a:lnSpc>
              <a:spcAft>
                <a:spcPts val="0"/>
              </a:spcAft>
            </a:pPr>
            <a:r>
              <a:rPr sz="819" b="0" i="0">
                <a:solidFill>
                  <a:srgbClr val="77859A"/>
                </a:solidFill>
                <a:latin typeface="Calibri"/>
              </a:rPr>
              <a:t>Where the study record actually lives.</a:t>
            </a:r>
          </a:p>
        </p:txBody>
      </p:sp>
      <p:sp>
        <p:nvSpPr>
          <p:cNvPr id="42" name="TextBox 41"/>
          <p:cNvSpPr txBox="1"/>
          <p:nvPr/>
        </p:nvSpPr>
        <p:spPr>
          <a:xfrm>
            <a:off x="6345936" y="2834640"/>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Dexie.js + IndexedDB</a:t>
            </a:r>
          </a:p>
        </p:txBody>
      </p:sp>
      <p:sp>
        <p:nvSpPr>
          <p:cNvPr id="43" name="TextBox 42"/>
          <p:cNvSpPr txBox="1"/>
          <p:nvPr/>
        </p:nvSpPr>
        <p:spPr>
          <a:xfrm>
            <a:off x="6345936" y="3026664"/>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40-table local store; live queries; offline.</a:t>
            </a:r>
          </a:p>
        </p:txBody>
      </p:sp>
      <p:sp>
        <p:nvSpPr>
          <p:cNvPr id="44" name="Rectangle 43"/>
          <p:cNvSpPr/>
          <p:nvPr/>
        </p:nvSpPr>
        <p:spPr>
          <a:xfrm>
            <a:off x="6345936" y="3602736"/>
            <a:ext cx="2286000" cy="5486"/>
          </a:xfrm>
          <a:prstGeom prst="rect">
            <a:avLst/>
          </a:prstGeom>
          <a:solidFill>
            <a:srgbClr val="DCE4EA"/>
          </a:solidFill>
          <a:ln>
            <a:noFill/>
          </a:ln>
          <a:effectLst/>
        </p:spPr>
        <p:txBody>
          <a:bodyPr rtlCol="0" anchor="ctr" wrap="square"/>
          <a:lstStyle/>
          <a:p>
            <a:pPr algn="ctr"/>
          </a:p>
        </p:txBody>
      </p:sp>
      <p:sp>
        <p:nvSpPr>
          <p:cNvPr id="45" name="TextBox 44"/>
          <p:cNvSpPr txBox="1"/>
          <p:nvPr/>
        </p:nvSpPr>
        <p:spPr>
          <a:xfrm>
            <a:off x="6345936" y="3675888"/>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Firebase Auth</a:t>
            </a:r>
          </a:p>
        </p:txBody>
      </p:sp>
      <p:sp>
        <p:nvSpPr>
          <p:cNvPr id="46" name="TextBox 45"/>
          <p:cNvSpPr txBox="1"/>
          <p:nvPr/>
        </p:nvSpPr>
        <p:spPr>
          <a:xfrm>
            <a:off x="6345936" y="3867912"/>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Google, email and phone identity — optional.</a:t>
            </a:r>
          </a:p>
        </p:txBody>
      </p:sp>
      <p:sp>
        <p:nvSpPr>
          <p:cNvPr id="47" name="Rectangle 46"/>
          <p:cNvSpPr/>
          <p:nvPr/>
        </p:nvSpPr>
        <p:spPr>
          <a:xfrm>
            <a:off x="6345936" y="4443984"/>
            <a:ext cx="2286000" cy="5486"/>
          </a:xfrm>
          <a:prstGeom prst="rect">
            <a:avLst/>
          </a:prstGeom>
          <a:solidFill>
            <a:srgbClr val="DCE4EA"/>
          </a:solidFill>
          <a:ln>
            <a:noFill/>
          </a:ln>
          <a:effectLst/>
        </p:spPr>
        <p:txBody>
          <a:bodyPr rtlCol="0" anchor="ctr" wrap="square"/>
          <a:lstStyle/>
          <a:p>
            <a:pPr algn="ctr"/>
          </a:p>
        </p:txBody>
      </p:sp>
      <p:sp>
        <p:nvSpPr>
          <p:cNvPr id="48" name="TextBox 47"/>
          <p:cNvSpPr txBox="1"/>
          <p:nvPr/>
        </p:nvSpPr>
        <p:spPr>
          <a:xfrm>
            <a:off x="6345936" y="4517136"/>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File APIs</a:t>
            </a:r>
          </a:p>
        </p:txBody>
      </p:sp>
      <p:sp>
        <p:nvSpPr>
          <p:cNvPr id="49" name="TextBox 48"/>
          <p:cNvSpPr txBox="1"/>
          <p:nvPr/>
        </p:nvSpPr>
        <p:spPr>
          <a:xfrm>
            <a:off x="6345936" y="4709160"/>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PDF, DOCX and image parsing through Tesseract and pdf.js.</a:t>
            </a:r>
          </a:p>
        </p:txBody>
      </p:sp>
      <p:sp>
        <p:nvSpPr>
          <p:cNvPr id="50" name="Rounded Rectangle 49"/>
          <p:cNvSpPr/>
          <p:nvPr/>
        </p:nvSpPr>
        <p:spPr>
          <a:xfrm>
            <a:off x="8961119" y="1773936"/>
            <a:ext cx="2670048" cy="3639312"/>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51" name="Rectangle 50"/>
          <p:cNvSpPr/>
          <p:nvPr/>
        </p:nvSpPr>
        <p:spPr>
          <a:xfrm>
            <a:off x="8961119" y="1773936"/>
            <a:ext cx="2670048" cy="54864"/>
          </a:xfrm>
          <a:prstGeom prst="rect">
            <a:avLst/>
          </a:prstGeom>
          <a:solidFill>
            <a:srgbClr val="2B7A58"/>
          </a:solidFill>
          <a:ln>
            <a:noFill/>
          </a:ln>
          <a:effectLst/>
        </p:spPr>
        <p:txBody>
          <a:bodyPr rtlCol="0" anchor="ctr" wrap="square"/>
          <a:lstStyle/>
          <a:p>
            <a:pPr algn="ctr"/>
          </a:p>
        </p:txBody>
      </p:sp>
      <p:sp>
        <p:nvSpPr>
          <p:cNvPr id="52" name="TextBox 51"/>
          <p:cNvSpPr txBox="1"/>
          <p:nvPr/>
        </p:nvSpPr>
        <p:spPr>
          <a:xfrm>
            <a:off x="9143999" y="1920240"/>
            <a:ext cx="365760" cy="182880"/>
          </a:xfrm>
          <a:prstGeom prst="rect">
            <a:avLst/>
          </a:prstGeom>
          <a:noFill/>
        </p:spPr>
        <p:txBody>
          <a:bodyPr wrap="square" anchor="t" lIns="0" rIns="0" tIns="0" bIns="0">
            <a:noAutofit/>
          </a:bodyPr>
          <a:lstStyle/>
          <a:p>
            <a:pPr algn="l">
              <a:lnSpc>
                <a:spcPct val="112000"/>
              </a:lnSpc>
              <a:spcAft>
                <a:spcPts val="0"/>
              </a:spcAft>
            </a:pPr>
            <a:r>
              <a:rPr sz="800" b="1" i="0">
                <a:solidFill>
                  <a:srgbClr val="2B7A58"/>
                </a:solidFill>
                <a:latin typeface="Calibri"/>
              </a:rPr>
              <a:t>04</a:t>
            </a:r>
          </a:p>
        </p:txBody>
      </p:sp>
      <p:sp>
        <p:nvSpPr>
          <p:cNvPr id="53" name="TextBox 52"/>
          <p:cNvSpPr txBox="1"/>
          <p:nvPr/>
        </p:nvSpPr>
        <p:spPr>
          <a:xfrm>
            <a:off x="9143999" y="2103120"/>
            <a:ext cx="2286000" cy="256032"/>
          </a:xfrm>
          <a:prstGeom prst="rect">
            <a:avLst/>
          </a:prstGeom>
          <a:noFill/>
        </p:spPr>
        <p:txBody>
          <a:bodyPr wrap="square" anchor="t" lIns="0" rIns="0" tIns="0" bIns="0">
            <a:noAutofit/>
          </a:bodyPr>
          <a:lstStyle/>
          <a:p>
            <a:pPr algn="l">
              <a:lnSpc>
                <a:spcPct val="112000"/>
              </a:lnSpc>
              <a:spcAft>
                <a:spcPts val="0"/>
              </a:spcAft>
            </a:pPr>
            <a:r>
              <a:rPr sz="1350" b="1" i="0">
                <a:solidFill>
                  <a:srgbClr val="152238"/>
                </a:solidFill>
                <a:latin typeface="Calibri"/>
              </a:rPr>
              <a:t>Quality</a:t>
            </a:r>
          </a:p>
        </p:txBody>
      </p:sp>
      <p:sp>
        <p:nvSpPr>
          <p:cNvPr id="54" name="TextBox 53"/>
          <p:cNvSpPr txBox="1"/>
          <p:nvPr/>
        </p:nvSpPr>
        <p:spPr>
          <a:xfrm>
            <a:off x="9143999" y="2395728"/>
            <a:ext cx="2331720" cy="329184"/>
          </a:xfrm>
          <a:prstGeom prst="rect">
            <a:avLst/>
          </a:prstGeom>
          <a:noFill/>
        </p:spPr>
        <p:txBody>
          <a:bodyPr wrap="square" anchor="t" lIns="0" rIns="0" tIns="0" bIns="0">
            <a:noAutofit/>
          </a:bodyPr>
          <a:lstStyle/>
          <a:p>
            <a:pPr algn="l">
              <a:lnSpc>
                <a:spcPct val="112000"/>
              </a:lnSpc>
              <a:spcAft>
                <a:spcPts val="0"/>
              </a:spcAft>
            </a:pPr>
            <a:r>
              <a:rPr sz="819" b="0" i="0">
                <a:solidFill>
                  <a:srgbClr val="77859A"/>
                </a:solidFill>
                <a:latin typeface="Calibri"/>
              </a:rPr>
              <a:t>How the build is checked and shown.</a:t>
            </a:r>
          </a:p>
        </p:txBody>
      </p:sp>
      <p:sp>
        <p:nvSpPr>
          <p:cNvPr id="55" name="TextBox 54"/>
          <p:cNvSpPr txBox="1"/>
          <p:nvPr/>
        </p:nvSpPr>
        <p:spPr>
          <a:xfrm>
            <a:off x="9143999" y="2834640"/>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Vitest</a:t>
            </a:r>
          </a:p>
        </p:txBody>
      </p:sp>
      <p:sp>
        <p:nvSpPr>
          <p:cNvPr id="56" name="TextBox 55"/>
          <p:cNvSpPr txBox="1"/>
          <p:nvPr/>
        </p:nvSpPr>
        <p:spPr>
          <a:xfrm>
            <a:off x="9143999" y="3026664"/>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47 automated tests across the core modules.</a:t>
            </a:r>
          </a:p>
        </p:txBody>
      </p:sp>
      <p:sp>
        <p:nvSpPr>
          <p:cNvPr id="57" name="Rectangle 56"/>
          <p:cNvSpPr/>
          <p:nvPr/>
        </p:nvSpPr>
        <p:spPr>
          <a:xfrm>
            <a:off x="9143999" y="3602736"/>
            <a:ext cx="2286000" cy="5486"/>
          </a:xfrm>
          <a:prstGeom prst="rect">
            <a:avLst/>
          </a:prstGeom>
          <a:solidFill>
            <a:srgbClr val="DCE4EA"/>
          </a:solidFill>
          <a:ln>
            <a:noFill/>
          </a:ln>
          <a:effectLst/>
        </p:spPr>
        <p:txBody>
          <a:bodyPr rtlCol="0" anchor="ctr" wrap="square"/>
          <a:lstStyle/>
          <a:p>
            <a:pPr algn="ctr"/>
          </a:p>
        </p:txBody>
      </p:sp>
      <p:sp>
        <p:nvSpPr>
          <p:cNvPr id="58" name="TextBox 57"/>
          <p:cNvSpPr txBox="1"/>
          <p:nvPr/>
        </p:nvSpPr>
        <p:spPr>
          <a:xfrm>
            <a:off x="9143999" y="3675888"/>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Puppeteer</a:t>
            </a:r>
          </a:p>
        </p:txBody>
      </p:sp>
      <p:sp>
        <p:nvSpPr>
          <p:cNvPr id="59" name="TextBox 58"/>
          <p:cNvSpPr txBox="1"/>
          <p:nvPr/>
        </p:nvSpPr>
        <p:spPr>
          <a:xfrm>
            <a:off x="9143999" y="3867912"/>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Seeded demo data and genuine interface captures.</a:t>
            </a:r>
          </a:p>
        </p:txBody>
      </p:sp>
      <p:sp>
        <p:nvSpPr>
          <p:cNvPr id="60" name="Rectangle 59"/>
          <p:cNvSpPr/>
          <p:nvPr/>
        </p:nvSpPr>
        <p:spPr>
          <a:xfrm>
            <a:off x="9143999" y="4443984"/>
            <a:ext cx="2286000" cy="5486"/>
          </a:xfrm>
          <a:prstGeom prst="rect">
            <a:avLst/>
          </a:prstGeom>
          <a:solidFill>
            <a:srgbClr val="DCE4EA"/>
          </a:solidFill>
          <a:ln>
            <a:noFill/>
          </a:ln>
          <a:effectLst/>
        </p:spPr>
        <p:txBody>
          <a:bodyPr rtlCol="0" anchor="ctr" wrap="square"/>
          <a:lstStyle/>
          <a:p>
            <a:pPr algn="ctr"/>
          </a:p>
        </p:txBody>
      </p:sp>
      <p:sp>
        <p:nvSpPr>
          <p:cNvPr id="61" name="TextBox 60"/>
          <p:cNvSpPr txBox="1"/>
          <p:nvPr/>
        </p:nvSpPr>
        <p:spPr>
          <a:xfrm>
            <a:off x="9143999" y="4517136"/>
            <a:ext cx="2331720" cy="201168"/>
          </a:xfrm>
          <a:prstGeom prst="rect">
            <a:avLst/>
          </a:prstGeom>
          <a:noFill/>
        </p:spPr>
        <p:txBody>
          <a:bodyPr wrap="square" anchor="t" lIns="0" rIns="0" tIns="0" bIns="0">
            <a:noAutofit/>
          </a:bodyPr>
          <a:lstStyle/>
          <a:p>
            <a:pPr algn="l">
              <a:lnSpc>
                <a:spcPct val="112000"/>
              </a:lnSpc>
              <a:spcAft>
                <a:spcPts val="0"/>
              </a:spcAft>
            </a:pPr>
            <a:r>
              <a:rPr sz="900" b="1" i="0">
                <a:solidFill>
                  <a:srgbClr val="152238"/>
                </a:solidFill>
                <a:latin typeface="Calibri"/>
              </a:rPr>
              <a:t>Build + PDF</a:t>
            </a:r>
          </a:p>
        </p:txBody>
      </p:sp>
      <p:sp>
        <p:nvSpPr>
          <p:cNvPr id="62" name="TextBox 61"/>
          <p:cNvSpPr txBox="1"/>
          <p:nvPr/>
        </p:nvSpPr>
        <p:spPr>
          <a:xfrm>
            <a:off x="9143999" y="4709160"/>
            <a:ext cx="2331720" cy="512064"/>
          </a:xfrm>
          <a:prstGeom prst="rect">
            <a:avLst/>
          </a:prstGeom>
          <a:noFill/>
        </p:spPr>
        <p:txBody>
          <a:bodyPr wrap="square" anchor="t" lIns="0" rIns="0" tIns="0" bIns="0">
            <a:noAutofit/>
          </a:bodyPr>
          <a:lstStyle/>
          <a:p>
            <a:pPr algn="l">
              <a:lnSpc>
                <a:spcPct val="113000"/>
              </a:lnSpc>
              <a:spcAft>
                <a:spcPts val="0"/>
              </a:spcAft>
            </a:pPr>
            <a:r>
              <a:rPr sz="770" b="0" i="0">
                <a:solidFill>
                  <a:srgbClr val="77859A"/>
                </a:solidFill>
                <a:latin typeface="Calibri"/>
              </a:rPr>
              <a:t>Production bundle and a shareable preview export.</a:t>
            </a:r>
          </a:p>
        </p:txBody>
      </p:sp>
      <p:sp>
        <p:nvSpPr>
          <p:cNvPr id="63" name="Rounded Rectangle 62"/>
          <p:cNvSpPr/>
          <p:nvPr/>
        </p:nvSpPr>
        <p:spPr>
          <a:xfrm>
            <a:off x="566928" y="5541264"/>
            <a:ext cx="11064240" cy="566928"/>
          </a:xfrm>
          <a:prstGeom prst="roundRect">
            <a:avLst>
              <a:gd name="adj" fmla="val 6000"/>
            </a:avLst>
          </a:prstGeom>
          <a:solidFill>
            <a:srgbClr val="F5F8FA"/>
          </a:solidFill>
          <a:ln w="9525">
            <a:solidFill>
              <a:srgbClr val="DCE4EA"/>
            </a:solidFill>
          </a:ln>
          <a:effectLst/>
        </p:spPr>
        <p:txBody>
          <a:bodyPr rtlCol="0" anchor="ctr" wrap="square"/>
          <a:lstStyle/>
          <a:p>
            <a:pPr algn="ctr"/>
          </a:p>
        </p:txBody>
      </p:sp>
      <p:sp>
        <p:nvSpPr>
          <p:cNvPr id="64" name="TextBox 63"/>
          <p:cNvSpPr txBox="1"/>
          <p:nvPr/>
        </p:nvSpPr>
        <p:spPr>
          <a:xfrm>
            <a:off x="786384" y="5632704"/>
            <a:ext cx="2194560" cy="182880"/>
          </a:xfrm>
          <a:prstGeom prst="rect">
            <a:avLst/>
          </a:prstGeom>
          <a:noFill/>
        </p:spPr>
        <p:txBody>
          <a:bodyPr wrap="square" anchor="t" lIns="0" rIns="0" tIns="0" bIns="0">
            <a:noAutofit/>
          </a:bodyPr>
          <a:lstStyle/>
          <a:p>
            <a:pPr algn="l">
              <a:lnSpc>
                <a:spcPct val="112000"/>
              </a:lnSpc>
              <a:spcAft>
                <a:spcPts val="0"/>
              </a:spcAft>
            </a:pPr>
            <a:r>
              <a:rPr sz="740" b="1" i="0">
                <a:solidFill>
                  <a:srgbClr val="0F7A82"/>
                </a:solidFill>
                <a:latin typeface="Calibri"/>
              </a:rPr>
              <a:t>WHAT WE AVOIDED</a:t>
            </a:r>
          </a:p>
        </p:txBody>
      </p:sp>
      <p:sp>
        <p:nvSpPr>
          <p:cNvPr id="65" name="TextBox 64"/>
          <p:cNvSpPr txBox="1"/>
          <p:nvPr/>
        </p:nvSpPr>
        <p:spPr>
          <a:xfrm>
            <a:off x="786384" y="5797296"/>
            <a:ext cx="10561320" cy="237744"/>
          </a:xfrm>
          <a:prstGeom prst="rect">
            <a:avLst/>
          </a:prstGeom>
          <a:noFill/>
        </p:spPr>
        <p:txBody>
          <a:bodyPr wrap="square" anchor="t" lIns="0" rIns="0" tIns="0" bIns="0">
            <a:noAutofit/>
          </a:bodyPr>
          <a:lstStyle/>
          <a:p>
            <a:pPr algn="l">
              <a:lnSpc>
                <a:spcPct val="112000"/>
              </a:lnSpc>
              <a:spcAft>
                <a:spcPts val="0"/>
              </a:spcAft>
            </a:pPr>
            <a:r>
              <a:rPr sz="880" b="0" i="0">
                <a:solidFill>
                  <a:srgbClr val="3D4A5C"/>
                </a:solidFill>
                <a:latin typeface="Calibri"/>
              </a:rPr>
              <a:t>A custom server fleet  ·  model training or hosting  ·  a paid tier  ·  a separate native build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09 · DATA MODEL</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The schema mirrors how a student thinks</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Subjects contain topics, topics produce practice, and practice feeds progress — all in one local store.</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ENGINEERING</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11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773936"/>
            <a:ext cx="3017520" cy="1792224"/>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12" name="TextBox 11"/>
          <p:cNvSpPr txBox="1"/>
          <p:nvPr/>
        </p:nvSpPr>
        <p:spPr>
          <a:xfrm>
            <a:off x="731520" y="1883664"/>
            <a:ext cx="1828800" cy="182880"/>
          </a:xfrm>
          <a:prstGeom prst="rect">
            <a:avLst/>
          </a:prstGeom>
          <a:noFill/>
        </p:spPr>
        <p:txBody>
          <a:bodyPr wrap="square" anchor="t" lIns="0" rIns="0" tIns="0" bIns="0">
            <a:noAutofit/>
          </a:bodyPr>
          <a:lstStyle/>
          <a:p>
            <a:pPr algn="l">
              <a:lnSpc>
                <a:spcPct val="112000"/>
              </a:lnSpc>
              <a:spcAft>
                <a:spcPts val="0"/>
              </a:spcAft>
            </a:pPr>
            <a:r>
              <a:rPr sz="760" b="1" i="0">
                <a:solidFill>
                  <a:srgbClr val="0F7A82"/>
                </a:solidFill>
                <a:latin typeface="Calibri"/>
              </a:rPr>
              <a:t>CURRICULUM</a:t>
            </a:r>
          </a:p>
        </p:txBody>
      </p:sp>
      <p:sp>
        <p:nvSpPr>
          <p:cNvPr id="13" name="TextBox 12"/>
          <p:cNvSpPr txBox="1"/>
          <p:nvPr/>
        </p:nvSpPr>
        <p:spPr>
          <a:xfrm>
            <a:off x="3218688" y="1883664"/>
            <a:ext cx="256032" cy="182880"/>
          </a:xfrm>
          <a:prstGeom prst="rect">
            <a:avLst/>
          </a:prstGeom>
          <a:noFill/>
        </p:spPr>
        <p:txBody>
          <a:bodyPr wrap="square" anchor="t" lIns="0" rIns="0" tIns="0" bIns="0">
            <a:noAutofit/>
          </a:bodyPr>
          <a:lstStyle/>
          <a:p>
            <a:pPr algn="r">
              <a:lnSpc>
                <a:spcPct val="112000"/>
              </a:lnSpc>
              <a:spcAft>
                <a:spcPts val="0"/>
              </a:spcAft>
            </a:pPr>
            <a:r>
              <a:rPr sz="760" b="1" i="0">
                <a:solidFill>
                  <a:srgbClr val="77859A"/>
                </a:solidFill>
                <a:latin typeface="Calibri"/>
              </a:rPr>
              <a:t>1</a:t>
            </a:r>
          </a:p>
        </p:txBody>
      </p:sp>
      <p:sp>
        <p:nvSpPr>
          <p:cNvPr id="14" name="TextBox 13"/>
          <p:cNvSpPr txBox="1"/>
          <p:nvPr/>
        </p:nvSpPr>
        <p:spPr>
          <a:xfrm>
            <a:off x="731520" y="2057400"/>
            <a:ext cx="2651760" cy="164592"/>
          </a:xfrm>
          <a:prstGeom prst="rect">
            <a:avLst/>
          </a:prstGeom>
          <a:noFill/>
        </p:spPr>
        <p:txBody>
          <a:bodyPr wrap="square" anchor="t" lIns="0" rIns="0" tIns="0" bIns="0">
            <a:noAutofit/>
          </a:bodyPr>
          <a:lstStyle/>
          <a:p>
            <a:pPr algn="l">
              <a:lnSpc>
                <a:spcPct val="112000"/>
              </a:lnSpc>
              <a:spcAft>
                <a:spcPts val="0"/>
              </a:spcAft>
            </a:pPr>
            <a:r>
              <a:rPr sz="720" b="0" i="1">
                <a:solidFill>
                  <a:srgbClr val="77859A"/>
                </a:solidFill>
                <a:latin typeface="Calibri"/>
              </a:rPr>
              <a:t>4 levels</a:t>
            </a:r>
          </a:p>
        </p:txBody>
      </p:sp>
      <p:sp>
        <p:nvSpPr>
          <p:cNvPr id="15" name="Rounded Rectangle 14"/>
          <p:cNvSpPr/>
          <p:nvPr/>
        </p:nvSpPr>
        <p:spPr>
          <a:xfrm>
            <a:off x="731520" y="234086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Subject</a:t>
            </a:r>
          </a:p>
        </p:txBody>
      </p:sp>
      <p:sp>
        <p:nvSpPr>
          <p:cNvPr id="16" name="Rounded Rectangle 15"/>
          <p:cNvSpPr/>
          <p:nvPr/>
        </p:nvSpPr>
        <p:spPr>
          <a:xfrm>
            <a:off x="2176272" y="234086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Unit</a:t>
            </a:r>
          </a:p>
        </p:txBody>
      </p:sp>
      <p:sp>
        <p:nvSpPr>
          <p:cNvPr id="17" name="Rounded Rectangle 16"/>
          <p:cNvSpPr/>
          <p:nvPr/>
        </p:nvSpPr>
        <p:spPr>
          <a:xfrm>
            <a:off x="731520" y="287121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Topic</a:t>
            </a:r>
          </a:p>
        </p:txBody>
      </p:sp>
      <p:sp>
        <p:nvSpPr>
          <p:cNvPr id="18" name="Rounded Rectangle 17"/>
          <p:cNvSpPr/>
          <p:nvPr/>
        </p:nvSpPr>
        <p:spPr>
          <a:xfrm>
            <a:off x="2176272" y="287121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Topic content</a:t>
            </a:r>
          </a:p>
        </p:txBody>
      </p:sp>
      <p:sp>
        <p:nvSpPr>
          <p:cNvPr id="19" name="Rounded Rectangle 18"/>
          <p:cNvSpPr/>
          <p:nvPr/>
        </p:nvSpPr>
        <p:spPr>
          <a:xfrm>
            <a:off x="3767328" y="1773936"/>
            <a:ext cx="3017520" cy="1792224"/>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20" name="TextBox 19"/>
          <p:cNvSpPr txBox="1"/>
          <p:nvPr/>
        </p:nvSpPr>
        <p:spPr>
          <a:xfrm>
            <a:off x="3931920" y="1883664"/>
            <a:ext cx="1828800" cy="182880"/>
          </a:xfrm>
          <a:prstGeom prst="rect">
            <a:avLst/>
          </a:prstGeom>
          <a:noFill/>
        </p:spPr>
        <p:txBody>
          <a:bodyPr wrap="square" anchor="t" lIns="0" rIns="0" tIns="0" bIns="0">
            <a:noAutofit/>
          </a:bodyPr>
          <a:lstStyle/>
          <a:p>
            <a:pPr algn="l">
              <a:lnSpc>
                <a:spcPct val="112000"/>
              </a:lnSpc>
              <a:spcAft>
                <a:spcPts val="0"/>
              </a:spcAft>
            </a:pPr>
            <a:r>
              <a:rPr sz="760" b="1" i="0">
                <a:solidFill>
                  <a:srgbClr val="2E5C9A"/>
                </a:solidFill>
                <a:latin typeface="Calibri"/>
              </a:rPr>
              <a:t>PRACTICE</a:t>
            </a:r>
          </a:p>
        </p:txBody>
      </p:sp>
      <p:sp>
        <p:nvSpPr>
          <p:cNvPr id="21" name="TextBox 20"/>
          <p:cNvSpPr txBox="1"/>
          <p:nvPr/>
        </p:nvSpPr>
        <p:spPr>
          <a:xfrm>
            <a:off x="6419088" y="1883664"/>
            <a:ext cx="256032" cy="182880"/>
          </a:xfrm>
          <a:prstGeom prst="rect">
            <a:avLst/>
          </a:prstGeom>
          <a:noFill/>
        </p:spPr>
        <p:txBody>
          <a:bodyPr wrap="square" anchor="t" lIns="0" rIns="0" tIns="0" bIns="0">
            <a:noAutofit/>
          </a:bodyPr>
          <a:lstStyle/>
          <a:p>
            <a:pPr algn="r">
              <a:lnSpc>
                <a:spcPct val="112000"/>
              </a:lnSpc>
              <a:spcAft>
                <a:spcPts val="0"/>
              </a:spcAft>
            </a:pPr>
            <a:r>
              <a:rPr sz="760" b="1" i="0">
                <a:solidFill>
                  <a:srgbClr val="77859A"/>
                </a:solidFill>
                <a:latin typeface="Calibri"/>
              </a:rPr>
              <a:t>2</a:t>
            </a:r>
          </a:p>
        </p:txBody>
      </p:sp>
      <p:sp>
        <p:nvSpPr>
          <p:cNvPr id="22" name="TextBox 21"/>
          <p:cNvSpPr txBox="1"/>
          <p:nvPr/>
        </p:nvSpPr>
        <p:spPr>
          <a:xfrm>
            <a:off x="3931920" y="2057400"/>
            <a:ext cx="2651760" cy="164592"/>
          </a:xfrm>
          <a:prstGeom prst="rect">
            <a:avLst/>
          </a:prstGeom>
          <a:noFill/>
        </p:spPr>
        <p:txBody>
          <a:bodyPr wrap="square" anchor="t" lIns="0" rIns="0" tIns="0" bIns="0">
            <a:noAutofit/>
          </a:bodyPr>
          <a:lstStyle/>
          <a:p>
            <a:pPr algn="l">
              <a:lnSpc>
                <a:spcPct val="112000"/>
              </a:lnSpc>
              <a:spcAft>
                <a:spcPts val="0"/>
              </a:spcAft>
            </a:pPr>
            <a:r>
              <a:rPr sz="720" b="0" i="1">
                <a:solidFill>
                  <a:srgbClr val="77859A"/>
                </a:solidFill>
                <a:latin typeface="Calibri"/>
              </a:rPr>
              <a:t>questions · exams · cards</a:t>
            </a:r>
          </a:p>
        </p:txBody>
      </p:sp>
      <p:sp>
        <p:nvSpPr>
          <p:cNvPr id="23" name="Rounded Rectangle 22"/>
          <p:cNvSpPr/>
          <p:nvPr/>
        </p:nvSpPr>
        <p:spPr>
          <a:xfrm>
            <a:off x="3931920" y="234086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Question bank</a:t>
            </a:r>
          </a:p>
        </p:txBody>
      </p:sp>
      <p:sp>
        <p:nvSpPr>
          <p:cNvPr id="24" name="Rounded Rectangle 23"/>
          <p:cNvSpPr/>
          <p:nvPr/>
        </p:nvSpPr>
        <p:spPr>
          <a:xfrm>
            <a:off x="5376672" y="234086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Mock exam</a:t>
            </a:r>
          </a:p>
        </p:txBody>
      </p:sp>
      <p:sp>
        <p:nvSpPr>
          <p:cNvPr id="25" name="Rounded Rectangle 24"/>
          <p:cNvSpPr/>
          <p:nvPr/>
        </p:nvSpPr>
        <p:spPr>
          <a:xfrm>
            <a:off x="3931920" y="287121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Attempt</a:t>
            </a:r>
          </a:p>
        </p:txBody>
      </p:sp>
      <p:sp>
        <p:nvSpPr>
          <p:cNvPr id="26" name="Rounded Rectangle 25"/>
          <p:cNvSpPr/>
          <p:nvPr/>
        </p:nvSpPr>
        <p:spPr>
          <a:xfrm>
            <a:off x="5376672" y="287121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Flashcard · SM-2</a:t>
            </a:r>
          </a:p>
        </p:txBody>
      </p:sp>
      <p:sp>
        <p:nvSpPr>
          <p:cNvPr id="27" name="Rounded Rectangle 26"/>
          <p:cNvSpPr/>
          <p:nvPr/>
        </p:nvSpPr>
        <p:spPr>
          <a:xfrm>
            <a:off x="566928" y="3694176"/>
            <a:ext cx="3017520" cy="1792224"/>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28" name="TextBox 27"/>
          <p:cNvSpPr txBox="1"/>
          <p:nvPr/>
        </p:nvSpPr>
        <p:spPr>
          <a:xfrm>
            <a:off x="731520" y="3803904"/>
            <a:ext cx="1828800" cy="182880"/>
          </a:xfrm>
          <a:prstGeom prst="rect">
            <a:avLst/>
          </a:prstGeom>
          <a:noFill/>
        </p:spPr>
        <p:txBody>
          <a:bodyPr wrap="square" anchor="t" lIns="0" rIns="0" tIns="0" bIns="0">
            <a:noAutofit/>
          </a:bodyPr>
          <a:lstStyle/>
          <a:p>
            <a:pPr algn="l">
              <a:lnSpc>
                <a:spcPct val="112000"/>
              </a:lnSpc>
              <a:spcAft>
                <a:spcPts val="0"/>
              </a:spcAft>
            </a:pPr>
            <a:r>
              <a:rPr sz="760" b="1" i="0">
                <a:solidFill>
                  <a:srgbClr val="B0781C"/>
                </a:solidFill>
                <a:latin typeface="Calibri"/>
              </a:rPr>
              <a:t>PLANNING</a:t>
            </a:r>
          </a:p>
        </p:txBody>
      </p:sp>
      <p:sp>
        <p:nvSpPr>
          <p:cNvPr id="29" name="TextBox 28"/>
          <p:cNvSpPr txBox="1"/>
          <p:nvPr/>
        </p:nvSpPr>
        <p:spPr>
          <a:xfrm>
            <a:off x="3218688" y="3803904"/>
            <a:ext cx="256032" cy="182880"/>
          </a:xfrm>
          <a:prstGeom prst="rect">
            <a:avLst/>
          </a:prstGeom>
          <a:noFill/>
        </p:spPr>
        <p:txBody>
          <a:bodyPr wrap="square" anchor="t" lIns="0" rIns="0" tIns="0" bIns="0">
            <a:noAutofit/>
          </a:bodyPr>
          <a:lstStyle/>
          <a:p>
            <a:pPr algn="r">
              <a:lnSpc>
                <a:spcPct val="112000"/>
              </a:lnSpc>
              <a:spcAft>
                <a:spcPts val="0"/>
              </a:spcAft>
            </a:pPr>
            <a:r>
              <a:rPr sz="760" b="1" i="0">
                <a:solidFill>
                  <a:srgbClr val="77859A"/>
                </a:solidFill>
                <a:latin typeface="Calibri"/>
              </a:rPr>
              <a:t>3</a:t>
            </a:r>
          </a:p>
        </p:txBody>
      </p:sp>
      <p:sp>
        <p:nvSpPr>
          <p:cNvPr id="30" name="TextBox 29"/>
          <p:cNvSpPr txBox="1"/>
          <p:nvPr/>
        </p:nvSpPr>
        <p:spPr>
          <a:xfrm>
            <a:off x="731520" y="3977639"/>
            <a:ext cx="2651760" cy="164592"/>
          </a:xfrm>
          <a:prstGeom prst="rect">
            <a:avLst/>
          </a:prstGeom>
          <a:noFill/>
        </p:spPr>
        <p:txBody>
          <a:bodyPr wrap="square" anchor="t" lIns="0" rIns="0" tIns="0" bIns="0">
            <a:noAutofit/>
          </a:bodyPr>
          <a:lstStyle/>
          <a:p>
            <a:pPr algn="l">
              <a:lnSpc>
                <a:spcPct val="112000"/>
              </a:lnSpc>
              <a:spcAft>
                <a:spcPts val="0"/>
              </a:spcAft>
            </a:pPr>
            <a:r>
              <a:rPr sz="720" b="0" i="1">
                <a:solidFill>
                  <a:srgbClr val="77859A"/>
                </a:solidFill>
                <a:latin typeface="Calibri"/>
              </a:rPr>
              <a:t>schedule</a:t>
            </a:r>
          </a:p>
        </p:txBody>
      </p:sp>
      <p:sp>
        <p:nvSpPr>
          <p:cNvPr id="31" name="Rounded Rectangle 30"/>
          <p:cNvSpPr/>
          <p:nvPr/>
        </p:nvSpPr>
        <p:spPr>
          <a:xfrm>
            <a:off x="731520" y="426110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Study plan</a:t>
            </a:r>
          </a:p>
        </p:txBody>
      </p:sp>
      <p:sp>
        <p:nvSpPr>
          <p:cNvPr id="32" name="Rounded Rectangle 31"/>
          <p:cNvSpPr/>
          <p:nvPr/>
        </p:nvSpPr>
        <p:spPr>
          <a:xfrm>
            <a:off x="2176272" y="426110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Plan item</a:t>
            </a:r>
          </a:p>
        </p:txBody>
      </p:sp>
      <p:sp>
        <p:nvSpPr>
          <p:cNvPr id="33" name="Rounded Rectangle 32"/>
          <p:cNvSpPr/>
          <p:nvPr/>
        </p:nvSpPr>
        <p:spPr>
          <a:xfrm>
            <a:off x="731520" y="479145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Study session</a:t>
            </a:r>
          </a:p>
        </p:txBody>
      </p:sp>
      <p:sp>
        <p:nvSpPr>
          <p:cNvPr id="34" name="Rounded Rectangle 33"/>
          <p:cNvSpPr/>
          <p:nvPr/>
        </p:nvSpPr>
        <p:spPr>
          <a:xfrm>
            <a:off x="2176272" y="479145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Panic mode</a:t>
            </a:r>
          </a:p>
        </p:txBody>
      </p:sp>
      <p:sp>
        <p:nvSpPr>
          <p:cNvPr id="35" name="Rounded Rectangle 34"/>
          <p:cNvSpPr/>
          <p:nvPr/>
        </p:nvSpPr>
        <p:spPr>
          <a:xfrm>
            <a:off x="3767328" y="3694176"/>
            <a:ext cx="3017520" cy="1792224"/>
          </a:xfrm>
          <a:prstGeom prst="roundRect">
            <a:avLst>
              <a:gd name="adj" fmla="val 5000"/>
            </a:avLst>
          </a:prstGeom>
          <a:solidFill>
            <a:srgbClr val="F5F8FA"/>
          </a:solidFill>
          <a:ln w="9525">
            <a:solidFill>
              <a:srgbClr val="DCE4EA"/>
            </a:solidFill>
          </a:ln>
          <a:effectLst/>
        </p:spPr>
        <p:txBody>
          <a:bodyPr rtlCol="0" anchor="ctr" wrap="square"/>
          <a:lstStyle/>
          <a:p>
            <a:pPr algn="ctr"/>
          </a:p>
        </p:txBody>
      </p:sp>
      <p:sp>
        <p:nvSpPr>
          <p:cNvPr id="36" name="TextBox 35"/>
          <p:cNvSpPr txBox="1"/>
          <p:nvPr/>
        </p:nvSpPr>
        <p:spPr>
          <a:xfrm>
            <a:off x="3931920" y="3803904"/>
            <a:ext cx="1828800" cy="182880"/>
          </a:xfrm>
          <a:prstGeom prst="rect">
            <a:avLst/>
          </a:prstGeom>
          <a:noFill/>
        </p:spPr>
        <p:txBody>
          <a:bodyPr wrap="square" anchor="t" lIns="0" rIns="0" tIns="0" bIns="0">
            <a:noAutofit/>
          </a:bodyPr>
          <a:lstStyle/>
          <a:p>
            <a:pPr algn="l">
              <a:lnSpc>
                <a:spcPct val="112000"/>
              </a:lnSpc>
              <a:spcAft>
                <a:spcPts val="0"/>
              </a:spcAft>
            </a:pPr>
            <a:r>
              <a:rPr sz="760" b="1" i="0">
                <a:solidFill>
                  <a:srgbClr val="2B7A58"/>
                </a:solidFill>
                <a:latin typeface="Calibri"/>
              </a:rPr>
              <a:t>PROGRESS</a:t>
            </a:r>
          </a:p>
        </p:txBody>
      </p:sp>
      <p:sp>
        <p:nvSpPr>
          <p:cNvPr id="37" name="TextBox 36"/>
          <p:cNvSpPr txBox="1"/>
          <p:nvPr/>
        </p:nvSpPr>
        <p:spPr>
          <a:xfrm>
            <a:off x="6419088" y="3803904"/>
            <a:ext cx="256032" cy="182880"/>
          </a:xfrm>
          <a:prstGeom prst="rect">
            <a:avLst/>
          </a:prstGeom>
          <a:noFill/>
        </p:spPr>
        <p:txBody>
          <a:bodyPr wrap="square" anchor="t" lIns="0" rIns="0" tIns="0" bIns="0">
            <a:noAutofit/>
          </a:bodyPr>
          <a:lstStyle/>
          <a:p>
            <a:pPr algn="r">
              <a:lnSpc>
                <a:spcPct val="112000"/>
              </a:lnSpc>
              <a:spcAft>
                <a:spcPts val="0"/>
              </a:spcAft>
            </a:pPr>
            <a:r>
              <a:rPr sz="760" b="1" i="0">
                <a:solidFill>
                  <a:srgbClr val="77859A"/>
                </a:solidFill>
                <a:latin typeface="Calibri"/>
              </a:rPr>
              <a:t>4</a:t>
            </a:r>
          </a:p>
        </p:txBody>
      </p:sp>
      <p:sp>
        <p:nvSpPr>
          <p:cNvPr id="38" name="TextBox 37"/>
          <p:cNvSpPr txBox="1"/>
          <p:nvPr/>
        </p:nvSpPr>
        <p:spPr>
          <a:xfrm>
            <a:off x="3931920" y="3977639"/>
            <a:ext cx="2651760" cy="164592"/>
          </a:xfrm>
          <a:prstGeom prst="rect">
            <a:avLst/>
          </a:prstGeom>
          <a:noFill/>
        </p:spPr>
        <p:txBody>
          <a:bodyPr wrap="square" anchor="t" lIns="0" rIns="0" tIns="0" bIns="0">
            <a:noAutofit/>
          </a:bodyPr>
          <a:lstStyle/>
          <a:p>
            <a:pPr algn="l">
              <a:lnSpc>
                <a:spcPct val="112000"/>
              </a:lnSpc>
              <a:spcAft>
                <a:spcPts val="0"/>
              </a:spcAft>
            </a:pPr>
            <a:r>
              <a:rPr sz="720" b="0" i="1">
                <a:solidFill>
                  <a:srgbClr val="77859A"/>
                </a:solidFill>
                <a:latin typeface="Calibri"/>
              </a:rPr>
              <a:t>signals</a:t>
            </a:r>
          </a:p>
        </p:txBody>
      </p:sp>
      <p:sp>
        <p:nvSpPr>
          <p:cNvPr id="39" name="Rounded Rectangle 38"/>
          <p:cNvSpPr/>
          <p:nvPr/>
        </p:nvSpPr>
        <p:spPr>
          <a:xfrm>
            <a:off x="3931920" y="426110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Profile · XP</a:t>
            </a:r>
          </a:p>
        </p:txBody>
      </p:sp>
      <p:sp>
        <p:nvSpPr>
          <p:cNvPr id="40" name="Rounded Rectangle 39"/>
          <p:cNvSpPr/>
          <p:nvPr/>
        </p:nvSpPr>
        <p:spPr>
          <a:xfrm>
            <a:off x="5376672" y="4261104"/>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Achievement</a:t>
            </a:r>
          </a:p>
        </p:txBody>
      </p:sp>
      <p:sp>
        <p:nvSpPr>
          <p:cNvPr id="41" name="Rounded Rectangle 40"/>
          <p:cNvSpPr/>
          <p:nvPr/>
        </p:nvSpPr>
        <p:spPr>
          <a:xfrm>
            <a:off x="3931920" y="479145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Daily quest</a:t>
            </a:r>
          </a:p>
        </p:txBody>
      </p:sp>
      <p:sp>
        <p:nvSpPr>
          <p:cNvPr id="42" name="Rounded Rectangle 41"/>
          <p:cNvSpPr/>
          <p:nvPr/>
        </p:nvSpPr>
        <p:spPr>
          <a:xfrm>
            <a:off x="5376672" y="4791456"/>
            <a:ext cx="1353312" cy="384048"/>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860" b="0">
                <a:solidFill>
                  <a:srgbClr val="3D4A5C"/>
                </a:solidFill>
                <a:latin typeface="Calibri"/>
              </a:rPr>
              <a:t>Weakness score</a:t>
            </a:r>
          </a:p>
        </p:txBody>
      </p:sp>
      <p:sp>
        <p:nvSpPr>
          <p:cNvPr id="43" name="TextBox 42"/>
          <p:cNvSpPr txBox="1"/>
          <p:nvPr/>
        </p:nvSpPr>
        <p:spPr>
          <a:xfrm>
            <a:off x="566928" y="5650992"/>
            <a:ext cx="6400800" cy="274320"/>
          </a:xfrm>
          <a:prstGeom prst="rect">
            <a:avLst/>
          </a:prstGeom>
          <a:noFill/>
        </p:spPr>
        <p:txBody>
          <a:bodyPr wrap="square" anchor="t" lIns="0" rIns="0" tIns="0" bIns="0">
            <a:noAutofit/>
          </a:bodyPr>
          <a:lstStyle/>
          <a:p>
            <a:pPr algn="l">
              <a:lnSpc>
                <a:spcPct val="112000"/>
              </a:lnSpc>
              <a:spcAft>
                <a:spcPts val="0"/>
              </a:spcAft>
            </a:pPr>
            <a:r>
              <a:rPr sz="860" b="1" i="0">
                <a:solidFill>
                  <a:srgbClr val="0F7A82"/>
                </a:solidFill>
                <a:latin typeface="Calibri"/>
              </a:rPr>
              <a:t>40 tables in total · one Dexie database · no server in the core loop</a:t>
            </a:r>
          </a:p>
        </p:txBody>
      </p:sp>
      <p:sp>
        <p:nvSpPr>
          <p:cNvPr id="44" name="Rounded Rectangle 43"/>
          <p:cNvSpPr/>
          <p:nvPr/>
        </p:nvSpPr>
        <p:spPr>
          <a:xfrm>
            <a:off x="6967728" y="1773936"/>
            <a:ext cx="4663440" cy="4224528"/>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45" name="TextBox 44"/>
          <p:cNvSpPr txBox="1"/>
          <p:nvPr/>
        </p:nvSpPr>
        <p:spPr>
          <a:xfrm>
            <a:off x="7168896" y="1901952"/>
            <a:ext cx="420624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HOW DATA MOVES</a:t>
            </a:r>
          </a:p>
        </p:txBody>
      </p:sp>
      <p:sp>
        <p:nvSpPr>
          <p:cNvPr id="46" name="Oval 45"/>
          <p:cNvSpPr/>
          <p:nvPr/>
        </p:nvSpPr>
        <p:spPr>
          <a:xfrm>
            <a:off x="7187184" y="2139696"/>
            <a:ext cx="310896" cy="310896"/>
          </a:xfrm>
          <a:prstGeom prst="ellipse">
            <a:avLst/>
          </a:prstGeom>
          <a:solidFill>
            <a:srgbClr val="E6F2F2"/>
          </a:solidFill>
          <a:ln>
            <a:noFill/>
          </a:ln>
          <a:effectLst/>
        </p:spPr>
        <p:txBody>
          <a:bodyPr rtlCol="0" anchor="ctr" lIns="0" rIns="0" tIns="0" bIns="0"/>
          <a:lstStyle/>
          <a:p>
            <a:pPr algn="ctr"/>
            <a:r>
              <a:rPr sz="800" b="1">
                <a:solidFill>
                  <a:srgbClr val="0F7A82"/>
                </a:solidFill>
                <a:latin typeface="Calibri"/>
              </a:rPr>
              <a:t>1</a:t>
            </a:r>
          </a:p>
        </p:txBody>
      </p:sp>
      <p:sp>
        <p:nvSpPr>
          <p:cNvPr id="47" name="TextBox 46"/>
          <p:cNvSpPr txBox="1"/>
          <p:nvPr/>
        </p:nvSpPr>
        <p:spPr>
          <a:xfrm>
            <a:off x="7626096" y="2121408"/>
            <a:ext cx="3749039" cy="201168"/>
          </a:xfrm>
          <a:prstGeom prst="rect">
            <a:avLst/>
          </a:prstGeom>
          <a:noFill/>
        </p:spPr>
        <p:txBody>
          <a:bodyPr wrap="square" anchor="t" lIns="0" rIns="0" tIns="0" bIns="0">
            <a:noAutofit/>
          </a:bodyPr>
          <a:lstStyle/>
          <a:p>
            <a:pPr algn="l">
              <a:lnSpc>
                <a:spcPct val="112000"/>
              </a:lnSpc>
              <a:spcAft>
                <a:spcPts val="0"/>
              </a:spcAft>
            </a:pPr>
            <a:r>
              <a:rPr sz="1000" b="1" i="0">
                <a:solidFill>
                  <a:srgbClr val="152238"/>
                </a:solidFill>
                <a:latin typeface="Calibri"/>
              </a:rPr>
              <a:t>Write locally</a:t>
            </a:r>
          </a:p>
        </p:txBody>
      </p:sp>
      <p:sp>
        <p:nvSpPr>
          <p:cNvPr id="48" name="TextBox 47"/>
          <p:cNvSpPr txBox="1"/>
          <p:nvPr/>
        </p:nvSpPr>
        <p:spPr>
          <a:xfrm>
            <a:off x="7626096" y="2340864"/>
            <a:ext cx="3794760" cy="502920"/>
          </a:xfrm>
          <a:prstGeom prst="rect">
            <a:avLst/>
          </a:prstGeom>
          <a:noFill/>
        </p:spPr>
        <p:txBody>
          <a:bodyPr wrap="square" anchor="t" lIns="0" rIns="0" tIns="0" bIns="0">
            <a:noAutofit/>
          </a:bodyPr>
          <a:lstStyle/>
          <a:p>
            <a:pPr algn="l">
              <a:lnSpc>
                <a:spcPct val="118000"/>
              </a:lnSpc>
              <a:spcAft>
                <a:spcPts val="0"/>
              </a:spcAft>
            </a:pPr>
            <a:r>
              <a:rPr sz="850" b="0" i="0">
                <a:solidFill>
                  <a:srgbClr val="77859A"/>
                </a:solidFill>
                <a:latin typeface="Calibri"/>
              </a:rPr>
              <a:t>Every action is a Dexie transaction — no network round trip.</a:t>
            </a:r>
          </a:p>
        </p:txBody>
      </p:sp>
      <p:sp>
        <p:nvSpPr>
          <p:cNvPr id="49" name="Rectangle 48"/>
          <p:cNvSpPr/>
          <p:nvPr/>
        </p:nvSpPr>
        <p:spPr>
          <a:xfrm>
            <a:off x="7333488" y="2478024"/>
            <a:ext cx="7315" cy="512064"/>
          </a:xfrm>
          <a:prstGeom prst="rect">
            <a:avLst/>
          </a:prstGeom>
          <a:solidFill>
            <a:srgbClr val="DCE4EA"/>
          </a:solidFill>
          <a:ln>
            <a:noFill/>
          </a:ln>
          <a:effectLst/>
        </p:spPr>
        <p:txBody>
          <a:bodyPr rtlCol="0" anchor="ctr" wrap="square"/>
          <a:lstStyle/>
          <a:p>
            <a:pPr algn="ctr"/>
          </a:p>
        </p:txBody>
      </p:sp>
      <p:sp>
        <p:nvSpPr>
          <p:cNvPr id="50" name="Oval 49"/>
          <p:cNvSpPr/>
          <p:nvPr/>
        </p:nvSpPr>
        <p:spPr>
          <a:xfrm>
            <a:off x="7187184" y="3017520"/>
            <a:ext cx="310896" cy="310896"/>
          </a:xfrm>
          <a:prstGeom prst="ellipse">
            <a:avLst/>
          </a:prstGeom>
          <a:solidFill>
            <a:srgbClr val="E6F2F2"/>
          </a:solidFill>
          <a:ln>
            <a:noFill/>
          </a:ln>
          <a:effectLst/>
        </p:spPr>
        <p:txBody>
          <a:bodyPr rtlCol="0" anchor="ctr" lIns="0" rIns="0" tIns="0" bIns="0"/>
          <a:lstStyle/>
          <a:p>
            <a:pPr algn="ctr"/>
            <a:r>
              <a:rPr sz="800" b="1">
                <a:solidFill>
                  <a:srgbClr val="0F7A82"/>
                </a:solidFill>
                <a:latin typeface="Calibri"/>
              </a:rPr>
              <a:t>2</a:t>
            </a:r>
          </a:p>
        </p:txBody>
      </p:sp>
      <p:sp>
        <p:nvSpPr>
          <p:cNvPr id="51" name="TextBox 50"/>
          <p:cNvSpPr txBox="1"/>
          <p:nvPr/>
        </p:nvSpPr>
        <p:spPr>
          <a:xfrm>
            <a:off x="7626096" y="2999232"/>
            <a:ext cx="3749039" cy="201168"/>
          </a:xfrm>
          <a:prstGeom prst="rect">
            <a:avLst/>
          </a:prstGeom>
          <a:noFill/>
        </p:spPr>
        <p:txBody>
          <a:bodyPr wrap="square" anchor="t" lIns="0" rIns="0" tIns="0" bIns="0">
            <a:noAutofit/>
          </a:bodyPr>
          <a:lstStyle/>
          <a:p>
            <a:pPr algn="l">
              <a:lnSpc>
                <a:spcPct val="112000"/>
              </a:lnSpc>
              <a:spcAft>
                <a:spcPts val="0"/>
              </a:spcAft>
            </a:pPr>
            <a:r>
              <a:rPr sz="1000" b="1" i="0">
                <a:solidFill>
                  <a:srgbClr val="152238"/>
                </a:solidFill>
                <a:latin typeface="Calibri"/>
              </a:rPr>
              <a:t>React</a:t>
            </a:r>
          </a:p>
        </p:txBody>
      </p:sp>
      <p:sp>
        <p:nvSpPr>
          <p:cNvPr id="52" name="TextBox 51"/>
          <p:cNvSpPr txBox="1"/>
          <p:nvPr/>
        </p:nvSpPr>
        <p:spPr>
          <a:xfrm>
            <a:off x="7626096" y="3218688"/>
            <a:ext cx="3794760" cy="502920"/>
          </a:xfrm>
          <a:prstGeom prst="rect">
            <a:avLst/>
          </a:prstGeom>
          <a:noFill/>
        </p:spPr>
        <p:txBody>
          <a:bodyPr wrap="square" anchor="t" lIns="0" rIns="0" tIns="0" bIns="0">
            <a:noAutofit/>
          </a:bodyPr>
          <a:lstStyle/>
          <a:p>
            <a:pPr algn="l">
              <a:lnSpc>
                <a:spcPct val="118000"/>
              </a:lnSpc>
              <a:spcAft>
                <a:spcPts val="0"/>
              </a:spcAft>
            </a:pPr>
            <a:r>
              <a:rPr sz="850" b="0" i="0">
                <a:solidFill>
                  <a:srgbClr val="77859A"/>
                </a:solidFill>
                <a:latin typeface="Calibri"/>
              </a:rPr>
              <a:t>Live queries update the interface immediately, on every screen.</a:t>
            </a:r>
          </a:p>
        </p:txBody>
      </p:sp>
      <p:sp>
        <p:nvSpPr>
          <p:cNvPr id="53" name="Rectangle 52"/>
          <p:cNvSpPr/>
          <p:nvPr/>
        </p:nvSpPr>
        <p:spPr>
          <a:xfrm>
            <a:off x="7333488" y="3355848"/>
            <a:ext cx="7315" cy="512064"/>
          </a:xfrm>
          <a:prstGeom prst="rect">
            <a:avLst/>
          </a:prstGeom>
          <a:solidFill>
            <a:srgbClr val="DCE4EA"/>
          </a:solidFill>
          <a:ln>
            <a:noFill/>
          </a:ln>
          <a:effectLst/>
        </p:spPr>
        <p:txBody>
          <a:bodyPr rtlCol="0" anchor="ctr" wrap="square"/>
          <a:lstStyle/>
          <a:p>
            <a:pPr algn="ctr"/>
          </a:p>
        </p:txBody>
      </p:sp>
      <p:sp>
        <p:nvSpPr>
          <p:cNvPr id="54" name="Oval 53"/>
          <p:cNvSpPr/>
          <p:nvPr/>
        </p:nvSpPr>
        <p:spPr>
          <a:xfrm>
            <a:off x="7187184" y="3895344"/>
            <a:ext cx="310896" cy="310896"/>
          </a:xfrm>
          <a:prstGeom prst="ellipse">
            <a:avLst/>
          </a:prstGeom>
          <a:solidFill>
            <a:srgbClr val="E6F2F2"/>
          </a:solidFill>
          <a:ln>
            <a:noFill/>
          </a:ln>
          <a:effectLst/>
        </p:spPr>
        <p:txBody>
          <a:bodyPr rtlCol="0" anchor="ctr" lIns="0" rIns="0" tIns="0" bIns="0"/>
          <a:lstStyle/>
          <a:p>
            <a:pPr algn="ctr"/>
            <a:r>
              <a:rPr sz="800" b="1">
                <a:solidFill>
                  <a:srgbClr val="0F7A82"/>
                </a:solidFill>
                <a:latin typeface="Calibri"/>
              </a:rPr>
              <a:t>3</a:t>
            </a:r>
          </a:p>
        </p:txBody>
      </p:sp>
      <p:sp>
        <p:nvSpPr>
          <p:cNvPr id="55" name="TextBox 54"/>
          <p:cNvSpPr txBox="1"/>
          <p:nvPr/>
        </p:nvSpPr>
        <p:spPr>
          <a:xfrm>
            <a:off x="7626096" y="3877056"/>
            <a:ext cx="3749039" cy="201168"/>
          </a:xfrm>
          <a:prstGeom prst="rect">
            <a:avLst/>
          </a:prstGeom>
          <a:noFill/>
        </p:spPr>
        <p:txBody>
          <a:bodyPr wrap="square" anchor="t" lIns="0" rIns="0" tIns="0" bIns="0">
            <a:noAutofit/>
          </a:bodyPr>
          <a:lstStyle/>
          <a:p>
            <a:pPr algn="l">
              <a:lnSpc>
                <a:spcPct val="112000"/>
              </a:lnSpc>
              <a:spcAft>
                <a:spcPts val="0"/>
              </a:spcAft>
            </a:pPr>
            <a:r>
              <a:rPr sz="1000" b="1" i="0">
                <a:solidFill>
                  <a:srgbClr val="152238"/>
                </a:solidFill>
                <a:latin typeface="Calibri"/>
              </a:rPr>
              <a:t>Enrich</a:t>
            </a:r>
          </a:p>
        </p:txBody>
      </p:sp>
      <p:sp>
        <p:nvSpPr>
          <p:cNvPr id="56" name="TextBox 55"/>
          <p:cNvSpPr txBox="1"/>
          <p:nvPr/>
        </p:nvSpPr>
        <p:spPr>
          <a:xfrm>
            <a:off x="7626096" y="4096511"/>
            <a:ext cx="3794760" cy="502920"/>
          </a:xfrm>
          <a:prstGeom prst="rect">
            <a:avLst/>
          </a:prstGeom>
          <a:noFill/>
        </p:spPr>
        <p:txBody>
          <a:bodyPr wrap="square" anchor="t" lIns="0" rIns="0" tIns="0" bIns="0">
            <a:noAutofit/>
          </a:bodyPr>
          <a:lstStyle/>
          <a:p>
            <a:pPr algn="l">
              <a:lnSpc>
                <a:spcPct val="118000"/>
              </a:lnSpc>
              <a:spcAft>
                <a:spcPts val="0"/>
              </a:spcAft>
            </a:pPr>
            <a:r>
              <a:rPr sz="850" b="0" i="0">
                <a:solidFill>
                  <a:srgbClr val="77859A"/>
                </a:solidFill>
                <a:latin typeface="Calibri"/>
              </a:rPr>
              <a:t>AI notes and questions are written back into the same tables.</a:t>
            </a:r>
          </a:p>
        </p:txBody>
      </p:sp>
      <p:sp>
        <p:nvSpPr>
          <p:cNvPr id="57" name="Rectangle 56"/>
          <p:cNvSpPr/>
          <p:nvPr/>
        </p:nvSpPr>
        <p:spPr>
          <a:xfrm>
            <a:off x="7333488" y="4233672"/>
            <a:ext cx="7315" cy="512064"/>
          </a:xfrm>
          <a:prstGeom prst="rect">
            <a:avLst/>
          </a:prstGeom>
          <a:solidFill>
            <a:srgbClr val="DCE4EA"/>
          </a:solidFill>
          <a:ln>
            <a:noFill/>
          </a:ln>
          <a:effectLst/>
        </p:spPr>
        <p:txBody>
          <a:bodyPr rtlCol="0" anchor="ctr" wrap="square"/>
          <a:lstStyle/>
          <a:p>
            <a:pPr algn="ctr"/>
          </a:p>
        </p:txBody>
      </p:sp>
      <p:sp>
        <p:nvSpPr>
          <p:cNvPr id="58" name="Oval 57"/>
          <p:cNvSpPr/>
          <p:nvPr/>
        </p:nvSpPr>
        <p:spPr>
          <a:xfrm>
            <a:off x="7187184" y="4773168"/>
            <a:ext cx="310896" cy="310896"/>
          </a:xfrm>
          <a:prstGeom prst="ellipse">
            <a:avLst/>
          </a:prstGeom>
          <a:solidFill>
            <a:srgbClr val="E6F2F2"/>
          </a:solidFill>
          <a:ln>
            <a:noFill/>
          </a:ln>
          <a:effectLst/>
        </p:spPr>
        <p:txBody>
          <a:bodyPr rtlCol="0" anchor="ctr" lIns="0" rIns="0" tIns="0" bIns="0"/>
          <a:lstStyle/>
          <a:p>
            <a:pPr algn="ctr"/>
            <a:r>
              <a:rPr sz="800" b="1">
                <a:solidFill>
                  <a:srgbClr val="0F7A82"/>
                </a:solidFill>
                <a:latin typeface="Calibri"/>
              </a:rPr>
              <a:t>4</a:t>
            </a:r>
          </a:p>
        </p:txBody>
      </p:sp>
      <p:sp>
        <p:nvSpPr>
          <p:cNvPr id="59" name="TextBox 58"/>
          <p:cNvSpPr txBox="1"/>
          <p:nvPr/>
        </p:nvSpPr>
        <p:spPr>
          <a:xfrm>
            <a:off x="7626096" y="4754880"/>
            <a:ext cx="3749039" cy="201168"/>
          </a:xfrm>
          <a:prstGeom prst="rect">
            <a:avLst/>
          </a:prstGeom>
          <a:noFill/>
        </p:spPr>
        <p:txBody>
          <a:bodyPr wrap="square" anchor="t" lIns="0" rIns="0" tIns="0" bIns="0">
            <a:noAutofit/>
          </a:bodyPr>
          <a:lstStyle/>
          <a:p>
            <a:pPr algn="l">
              <a:lnSpc>
                <a:spcPct val="112000"/>
              </a:lnSpc>
              <a:spcAft>
                <a:spcPts val="0"/>
              </a:spcAft>
            </a:pPr>
            <a:r>
              <a:rPr sz="1000" b="1" i="0">
                <a:solidFill>
                  <a:srgbClr val="152238"/>
                </a:solidFill>
                <a:latin typeface="Calibri"/>
              </a:rPr>
              <a:t>Recompute</a:t>
            </a:r>
          </a:p>
        </p:txBody>
      </p:sp>
      <p:sp>
        <p:nvSpPr>
          <p:cNvPr id="60" name="TextBox 59"/>
          <p:cNvSpPr txBox="1"/>
          <p:nvPr/>
        </p:nvSpPr>
        <p:spPr>
          <a:xfrm>
            <a:off x="7626096" y="4974336"/>
            <a:ext cx="3794760" cy="502920"/>
          </a:xfrm>
          <a:prstGeom prst="rect">
            <a:avLst/>
          </a:prstGeom>
          <a:noFill/>
        </p:spPr>
        <p:txBody>
          <a:bodyPr wrap="square" anchor="t" lIns="0" rIns="0" tIns="0" bIns="0">
            <a:noAutofit/>
          </a:bodyPr>
          <a:lstStyle/>
          <a:p>
            <a:pPr algn="l">
              <a:lnSpc>
                <a:spcPct val="118000"/>
              </a:lnSpc>
              <a:spcAft>
                <a:spcPts val="0"/>
              </a:spcAft>
            </a:pPr>
            <a:r>
              <a:rPr sz="850" b="0" i="0">
                <a:solidFill>
                  <a:srgbClr val="77859A"/>
                </a:solidFill>
                <a:latin typeface="Calibri"/>
              </a:rPr>
              <a:t>Recent events update weakness scores and feed the next study plan.</a:t>
            </a:r>
          </a:p>
        </p:txBody>
      </p:sp>
      <p:sp>
        <p:nvSpPr>
          <p:cNvPr id="61" name="Rounded Rectangle 60"/>
          <p:cNvSpPr/>
          <p:nvPr/>
        </p:nvSpPr>
        <p:spPr>
          <a:xfrm>
            <a:off x="7187184" y="5486400"/>
            <a:ext cx="4206240" cy="384048"/>
          </a:xfrm>
          <a:prstGeom prst="roundRect">
            <a:avLst>
              <a:gd name="adj" fmla="val 30000"/>
            </a:avLst>
          </a:prstGeom>
          <a:solidFill>
            <a:srgbClr val="E6F2F2"/>
          </a:solidFill>
          <a:ln>
            <a:noFill/>
          </a:ln>
          <a:effectLst/>
        </p:spPr>
        <p:txBody>
          <a:bodyPr rtlCol="0" anchor="ctr" wrap="square"/>
          <a:lstStyle/>
          <a:p>
            <a:pPr algn="ctr"/>
          </a:p>
        </p:txBody>
      </p:sp>
      <p:sp>
        <p:nvSpPr>
          <p:cNvPr id="62" name="TextBox 61"/>
          <p:cNvSpPr txBox="1"/>
          <p:nvPr/>
        </p:nvSpPr>
        <p:spPr>
          <a:xfrm>
            <a:off x="7333488" y="5568696"/>
            <a:ext cx="3977639" cy="237744"/>
          </a:xfrm>
          <a:prstGeom prst="rect">
            <a:avLst/>
          </a:prstGeom>
          <a:noFill/>
        </p:spPr>
        <p:txBody>
          <a:bodyPr wrap="square" anchor="t" lIns="0" rIns="0" tIns="0" bIns="0">
            <a:noAutofit/>
          </a:bodyPr>
          <a:lstStyle/>
          <a:p>
            <a:pPr algn="l">
              <a:lnSpc>
                <a:spcPct val="112000"/>
              </a:lnSpc>
              <a:spcAft>
                <a:spcPts val="0"/>
              </a:spcAft>
            </a:pPr>
            <a:r>
              <a:rPr sz="840" b="1" i="0">
                <a:solidFill>
                  <a:srgbClr val="0A565C"/>
                </a:solidFill>
                <a:latin typeface="Calibri"/>
              </a:rPr>
              <a:t>Offline-first: no server is needed to study.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10 · INTERFACE</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A calm interface built around one question: what next?</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Every screen is organised around the next action, not around a dashboard of everything the system knows.</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ENGINEERING</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12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773936"/>
            <a:ext cx="6784848" cy="4133087"/>
          </a:xfrm>
          <a:prstGeom prst="roundRect">
            <a:avLst>
              <a:gd name="adj" fmla="val 3500"/>
            </a:avLst>
          </a:prstGeom>
          <a:solidFill>
            <a:srgbClr val="FFFFFF"/>
          </a:solidFill>
          <a:ln w="9525">
            <a:solidFill>
              <a:srgbClr val="DCE4EA"/>
            </a:solidFill>
          </a:ln>
          <a:effectLst/>
        </p:spPr>
        <p:txBody>
          <a:bodyPr rtlCol="0" anchor="ctr" wrap="square"/>
          <a:lstStyle/>
          <a:p>
            <a:pPr algn="ctr"/>
          </a:p>
        </p:txBody>
      </p:sp>
      <p:pic>
        <p:nvPicPr>
          <p:cNvPr id="12" name="Picture 11" descr="dashboard-light.png"/>
          <p:cNvPicPr>
            <a:picLocks noChangeAspect="1"/>
          </p:cNvPicPr>
          <p:nvPr/>
        </p:nvPicPr>
        <p:blipFill>
          <a:blip r:embed="rId2"/>
          <a:srcRect t="4066" b="4066"/>
          <a:stretch>
            <a:fillRect/>
          </a:stretch>
        </p:blipFill>
        <p:spPr>
          <a:xfrm>
            <a:off x="630936" y="1837943"/>
            <a:ext cx="6656832" cy="3822191"/>
          </a:xfrm>
          <a:prstGeom prst="rect">
            <a:avLst/>
          </a:prstGeom>
          <a:ln w="12700">
            <a:solidFill>
              <a:srgbClr val="FFFFFF"/>
            </a:solidFill>
          </a:ln>
          <a:effectLst/>
        </p:spPr>
      </p:pic>
      <p:sp>
        <p:nvSpPr>
          <p:cNvPr id="13" name="TextBox 12"/>
          <p:cNvSpPr txBox="1"/>
          <p:nvPr/>
        </p:nvSpPr>
        <p:spPr>
          <a:xfrm>
            <a:off x="630936" y="5687567"/>
            <a:ext cx="6656832" cy="164592"/>
          </a:xfrm>
          <a:prstGeom prst="rect">
            <a:avLst/>
          </a:prstGeom>
          <a:noFill/>
        </p:spPr>
        <p:txBody>
          <a:bodyPr wrap="square" anchor="t" lIns="0" rIns="0" tIns="0" bIns="0">
            <a:noAutofit/>
          </a:bodyPr>
          <a:lstStyle/>
          <a:p>
            <a:pPr algn="l">
              <a:lnSpc>
                <a:spcPct val="112000"/>
              </a:lnSpc>
              <a:spcAft>
                <a:spcPts val="0"/>
              </a:spcAft>
            </a:pPr>
            <a:r>
              <a:rPr sz="850" b="0" i="1">
                <a:solidFill>
                  <a:srgbClr val="77859A"/>
                </a:solidFill>
                <a:latin typeface="Calibri"/>
              </a:rPr>
              <a:t>Dashboard at 1440 × 900 — the same build used for the demo, seeded with sample data.</a:t>
            </a:r>
          </a:p>
        </p:txBody>
      </p:sp>
      <p:sp>
        <p:nvSpPr>
          <p:cNvPr id="14" name="TextBox 13"/>
          <p:cNvSpPr txBox="1"/>
          <p:nvPr/>
        </p:nvSpPr>
        <p:spPr>
          <a:xfrm>
            <a:off x="7662672" y="1810512"/>
            <a:ext cx="384048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WHAT TO NOTICE</a:t>
            </a:r>
          </a:p>
        </p:txBody>
      </p:sp>
      <p:sp>
        <p:nvSpPr>
          <p:cNvPr id="15" name="TextBox 14"/>
          <p:cNvSpPr txBox="1"/>
          <p:nvPr/>
        </p:nvSpPr>
        <p:spPr>
          <a:xfrm>
            <a:off x="7680960" y="1993392"/>
            <a:ext cx="3657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01</a:t>
            </a:r>
          </a:p>
        </p:txBody>
      </p:sp>
      <p:sp>
        <p:nvSpPr>
          <p:cNvPr id="16" name="TextBox 15"/>
          <p:cNvSpPr txBox="1"/>
          <p:nvPr/>
        </p:nvSpPr>
        <p:spPr>
          <a:xfrm>
            <a:off x="8028431" y="1975104"/>
            <a:ext cx="3566160" cy="219456"/>
          </a:xfrm>
          <a:prstGeom prst="rect">
            <a:avLst/>
          </a:prstGeom>
          <a:noFill/>
        </p:spPr>
        <p:txBody>
          <a:bodyPr wrap="square" anchor="t" lIns="0" rIns="0" tIns="0" bIns="0">
            <a:noAutofit/>
          </a:bodyPr>
          <a:lstStyle/>
          <a:p>
            <a:pPr algn="l">
              <a:lnSpc>
                <a:spcPct val="112000"/>
              </a:lnSpc>
              <a:spcAft>
                <a:spcPts val="0"/>
              </a:spcAft>
            </a:pPr>
            <a:r>
              <a:rPr sz="1080" b="1" i="0">
                <a:solidFill>
                  <a:srgbClr val="152238"/>
                </a:solidFill>
                <a:latin typeface="Calibri"/>
              </a:rPr>
              <a:t>One next action</a:t>
            </a:r>
          </a:p>
        </p:txBody>
      </p:sp>
      <p:sp>
        <p:nvSpPr>
          <p:cNvPr id="17" name="TextBox 16"/>
          <p:cNvSpPr txBox="1"/>
          <p:nvPr/>
        </p:nvSpPr>
        <p:spPr>
          <a:xfrm>
            <a:off x="8028431" y="2212848"/>
            <a:ext cx="3566160" cy="502920"/>
          </a:xfrm>
          <a:prstGeom prst="rect">
            <a:avLst/>
          </a:prstGeom>
          <a:noFill/>
        </p:spPr>
        <p:txBody>
          <a:bodyPr wrap="square" anchor="t" lIns="0" rIns="0" tIns="0" bIns="0">
            <a:noAutofit/>
          </a:bodyPr>
          <a:lstStyle/>
          <a:p>
            <a:pPr algn="l">
              <a:lnSpc>
                <a:spcPct val="118000"/>
              </a:lnSpc>
              <a:spcAft>
                <a:spcPts val="0"/>
              </a:spcAft>
            </a:pPr>
            <a:r>
              <a:rPr sz="880" b="0" i="0">
                <a:solidFill>
                  <a:srgbClr val="77859A"/>
                </a:solidFill>
                <a:latin typeface="Calibri"/>
              </a:rPr>
              <a:t>The dashboard opens with “jump back in”, not a wall of metrics.</a:t>
            </a:r>
          </a:p>
        </p:txBody>
      </p:sp>
      <p:sp>
        <p:nvSpPr>
          <p:cNvPr id="18" name="Rectangle 17"/>
          <p:cNvSpPr/>
          <p:nvPr/>
        </p:nvSpPr>
        <p:spPr>
          <a:xfrm>
            <a:off x="7680960" y="2926080"/>
            <a:ext cx="3840480" cy="5486"/>
          </a:xfrm>
          <a:prstGeom prst="rect">
            <a:avLst/>
          </a:prstGeom>
          <a:solidFill>
            <a:srgbClr val="DCE4EA"/>
          </a:solidFill>
          <a:ln>
            <a:noFill/>
          </a:ln>
          <a:effectLst/>
        </p:spPr>
        <p:txBody>
          <a:bodyPr rtlCol="0" anchor="ctr" wrap="square"/>
          <a:lstStyle/>
          <a:p>
            <a:pPr algn="ctr"/>
          </a:p>
        </p:txBody>
      </p:sp>
      <p:sp>
        <p:nvSpPr>
          <p:cNvPr id="19" name="TextBox 18"/>
          <p:cNvSpPr txBox="1"/>
          <p:nvPr/>
        </p:nvSpPr>
        <p:spPr>
          <a:xfrm>
            <a:off x="7680960" y="3108960"/>
            <a:ext cx="3657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02</a:t>
            </a:r>
          </a:p>
        </p:txBody>
      </p:sp>
      <p:sp>
        <p:nvSpPr>
          <p:cNvPr id="20" name="TextBox 19"/>
          <p:cNvSpPr txBox="1"/>
          <p:nvPr/>
        </p:nvSpPr>
        <p:spPr>
          <a:xfrm>
            <a:off x="8028431" y="3090672"/>
            <a:ext cx="3566160" cy="219456"/>
          </a:xfrm>
          <a:prstGeom prst="rect">
            <a:avLst/>
          </a:prstGeom>
          <a:noFill/>
        </p:spPr>
        <p:txBody>
          <a:bodyPr wrap="square" anchor="t" lIns="0" rIns="0" tIns="0" bIns="0">
            <a:noAutofit/>
          </a:bodyPr>
          <a:lstStyle/>
          <a:p>
            <a:pPr algn="l">
              <a:lnSpc>
                <a:spcPct val="112000"/>
              </a:lnSpc>
              <a:spcAft>
                <a:spcPts val="0"/>
              </a:spcAft>
            </a:pPr>
            <a:r>
              <a:rPr sz="1080" b="1" i="0">
                <a:solidFill>
                  <a:srgbClr val="152238"/>
                </a:solidFill>
                <a:latin typeface="Calibri"/>
              </a:rPr>
              <a:t>Progress you can feel</a:t>
            </a:r>
          </a:p>
        </p:txBody>
      </p:sp>
      <p:sp>
        <p:nvSpPr>
          <p:cNvPr id="21" name="TextBox 20"/>
          <p:cNvSpPr txBox="1"/>
          <p:nvPr/>
        </p:nvSpPr>
        <p:spPr>
          <a:xfrm>
            <a:off x="8028431" y="3328416"/>
            <a:ext cx="3566160" cy="502920"/>
          </a:xfrm>
          <a:prstGeom prst="rect">
            <a:avLst/>
          </a:prstGeom>
          <a:noFill/>
        </p:spPr>
        <p:txBody>
          <a:bodyPr wrap="square" anchor="t" lIns="0" rIns="0" tIns="0" bIns="0">
            <a:noAutofit/>
          </a:bodyPr>
          <a:lstStyle/>
          <a:p>
            <a:pPr algn="l">
              <a:lnSpc>
                <a:spcPct val="118000"/>
              </a:lnSpc>
              <a:spcAft>
                <a:spcPts val="0"/>
              </a:spcAft>
            </a:pPr>
            <a:r>
              <a:rPr sz="880" b="0" i="0">
                <a:solidFill>
                  <a:srgbClr val="77859A"/>
                </a:solidFill>
                <a:latin typeface="Calibri"/>
              </a:rPr>
              <a:t>Level, XP, streak and daily quests sit beside academic progress.</a:t>
            </a:r>
          </a:p>
        </p:txBody>
      </p:sp>
      <p:sp>
        <p:nvSpPr>
          <p:cNvPr id="22" name="Rectangle 21"/>
          <p:cNvSpPr/>
          <p:nvPr/>
        </p:nvSpPr>
        <p:spPr>
          <a:xfrm>
            <a:off x="7680960" y="4041648"/>
            <a:ext cx="3840480" cy="5486"/>
          </a:xfrm>
          <a:prstGeom prst="rect">
            <a:avLst/>
          </a:prstGeom>
          <a:solidFill>
            <a:srgbClr val="DCE4EA"/>
          </a:solidFill>
          <a:ln>
            <a:noFill/>
          </a:ln>
          <a:effectLst/>
        </p:spPr>
        <p:txBody>
          <a:bodyPr rtlCol="0" anchor="ctr" wrap="square"/>
          <a:lstStyle/>
          <a:p>
            <a:pPr algn="ctr"/>
          </a:p>
        </p:txBody>
      </p:sp>
      <p:sp>
        <p:nvSpPr>
          <p:cNvPr id="23" name="TextBox 22"/>
          <p:cNvSpPr txBox="1"/>
          <p:nvPr/>
        </p:nvSpPr>
        <p:spPr>
          <a:xfrm>
            <a:off x="7680960" y="4224528"/>
            <a:ext cx="365760" cy="182880"/>
          </a:xfrm>
          <a:prstGeom prst="rect">
            <a:avLst/>
          </a:prstGeom>
          <a:noFill/>
        </p:spPr>
        <p:txBody>
          <a:bodyPr wrap="square" anchor="t" lIns="0" rIns="0" tIns="0" bIns="0">
            <a:noAutofit/>
          </a:bodyPr>
          <a:lstStyle/>
          <a:p>
            <a:pPr algn="l">
              <a:lnSpc>
                <a:spcPct val="112000"/>
              </a:lnSpc>
              <a:spcAft>
                <a:spcPts val="0"/>
              </a:spcAft>
            </a:pPr>
            <a:r>
              <a:rPr sz="800" b="1" i="0">
                <a:solidFill>
                  <a:srgbClr val="0F7A82"/>
                </a:solidFill>
                <a:latin typeface="Calibri"/>
              </a:rPr>
              <a:t>03</a:t>
            </a:r>
          </a:p>
        </p:txBody>
      </p:sp>
      <p:sp>
        <p:nvSpPr>
          <p:cNvPr id="24" name="TextBox 23"/>
          <p:cNvSpPr txBox="1"/>
          <p:nvPr/>
        </p:nvSpPr>
        <p:spPr>
          <a:xfrm>
            <a:off x="8028431" y="4206240"/>
            <a:ext cx="3566160" cy="219456"/>
          </a:xfrm>
          <a:prstGeom prst="rect">
            <a:avLst/>
          </a:prstGeom>
          <a:noFill/>
        </p:spPr>
        <p:txBody>
          <a:bodyPr wrap="square" anchor="t" lIns="0" rIns="0" tIns="0" bIns="0">
            <a:noAutofit/>
          </a:bodyPr>
          <a:lstStyle/>
          <a:p>
            <a:pPr algn="l">
              <a:lnSpc>
                <a:spcPct val="112000"/>
              </a:lnSpc>
              <a:spcAft>
                <a:spcPts val="0"/>
              </a:spcAft>
            </a:pPr>
            <a:r>
              <a:rPr sz="1080" b="1" i="0">
                <a:solidFill>
                  <a:srgbClr val="152238"/>
                </a:solidFill>
                <a:latin typeface="Calibri"/>
              </a:rPr>
              <a:t>Built for a real evening</a:t>
            </a:r>
          </a:p>
        </p:txBody>
      </p:sp>
      <p:sp>
        <p:nvSpPr>
          <p:cNvPr id="25" name="TextBox 24"/>
          <p:cNvSpPr txBox="1"/>
          <p:nvPr/>
        </p:nvSpPr>
        <p:spPr>
          <a:xfrm>
            <a:off x="8028431" y="4443984"/>
            <a:ext cx="3566160" cy="502920"/>
          </a:xfrm>
          <a:prstGeom prst="rect">
            <a:avLst/>
          </a:prstGeom>
          <a:noFill/>
        </p:spPr>
        <p:txBody>
          <a:bodyPr wrap="square" anchor="t" lIns="0" rIns="0" tIns="0" bIns="0">
            <a:noAutofit/>
          </a:bodyPr>
          <a:lstStyle/>
          <a:p>
            <a:pPr algn="l">
              <a:lnSpc>
                <a:spcPct val="118000"/>
              </a:lnSpc>
              <a:spcAft>
                <a:spcPts val="0"/>
              </a:spcAft>
            </a:pPr>
            <a:r>
              <a:rPr sz="880" b="0" i="0">
                <a:solidFill>
                  <a:srgbClr val="77859A"/>
                </a:solidFill>
                <a:latin typeface="Calibri"/>
              </a:rPr>
              <a:t>Search, focus timer and question banks are one click away.</a:t>
            </a:r>
          </a:p>
        </p:txBody>
      </p:sp>
      <p:sp>
        <p:nvSpPr>
          <p:cNvPr id="26" name="TextBox 25"/>
          <p:cNvSpPr txBox="1"/>
          <p:nvPr/>
        </p:nvSpPr>
        <p:spPr>
          <a:xfrm>
            <a:off x="7662672" y="5285232"/>
            <a:ext cx="3840480" cy="182880"/>
          </a:xfrm>
          <a:prstGeom prst="rect">
            <a:avLst/>
          </a:prstGeom>
          <a:noFill/>
        </p:spPr>
        <p:txBody>
          <a:bodyPr wrap="square" anchor="t" lIns="0" rIns="0" tIns="0" bIns="0">
            <a:noAutofit/>
          </a:bodyPr>
          <a:lstStyle/>
          <a:p>
            <a:pPr algn="l">
              <a:lnSpc>
                <a:spcPct val="112000"/>
              </a:lnSpc>
              <a:spcAft>
                <a:spcPts val="0"/>
              </a:spcAft>
            </a:pPr>
            <a:r>
              <a:rPr sz="740" b="1" i="0">
                <a:solidFill>
                  <a:srgbClr val="77859A"/>
                </a:solidFill>
                <a:latin typeface="Calibri"/>
              </a:rPr>
              <a:t>ALSO IN THE BUILD</a:t>
            </a:r>
          </a:p>
        </p:txBody>
      </p:sp>
      <p:sp>
        <p:nvSpPr>
          <p:cNvPr id="27" name="TextBox 26"/>
          <p:cNvSpPr txBox="1"/>
          <p:nvPr/>
        </p:nvSpPr>
        <p:spPr>
          <a:xfrm>
            <a:off x="7662672" y="5486400"/>
            <a:ext cx="1920240" cy="182880"/>
          </a:xfrm>
          <a:prstGeom prst="rect">
            <a:avLst/>
          </a:prstGeom>
          <a:noFill/>
        </p:spPr>
        <p:txBody>
          <a:bodyPr wrap="square" anchor="t" lIns="0" rIns="0" tIns="0" bIns="0">
            <a:noAutofit/>
          </a:bodyPr>
          <a:lstStyle/>
          <a:p>
            <a:pPr algn="l">
              <a:lnSpc>
                <a:spcPct val="112000"/>
              </a:lnSpc>
              <a:spcAft>
                <a:spcPts val="0"/>
              </a:spcAft>
            </a:pPr>
            <a:r>
              <a:rPr sz="819" b="0" i="0">
                <a:solidFill>
                  <a:srgbClr val="3D4A5C"/>
                </a:solidFill>
                <a:latin typeface="Calibri"/>
              </a:rPr>
              <a:t>·  Mock exams</a:t>
            </a:r>
          </a:p>
        </p:txBody>
      </p:sp>
      <p:sp>
        <p:nvSpPr>
          <p:cNvPr id="28" name="TextBox 27"/>
          <p:cNvSpPr txBox="1"/>
          <p:nvPr/>
        </p:nvSpPr>
        <p:spPr>
          <a:xfrm>
            <a:off x="9656064" y="5486400"/>
            <a:ext cx="1920240" cy="182880"/>
          </a:xfrm>
          <a:prstGeom prst="rect">
            <a:avLst/>
          </a:prstGeom>
          <a:noFill/>
        </p:spPr>
        <p:txBody>
          <a:bodyPr wrap="square" anchor="t" lIns="0" rIns="0" tIns="0" bIns="0">
            <a:noAutofit/>
          </a:bodyPr>
          <a:lstStyle/>
          <a:p>
            <a:pPr algn="l">
              <a:lnSpc>
                <a:spcPct val="112000"/>
              </a:lnSpc>
              <a:spcAft>
                <a:spcPts val="0"/>
              </a:spcAft>
            </a:pPr>
            <a:r>
              <a:rPr sz="819" b="0" i="0">
                <a:solidFill>
                  <a:srgbClr val="3D4A5C"/>
                </a:solidFill>
                <a:latin typeface="Calibri"/>
              </a:rPr>
              <a:t>·  Coding practice</a:t>
            </a:r>
          </a:p>
        </p:txBody>
      </p:sp>
      <p:sp>
        <p:nvSpPr>
          <p:cNvPr id="29" name="TextBox 28"/>
          <p:cNvSpPr txBox="1"/>
          <p:nvPr/>
        </p:nvSpPr>
        <p:spPr>
          <a:xfrm>
            <a:off x="7662672" y="5742432"/>
            <a:ext cx="1920240" cy="182880"/>
          </a:xfrm>
          <a:prstGeom prst="rect">
            <a:avLst/>
          </a:prstGeom>
          <a:noFill/>
        </p:spPr>
        <p:txBody>
          <a:bodyPr wrap="square" anchor="t" lIns="0" rIns="0" tIns="0" bIns="0">
            <a:noAutofit/>
          </a:bodyPr>
          <a:lstStyle/>
          <a:p>
            <a:pPr algn="l">
              <a:lnSpc>
                <a:spcPct val="112000"/>
              </a:lnSpc>
              <a:spcAft>
                <a:spcPts val="0"/>
              </a:spcAft>
            </a:pPr>
            <a:r>
              <a:rPr sz="819" b="0" i="0">
                <a:solidFill>
                  <a:srgbClr val="3D4A5C"/>
                </a:solidFill>
                <a:latin typeface="Calibri"/>
              </a:rPr>
              <a:t>·  Placement prep</a:t>
            </a:r>
          </a:p>
        </p:txBody>
      </p:sp>
      <p:sp>
        <p:nvSpPr>
          <p:cNvPr id="30" name="TextBox 29"/>
          <p:cNvSpPr txBox="1"/>
          <p:nvPr/>
        </p:nvSpPr>
        <p:spPr>
          <a:xfrm>
            <a:off x="9656064" y="5742432"/>
            <a:ext cx="1920240" cy="182880"/>
          </a:xfrm>
          <a:prstGeom prst="rect">
            <a:avLst/>
          </a:prstGeom>
          <a:noFill/>
        </p:spPr>
        <p:txBody>
          <a:bodyPr wrap="square" anchor="t" lIns="0" rIns="0" tIns="0" bIns="0">
            <a:noAutofit/>
          </a:bodyPr>
          <a:lstStyle/>
          <a:p>
            <a:pPr algn="l">
              <a:lnSpc>
                <a:spcPct val="112000"/>
              </a:lnSpc>
              <a:spcAft>
                <a:spcPts val="0"/>
              </a:spcAft>
            </a:pPr>
            <a:r>
              <a:rPr sz="819" b="0" i="0">
                <a:solidFill>
                  <a:srgbClr val="3D4A5C"/>
                </a:solidFill>
                <a:latin typeface="Calibri"/>
              </a:rPr>
              <a:t>·  Skill roadmaps</a:t>
            </a:r>
          </a:p>
        </p:txBody>
      </p:sp>
      <p:sp>
        <p:nvSpPr>
          <p:cNvPr id="31" name="TextBox 30"/>
          <p:cNvSpPr txBox="1"/>
          <p:nvPr/>
        </p:nvSpPr>
        <p:spPr>
          <a:xfrm>
            <a:off x="7662672" y="5998464"/>
            <a:ext cx="1920240" cy="182880"/>
          </a:xfrm>
          <a:prstGeom prst="rect">
            <a:avLst/>
          </a:prstGeom>
          <a:noFill/>
        </p:spPr>
        <p:txBody>
          <a:bodyPr wrap="square" anchor="t" lIns="0" rIns="0" tIns="0" bIns="0">
            <a:noAutofit/>
          </a:bodyPr>
          <a:lstStyle/>
          <a:p>
            <a:pPr algn="l">
              <a:lnSpc>
                <a:spcPct val="112000"/>
              </a:lnSpc>
              <a:spcAft>
                <a:spcPts val="0"/>
              </a:spcAft>
            </a:pPr>
            <a:r>
              <a:rPr sz="819" b="0" i="0">
                <a:solidFill>
                  <a:srgbClr val="3D4A5C"/>
                </a:solidFill>
                <a:latin typeface="Calibri"/>
              </a:rPr>
              <a:t>·  AI assistant</a:t>
            </a:r>
          </a:p>
        </p:txBody>
      </p:sp>
      <p:sp>
        <p:nvSpPr>
          <p:cNvPr id="32" name="TextBox 31"/>
          <p:cNvSpPr txBox="1"/>
          <p:nvPr/>
        </p:nvSpPr>
        <p:spPr>
          <a:xfrm>
            <a:off x="9656064" y="5998464"/>
            <a:ext cx="1920240" cy="182880"/>
          </a:xfrm>
          <a:prstGeom prst="rect">
            <a:avLst/>
          </a:prstGeom>
          <a:noFill/>
        </p:spPr>
        <p:txBody>
          <a:bodyPr wrap="square" anchor="t" lIns="0" rIns="0" tIns="0" bIns="0">
            <a:noAutofit/>
          </a:bodyPr>
          <a:lstStyle/>
          <a:p>
            <a:pPr algn="l">
              <a:lnSpc>
                <a:spcPct val="112000"/>
              </a:lnSpc>
              <a:spcAft>
                <a:spcPts val="0"/>
              </a:spcAft>
            </a:pPr>
            <a:r>
              <a:rPr sz="819" b="0" i="0">
                <a:solidFill>
                  <a:srgbClr val="3D4A5C"/>
                </a:solidFill>
                <a:latin typeface="Calibri"/>
              </a:rPr>
              <a:t>·  Analytics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11 · EVIDENCE</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What is verified — and what is not</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Results are reported at the level they were measured: build health and functional completeness.</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EVIDENCE</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13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755648"/>
            <a:ext cx="2615184" cy="1042415"/>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12" name="Rectangle 11"/>
          <p:cNvSpPr/>
          <p:nvPr/>
        </p:nvSpPr>
        <p:spPr>
          <a:xfrm>
            <a:off x="583387" y="1865376"/>
            <a:ext cx="41148" cy="822959"/>
          </a:xfrm>
          <a:prstGeom prst="rect">
            <a:avLst/>
          </a:prstGeom>
          <a:solidFill>
            <a:srgbClr val="2B7A58"/>
          </a:solidFill>
          <a:ln>
            <a:noFill/>
          </a:ln>
          <a:effectLst/>
        </p:spPr>
        <p:txBody>
          <a:bodyPr rtlCol="0" anchor="ctr" wrap="square"/>
          <a:lstStyle/>
          <a:p>
            <a:pPr algn="ctr"/>
          </a:p>
        </p:txBody>
      </p:sp>
      <p:sp>
        <p:nvSpPr>
          <p:cNvPr id="13" name="TextBox 12"/>
          <p:cNvSpPr txBox="1"/>
          <p:nvPr/>
        </p:nvSpPr>
        <p:spPr>
          <a:xfrm>
            <a:off x="749808" y="1865376"/>
            <a:ext cx="1463040" cy="384048"/>
          </a:xfrm>
          <a:prstGeom prst="rect">
            <a:avLst/>
          </a:prstGeom>
          <a:noFill/>
        </p:spPr>
        <p:txBody>
          <a:bodyPr wrap="square" anchor="t" lIns="0" rIns="0" tIns="0" bIns="0">
            <a:noAutofit/>
          </a:bodyPr>
          <a:lstStyle/>
          <a:p>
            <a:pPr algn="l">
              <a:lnSpc>
                <a:spcPct val="112000"/>
              </a:lnSpc>
              <a:spcAft>
                <a:spcPts val="0"/>
              </a:spcAft>
            </a:pPr>
            <a:r>
              <a:rPr sz="2200" b="1" i="0">
                <a:solidFill>
                  <a:srgbClr val="152238"/>
                </a:solidFill>
                <a:latin typeface="Calibri"/>
              </a:rPr>
              <a:t>47/47</a:t>
            </a:r>
          </a:p>
        </p:txBody>
      </p:sp>
      <p:sp>
        <p:nvSpPr>
          <p:cNvPr id="14" name="TextBox 13"/>
          <p:cNvSpPr txBox="1"/>
          <p:nvPr/>
        </p:nvSpPr>
        <p:spPr>
          <a:xfrm>
            <a:off x="749808" y="2267712"/>
            <a:ext cx="2240280" cy="182880"/>
          </a:xfrm>
          <a:prstGeom prst="rect">
            <a:avLst/>
          </a:prstGeom>
          <a:noFill/>
        </p:spPr>
        <p:txBody>
          <a:bodyPr wrap="square" anchor="t" lIns="0" rIns="0" tIns="0" bIns="0">
            <a:noAutofit/>
          </a:bodyPr>
          <a:lstStyle/>
          <a:p>
            <a:pPr algn="l">
              <a:lnSpc>
                <a:spcPct val="112000"/>
              </a:lnSpc>
              <a:spcAft>
                <a:spcPts val="0"/>
              </a:spcAft>
            </a:pPr>
            <a:r>
              <a:rPr sz="860" b="1" i="0">
                <a:solidFill>
                  <a:srgbClr val="3D4A5C"/>
                </a:solidFill>
                <a:latin typeface="Calibri"/>
              </a:rPr>
              <a:t>automated tests passing</a:t>
            </a:r>
          </a:p>
        </p:txBody>
      </p:sp>
      <p:sp>
        <p:nvSpPr>
          <p:cNvPr id="15" name="TextBox 14"/>
          <p:cNvSpPr txBox="1"/>
          <p:nvPr/>
        </p:nvSpPr>
        <p:spPr>
          <a:xfrm>
            <a:off x="749808" y="2450592"/>
            <a:ext cx="2240280" cy="182880"/>
          </a:xfrm>
          <a:prstGeom prst="rect">
            <a:avLst/>
          </a:prstGeom>
          <a:noFill/>
        </p:spPr>
        <p:txBody>
          <a:bodyPr wrap="square" anchor="t" lIns="0" rIns="0" tIns="0" bIns="0">
            <a:noAutofit/>
          </a:bodyPr>
          <a:lstStyle/>
          <a:p>
            <a:pPr algn="l">
              <a:lnSpc>
                <a:spcPct val="112000"/>
              </a:lnSpc>
              <a:spcAft>
                <a:spcPts val="0"/>
              </a:spcAft>
            </a:pPr>
            <a:r>
              <a:rPr sz="760" b="0" i="0">
                <a:solidFill>
                  <a:srgbClr val="77859A"/>
                </a:solidFill>
                <a:latin typeface="Calibri"/>
              </a:rPr>
              <a:t>14 test files</a:t>
            </a:r>
          </a:p>
        </p:txBody>
      </p:sp>
      <p:sp>
        <p:nvSpPr>
          <p:cNvPr id="16" name="Rounded Rectangle 15"/>
          <p:cNvSpPr/>
          <p:nvPr/>
        </p:nvSpPr>
        <p:spPr>
          <a:xfrm>
            <a:off x="3364992" y="1755648"/>
            <a:ext cx="2615184" cy="1042415"/>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17" name="Rectangle 16"/>
          <p:cNvSpPr/>
          <p:nvPr/>
        </p:nvSpPr>
        <p:spPr>
          <a:xfrm>
            <a:off x="3381451" y="1865376"/>
            <a:ext cx="41148" cy="822959"/>
          </a:xfrm>
          <a:prstGeom prst="rect">
            <a:avLst/>
          </a:prstGeom>
          <a:solidFill>
            <a:srgbClr val="0F7A82"/>
          </a:solidFill>
          <a:ln>
            <a:noFill/>
          </a:ln>
          <a:effectLst/>
        </p:spPr>
        <p:txBody>
          <a:bodyPr rtlCol="0" anchor="ctr" wrap="square"/>
          <a:lstStyle/>
          <a:p>
            <a:pPr algn="ctr"/>
          </a:p>
        </p:txBody>
      </p:sp>
      <p:sp>
        <p:nvSpPr>
          <p:cNvPr id="18" name="TextBox 17"/>
          <p:cNvSpPr txBox="1"/>
          <p:nvPr/>
        </p:nvSpPr>
        <p:spPr>
          <a:xfrm>
            <a:off x="3547872" y="1865376"/>
            <a:ext cx="1463040" cy="384048"/>
          </a:xfrm>
          <a:prstGeom prst="rect">
            <a:avLst/>
          </a:prstGeom>
          <a:noFill/>
        </p:spPr>
        <p:txBody>
          <a:bodyPr wrap="square" anchor="t" lIns="0" rIns="0" tIns="0" bIns="0">
            <a:noAutofit/>
          </a:bodyPr>
          <a:lstStyle/>
          <a:p>
            <a:pPr algn="l">
              <a:lnSpc>
                <a:spcPct val="112000"/>
              </a:lnSpc>
              <a:spcAft>
                <a:spcPts val="0"/>
              </a:spcAft>
            </a:pPr>
            <a:r>
              <a:rPr sz="2200" b="1" i="0">
                <a:solidFill>
                  <a:srgbClr val="152238"/>
                </a:solidFill>
                <a:latin typeface="Calibri"/>
              </a:rPr>
              <a:t>6.21 s</a:t>
            </a:r>
          </a:p>
        </p:txBody>
      </p:sp>
      <p:sp>
        <p:nvSpPr>
          <p:cNvPr id="19" name="TextBox 18"/>
          <p:cNvSpPr txBox="1"/>
          <p:nvPr/>
        </p:nvSpPr>
        <p:spPr>
          <a:xfrm>
            <a:off x="3547872" y="2267712"/>
            <a:ext cx="2240280" cy="182880"/>
          </a:xfrm>
          <a:prstGeom prst="rect">
            <a:avLst/>
          </a:prstGeom>
          <a:noFill/>
        </p:spPr>
        <p:txBody>
          <a:bodyPr wrap="square" anchor="t" lIns="0" rIns="0" tIns="0" bIns="0">
            <a:noAutofit/>
          </a:bodyPr>
          <a:lstStyle/>
          <a:p>
            <a:pPr algn="l">
              <a:lnSpc>
                <a:spcPct val="112000"/>
              </a:lnSpc>
              <a:spcAft>
                <a:spcPts val="0"/>
              </a:spcAft>
            </a:pPr>
            <a:r>
              <a:rPr sz="860" b="1" i="0">
                <a:solidFill>
                  <a:srgbClr val="3D4A5C"/>
                </a:solidFill>
                <a:latin typeface="Calibri"/>
              </a:rPr>
              <a:t>production build</a:t>
            </a:r>
          </a:p>
        </p:txBody>
      </p:sp>
      <p:sp>
        <p:nvSpPr>
          <p:cNvPr id="20" name="TextBox 19"/>
          <p:cNvSpPr txBox="1"/>
          <p:nvPr/>
        </p:nvSpPr>
        <p:spPr>
          <a:xfrm>
            <a:off x="3547872" y="2450592"/>
            <a:ext cx="2240280" cy="182880"/>
          </a:xfrm>
          <a:prstGeom prst="rect">
            <a:avLst/>
          </a:prstGeom>
          <a:noFill/>
        </p:spPr>
        <p:txBody>
          <a:bodyPr wrap="square" anchor="t" lIns="0" rIns="0" tIns="0" bIns="0">
            <a:noAutofit/>
          </a:bodyPr>
          <a:lstStyle/>
          <a:p>
            <a:pPr algn="l">
              <a:lnSpc>
                <a:spcPct val="112000"/>
              </a:lnSpc>
              <a:spcAft>
                <a:spcPts val="0"/>
              </a:spcAft>
            </a:pPr>
            <a:r>
              <a:rPr sz="760" b="0" i="0">
                <a:solidFill>
                  <a:srgbClr val="77859A"/>
                </a:solidFill>
                <a:latin typeface="Calibri"/>
              </a:rPr>
              <a:t>Vite production build</a:t>
            </a:r>
          </a:p>
        </p:txBody>
      </p:sp>
      <p:sp>
        <p:nvSpPr>
          <p:cNvPr id="21" name="Rounded Rectangle 20"/>
          <p:cNvSpPr/>
          <p:nvPr/>
        </p:nvSpPr>
        <p:spPr>
          <a:xfrm>
            <a:off x="6163056" y="1755648"/>
            <a:ext cx="2615184" cy="1042415"/>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22" name="Rectangle 21"/>
          <p:cNvSpPr/>
          <p:nvPr/>
        </p:nvSpPr>
        <p:spPr>
          <a:xfrm>
            <a:off x="6179515" y="1865376"/>
            <a:ext cx="41148" cy="822959"/>
          </a:xfrm>
          <a:prstGeom prst="rect">
            <a:avLst/>
          </a:prstGeom>
          <a:solidFill>
            <a:srgbClr val="2E5C9A"/>
          </a:solidFill>
          <a:ln>
            <a:noFill/>
          </a:ln>
          <a:effectLst/>
        </p:spPr>
        <p:txBody>
          <a:bodyPr rtlCol="0" anchor="ctr" wrap="square"/>
          <a:lstStyle/>
          <a:p>
            <a:pPr algn="ctr"/>
          </a:p>
        </p:txBody>
      </p:sp>
      <p:sp>
        <p:nvSpPr>
          <p:cNvPr id="23" name="TextBox 22"/>
          <p:cNvSpPr txBox="1"/>
          <p:nvPr/>
        </p:nvSpPr>
        <p:spPr>
          <a:xfrm>
            <a:off x="6345936" y="1865376"/>
            <a:ext cx="1463040" cy="384048"/>
          </a:xfrm>
          <a:prstGeom prst="rect">
            <a:avLst/>
          </a:prstGeom>
          <a:noFill/>
        </p:spPr>
        <p:txBody>
          <a:bodyPr wrap="square" anchor="t" lIns="0" rIns="0" tIns="0" bIns="0">
            <a:noAutofit/>
          </a:bodyPr>
          <a:lstStyle/>
          <a:p>
            <a:pPr algn="l">
              <a:lnSpc>
                <a:spcPct val="112000"/>
              </a:lnSpc>
              <a:spcAft>
                <a:spcPts val="0"/>
              </a:spcAft>
            </a:pPr>
            <a:r>
              <a:rPr sz="2200" b="1" i="0">
                <a:solidFill>
                  <a:srgbClr val="152238"/>
                </a:solidFill>
                <a:latin typeface="Calibri"/>
              </a:rPr>
              <a:t>40</a:t>
            </a:r>
          </a:p>
        </p:txBody>
      </p:sp>
      <p:sp>
        <p:nvSpPr>
          <p:cNvPr id="24" name="TextBox 23"/>
          <p:cNvSpPr txBox="1"/>
          <p:nvPr/>
        </p:nvSpPr>
        <p:spPr>
          <a:xfrm>
            <a:off x="6345936" y="2267712"/>
            <a:ext cx="2240280" cy="182880"/>
          </a:xfrm>
          <a:prstGeom prst="rect">
            <a:avLst/>
          </a:prstGeom>
          <a:noFill/>
        </p:spPr>
        <p:txBody>
          <a:bodyPr wrap="square" anchor="t" lIns="0" rIns="0" tIns="0" bIns="0">
            <a:noAutofit/>
          </a:bodyPr>
          <a:lstStyle/>
          <a:p>
            <a:pPr algn="l">
              <a:lnSpc>
                <a:spcPct val="112000"/>
              </a:lnSpc>
              <a:spcAft>
                <a:spcPts val="0"/>
              </a:spcAft>
            </a:pPr>
            <a:r>
              <a:rPr sz="860" b="1" i="0">
                <a:solidFill>
                  <a:srgbClr val="3D4A5C"/>
                </a:solidFill>
                <a:latin typeface="Calibri"/>
              </a:rPr>
              <a:t>database tables</a:t>
            </a:r>
          </a:p>
        </p:txBody>
      </p:sp>
      <p:sp>
        <p:nvSpPr>
          <p:cNvPr id="25" name="TextBox 24"/>
          <p:cNvSpPr txBox="1"/>
          <p:nvPr/>
        </p:nvSpPr>
        <p:spPr>
          <a:xfrm>
            <a:off x="6345936" y="2450592"/>
            <a:ext cx="2240280" cy="182880"/>
          </a:xfrm>
          <a:prstGeom prst="rect">
            <a:avLst/>
          </a:prstGeom>
          <a:noFill/>
        </p:spPr>
        <p:txBody>
          <a:bodyPr wrap="square" anchor="t" lIns="0" rIns="0" tIns="0" bIns="0">
            <a:noAutofit/>
          </a:bodyPr>
          <a:lstStyle/>
          <a:p>
            <a:pPr algn="l">
              <a:lnSpc>
                <a:spcPct val="112000"/>
              </a:lnSpc>
              <a:spcAft>
                <a:spcPts val="0"/>
              </a:spcAft>
            </a:pPr>
            <a:r>
              <a:rPr sz="760" b="0" i="0">
                <a:solidFill>
                  <a:srgbClr val="77859A"/>
                </a:solidFill>
                <a:latin typeface="Calibri"/>
              </a:rPr>
              <a:t>Dexie / IndexedDB</a:t>
            </a:r>
          </a:p>
        </p:txBody>
      </p:sp>
      <p:sp>
        <p:nvSpPr>
          <p:cNvPr id="26" name="Rounded Rectangle 25"/>
          <p:cNvSpPr/>
          <p:nvPr/>
        </p:nvSpPr>
        <p:spPr>
          <a:xfrm>
            <a:off x="8961119" y="1755648"/>
            <a:ext cx="2615184" cy="1042415"/>
          </a:xfrm>
          <a:prstGeom prst="roundRect">
            <a:avLst>
              <a:gd name="adj" fmla="val 5500"/>
            </a:avLst>
          </a:prstGeom>
          <a:solidFill>
            <a:srgbClr val="FFFFFF"/>
          </a:solidFill>
          <a:ln w="9525">
            <a:solidFill>
              <a:srgbClr val="DCE4EA"/>
            </a:solidFill>
          </a:ln>
          <a:effectLst/>
        </p:spPr>
        <p:txBody>
          <a:bodyPr rtlCol="0" anchor="ctr" wrap="square"/>
          <a:lstStyle/>
          <a:p>
            <a:pPr algn="ctr"/>
          </a:p>
        </p:txBody>
      </p:sp>
      <p:sp>
        <p:nvSpPr>
          <p:cNvPr id="27" name="Rectangle 26"/>
          <p:cNvSpPr/>
          <p:nvPr/>
        </p:nvSpPr>
        <p:spPr>
          <a:xfrm>
            <a:off x="8977579" y="1865376"/>
            <a:ext cx="41148" cy="822959"/>
          </a:xfrm>
          <a:prstGeom prst="rect">
            <a:avLst/>
          </a:prstGeom>
          <a:solidFill>
            <a:srgbClr val="B0781C"/>
          </a:solidFill>
          <a:ln>
            <a:noFill/>
          </a:ln>
          <a:effectLst/>
        </p:spPr>
        <p:txBody>
          <a:bodyPr rtlCol="0" anchor="ctr" wrap="square"/>
          <a:lstStyle/>
          <a:p>
            <a:pPr algn="ctr"/>
          </a:p>
        </p:txBody>
      </p:sp>
      <p:sp>
        <p:nvSpPr>
          <p:cNvPr id="28" name="TextBox 27"/>
          <p:cNvSpPr txBox="1"/>
          <p:nvPr/>
        </p:nvSpPr>
        <p:spPr>
          <a:xfrm>
            <a:off x="9143999" y="1865376"/>
            <a:ext cx="1463040" cy="384048"/>
          </a:xfrm>
          <a:prstGeom prst="rect">
            <a:avLst/>
          </a:prstGeom>
          <a:noFill/>
        </p:spPr>
        <p:txBody>
          <a:bodyPr wrap="square" anchor="t" lIns="0" rIns="0" tIns="0" bIns="0">
            <a:noAutofit/>
          </a:bodyPr>
          <a:lstStyle/>
          <a:p>
            <a:pPr algn="l">
              <a:lnSpc>
                <a:spcPct val="112000"/>
              </a:lnSpc>
              <a:spcAft>
                <a:spcPts val="0"/>
              </a:spcAft>
            </a:pPr>
            <a:r>
              <a:rPr sz="2200" b="1" i="0">
                <a:solidFill>
                  <a:srgbClr val="152238"/>
                </a:solidFill>
                <a:latin typeface="Calibri"/>
              </a:rPr>
              <a:t>46</a:t>
            </a:r>
          </a:p>
        </p:txBody>
      </p:sp>
      <p:sp>
        <p:nvSpPr>
          <p:cNvPr id="29" name="TextBox 28"/>
          <p:cNvSpPr txBox="1"/>
          <p:nvPr/>
        </p:nvSpPr>
        <p:spPr>
          <a:xfrm>
            <a:off x="9143999" y="2267712"/>
            <a:ext cx="2240280" cy="182880"/>
          </a:xfrm>
          <a:prstGeom prst="rect">
            <a:avLst/>
          </a:prstGeom>
          <a:noFill/>
        </p:spPr>
        <p:txBody>
          <a:bodyPr wrap="square" anchor="t" lIns="0" rIns="0" tIns="0" bIns="0">
            <a:noAutofit/>
          </a:bodyPr>
          <a:lstStyle/>
          <a:p>
            <a:pPr algn="l">
              <a:lnSpc>
                <a:spcPct val="112000"/>
              </a:lnSpc>
              <a:spcAft>
                <a:spcPts val="0"/>
              </a:spcAft>
            </a:pPr>
            <a:r>
              <a:rPr sz="860" b="1" i="0">
                <a:solidFill>
                  <a:srgbClr val="3D4A5C"/>
                </a:solidFill>
                <a:latin typeface="Calibri"/>
              </a:rPr>
              <a:t>routed views</a:t>
            </a:r>
          </a:p>
        </p:txBody>
      </p:sp>
      <p:sp>
        <p:nvSpPr>
          <p:cNvPr id="30" name="TextBox 29"/>
          <p:cNvSpPr txBox="1"/>
          <p:nvPr/>
        </p:nvSpPr>
        <p:spPr>
          <a:xfrm>
            <a:off x="9143999" y="2450592"/>
            <a:ext cx="2240280" cy="182880"/>
          </a:xfrm>
          <a:prstGeom prst="rect">
            <a:avLst/>
          </a:prstGeom>
          <a:noFill/>
        </p:spPr>
        <p:txBody>
          <a:bodyPr wrap="square" anchor="t" lIns="0" rIns="0" tIns="0" bIns="0">
            <a:noAutofit/>
          </a:bodyPr>
          <a:lstStyle/>
          <a:p>
            <a:pPr algn="l">
              <a:lnSpc>
                <a:spcPct val="112000"/>
              </a:lnSpc>
              <a:spcAft>
                <a:spcPts val="0"/>
              </a:spcAft>
            </a:pPr>
            <a:r>
              <a:rPr sz="760" b="0" i="0">
                <a:solidFill>
                  <a:srgbClr val="77859A"/>
                </a:solidFill>
                <a:latin typeface="Calibri"/>
              </a:rPr>
              <a:t>React single-page app</a:t>
            </a:r>
          </a:p>
        </p:txBody>
      </p:sp>
      <p:sp>
        <p:nvSpPr>
          <p:cNvPr id="31" name="TextBox 30"/>
          <p:cNvSpPr txBox="1"/>
          <p:nvPr/>
        </p:nvSpPr>
        <p:spPr>
          <a:xfrm>
            <a:off x="566928" y="2926080"/>
            <a:ext cx="11064240" cy="182880"/>
          </a:xfrm>
          <a:prstGeom prst="rect">
            <a:avLst/>
          </a:prstGeom>
          <a:noFill/>
        </p:spPr>
        <p:txBody>
          <a:bodyPr wrap="square" anchor="t" lIns="0" rIns="0" tIns="0" bIns="0">
            <a:noAutofit/>
          </a:bodyPr>
          <a:lstStyle/>
          <a:p>
            <a:pPr algn="l">
              <a:lnSpc>
                <a:spcPct val="112000"/>
              </a:lnSpc>
              <a:spcAft>
                <a:spcPts val="0"/>
              </a:spcAft>
            </a:pPr>
            <a:r>
              <a:rPr sz="760" b="1" i="0">
                <a:solidFill>
                  <a:srgbClr val="77859A"/>
                </a:solidFill>
                <a:latin typeface="Calibri"/>
              </a:rPr>
              <a:t>SEEDED DEMO DATASET   ·   38 topics   ·   18 note sets   ·   8 questions   ·   10-day plan   ·   12-day streak</a:t>
            </a:r>
          </a:p>
        </p:txBody>
      </p:sp>
      <p:graphicFrame>
        <p:nvGraphicFramePr>
          <p:cNvPr id="32" name="Table 31"/>
          <p:cNvGraphicFramePr>
            <a:graphicFrameLocks noGrp="1"/>
          </p:cNvGraphicFramePr>
          <p:nvPr/>
        </p:nvGraphicFramePr>
        <p:xfrm>
          <a:off x="566928" y="3200400"/>
          <a:ext cx="6903720" cy="2340864"/>
        </p:xfrm>
        <a:graphic>
          <a:graphicData uri="http://schemas.openxmlformats.org/drawingml/2006/table">
            <a:tbl>
              <a:tblPr firstRow="1">
                <a:tableStyleId>{2D5ABB26-0587-4C30-8999-92F81FD0307C}</a:tableStyleId>
              </a:tblPr>
              <a:tblGrid>
                <a:gridCol w="1691640"/>
                <a:gridCol w="5212080"/>
              </a:tblGrid>
              <a:tr h="329184">
                <a:tc>
                  <a:txBody>
                    <a:bodyPr wrap="square"/>
                    <a:lstStyle/>
                    <a:p>
                      <a:pPr>
                        <a:lnSpc>
                          <a:spcPct val="105000"/>
                        </a:lnSpc>
                      </a:pPr>
                      <a:r>
                        <a:rPr sz="950" b="1" i="0">
                          <a:solidFill>
                            <a:srgbClr val="FFFFFF"/>
                          </a:solidFill>
                          <a:latin typeface="Calibri"/>
                        </a:rPr>
                        <a:t>Area</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c>
                  <a:txBody>
                    <a:bodyPr wrap="square"/>
                    <a:lstStyle/>
                    <a:p>
                      <a:pPr>
                        <a:lnSpc>
                          <a:spcPct val="105000"/>
                        </a:lnSpc>
                      </a:pPr>
                      <a:r>
                        <a:rPr sz="950" b="1" i="0">
                          <a:solidFill>
                            <a:srgbClr val="FFFFFF"/>
                          </a:solidFill>
                          <a:latin typeface="Calibri"/>
                        </a:rPr>
                        <a:t>Evidence</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r>
              <a:tr h="402336">
                <a:tc>
                  <a:txBody>
                    <a:bodyPr wrap="square"/>
                    <a:lstStyle/>
                    <a:p>
                      <a:pPr>
                        <a:lnSpc>
                          <a:spcPct val="105000"/>
                        </a:lnSpc>
                      </a:pPr>
                      <a:r>
                        <a:rPr sz="900" b="1" i="0">
                          <a:solidFill>
                            <a:srgbClr val="3D4A5C"/>
                          </a:solidFill>
                          <a:latin typeface="Calibri"/>
                        </a:rPr>
                        <a:t>Automated suite</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00" b="0" i="0">
                          <a:solidFill>
                            <a:srgbClr val="3D4A5C"/>
                          </a:solidFill>
                          <a:latin typeface="Calibri"/>
                        </a:rPr>
                        <a:t>47 tests across 14 files — all passing; 6.21 s production build</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r h="402336">
                <a:tc>
                  <a:txBody>
                    <a:bodyPr wrap="square"/>
                    <a:lstStyle/>
                    <a:p>
                      <a:pPr>
                        <a:lnSpc>
                          <a:spcPct val="105000"/>
                        </a:lnSpc>
                      </a:pPr>
                      <a:r>
                        <a:rPr sz="900" b="1" i="0">
                          <a:solidFill>
                            <a:srgbClr val="3D4A5C"/>
                          </a:solidFill>
                          <a:latin typeface="Calibri"/>
                        </a:rPr>
                        <a:t>Data layer</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00" b="0" i="0">
                          <a:solidFill>
                            <a:srgbClr val="3D4A5C"/>
                          </a:solidFill>
                          <a:latin typeface="Calibri"/>
                        </a:rPr>
                        <a:t>40 Dexie tables created, seeded and queried</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r>
              <a:tr h="402336">
                <a:tc>
                  <a:txBody>
                    <a:bodyPr wrap="square"/>
                    <a:lstStyle/>
                    <a:p>
                      <a:pPr>
                        <a:lnSpc>
                          <a:spcPct val="105000"/>
                        </a:lnSpc>
                      </a:pPr>
                      <a:r>
                        <a:rPr sz="900" b="1" i="0">
                          <a:solidFill>
                            <a:srgbClr val="3D4A5C"/>
                          </a:solidFill>
                          <a:latin typeface="Calibri"/>
                        </a:rPr>
                        <a:t>AI service</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00" b="0" i="0">
                          <a:solidFill>
                            <a:srgbClr val="3D4A5C"/>
                          </a:solidFill>
                          <a:latin typeface="Calibri"/>
                        </a:rPr>
                        <a:t>Six-model fallback tested; streaming and JSON repair implemented</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r h="402336">
                <a:tc>
                  <a:txBody>
                    <a:bodyPr wrap="square"/>
                    <a:lstStyle/>
                    <a:p>
                      <a:pPr>
                        <a:lnSpc>
                          <a:spcPct val="105000"/>
                        </a:lnSpc>
                      </a:pPr>
                      <a:r>
                        <a:rPr sz="900" b="1" i="0">
                          <a:solidFill>
                            <a:srgbClr val="3D4A5C"/>
                          </a:solidFill>
                          <a:latin typeface="Calibri"/>
                        </a:rPr>
                        <a:t>Interface</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00" b="0" i="0">
                          <a:solidFill>
                            <a:srgbClr val="3D4A5C"/>
                          </a:solidFill>
                          <a:latin typeface="Calibri"/>
                        </a:rPr>
                        <a:t>19 screens captured from the running application</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r>
              <a:tr h="402336">
                <a:tc>
                  <a:txBody>
                    <a:bodyPr wrap="square"/>
                    <a:lstStyle/>
                    <a:p>
                      <a:pPr>
                        <a:lnSpc>
                          <a:spcPct val="105000"/>
                        </a:lnSpc>
                      </a:pPr>
                      <a:r>
                        <a:rPr sz="900" b="1" i="0">
                          <a:solidFill>
                            <a:srgbClr val="3D4A5C"/>
                          </a:solidFill>
                          <a:latin typeface="Calibri"/>
                        </a:rPr>
                        <a:t>Deployment</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00" b="0" i="0">
                          <a:solidFill>
                            <a:srgbClr val="3D4A5C"/>
                          </a:solidFill>
                          <a:latin typeface="Calibri"/>
                        </a:rPr>
                        <a:t>Production build verified; live demo reachable</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bl>
          </a:graphicData>
        </a:graphic>
      </p:graphicFrame>
      <p:sp>
        <p:nvSpPr>
          <p:cNvPr id="33" name="Rounded Rectangle 32"/>
          <p:cNvSpPr/>
          <p:nvPr/>
        </p:nvSpPr>
        <p:spPr>
          <a:xfrm>
            <a:off x="7626096" y="3200400"/>
            <a:ext cx="4005072" cy="2304288"/>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graphicFrame>
        <p:nvGraphicFramePr>
          <p:cNvPr id="34" name="Chart 33"/>
          <p:cNvGraphicFramePr>
            <a:graphicFrameLocks noGrp="1"/>
          </p:cNvGraphicFramePr>
          <p:nvPr/>
        </p:nvGraphicFramePr>
        <p:xfrm>
          <a:off x="7772400" y="3310128"/>
          <a:ext cx="1481328" cy="1481328"/>
        </p:xfrm>
        <a:graphic>
          <a:graphicData uri="http://schemas.openxmlformats.org/drawingml/2006/chart">
            <c:chart xmlns:c="http://schemas.openxmlformats.org/drawingml/2006/chart" r:id="rId2"/>
          </a:graphicData>
        </a:graphic>
      </p:graphicFrame>
      <p:sp>
        <p:nvSpPr>
          <p:cNvPr id="35" name="TextBox 34"/>
          <p:cNvSpPr txBox="1"/>
          <p:nvPr/>
        </p:nvSpPr>
        <p:spPr>
          <a:xfrm>
            <a:off x="7991856" y="3785615"/>
            <a:ext cx="877824" cy="274320"/>
          </a:xfrm>
          <a:prstGeom prst="rect">
            <a:avLst/>
          </a:prstGeom>
          <a:noFill/>
        </p:spPr>
        <p:txBody>
          <a:bodyPr wrap="square" anchor="t" lIns="0" rIns="0" tIns="0" bIns="0">
            <a:noAutofit/>
          </a:bodyPr>
          <a:lstStyle/>
          <a:p>
            <a:pPr algn="ctr">
              <a:lnSpc>
                <a:spcPct val="112000"/>
              </a:lnSpc>
              <a:spcAft>
                <a:spcPts val="0"/>
              </a:spcAft>
            </a:pPr>
            <a:r>
              <a:rPr sz="1300" b="1" i="0">
                <a:solidFill>
                  <a:srgbClr val="152238"/>
                </a:solidFill>
                <a:latin typeface="Calibri"/>
              </a:rPr>
              <a:t>100%</a:t>
            </a:r>
          </a:p>
        </p:txBody>
      </p:sp>
      <p:sp>
        <p:nvSpPr>
          <p:cNvPr id="36" name="TextBox 35"/>
          <p:cNvSpPr txBox="1"/>
          <p:nvPr/>
        </p:nvSpPr>
        <p:spPr>
          <a:xfrm>
            <a:off x="7955279" y="4059936"/>
            <a:ext cx="950976" cy="182880"/>
          </a:xfrm>
          <a:prstGeom prst="rect">
            <a:avLst/>
          </a:prstGeom>
          <a:noFill/>
        </p:spPr>
        <p:txBody>
          <a:bodyPr wrap="square" anchor="t" lIns="0" rIns="0" tIns="0" bIns="0">
            <a:noAutofit/>
          </a:bodyPr>
          <a:lstStyle/>
          <a:p>
            <a:pPr algn="ctr">
              <a:lnSpc>
                <a:spcPct val="112000"/>
              </a:lnSpc>
              <a:spcAft>
                <a:spcPts val="0"/>
              </a:spcAft>
            </a:pPr>
            <a:r>
              <a:rPr sz="640" b="1" i="0">
                <a:solidFill>
                  <a:srgbClr val="77859A"/>
                </a:solidFill>
                <a:latin typeface="Calibri"/>
              </a:rPr>
              <a:t>PASS RATE</a:t>
            </a:r>
          </a:p>
        </p:txBody>
      </p:sp>
      <p:sp>
        <p:nvSpPr>
          <p:cNvPr id="37" name="TextBox 36"/>
          <p:cNvSpPr txBox="1"/>
          <p:nvPr/>
        </p:nvSpPr>
        <p:spPr>
          <a:xfrm>
            <a:off x="9436608" y="3529584"/>
            <a:ext cx="2011680" cy="310896"/>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47 / 47</a:t>
            </a:r>
          </a:p>
        </p:txBody>
      </p:sp>
      <p:sp>
        <p:nvSpPr>
          <p:cNvPr id="38" name="TextBox 37"/>
          <p:cNvSpPr txBox="1"/>
          <p:nvPr/>
        </p:nvSpPr>
        <p:spPr>
          <a:xfrm>
            <a:off x="9436608" y="3858768"/>
            <a:ext cx="2057400" cy="182880"/>
          </a:xfrm>
          <a:prstGeom prst="rect">
            <a:avLst/>
          </a:prstGeom>
          <a:noFill/>
        </p:spPr>
        <p:txBody>
          <a:bodyPr wrap="square" anchor="t" lIns="0" rIns="0" tIns="0" bIns="0">
            <a:noAutofit/>
          </a:bodyPr>
          <a:lstStyle/>
          <a:p>
            <a:pPr algn="l">
              <a:lnSpc>
                <a:spcPct val="112000"/>
              </a:lnSpc>
              <a:spcAft>
                <a:spcPts val="0"/>
              </a:spcAft>
            </a:pPr>
            <a:r>
              <a:rPr sz="819" b="0" i="0">
                <a:solidFill>
                  <a:srgbClr val="3D4A5C"/>
                </a:solidFill>
                <a:latin typeface="Calibri"/>
              </a:rPr>
              <a:t>tests passing</a:t>
            </a:r>
          </a:p>
        </p:txBody>
      </p:sp>
      <p:sp>
        <p:nvSpPr>
          <p:cNvPr id="39" name="TextBox 38"/>
          <p:cNvSpPr txBox="1"/>
          <p:nvPr/>
        </p:nvSpPr>
        <p:spPr>
          <a:xfrm>
            <a:off x="9436608" y="4078224"/>
            <a:ext cx="2057400" cy="182880"/>
          </a:xfrm>
          <a:prstGeom prst="rect">
            <a:avLst/>
          </a:prstGeom>
          <a:noFill/>
        </p:spPr>
        <p:txBody>
          <a:bodyPr wrap="square" anchor="t" lIns="0" rIns="0" tIns="0" bIns="0">
            <a:noAutofit/>
          </a:bodyPr>
          <a:lstStyle/>
          <a:p>
            <a:pPr algn="l">
              <a:lnSpc>
                <a:spcPct val="112000"/>
              </a:lnSpc>
              <a:spcAft>
                <a:spcPts val="0"/>
              </a:spcAft>
            </a:pPr>
            <a:r>
              <a:rPr sz="819" b="1" i="0">
                <a:solidFill>
                  <a:srgbClr val="2B7A58"/>
                </a:solidFill>
                <a:latin typeface="Calibri"/>
              </a:rPr>
              <a:t>0 failures</a:t>
            </a:r>
          </a:p>
        </p:txBody>
      </p:sp>
      <p:sp>
        <p:nvSpPr>
          <p:cNvPr id="40" name="TextBox 39"/>
          <p:cNvSpPr txBox="1"/>
          <p:nvPr/>
        </p:nvSpPr>
        <p:spPr>
          <a:xfrm>
            <a:off x="7772400" y="4919472"/>
            <a:ext cx="1828800" cy="182880"/>
          </a:xfrm>
          <a:prstGeom prst="rect">
            <a:avLst/>
          </a:prstGeom>
          <a:noFill/>
        </p:spPr>
        <p:txBody>
          <a:bodyPr wrap="square" anchor="t" lIns="0" rIns="0" tIns="0" bIns="0">
            <a:noAutofit/>
          </a:bodyPr>
          <a:lstStyle/>
          <a:p>
            <a:pPr algn="l">
              <a:lnSpc>
                <a:spcPct val="112000"/>
              </a:lnSpc>
              <a:spcAft>
                <a:spcPts val="0"/>
              </a:spcAft>
            </a:pPr>
            <a:r>
              <a:rPr sz="640" b="1" i="0">
                <a:solidFill>
                  <a:srgbClr val="77859A"/>
                </a:solidFill>
                <a:latin typeface="Calibri"/>
              </a:rPr>
              <a:t>BUILD PIPELINE</a:t>
            </a:r>
          </a:p>
        </p:txBody>
      </p:sp>
      <p:cxnSp>
        <p:nvCxnSpPr>
          <p:cNvPr id="41" name="Connector 40"/>
          <p:cNvCxnSpPr/>
          <p:nvPr/>
        </p:nvCxnSpPr>
        <p:spPr>
          <a:xfrm>
            <a:off x="7872983" y="5157216"/>
            <a:ext cx="2798065" cy="0"/>
          </a:xfrm>
          <a:prstGeom prst="line">
            <a:avLst/>
          </a:prstGeom>
          <a:ln w="17780">
            <a:solidFill>
              <a:srgbClr val="DCE4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7772400" y="5056632"/>
            <a:ext cx="201168" cy="201168"/>
          </a:xfrm>
          <a:prstGeom prst="ellipse">
            <a:avLst/>
          </a:prstGeom>
          <a:solidFill>
            <a:srgbClr val="0F7A82"/>
          </a:solidFill>
          <a:ln>
            <a:noFill/>
          </a:ln>
          <a:effectLst/>
        </p:spPr>
        <p:txBody>
          <a:bodyPr rtlCol="0" anchor="ctr" lIns="0" rIns="0" tIns="0" bIns="0"/>
          <a:lstStyle/>
          <a:p>
            <a:pPr algn="ctr"/>
            <a:r>
              <a:rPr sz="600" b="1">
                <a:solidFill>
                  <a:srgbClr val="FFFFFF"/>
                </a:solidFill>
                <a:latin typeface="Calibri"/>
              </a:rPr>
              <a:t>✓</a:t>
            </a:r>
          </a:p>
        </p:txBody>
      </p:sp>
      <p:sp>
        <p:nvSpPr>
          <p:cNvPr id="43" name="TextBox 42"/>
          <p:cNvSpPr txBox="1"/>
          <p:nvPr/>
        </p:nvSpPr>
        <p:spPr>
          <a:xfrm>
            <a:off x="7662672" y="5285232"/>
            <a:ext cx="822960" cy="182880"/>
          </a:xfrm>
          <a:prstGeom prst="rect">
            <a:avLst/>
          </a:prstGeom>
          <a:noFill/>
        </p:spPr>
        <p:txBody>
          <a:bodyPr wrap="square" anchor="t" lIns="0" rIns="0" tIns="0" bIns="0">
            <a:noAutofit/>
          </a:bodyPr>
          <a:lstStyle/>
          <a:p>
            <a:pPr algn="ctr">
              <a:lnSpc>
                <a:spcPct val="112000"/>
              </a:lnSpc>
              <a:spcAft>
                <a:spcPts val="0"/>
              </a:spcAft>
            </a:pPr>
            <a:r>
              <a:rPr sz="660" b="0" i="0">
                <a:solidFill>
                  <a:srgbClr val="3D4A5C"/>
                </a:solidFill>
                <a:latin typeface="Calibri"/>
              </a:rPr>
              <a:t>Install</a:t>
            </a:r>
          </a:p>
        </p:txBody>
      </p:sp>
      <p:sp>
        <p:nvSpPr>
          <p:cNvPr id="44" name="Oval 43"/>
          <p:cNvSpPr/>
          <p:nvPr/>
        </p:nvSpPr>
        <p:spPr>
          <a:xfrm>
            <a:off x="8705088" y="5056632"/>
            <a:ext cx="201168" cy="201168"/>
          </a:xfrm>
          <a:prstGeom prst="ellipse">
            <a:avLst/>
          </a:prstGeom>
          <a:solidFill>
            <a:srgbClr val="0F7A82"/>
          </a:solidFill>
          <a:ln>
            <a:noFill/>
          </a:ln>
          <a:effectLst/>
        </p:spPr>
        <p:txBody>
          <a:bodyPr rtlCol="0" anchor="ctr" lIns="0" rIns="0" tIns="0" bIns="0"/>
          <a:lstStyle/>
          <a:p>
            <a:pPr algn="ctr"/>
            <a:r>
              <a:rPr sz="600" b="1">
                <a:solidFill>
                  <a:srgbClr val="FFFFFF"/>
                </a:solidFill>
                <a:latin typeface="Calibri"/>
              </a:rPr>
              <a:t>✓</a:t>
            </a:r>
          </a:p>
        </p:txBody>
      </p:sp>
      <p:sp>
        <p:nvSpPr>
          <p:cNvPr id="45" name="TextBox 44"/>
          <p:cNvSpPr txBox="1"/>
          <p:nvPr/>
        </p:nvSpPr>
        <p:spPr>
          <a:xfrm>
            <a:off x="8595360" y="5285232"/>
            <a:ext cx="822960" cy="182880"/>
          </a:xfrm>
          <a:prstGeom prst="rect">
            <a:avLst/>
          </a:prstGeom>
          <a:noFill/>
        </p:spPr>
        <p:txBody>
          <a:bodyPr wrap="square" anchor="t" lIns="0" rIns="0" tIns="0" bIns="0">
            <a:noAutofit/>
          </a:bodyPr>
          <a:lstStyle/>
          <a:p>
            <a:pPr algn="ctr">
              <a:lnSpc>
                <a:spcPct val="112000"/>
              </a:lnSpc>
              <a:spcAft>
                <a:spcPts val="0"/>
              </a:spcAft>
            </a:pPr>
            <a:r>
              <a:rPr sz="660" b="0" i="0">
                <a:solidFill>
                  <a:srgbClr val="3D4A5C"/>
                </a:solidFill>
                <a:latin typeface="Calibri"/>
              </a:rPr>
              <a:t>Test</a:t>
            </a:r>
          </a:p>
        </p:txBody>
      </p:sp>
      <p:sp>
        <p:nvSpPr>
          <p:cNvPr id="46" name="Oval 45"/>
          <p:cNvSpPr/>
          <p:nvPr/>
        </p:nvSpPr>
        <p:spPr>
          <a:xfrm>
            <a:off x="9637776" y="5056632"/>
            <a:ext cx="201168" cy="201168"/>
          </a:xfrm>
          <a:prstGeom prst="ellipse">
            <a:avLst/>
          </a:prstGeom>
          <a:solidFill>
            <a:srgbClr val="0F7A82"/>
          </a:solidFill>
          <a:ln>
            <a:noFill/>
          </a:ln>
          <a:effectLst/>
        </p:spPr>
        <p:txBody>
          <a:bodyPr rtlCol="0" anchor="ctr" lIns="0" rIns="0" tIns="0" bIns="0"/>
          <a:lstStyle/>
          <a:p>
            <a:pPr algn="ctr"/>
            <a:r>
              <a:rPr sz="600" b="1">
                <a:solidFill>
                  <a:srgbClr val="FFFFFF"/>
                </a:solidFill>
                <a:latin typeface="Calibri"/>
              </a:rPr>
              <a:t>✓</a:t>
            </a:r>
          </a:p>
        </p:txBody>
      </p:sp>
      <p:sp>
        <p:nvSpPr>
          <p:cNvPr id="47" name="TextBox 46"/>
          <p:cNvSpPr txBox="1"/>
          <p:nvPr/>
        </p:nvSpPr>
        <p:spPr>
          <a:xfrm>
            <a:off x="9528048" y="5285232"/>
            <a:ext cx="822960" cy="182880"/>
          </a:xfrm>
          <a:prstGeom prst="rect">
            <a:avLst/>
          </a:prstGeom>
          <a:noFill/>
        </p:spPr>
        <p:txBody>
          <a:bodyPr wrap="square" anchor="t" lIns="0" rIns="0" tIns="0" bIns="0">
            <a:noAutofit/>
          </a:bodyPr>
          <a:lstStyle/>
          <a:p>
            <a:pPr algn="ctr">
              <a:lnSpc>
                <a:spcPct val="112000"/>
              </a:lnSpc>
              <a:spcAft>
                <a:spcPts val="0"/>
              </a:spcAft>
            </a:pPr>
            <a:r>
              <a:rPr sz="660" b="0" i="0">
                <a:solidFill>
                  <a:srgbClr val="3D4A5C"/>
                </a:solidFill>
                <a:latin typeface="Calibri"/>
              </a:rPr>
              <a:t>Build</a:t>
            </a:r>
          </a:p>
        </p:txBody>
      </p:sp>
      <p:sp>
        <p:nvSpPr>
          <p:cNvPr id="48" name="Oval 47"/>
          <p:cNvSpPr/>
          <p:nvPr/>
        </p:nvSpPr>
        <p:spPr>
          <a:xfrm>
            <a:off x="10570464" y="5056632"/>
            <a:ext cx="201168" cy="201168"/>
          </a:xfrm>
          <a:prstGeom prst="ellipse">
            <a:avLst/>
          </a:prstGeom>
          <a:solidFill>
            <a:srgbClr val="0F7A82"/>
          </a:solidFill>
          <a:ln>
            <a:noFill/>
          </a:ln>
          <a:effectLst/>
        </p:spPr>
        <p:txBody>
          <a:bodyPr rtlCol="0" anchor="ctr" lIns="0" rIns="0" tIns="0" bIns="0"/>
          <a:lstStyle/>
          <a:p>
            <a:pPr algn="ctr"/>
            <a:r>
              <a:rPr sz="600" b="1">
                <a:solidFill>
                  <a:srgbClr val="FFFFFF"/>
                </a:solidFill>
                <a:latin typeface="Calibri"/>
              </a:rPr>
              <a:t>✓</a:t>
            </a:r>
          </a:p>
        </p:txBody>
      </p:sp>
      <p:sp>
        <p:nvSpPr>
          <p:cNvPr id="49" name="TextBox 48"/>
          <p:cNvSpPr txBox="1"/>
          <p:nvPr/>
        </p:nvSpPr>
        <p:spPr>
          <a:xfrm>
            <a:off x="10460736" y="5285232"/>
            <a:ext cx="822960" cy="182880"/>
          </a:xfrm>
          <a:prstGeom prst="rect">
            <a:avLst/>
          </a:prstGeom>
          <a:noFill/>
        </p:spPr>
        <p:txBody>
          <a:bodyPr wrap="square" anchor="t" lIns="0" rIns="0" tIns="0" bIns="0">
            <a:noAutofit/>
          </a:bodyPr>
          <a:lstStyle/>
          <a:p>
            <a:pPr algn="ctr">
              <a:lnSpc>
                <a:spcPct val="112000"/>
              </a:lnSpc>
              <a:spcAft>
                <a:spcPts val="0"/>
              </a:spcAft>
            </a:pPr>
            <a:r>
              <a:rPr sz="660" b="0" i="0">
                <a:solidFill>
                  <a:srgbClr val="3D4A5C"/>
                </a:solidFill>
                <a:latin typeface="Calibri"/>
              </a:rPr>
              <a:t>Preview</a:t>
            </a:r>
          </a:p>
        </p:txBody>
      </p:sp>
      <p:sp>
        <p:nvSpPr>
          <p:cNvPr id="50" name="Rounded Rectangle 49"/>
          <p:cNvSpPr/>
          <p:nvPr/>
        </p:nvSpPr>
        <p:spPr>
          <a:xfrm>
            <a:off x="566928" y="5705856"/>
            <a:ext cx="11064240" cy="530352"/>
          </a:xfrm>
          <a:prstGeom prst="roundRect">
            <a:avLst>
              <a:gd name="adj" fmla="val 8000"/>
            </a:avLst>
          </a:prstGeom>
          <a:solidFill>
            <a:srgbClr val="FBF3E2"/>
          </a:solidFill>
          <a:ln>
            <a:noFill/>
          </a:ln>
          <a:effectLst/>
        </p:spPr>
        <p:txBody>
          <a:bodyPr rtlCol="0" anchor="ctr" wrap="square"/>
          <a:lstStyle/>
          <a:p>
            <a:pPr algn="ctr"/>
          </a:p>
        </p:txBody>
      </p:sp>
      <p:sp>
        <p:nvSpPr>
          <p:cNvPr id="51" name="TextBox 50"/>
          <p:cNvSpPr txBox="1"/>
          <p:nvPr/>
        </p:nvSpPr>
        <p:spPr>
          <a:xfrm>
            <a:off x="749808" y="5788152"/>
            <a:ext cx="1280160" cy="182880"/>
          </a:xfrm>
          <a:prstGeom prst="rect">
            <a:avLst/>
          </a:prstGeom>
          <a:noFill/>
        </p:spPr>
        <p:txBody>
          <a:bodyPr wrap="square" anchor="t" lIns="0" rIns="0" tIns="0" bIns="0">
            <a:noAutofit/>
          </a:bodyPr>
          <a:lstStyle/>
          <a:p>
            <a:pPr algn="l">
              <a:lnSpc>
                <a:spcPct val="112000"/>
              </a:lnSpc>
              <a:spcAft>
                <a:spcPts val="0"/>
              </a:spcAft>
            </a:pPr>
            <a:r>
              <a:rPr sz="680" b="1" i="0">
                <a:solidFill>
                  <a:srgbClr val="B0781C"/>
                </a:solidFill>
                <a:latin typeface="Calibri"/>
              </a:rPr>
              <a:t>INTERPRETATION</a:t>
            </a:r>
          </a:p>
        </p:txBody>
      </p:sp>
      <p:sp>
        <p:nvSpPr>
          <p:cNvPr id="52" name="TextBox 51"/>
          <p:cNvSpPr txBox="1"/>
          <p:nvPr/>
        </p:nvSpPr>
        <p:spPr>
          <a:xfrm>
            <a:off x="749808" y="5925312"/>
            <a:ext cx="10607040" cy="274320"/>
          </a:xfrm>
          <a:prstGeom prst="rect">
            <a:avLst/>
          </a:prstGeom>
          <a:noFill/>
        </p:spPr>
        <p:txBody>
          <a:bodyPr wrap="square" anchor="t" lIns="0" rIns="0" tIns="0" bIns="0">
            <a:noAutofit/>
          </a:bodyPr>
          <a:lstStyle/>
          <a:p>
            <a:pPr algn="l">
              <a:lnSpc>
                <a:spcPct val="112000"/>
              </a:lnSpc>
              <a:spcAft>
                <a:spcPts val="0"/>
              </a:spcAft>
            </a:pPr>
            <a:r>
              <a:rPr sz="860" b="0" i="0">
                <a:solidFill>
                  <a:srgbClr val="3D4A5C"/>
                </a:solidFill>
                <a:latin typeface="Calibri"/>
              </a:rPr>
              <a:t>This evidences functional completeness and build health. It does not yet evidence learning gains — a classroom study is future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12 · DISCUSSION</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What it contributes — and what it does not claim</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A credible project states its boundaries as clearly as its features.</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EVIDENCE</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14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TextBox 10"/>
          <p:cNvSpPr txBox="1"/>
          <p:nvPr/>
        </p:nvSpPr>
        <p:spPr>
          <a:xfrm>
            <a:off x="566928" y="1773936"/>
            <a:ext cx="548640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WHAT IT CONTRIBUTES</a:t>
            </a:r>
          </a:p>
        </p:txBody>
      </p:sp>
      <p:sp>
        <p:nvSpPr>
          <p:cNvPr id="12" name="Rectangle 11"/>
          <p:cNvSpPr/>
          <p:nvPr/>
        </p:nvSpPr>
        <p:spPr>
          <a:xfrm>
            <a:off x="566928" y="2057400"/>
            <a:ext cx="45720" cy="475488"/>
          </a:xfrm>
          <a:prstGeom prst="rect">
            <a:avLst/>
          </a:prstGeom>
          <a:solidFill>
            <a:srgbClr val="0F7A82"/>
          </a:solidFill>
          <a:ln>
            <a:noFill/>
          </a:ln>
          <a:effectLst/>
        </p:spPr>
        <p:txBody>
          <a:bodyPr rtlCol="0" anchor="ctr" wrap="square"/>
          <a:lstStyle/>
          <a:p>
            <a:pPr algn="ctr"/>
          </a:p>
        </p:txBody>
      </p:sp>
      <p:sp>
        <p:nvSpPr>
          <p:cNvPr id="13" name="TextBox 12"/>
          <p:cNvSpPr txBox="1"/>
          <p:nvPr/>
        </p:nvSpPr>
        <p:spPr>
          <a:xfrm>
            <a:off x="749808" y="2029968"/>
            <a:ext cx="5394960" cy="201168"/>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A closed loop, not a bundle</a:t>
            </a:r>
          </a:p>
        </p:txBody>
      </p:sp>
      <p:sp>
        <p:nvSpPr>
          <p:cNvPr id="14" name="TextBox 13"/>
          <p:cNvSpPr txBox="1"/>
          <p:nvPr/>
        </p:nvSpPr>
        <p:spPr>
          <a:xfrm>
            <a:off x="749808" y="2249424"/>
            <a:ext cx="5440680" cy="420624"/>
          </a:xfrm>
          <a:prstGeom prst="rect">
            <a:avLst/>
          </a:prstGeom>
          <a:noFill/>
        </p:spPr>
        <p:txBody>
          <a:bodyPr wrap="square" anchor="t" lIns="0" rIns="0" tIns="0" bIns="0">
            <a:noAutofit/>
          </a:bodyPr>
          <a:lstStyle/>
          <a:p>
            <a:pPr algn="l">
              <a:lnSpc>
                <a:spcPct val="118000"/>
              </a:lnSpc>
              <a:spcAft>
                <a:spcPts val="0"/>
              </a:spcAft>
            </a:pPr>
            <a:r>
              <a:rPr sz="880" b="0" i="0">
                <a:solidFill>
                  <a:srgbClr val="77859A"/>
                </a:solidFill>
                <a:latin typeface="Calibri"/>
              </a:rPr>
              <a:t>Planning, content, practice and measurement share one data model, so evidence actually changes the plan.</a:t>
            </a:r>
          </a:p>
        </p:txBody>
      </p:sp>
      <p:sp>
        <p:nvSpPr>
          <p:cNvPr id="15" name="Rectangle 14"/>
          <p:cNvSpPr/>
          <p:nvPr/>
        </p:nvSpPr>
        <p:spPr>
          <a:xfrm>
            <a:off x="566928" y="2788920"/>
            <a:ext cx="45720" cy="475488"/>
          </a:xfrm>
          <a:prstGeom prst="rect">
            <a:avLst/>
          </a:prstGeom>
          <a:solidFill>
            <a:srgbClr val="0F7A82"/>
          </a:solidFill>
          <a:ln>
            <a:noFill/>
          </a:ln>
          <a:effectLst/>
        </p:spPr>
        <p:txBody>
          <a:bodyPr rtlCol="0" anchor="ctr" wrap="square"/>
          <a:lstStyle/>
          <a:p>
            <a:pPr algn="ctr"/>
          </a:p>
        </p:txBody>
      </p:sp>
      <p:sp>
        <p:nvSpPr>
          <p:cNvPr id="16" name="TextBox 15"/>
          <p:cNvSpPr txBox="1"/>
          <p:nvPr/>
        </p:nvSpPr>
        <p:spPr>
          <a:xfrm>
            <a:off x="749808" y="2761488"/>
            <a:ext cx="5394960" cy="201168"/>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AI with a safety net</a:t>
            </a:r>
          </a:p>
        </p:txBody>
      </p:sp>
      <p:sp>
        <p:nvSpPr>
          <p:cNvPr id="17" name="TextBox 16"/>
          <p:cNvSpPr txBox="1"/>
          <p:nvPr/>
        </p:nvSpPr>
        <p:spPr>
          <a:xfrm>
            <a:off x="749808" y="2980944"/>
            <a:ext cx="5440680" cy="420624"/>
          </a:xfrm>
          <a:prstGeom prst="rect">
            <a:avLst/>
          </a:prstGeom>
          <a:noFill/>
        </p:spPr>
        <p:txBody>
          <a:bodyPr wrap="square" anchor="t" lIns="0" rIns="0" tIns="0" bIns="0">
            <a:noAutofit/>
          </a:bodyPr>
          <a:lstStyle/>
          <a:p>
            <a:pPr algn="l">
              <a:lnSpc>
                <a:spcPct val="118000"/>
              </a:lnSpc>
              <a:spcAft>
                <a:spcPts val="0"/>
              </a:spcAft>
            </a:pPr>
            <a:r>
              <a:rPr sz="880" b="0" i="0">
                <a:solidFill>
                  <a:srgbClr val="77859A"/>
                </a:solidFill>
                <a:latin typeface="Calibri"/>
              </a:rPr>
              <a:t>Six-model fallback, streaming and JSON repair; generated material stays editable, never opaque.</a:t>
            </a:r>
          </a:p>
        </p:txBody>
      </p:sp>
      <p:sp>
        <p:nvSpPr>
          <p:cNvPr id="18" name="Rectangle 17"/>
          <p:cNvSpPr/>
          <p:nvPr/>
        </p:nvSpPr>
        <p:spPr>
          <a:xfrm>
            <a:off x="566928" y="3520440"/>
            <a:ext cx="45720" cy="475488"/>
          </a:xfrm>
          <a:prstGeom prst="rect">
            <a:avLst/>
          </a:prstGeom>
          <a:solidFill>
            <a:srgbClr val="0F7A82"/>
          </a:solidFill>
          <a:ln>
            <a:noFill/>
          </a:ln>
          <a:effectLst/>
        </p:spPr>
        <p:txBody>
          <a:bodyPr rtlCol="0" anchor="ctr" wrap="square"/>
          <a:lstStyle/>
          <a:p>
            <a:pPr algn="ctr"/>
          </a:p>
        </p:txBody>
      </p:sp>
      <p:sp>
        <p:nvSpPr>
          <p:cNvPr id="19" name="TextBox 18"/>
          <p:cNvSpPr txBox="1"/>
          <p:nvPr/>
        </p:nvSpPr>
        <p:spPr>
          <a:xfrm>
            <a:off x="749808" y="3493008"/>
            <a:ext cx="5394960" cy="201168"/>
          </a:xfrm>
          <a:prstGeom prst="rect">
            <a:avLst/>
          </a:prstGeom>
          <a:noFill/>
        </p:spPr>
        <p:txBody>
          <a:bodyPr wrap="square" anchor="t" lIns="0" rIns="0" tIns="0" bIns="0">
            <a:noAutofit/>
          </a:bodyPr>
          <a:lstStyle/>
          <a:p>
            <a:pPr algn="l">
              <a:lnSpc>
                <a:spcPct val="112000"/>
              </a:lnSpc>
              <a:spcAft>
                <a:spcPts val="0"/>
              </a:spcAft>
            </a:pPr>
            <a:r>
              <a:rPr sz="1060" b="1" i="0">
                <a:solidFill>
                  <a:srgbClr val="152238"/>
                </a:solidFill>
                <a:latin typeface="Calibri"/>
              </a:rPr>
              <a:t>Local-first by design</a:t>
            </a:r>
          </a:p>
        </p:txBody>
      </p:sp>
      <p:sp>
        <p:nvSpPr>
          <p:cNvPr id="20" name="TextBox 19"/>
          <p:cNvSpPr txBox="1"/>
          <p:nvPr/>
        </p:nvSpPr>
        <p:spPr>
          <a:xfrm>
            <a:off x="749808" y="3712464"/>
            <a:ext cx="5440680" cy="420624"/>
          </a:xfrm>
          <a:prstGeom prst="rect">
            <a:avLst/>
          </a:prstGeom>
          <a:noFill/>
        </p:spPr>
        <p:txBody>
          <a:bodyPr wrap="square" anchor="t" lIns="0" rIns="0" tIns="0" bIns="0">
            <a:noAutofit/>
          </a:bodyPr>
          <a:lstStyle/>
          <a:p>
            <a:pPr algn="l">
              <a:lnSpc>
                <a:spcPct val="118000"/>
              </a:lnSpc>
              <a:spcAft>
                <a:spcPts val="0"/>
              </a:spcAft>
            </a:pPr>
            <a:r>
              <a:rPr sz="880" b="0" i="0">
                <a:solidFill>
                  <a:srgbClr val="77859A"/>
                </a:solidFill>
                <a:latin typeface="Calibri"/>
              </a:rPr>
              <a:t>The core loop runs offline; identity is optional and never required for study.</a:t>
            </a:r>
          </a:p>
        </p:txBody>
      </p:sp>
      <p:sp>
        <p:nvSpPr>
          <p:cNvPr id="21" name="Rounded Rectangle 20"/>
          <p:cNvSpPr/>
          <p:nvPr/>
        </p:nvSpPr>
        <p:spPr>
          <a:xfrm>
            <a:off x="7571231" y="1773936"/>
            <a:ext cx="4059936" cy="1810512"/>
          </a:xfrm>
          <a:prstGeom prst="roundRect">
            <a:avLst>
              <a:gd name="adj" fmla="val 5000"/>
            </a:avLst>
          </a:prstGeom>
          <a:solidFill>
            <a:srgbClr val="FBEDE9"/>
          </a:solidFill>
          <a:ln>
            <a:noFill/>
          </a:ln>
          <a:effectLst/>
        </p:spPr>
        <p:txBody>
          <a:bodyPr rtlCol="0" anchor="ctr" wrap="square"/>
          <a:lstStyle/>
          <a:p>
            <a:pPr algn="ctr"/>
          </a:p>
        </p:txBody>
      </p:sp>
      <p:sp>
        <p:nvSpPr>
          <p:cNvPr id="22" name="TextBox 21"/>
          <p:cNvSpPr txBox="1"/>
          <p:nvPr/>
        </p:nvSpPr>
        <p:spPr>
          <a:xfrm>
            <a:off x="7790688" y="1883664"/>
            <a:ext cx="3566160" cy="182880"/>
          </a:xfrm>
          <a:prstGeom prst="rect">
            <a:avLst/>
          </a:prstGeom>
          <a:noFill/>
        </p:spPr>
        <p:txBody>
          <a:bodyPr wrap="square" anchor="t" lIns="0" rIns="0" tIns="0" bIns="0">
            <a:noAutofit/>
          </a:bodyPr>
          <a:lstStyle/>
          <a:p>
            <a:pPr algn="l">
              <a:lnSpc>
                <a:spcPct val="112000"/>
              </a:lnSpc>
              <a:spcAft>
                <a:spcPts val="0"/>
              </a:spcAft>
            </a:pPr>
            <a:r>
              <a:rPr sz="780" b="1" i="0">
                <a:solidFill>
                  <a:srgbClr val="A64B39"/>
                </a:solidFill>
                <a:latin typeface="Calibri"/>
              </a:rPr>
              <a:t>WHAT IT DOES NOT CLAIM</a:t>
            </a:r>
          </a:p>
        </p:txBody>
      </p:sp>
      <p:sp>
        <p:nvSpPr>
          <p:cNvPr id="23" name="TextBox 22"/>
          <p:cNvSpPr txBox="1"/>
          <p:nvPr/>
        </p:nvSpPr>
        <p:spPr>
          <a:xfrm>
            <a:off x="7790688" y="2103120"/>
            <a:ext cx="3639312" cy="1024128"/>
          </a:xfrm>
          <a:prstGeom prst="rect">
            <a:avLst/>
          </a:prstGeom>
          <a:noFill/>
        </p:spPr>
        <p:txBody>
          <a:bodyPr wrap="square" anchor="t" lIns="0" rIns="0" tIns="0" bIns="0">
            <a:noAutofit/>
          </a:bodyPr>
          <a:lstStyle/>
          <a:p>
            <a:pPr algn="l">
              <a:lnSpc>
                <a:spcPct val="130000"/>
              </a:lnSpc>
              <a:spcAft>
                <a:spcPts val="0"/>
              </a:spcAft>
            </a:pPr>
            <a:r>
              <a:rPr sz="860" b="0" i="0">
                <a:solidFill>
                  <a:srgbClr val="3D4A5C"/>
                </a:solidFill>
                <a:latin typeface="Calibri"/>
              </a:rPr>
              <a:t>·  no measured learning-outcome study</a:t>
            </a:r>
          </a:p>
          <a:p>
            <a:pPr algn="l">
              <a:lnSpc>
                <a:spcPct val="130000"/>
              </a:lnSpc>
              <a:spcAft>
                <a:spcPts val="0"/>
              </a:spcAft>
            </a:pPr>
            <a:r>
              <a:rPr sz="860" b="0" i="0">
                <a:solidFill>
                  <a:srgbClr val="3D4A5C"/>
                </a:solidFill>
                <a:latin typeface="Calibri"/>
              </a:rPr>
              <a:t>·  no multi-institution deployment</a:t>
            </a:r>
          </a:p>
          <a:p>
            <a:pPr algn="l">
              <a:lnSpc>
                <a:spcPct val="130000"/>
              </a:lnSpc>
              <a:spcAft>
                <a:spcPts val="0"/>
              </a:spcAft>
            </a:pPr>
            <a:r>
              <a:rPr sz="860" b="0" i="0">
                <a:solidFill>
                  <a:srgbClr val="3D4A5C"/>
                </a:solidFill>
                <a:latin typeface="Calibri"/>
              </a:rPr>
              <a:t>·  no teacher or cohort dashboard</a:t>
            </a:r>
          </a:p>
          <a:p>
            <a:pPr algn="l">
              <a:lnSpc>
                <a:spcPct val="130000"/>
              </a:lnSpc>
              <a:spcAft>
                <a:spcPts val="0"/>
              </a:spcAft>
            </a:pPr>
            <a:r>
              <a:rPr sz="860" b="0" i="0">
                <a:solidFill>
                  <a:srgbClr val="3D4A5C"/>
                </a:solidFill>
                <a:latin typeface="Calibri"/>
              </a:rPr>
              <a:t>·  no native mobile application</a:t>
            </a:r>
          </a:p>
        </p:txBody>
      </p:sp>
      <p:sp>
        <p:nvSpPr>
          <p:cNvPr id="24" name="TextBox 23"/>
          <p:cNvSpPr txBox="1"/>
          <p:nvPr/>
        </p:nvSpPr>
        <p:spPr>
          <a:xfrm>
            <a:off x="7790688" y="3182112"/>
            <a:ext cx="3611880" cy="201168"/>
          </a:xfrm>
          <a:prstGeom prst="rect">
            <a:avLst/>
          </a:prstGeom>
          <a:noFill/>
        </p:spPr>
        <p:txBody>
          <a:bodyPr wrap="square" anchor="t" lIns="0" rIns="0" tIns="0" bIns="0">
            <a:noAutofit/>
          </a:bodyPr>
          <a:lstStyle/>
          <a:p>
            <a:pPr algn="l">
              <a:lnSpc>
                <a:spcPct val="112000"/>
              </a:lnSpc>
              <a:spcAft>
                <a:spcPts val="0"/>
              </a:spcAft>
            </a:pPr>
            <a:r>
              <a:rPr sz="740" b="0" i="1">
                <a:solidFill>
                  <a:srgbClr val="A64B39"/>
                </a:solidFill>
                <a:latin typeface="Calibri"/>
              </a:rPr>
              <a:t>These are scope decisions, not missing pieces.</a:t>
            </a:r>
          </a:p>
        </p:txBody>
      </p:sp>
      <p:sp>
        <p:nvSpPr>
          <p:cNvPr id="25" name="TextBox 24"/>
          <p:cNvSpPr txBox="1"/>
          <p:nvPr/>
        </p:nvSpPr>
        <p:spPr>
          <a:xfrm>
            <a:off x="566928" y="4224528"/>
            <a:ext cx="548640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DELIBERATE TRADE-OFFS</a:t>
            </a:r>
          </a:p>
        </p:txBody>
      </p:sp>
      <p:graphicFrame>
        <p:nvGraphicFramePr>
          <p:cNvPr id="26" name="Table 25"/>
          <p:cNvGraphicFramePr>
            <a:graphicFrameLocks noGrp="1"/>
          </p:cNvGraphicFramePr>
          <p:nvPr/>
        </p:nvGraphicFramePr>
        <p:xfrm>
          <a:off x="566928" y="4425696"/>
          <a:ext cx="11064240" cy="1517904"/>
        </p:xfrm>
        <a:graphic>
          <a:graphicData uri="http://schemas.openxmlformats.org/drawingml/2006/table">
            <a:tbl>
              <a:tblPr firstRow="1">
                <a:tableStyleId>{2D5ABB26-0587-4C30-8999-92F81FD0307C}</a:tableStyleId>
              </a:tblPr>
              <a:tblGrid>
                <a:gridCol w="2240280"/>
                <a:gridCol w="4434840"/>
                <a:gridCol w="4389120"/>
              </a:tblGrid>
              <a:tr h="310896">
                <a:tc>
                  <a:txBody>
                    <a:bodyPr wrap="square"/>
                    <a:lstStyle/>
                    <a:p>
                      <a:pPr>
                        <a:lnSpc>
                          <a:spcPct val="105000"/>
                        </a:lnSpc>
                      </a:pPr>
                      <a:r>
                        <a:rPr sz="950" b="1" i="0">
                          <a:solidFill>
                            <a:srgbClr val="FFFFFF"/>
                          </a:solidFill>
                          <a:latin typeface="Calibri"/>
                        </a:rPr>
                        <a:t>Decision</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c>
                  <a:txBody>
                    <a:bodyPr wrap="square"/>
                    <a:lstStyle/>
                    <a:p>
                      <a:pPr>
                        <a:lnSpc>
                          <a:spcPct val="105000"/>
                        </a:lnSpc>
                      </a:pPr>
                      <a:r>
                        <a:rPr sz="950" b="1" i="0">
                          <a:solidFill>
                            <a:srgbClr val="FFFFFF"/>
                          </a:solidFill>
                          <a:latin typeface="Calibri"/>
                        </a:rPr>
                        <a:t>Why it was taken</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c>
                  <a:txBody>
                    <a:bodyPr wrap="square"/>
                    <a:lstStyle/>
                    <a:p>
                      <a:pPr>
                        <a:lnSpc>
                          <a:spcPct val="105000"/>
                        </a:lnSpc>
                      </a:pPr>
                      <a:r>
                        <a:rPr sz="950" b="1" i="0">
                          <a:solidFill>
                            <a:srgbClr val="FFFFFF"/>
                          </a:solidFill>
                          <a:latin typeface="Calibri"/>
                        </a:rPr>
                        <a:t>What it costs</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0F7A82"/>
                    </a:solidFill>
                  </a:tcPr>
                </a:tc>
              </a:tr>
              <a:tr h="402336">
                <a:tc>
                  <a:txBody>
                    <a:bodyPr wrap="square"/>
                    <a:lstStyle/>
                    <a:p>
                      <a:pPr>
                        <a:lnSpc>
                          <a:spcPct val="105000"/>
                        </a:lnSpc>
                      </a:pPr>
                      <a:r>
                        <a:rPr sz="900" b="1" i="0">
                          <a:solidFill>
                            <a:srgbClr val="3D4A5C"/>
                          </a:solidFill>
                          <a:latin typeface="Calibri"/>
                        </a:rPr>
                        <a:t>Local-first storage</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00" b="0" i="0">
                          <a:solidFill>
                            <a:srgbClr val="3D4A5C"/>
                          </a:solidFill>
                          <a:latin typeface="Calibri"/>
                        </a:rPr>
                        <a:t>Privacy, instant reads and offline study</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00" b="0" i="0">
                          <a:solidFill>
                            <a:srgbClr val="3D4A5C"/>
                          </a:solidFill>
                          <a:latin typeface="Calibri"/>
                        </a:rPr>
                        <a:t>No cross-device sync yet</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r h="402336">
                <a:tc>
                  <a:txBody>
                    <a:bodyPr wrap="square"/>
                    <a:lstStyle/>
                    <a:p>
                      <a:pPr>
                        <a:lnSpc>
                          <a:spcPct val="105000"/>
                        </a:lnSpc>
                      </a:pPr>
                      <a:r>
                        <a:rPr sz="900" b="1" i="0">
                          <a:solidFill>
                            <a:srgbClr val="3D4A5C"/>
                          </a:solidFill>
                          <a:latin typeface="Calibri"/>
                        </a:rPr>
                        <a:t>AI-assisted authoring</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00" b="0" i="0">
                          <a:solidFill>
                            <a:srgbClr val="3D4A5C"/>
                          </a:solidFill>
                          <a:latin typeface="Calibri"/>
                        </a:rPr>
                        <a:t>Cuts content preparation time</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c>
                  <a:txBody>
                    <a:bodyPr wrap="square"/>
                    <a:lstStyle/>
                    <a:p>
                      <a:pPr>
                        <a:lnSpc>
                          <a:spcPct val="105000"/>
                        </a:lnSpc>
                      </a:pPr>
                      <a:r>
                        <a:rPr sz="900" b="0" i="0">
                          <a:solidFill>
                            <a:srgbClr val="3D4A5C"/>
                          </a:solidFill>
                          <a:latin typeface="Calibri"/>
                        </a:rPr>
                        <a:t>Output needs review; free models vary</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5F8FA"/>
                    </a:solidFill>
                  </a:tcPr>
                </a:tc>
              </a:tr>
              <a:tr h="402336">
                <a:tc>
                  <a:txBody>
                    <a:bodyPr wrap="square"/>
                    <a:lstStyle/>
                    <a:p>
                      <a:pPr>
                        <a:lnSpc>
                          <a:spcPct val="105000"/>
                        </a:lnSpc>
                      </a:pPr>
                      <a:r>
                        <a:rPr sz="900" b="1" i="0">
                          <a:solidFill>
                            <a:srgbClr val="3D4A5C"/>
                          </a:solidFill>
                          <a:latin typeface="Calibri"/>
                        </a:rPr>
                        <a:t>Breadth over depth</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00" b="0" i="0">
                          <a:solidFill>
                            <a:srgbClr val="3D4A5C"/>
                          </a:solidFill>
                          <a:latin typeface="Calibri"/>
                        </a:rPr>
                        <a:t>Covers the whole study loop</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c>
                  <a:txBody>
                    <a:bodyPr wrap="square"/>
                    <a:lstStyle/>
                    <a:p>
                      <a:pPr>
                        <a:lnSpc>
                          <a:spcPct val="105000"/>
                        </a:lnSpc>
                      </a:pPr>
                      <a:r>
                        <a:rPr sz="900" b="0" i="0">
                          <a:solidFill>
                            <a:srgbClr val="3D4A5C"/>
                          </a:solidFill>
                          <a:latin typeface="Calibri"/>
                        </a:rPr>
                        <a:t>Each module is intentionally shallow</a:t>
                      </a:r>
                    </a:p>
                  </a:txBody>
                  <a:tcPr marL="82296" marR="82296" marT="36576" marB="27432" anchor="ctr">
                    <a:lnL w="7620" cap="flat" cmpd="sng" algn="ctr">
                      <a:solidFill>
                        <a:srgbClr val="DCE4EA"/>
                      </a:solidFill>
                      <a:prstDash val="solid"/>
                    </a:lnL>
                    <a:lnR w="7620" cap="flat" cmpd="sng" algn="ctr">
                      <a:solidFill>
                        <a:srgbClr val="DCE4EA"/>
                      </a:solidFill>
                      <a:prstDash val="solid"/>
                    </a:lnR>
                    <a:lnT w="7620" cap="flat" cmpd="sng" algn="ctr">
                      <a:solidFill>
                        <a:srgbClr val="DCE4EA"/>
                      </a:solidFill>
                      <a:prstDash val="solid"/>
                    </a:lnT>
                    <a:lnB w="7620" cap="flat" cmpd="sng" algn="ctr">
                      <a:solidFill>
                        <a:srgbClr val="DCE4EA"/>
                      </a:solidFill>
                      <a:prstDash val="solid"/>
                    </a:lnB>
                    <a:solidFill>
                      <a:srgbClr val="FFFFFF"/>
                    </a:solidFill>
                  </a:tcPr>
                </a:tc>
              </a:tr>
            </a:tbl>
          </a:graphicData>
        </a:graphic>
      </p:graphicFrame>
      <p:sp>
        <p:nvSpPr>
          <p:cNvPr id="27" name="TextBox 26"/>
          <p:cNvSpPr txBox="1"/>
          <p:nvPr/>
        </p:nvSpPr>
        <p:spPr>
          <a:xfrm>
            <a:off x="566928" y="5998464"/>
            <a:ext cx="11064240" cy="219456"/>
          </a:xfrm>
          <a:prstGeom prst="rect">
            <a:avLst/>
          </a:prstGeom>
          <a:noFill/>
        </p:spPr>
        <p:txBody>
          <a:bodyPr wrap="square" anchor="t" lIns="0" rIns="0" tIns="0" bIns="0">
            <a:noAutofit/>
          </a:bodyPr>
          <a:lstStyle/>
          <a:p>
            <a:pPr algn="l">
              <a:lnSpc>
                <a:spcPct val="112000"/>
              </a:lnSpc>
              <a:spcAft>
                <a:spcPts val="0"/>
              </a:spcAft>
            </a:pPr>
            <a:r>
              <a:rPr sz="860" b="0" i="1">
                <a:solidFill>
                  <a:srgbClr val="77859A"/>
                </a:solidFill>
                <a:latin typeface="Calibri"/>
              </a:rPr>
              <a:t>The goal was a coherent system a student could use end-to-end, not a deep implementation of any single module.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13 · CONCLUSION</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A complete, working learning loop</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Not a prototype of one — every part of the loop shown in this deck runs in the deployed build.</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CLOSE</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15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ectangle 10"/>
          <p:cNvSpPr/>
          <p:nvPr/>
        </p:nvSpPr>
        <p:spPr>
          <a:xfrm>
            <a:off x="566928" y="1847088"/>
            <a:ext cx="45720" cy="859536"/>
          </a:xfrm>
          <a:prstGeom prst="rect">
            <a:avLst/>
          </a:prstGeom>
          <a:solidFill>
            <a:srgbClr val="0F7A82"/>
          </a:solidFill>
          <a:ln>
            <a:noFill/>
          </a:ln>
          <a:effectLst/>
        </p:spPr>
        <p:txBody>
          <a:bodyPr rtlCol="0" anchor="ctr" wrap="square"/>
          <a:lstStyle/>
          <a:p>
            <a:pPr algn="ctr"/>
          </a:p>
        </p:txBody>
      </p:sp>
      <p:sp>
        <p:nvSpPr>
          <p:cNvPr id="12" name="TextBox 11"/>
          <p:cNvSpPr txBox="1"/>
          <p:nvPr/>
        </p:nvSpPr>
        <p:spPr>
          <a:xfrm>
            <a:off x="768096" y="1828800"/>
            <a:ext cx="5394960" cy="182880"/>
          </a:xfrm>
          <a:prstGeom prst="rect">
            <a:avLst/>
          </a:prstGeom>
          <a:noFill/>
        </p:spPr>
        <p:txBody>
          <a:bodyPr wrap="square" anchor="t" lIns="0" rIns="0" tIns="0" bIns="0">
            <a:noAutofit/>
          </a:bodyPr>
          <a:lstStyle/>
          <a:p>
            <a:pPr algn="l">
              <a:lnSpc>
                <a:spcPct val="112000"/>
              </a:lnSpc>
              <a:spcAft>
                <a:spcPts val="0"/>
              </a:spcAft>
            </a:pPr>
            <a:r>
              <a:rPr sz="819" b="1" i="0">
                <a:solidFill>
                  <a:srgbClr val="0F7A82"/>
                </a:solidFill>
                <a:latin typeface="Calibri"/>
              </a:rPr>
              <a:t>ADAPTIVE</a:t>
            </a:r>
          </a:p>
        </p:txBody>
      </p:sp>
      <p:sp>
        <p:nvSpPr>
          <p:cNvPr id="13" name="TextBox 12"/>
          <p:cNvSpPr txBox="1"/>
          <p:nvPr/>
        </p:nvSpPr>
        <p:spPr>
          <a:xfrm>
            <a:off x="768096" y="2020824"/>
            <a:ext cx="5623560" cy="420624"/>
          </a:xfrm>
          <a:prstGeom prst="rect">
            <a:avLst/>
          </a:prstGeom>
          <a:noFill/>
        </p:spPr>
        <p:txBody>
          <a:bodyPr wrap="square" anchor="t" lIns="0" rIns="0" tIns="0" bIns="0">
            <a:noAutofit/>
          </a:bodyPr>
          <a:lstStyle/>
          <a:p>
            <a:pPr algn="l">
              <a:lnSpc>
                <a:spcPct val="114000"/>
              </a:lnSpc>
              <a:spcAft>
                <a:spcPts val="0"/>
              </a:spcAft>
            </a:pPr>
            <a:r>
              <a:rPr sz="1060" b="1" i="0">
                <a:solidFill>
                  <a:srgbClr val="152238"/>
                </a:solidFill>
                <a:latin typeface="Calibri"/>
              </a:rPr>
              <a:t>Plans recompute from the exam date, topic difficulty and measured weakness.</a:t>
            </a:r>
          </a:p>
        </p:txBody>
      </p:sp>
      <p:sp>
        <p:nvSpPr>
          <p:cNvPr id="14" name="TextBox 13"/>
          <p:cNvSpPr txBox="1"/>
          <p:nvPr/>
        </p:nvSpPr>
        <p:spPr>
          <a:xfrm>
            <a:off x="768096" y="2432304"/>
            <a:ext cx="5596128" cy="274320"/>
          </a:xfrm>
          <a:prstGeom prst="rect">
            <a:avLst/>
          </a:prstGeom>
          <a:noFill/>
        </p:spPr>
        <p:txBody>
          <a:bodyPr wrap="square" anchor="t" lIns="0" rIns="0" tIns="0" bIns="0">
            <a:noAutofit/>
          </a:bodyPr>
          <a:lstStyle/>
          <a:p>
            <a:pPr algn="l">
              <a:lnSpc>
                <a:spcPct val="112000"/>
              </a:lnSpc>
              <a:spcAft>
                <a:spcPts val="0"/>
              </a:spcAft>
            </a:pPr>
            <a:r>
              <a:rPr sz="840" b="0" i="1">
                <a:solidFill>
                  <a:srgbClr val="77859A"/>
                </a:solidFill>
                <a:latin typeface="Calibri"/>
              </a:rPr>
              <a:t>Regenerate on demand from the latest scores and remaining days.</a:t>
            </a:r>
          </a:p>
        </p:txBody>
      </p:sp>
      <p:sp>
        <p:nvSpPr>
          <p:cNvPr id="15" name="Rectangle 14"/>
          <p:cNvSpPr/>
          <p:nvPr/>
        </p:nvSpPr>
        <p:spPr>
          <a:xfrm>
            <a:off x="566928" y="3072384"/>
            <a:ext cx="45720" cy="859536"/>
          </a:xfrm>
          <a:prstGeom prst="rect">
            <a:avLst/>
          </a:prstGeom>
          <a:solidFill>
            <a:srgbClr val="2E5C9A"/>
          </a:solidFill>
          <a:ln>
            <a:noFill/>
          </a:ln>
          <a:effectLst/>
        </p:spPr>
        <p:txBody>
          <a:bodyPr rtlCol="0" anchor="ctr" wrap="square"/>
          <a:lstStyle/>
          <a:p>
            <a:pPr algn="ctr"/>
          </a:p>
        </p:txBody>
      </p:sp>
      <p:sp>
        <p:nvSpPr>
          <p:cNvPr id="16" name="TextBox 15"/>
          <p:cNvSpPr txBox="1"/>
          <p:nvPr/>
        </p:nvSpPr>
        <p:spPr>
          <a:xfrm>
            <a:off x="768096" y="3054096"/>
            <a:ext cx="5394960" cy="182880"/>
          </a:xfrm>
          <a:prstGeom prst="rect">
            <a:avLst/>
          </a:prstGeom>
          <a:noFill/>
        </p:spPr>
        <p:txBody>
          <a:bodyPr wrap="square" anchor="t" lIns="0" rIns="0" tIns="0" bIns="0">
            <a:noAutofit/>
          </a:bodyPr>
          <a:lstStyle/>
          <a:p>
            <a:pPr algn="l">
              <a:lnSpc>
                <a:spcPct val="112000"/>
              </a:lnSpc>
              <a:spcAft>
                <a:spcPts val="0"/>
              </a:spcAft>
            </a:pPr>
            <a:r>
              <a:rPr sz="819" b="1" i="0">
                <a:solidFill>
                  <a:srgbClr val="2E5C9A"/>
                </a:solidFill>
                <a:latin typeface="Calibri"/>
              </a:rPr>
              <a:t>EXPLAINABLE</a:t>
            </a:r>
          </a:p>
        </p:txBody>
      </p:sp>
      <p:sp>
        <p:nvSpPr>
          <p:cNvPr id="17" name="TextBox 16"/>
          <p:cNvSpPr txBox="1"/>
          <p:nvPr/>
        </p:nvSpPr>
        <p:spPr>
          <a:xfrm>
            <a:off x="768096" y="3246120"/>
            <a:ext cx="5623560" cy="420624"/>
          </a:xfrm>
          <a:prstGeom prst="rect">
            <a:avLst/>
          </a:prstGeom>
          <a:noFill/>
        </p:spPr>
        <p:txBody>
          <a:bodyPr wrap="square" anchor="t" lIns="0" rIns="0" tIns="0" bIns="0">
            <a:noAutofit/>
          </a:bodyPr>
          <a:lstStyle/>
          <a:p>
            <a:pPr algn="l">
              <a:lnSpc>
                <a:spcPct val="114000"/>
              </a:lnSpc>
              <a:spcAft>
                <a:spcPts val="0"/>
              </a:spcAft>
            </a:pPr>
            <a:r>
              <a:rPr sz="1060" b="1" i="0">
                <a:solidFill>
                  <a:srgbClr val="152238"/>
                </a:solidFill>
                <a:latin typeface="Calibri"/>
              </a:rPr>
              <a:t>Every score and schedule item traces back to stored attempts — no black-box advice.</a:t>
            </a:r>
          </a:p>
        </p:txBody>
      </p:sp>
      <p:sp>
        <p:nvSpPr>
          <p:cNvPr id="18" name="TextBox 17"/>
          <p:cNvSpPr txBox="1"/>
          <p:nvPr/>
        </p:nvSpPr>
        <p:spPr>
          <a:xfrm>
            <a:off x="768096" y="3657600"/>
            <a:ext cx="5596128" cy="274320"/>
          </a:xfrm>
          <a:prstGeom prst="rect">
            <a:avLst/>
          </a:prstGeom>
          <a:noFill/>
        </p:spPr>
        <p:txBody>
          <a:bodyPr wrap="square" anchor="t" lIns="0" rIns="0" tIns="0" bIns="0">
            <a:noAutofit/>
          </a:bodyPr>
          <a:lstStyle/>
          <a:p>
            <a:pPr algn="l">
              <a:lnSpc>
                <a:spcPct val="112000"/>
              </a:lnSpc>
              <a:spcAft>
                <a:spcPts val="0"/>
              </a:spcAft>
            </a:pPr>
            <a:r>
              <a:rPr sz="840" b="0" i="1">
                <a:solidFill>
                  <a:srgbClr val="77859A"/>
                </a:solidFill>
                <a:latin typeface="Calibri"/>
              </a:rPr>
              <a:t>A topic is flagged weak at 40+; the window is the last seven days.</a:t>
            </a:r>
          </a:p>
        </p:txBody>
      </p:sp>
      <p:sp>
        <p:nvSpPr>
          <p:cNvPr id="19" name="Rectangle 18"/>
          <p:cNvSpPr/>
          <p:nvPr/>
        </p:nvSpPr>
        <p:spPr>
          <a:xfrm>
            <a:off x="566928" y="4297680"/>
            <a:ext cx="45720" cy="859536"/>
          </a:xfrm>
          <a:prstGeom prst="rect">
            <a:avLst/>
          </a:prstGeom>
          <a:solidFill>
            <a:srgbClr val="B0781C"/>
          </a:solidFill>
          <a:ln>
            <a:noFill/>
          </a:ln>
          <a:effectLst/>
        </p:spPr>
        <p:txBody>
          <a:bodyPr rtlCol="0" anchor="ctr" wrap="square"/>
          <a:lstStyle/>
          <a:p>
            <a:pPr algn="ctr"/>
          </a:p>
        </p:txBody>
      </p:sp>
      <p:sp>
        <p:nvSpPr>
          <p:cNvPr id="20" name="TextBox 19"/>
          <p:cNvSpPr txBox="1"/>
          <p:nvPr/>
        </p:nvSpPr>
        <p:spPr>
          <a:xfrm>
            <a:off x="768096" y="4279392"/>
            <a:ext cx="5394960" cy="182880"/>
          </a:xfrm>
          <a:prstGeom prst="rect">
            <a:avLst/>
          </a:prstGeom>
          <a:noFill/>
        </p:spPr>
        <p:txBody>
          <a:bodyPr wrap="square" anchor="t" lIns="0" rIns="0" tIns="0" bIns="0">
            <a:noAutofit/>
          </a:bodyPr>
          <a:lstStyle/>
          <a:p>
            <a:pPr algn="l">
              <a:lnSpc>
                <a:spcPct val="112000"/>
              </a:lnSpc>
              <a:spcAft>
                <a:spcPts val="0"/>
              </a:spcAft>
            </a:pPr>
            <a:r>
              <a:rPr sz="819" b="1" i="0">
                <a:solidFill>
                  <a:srgbClr val="B0781C"/>
                </a:solidFill>
                <a:latin typeface="Calibri"/>
              </a:rPr>
              <a:t>LOCAL-FIRST</a:t>
            </a:r>
          </a:p>
        </p:txBody>
      </p:sp>
      <p:sp>
        <p:nvSpPr>
          <p:cNvPr id="21" name="TextBox 20"/>
          <p:cNvSpPr txBox="1"/>
          <p:nvPr/>
        </p:nvSpPr>
        <p:spPr>
          <a:xfrm>
            <a:off x="768096" y="4471416"/>
            <a:ext cx="5623560" cy="420624"/>
          </a:xfrm>
          <a:prstGeom prst="rect">
            <a:avLst/>
          </a:prstGeom>
          <a:noFill/>
        </p:spPr>
        <p:txBody>
          <a:bodyPr wrap="square" anchor="t" lIns="0" rIns="0" tIns="0" bIns="0">
            <a:noAutofit/>
          </a:bodyPr>
          <a:lstStyle/>
          <a:p>
            <a:pPr algn="l">
              <a:lnSpc>
                <a:spcPct val="114000"/>
              </a:lnSpc>
              <a:spcAft>
                <a:spcPts val="0"/>
              </a:spcAft>
            </a:pPr>
            <a:r>
              <a:rPr sz="1060" b="1" i="0">
                <a:solidFill>
                  <a:srgbClr val="152238"/>
                </a:solidFill>
                <a:latin typeface="Calibri"/>
              </a:rPr>
              <a:t>The core loop runs offline; AI and sign-in are optional services.</a:t>
            </a:r>
          </a:p>
        </p:txBody>
      </p:sp>
      <p:sp>
        <p:nvSpPr>
          <p:cNvPr id="22" name="TextBox 21"/>
          <p:cNvSpPr txBox="1"/>
          <p:nvPr/>
        </p:nvSpPr>
        <p:spPr>
          <a:xfrm>
            <a:off x="768096" y="4882896"/>
            <a:ext cx="5596128" cy="274320"/>
          </a:xfrm>
          <a:prstGeom prst="rect">
            <a:avLst/>
          </a:prstGeom>
          <a:noFill/>
        </p:spPr>
        <p:txBody>
          <a:bodyPr wrap="square" anchor="t" lIns="0" rIns="0" tIns="0" bIns="0">
            <a:noAutofit/>
          </a:bodyPr>
          <a:lstStyle/>
          <a:p>
            <a:pPr algn="l">
              <a:lnSpc>
                <a:spcPct val="112000"/>
              </a:lnSpc>
              <a:spcAft>
                <a:spcPts val="0"/>
              </a:spcAft>
            </a:pPr>
            <a:r>
              <a:rPr sz="840" b="0" i="1">
                <a:solidFill>
                  <a:srgbClr val="77859A"/>
                </a:solidFill>
                <a:latin typeface="Calibri"/>
              </a:rPr>
              <a:t>Notes, plans and attempts live in IndexedDB, not on a server.</a:t>
            </a:r>
          </a:p>
        </p:txBody>
      </p:sp>
      <p:sp>
        <p:nvSpPr>
          <p:cNvPr id="23" name="Rounded Rectangle 22"/>
          <p:cNvSpPr/>
          <p:nvPr/>
        </p:nvSpPr>
        <p:spPr>
          <a:xfrm>
            <a:off x="6967728" y="1810512"/>
            <a:ext cx="4663440" cy="3858768"/>
          </a:xfrm>
          <a:prstGeom prst="roundRect">
            <a:avLst>
              <a:gd name="adj" fmla="val 4000"/>
            </a:avLst>
          </a:prstGeom>
          <a:solidFill>
            <a:srgbClr val="F5F8FA"/>
          </a:solidFill>
          <a:ln w="9525">
            <a:solidFill>
              <a:srgbClr val="DCE4EA"/>
            </a:solidFill>
          </a:ln>
          <a:effectLst/>
        </p:spPr>
        <p:txBody>
          <a:bodyPr rtlCol="0" anchor="ctr" wrap="square"/>
          <a:lstStyle/>
          <a:p>
            <a:pPr algn="ctr"/>
          </a:p>
        </p:txBody>
      </p:sp>
      <p:sp>
        <p:nvSpPr>
          <p:cNvPr id="24" name="TextBox 23"/>
          <p:cNvSpPr txBox="1"/>
          <p:nvPr/>
        </p:nvSpPr>
        <p:spPr>
          <a:xfrm>
            <a:off x="7187184" y="1938528"/>
            <a:ext cx="4114800" cy="182880"/>
          </a:xfrm>
          <a:prstGeom prst="rect">
            <a:avLst/>
          </a:prstGeom>
          <a:noFill/>
        </p:spPr>
        <p:txBody>
          <a:bodyPr wrap="square" anchor="t" lIns="0" rIns="0" tIns="0" bIns="0">
            <a:noAutofit/>
          </a:bodyPr>
          <a:lstStyle/>
          <a:p>
            <a:pPr algn="l">
              <a:lnSpc>
                <a:spcPct val="112000"/>
              </a:lnSpc>
              <a:spcAft>
                <a:spcPts val="0"/>
              </a:spcAft>
            </a:pPr>
            <a:r>
              <a:rPr sz="780" b="1" i="0">
                <a:solidFill>
                  <a:srgbClr val="0F7A82"/>
                </a:solidFill>
                <a:latin typeface="Calibri"/>
              </a:rPr>
              <a:t>EVIDENCE AT A GLANCE</a:t>
            </a:r>
          </a:p>
        </p:txBody>
      </p:sp>
      <p:sp>
        <p:nvSpPr>
          <p:cNvPr id="25" name="TextBox 24"/>
          <p:cNvSpPr txBox="1"/>
          <p:nvPr/>
        </p:nvSpPr>
        <p:spPr>
          <a:xfrm>
            <a:off x="7187184" y="2231136"/>
            <a:ext cx="1737360" cy="384048"/>
          </a:xfrm>
          <a:prstGeom prst="rect">
            <a:avLst/>
          </a:prstGeom>
          <a:noFill/>
        </p:spPr>
        <p:txBody>
          <a:bodyPr wrap="square" anchor="t" lIns="0" rIns="0" tIns="0" bIns="0">
            <a:noAutofit/>
          </a:bodyPr>
          <a:lstStyle/>
          <a:p>
            <a:pPr algn="l">
              <a:lnSpc>
                <a:spcPct val="112000"/>
              </a:lnSpc>
              <a:spcAft>
                <a:spcPts val="0"/>
              </a:spcAft>
            </a:pPr>
            <a:r>
              <a:rPr sz="1800" b="1" i="0">
                <a:solidFill>
                  <a:srgbClr val="152238"/>
                </a:solidFill>
                <a:latin typeface="Calibri"/>
              </a:rPr>
              <a:t>47 / 47</a:t>
            </a:r>
          </a:p>
        </p:txBody>
      </p:sp>
      <p:sp>
        <p:nvSpPr>
          <p:cNvPr id="26" name="TextBox 25"/>
          <p:cNvSpPr txBox="1"/>
          <p:nvPr/>
        </p:nvSpPr>
        <p:spPr>
          <a:xfrm>
            <a:off x="8796528" y="2286000"/>
            <a:ext cx="2606040" cy="310896"/>
          </a:xfrm>
          <a:prstGeom prst="rect">
            <a:avLst/>
          </a:prstGeom>
          <a:noFill/>
        </p:spPr>
        <p:txBody>
          <a:bodyPr wrap="square" anchor="t" lIns="0" rIns="0" tIns="0" bIns="0">
            <a:noAutofit/>
          </a:bodyPr>
          <a:lstStyle/>
          <a:p>
            <a:pPr algn="l">
              <a:lnSpc>
                <a:spcPct val="115000"/>
              </a:lnSpc>
              <a:spcAft>
                <a:spcPts val="0"/>
              </a:spcAft>
            </a:pPr>
            <a:r>
              <a:rPr sz="880" b="0" i="0">
                <a:solidFill>
                  <a:srgbClr val="3D4A5C"/>
                </a:solidFill>
                <a:latin typeface="Calibri"/>
              </a:rPr>
              <a:t>automated tests passing</a:t>
            </a:r>
          </a:p>
        </p:txBody>
      </p:sp>
      <p:sp>
        <p:nvSpPr>
          <p:cNvPr id="27" name="Rectangle 26"/>
          <p:cNvSpPr/>
          <p:nvPr/>
        </p:nvSpPr>
        <p:spPr>
          <a:xfrm>
            <a:off x="7187184" y="2889504"/>
            <a:ext cx="4206240" cy="5486"/>
          </a:xfrm>
          <a:prstGeom prst="rect">
            <a:avLst/>
          </a:prstGeom>
          <a:solidFill>
            <a:srgbClr val="DCE4EA"/>
          </a:solidFill>
          <a:ln>
            <a:noFill/>
          </a:ln>
          <a:effectLst/>
        </p:spPr>
        <p:txBody>
          <a:bodyPr rtlCol="0" anchor="ctr" wrap="square"/>
          <a:lstStyle/>
          <a:p>
            <a:pPr algn="ctr"/>
          </a:p>
        </p:txBody>
      </p:sp>
      <p:sp>
        <p:nvSpPr>
          <p:cNvPr id="28" name="TextBox 27"/>
          <p:cNvSpPr txBox="1"/>
          <p:nvPr/>
        </p:nvSpPr>
        <p:spPr>
          <a:xfrm>
            <a:off x="7187184" y="3072384"/>
            <a:ext cx="1737360" cy="384048"/>
          </a:xfrm>
          <a:prstGeom prst="rect">
            <a:avLst/>
          </a:prstGeom>
          <a:noFill/>
        </p:spPr>
        <p:txBody>
          <a:bodyPr wrap="square" anchor="t" lIns="0" rIns="0" tIns="0" bIns="0">
            <a:noAutofit/>
          </a:bodyPr>
          <a:lstStyle/>
          <a:p>
            <a:pPr algn="l">
              <a:lnSpc>
                <a:spcPct val="112000"/>
              </a:lnSpc>
              <a:spcAft>
                <a:spcPts val="0"/>
              </a:spcAft>
            </a:pPr>
            <a:r>
              <a:rPr sz="1800" b="1" i="0">
                <a:solidFill>
                  <a:srgbClr val="152238"/>
                </a:solidFill>
                <a:latin typeface="Calibri"/>
              </a:rPr>
              <a:t>6.21 s</a:t>
            </a:r>
          </a:p>
        </p:txBody>
      </p:sp>
      <p:sp>
        <p:nvSpPr>
          <p:cNvPr id="29" name="TextBox 28"/>
          <p:cNvSpPr txBox="1"/>
          <p:nvPr/>
        </p:nvSpPr>
        <p:spPr>
          <a:xfrm>
            <a:off x="8796528" y="3127248"/>
            <a:ext cx="2606040" cy="310896"/>
          </a:xfrm>
          <a:prstGeom prst="rect">
            <a:avLst/>
          </a:prstGeom>
          <a:noFill/>
        </p:spPr>
        <p:txBody>
          <a:bodyPr wrap="square" anchor="t" lIns="0" rIns="0" tIns="0" bIns="0">
            <a:noAutofit/>
          </a:bodyPr>
          <a:lstStyle/>
          <a:p>
            <a:pPr algn="l">
              <a:lnSpc>
                <a:spcPct val="115000"/>
              </a:lnSpc>
              <a:spcAft>
                <a:spcPts val="0"/>
              </a:spcAft>
            </a:pPr>
            <a:r>
              <a:rPr sz="880" b="0" i="0">
                <a:solidFill>
                  <a:srgbClr val="3D4A5C"/>
                </a:solidFill>
                <a:latin typeface="Calibri"/>
              </a:rPr>
              <a:t>production build</a:t>
            </a:r>
          </a:p>
        </p:txBody>
      </p:sp>
      <p:sp>
        <p:nvSpPr>
          <p:cNvPr id="30" name="Rectangle 29"/>
          <p:cNvSpPr/>
          <p:nvPr/>
        </p:nvSpPr>
        <p:spPr>
          <a:xfrm>
            <a:off x="7187184" y="3730752"/>
            <a:ext cx="4206240" cy="5486"/>
          </a:xfrm>
          <a:prstGeom prst="rect">
            <a:avLst/>
          </a:prstGeom>
          <a:solidFill>
            <a:srgbClr val="DCE4EA"/>
          </a:solidFill>
          <a:ln>
            <a:noFill/>
          </a:ln>
          <a:effectLst/>
        </p:spPr>
        <p:txBody>
          <a:bodyPr rtlCol="0" anchor="ctr" wrap="square"/>
          <a:lstStyle/>
          <a:p>
            <a:pPr algn="ctr"/>
          </a:p>
        </p:txBody>
      </p:sp>
      <p:sp>
        <p:nvSpPr>
          <p:cNvPr id="31" name="TextBox 30"/>
          <p:cNvSpPr txBox="1"/>
          <p:nvPr/>
        </p:nvSpPr>
        <p:spPr>
          <a:xfrm>
            <a:off x="7187184" y="3913632"/>
            <a:ext cx="1737360" cy="384048"/>
          </a:xfrm>
          <a:prstGeom prst="rect">
            <a:avLst/>
          </a:prstGeom>
          <a:noFill/>
        </p:spPr>
        <p:txBody>
          <a:bodyPr wrap="square" anchor="t" lIns="0" rIns="0" tIns="0" bIns="0">
            <a:noAutofit/>
          </a:bodyPr>
          <a:lstStyle/>
          <a:p>
            <a:pPr algn="l">
              <a:lnSpc>
                <a:spcPct val="112000"/>
              </a:lnSpc>
              <a:spcAft>
                <a:spcPts val="0"/>
              </a:spcAft>
            </a:pPr>
            <a:r>
              <a:rPr sz="1800" b="1" i="0">
                <a:solidFill>
                  <a:srgbClr val="152238"/>
                </a:solidFill>
                <a:latin typeface="Calibri"/>
              </a:rPr>
              <a:t>19</a:t>
            </a:r>
          </a:p>
        </p:txBody>
      </p:sp>
      <p:sp>
        <p:nvSpPr>
          <p:cNvPr id="32" name="TextBox 31"/>
          <p:cNvSpPr txBox="1"/>
          <p:nvPr/>
        </p:nvSpPr>
        <p:spPr>
          <a:xfrm>
            <a:off x="8796528" y="3968496"/>
            <a:ext cx="2606040" cy="310896"/>
          </a:xfrm>
          <a:prstGeom prst="rect">
            <a:avLst/>
          </a:prstGeom>
          <a:noFill/>
        </p:spPr>
        <p:txBody>
          <a:bodyPr wrap="square" anchor="t" lIns="0" rIns="0" tIns="0" bIns="0">
            <a:noAutofit/>
          </a:bodyPr>
          <a:lstStyle/>
          <a:p>
            <a:pPr algn="l">
              <a:lnSpc>
                <a:spcPct val="115000"/>
              </a:lnSpc>
              <a:spcAft>
                <a:spcPts val="0"/>
              </a:spcAft>
            </a:pPr>
            <a:r>
              <a:rPr sz="880" b="0" i="0">
                <a:solidFill>
                  <a:srgbClr val="3D4A5C"/>
                </a:solidFill>
                <a:latin typeface="Calibri"/>
              </a:rPr>
              <a:t>interface captures from the running app</a:t>
            </a:r>
          </a:p>
        </p:txBody>
      </p:sp>
      <p:sp>
        <p:nvSpPr>
          <p:cNvPr id="33" name="Rounded Rectangle 32"/>
          <p:cNvSpPr/>
          <p:nvPr/>
        </p:nvSpPr>
        <p:spPr>
          <a:xfrm>
            <a:off x="7187184" y="4956048"/>
            <a:ext cx="2331720" cy="310896"/>
          </a:xfrm>
          <a:prstGeom prst="roundRect">
            <a:avLst>
              <a:gd name="adj" fmla="val 50000"/>
            </a:avLst>
          </a:prstGeom>
          <a:solidFill>
            <a:srgbClr val="0F7A82"/>
          </a:solidFill>
          <a:ln>
            <a:noFill/>
          </a:ln>
          <a:effectLst/>
        </p:spPr>
        <p:txBody>
          <a:bodyPr rtlCol="0" anchor="ctr" wrap="square" lIns="54864" rIns="54864" tIns="0" bIns="0"/>
          <a:lstStyle/>
          <a:p>
            <a:pPr algn="ctr"/>
            <a:r>
              <a:rPr sz="760" b="1">
                <a:solidFill>
                  <a:srgbClr val="FFFFFF"/>
                </a:solidFill>
                <a:latin typeface="Calibri"/>
              </a:rPr>
              <a:t>Live demo · study-mapper.vercel.app</a:t>
            </a:r>
          </a:p>
        </p:txBody>
      </p:sp>
      <p:sp>
        <p:nvSpPr>
          <p:cNvPr id="34" name="TextBox 33"/>
          <p:cNvSpPr txBox="1"/>
          <p:nvPr/>
        </p:nvSpPr>
        <p:spPr>
          <a:xfrm>
            <a:off x="7187184" y="5358384"/>
            <a:ext cx="4023360" cy="219456"/>
          </a:xfrm>
          <a:prstGeom prst="rect">
            <a:avLst/>
          </a:prstGeom>
          <a:noFill/>
        </p:spPr>
        <p:txBody>
          <a:bodyPr wrap="square" anchor="t" lIns="0" rIns="0" tIns="0" bIns="0">
            <a:noAutofit/>
          </a:bodyPr>
          <a:lstStyle/>
          <a:p>
            <a:pPr algn="l">
              <a:lnSpc>
                <a:spcPct val="112000"/>
              </a:lnSpc>
              <a:spcAft>
                <a:spcPts val="0"/>
              </a:spcAft>
            </a:pPr>
            <a:r>
              <a:rPr sz="780" b="0" i="0">
                <a:solidFill>
                  <a:srgbClr val="77859A"/>
                </a:solidFill>
                <a:latin typeface="Calibri"/>
              </a:rPr>
              <a:t>Public repository · palturuvenubhaskar/StudyMapper</a:t>
            </a:r>
          </a:p>
        </p:txBody>
      </p:sp>
      <p:sp>
        <p:nvSpPr>
          <p:cNvPr id="35" name="Rounded Rectangle 34"/>
          <p:cNvSpPr/>
          <p:nvPr/>
        </p:nvSpPr>
        <p:spPr>
          <a:xfrm>
            <a:off x="566928" y="5742432"/>
            <a:ext cx="11064240" cy="548640"/>
          </a:xfrm>
          <a:prstGeom prst="roundRect">
            <a:avLst>
              <a:gd name="adj" fmla="val 8000"/>
            </a:avLst>
          </a:prstGeom>
          <a:solidFill>
            <a:srgbClr val="E6F2F2"/>
          </a:solidFill>
          <a:ln>
            <a:noFill/>
          </a:ln>
          <a:effectLst/>
        </p:spPr>
        <p:txBody>
          <a:bodyPr rtlCol="0" anchor="ctr" wrap="square"/>
          <a:lstStyle/>
          <a:p>
            <a:pPr algn="ctr"/>
          </a:p>
        </p:txBody>
      </p:sp>
      <p:sp>
        <p:nvSpPr>
          <p:cNvPr id="36" name="TextBox 35"/>
          <p:cNvSpPr txBox="1"/>
          <p:nvPr/>
        </p:nvSpPr>
        <p:spPr>
          <a:xfrm>
            <a:off x="768096" y="5833872"/>
            <a:ext cx="10698480" cy="365760"/>
          </a:xfrm>
          <a:prstGeom prst="rect">
            <a:avLst/>
          </a:prstGeom>
          <a:noFill/>
        </p:spPr>
        <p:txBody>
          <a:bodyPr wrap="square" anchor="t" lIns="0" rIns="0" tIns="0" bIns="0">
            <a:noAutofit/>
          </a:bodyPr>
          <a:lstStyle/>
          <a:p>
            <a:pPr algn="l">
              <a:lnSpc>
                <a:spcPct val="112000"/>
              </a:lnSpc>
              <a:spcAft>
                <a:spcPts val="0"/>
              </a:spcAft>
            </a:pPr>
            <a:r>
              <a:rPr sz="900" b="1" i="0">
                <a:solidFill>
                  <a:srgbClr val="0A565C"/>
                </a:solidFill>
                <a:latin typeface="Calibri"/>
              </a:rPr>
              <a:t>Built at Anantha Lakshmi Institute of Technology &amp; Sciences (Autonomous), Department of CSE, under the guidance of Ms. C. Sravani.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14 · FUTURE SCOPE</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Evidence first, then scale</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The next step is a classroom study; the roadmap follows from what that study reveals.</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CLOSE</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16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773936"/>
            <a:ext cx="3584448" cy="3639312"/>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12" name="Rounded Rectangle 11"/>
          <p:cNvSpPr/>
          <p:nvPr/>
        </p:nvSpPr>
        <p:spPr>
          <a:xfrm>
            <a:off x="566928" y="1773936"/>
            <a:ext cx="3584448" cy="457200"/>
          </a:xfrm>
          <a:prstGeom prst="roundRect">
            <a:avLst>
              <a:gd name="adj" fmla="val 4000"/>
            </a:avLst>
          </a:prstGeom>
          <a:solidFill>
            <a:srgbClr val="E6F2F2"/>
          </a:solidFill>
          <a:ln>
            <a:noFill/>
          </a:ln>
          <a:effectLst/>
        </p:spPr>
        <p:txBody>
          <a:bodyPr rtlCol="0" anchor="ctr" wrap="square"/>
          <a:lstStyle/>
          <a:p>
            <a:pPr algn="ctr"/>
          </a:p>
        </p:txBody>
      </p:sp>
      <p:sp>
        <p:nvSpPr>
          <p:cNvPr id="13" name="TextBox 12"/>
          <p:cNvSpPr txBox="1"/>
          <p:nvPr/>
        </p:nvSpPr>
        <p:spPr>
          <a:xfrm>
            <a:off x="749808" y="1901952"/>
            <a:ext cx="3108960" cy="201168"/>
          </a:xfrm>
          <a:prstGeom prst="rect">
            <a:avLst/>
          </a:prstGeom>
          <a:noFill/>
        </p:spPr>
        <p:txBody>
          <a:bodyPr wrap="square" anchor="t" lIns="0" rIns="0" tIns="0" bIns="0">
            <a:noAutofit/>
          </a:bodyPr>
          <a:lstStyle/>
          <a:p>
            <a:pPr algn="l">
              <a:lnSpc>
                <a:spcPct val="112000"/>
              </a:lnSpc>
              <a:spcAft>
                <a:spcPts val="0"/>
              </a:spcAft>
            </a:pPr>
            <a:r>
              <a:rPr sz="840" b="1" i="0">
                <a:solidFill>
                  <a:srgbClr val="0F7A82"/>
                </a:solidFill>
                <a:latin typeface="Calibri"/>
              </a:rPr>
              <a:t>NOW → 3 MONTHS</a:t>
            </a:r>
          </a:p>
        </p:txBody>
      </p:sp>
      <p:sp>
        <p:nvSpPr>
          <p:cNvPr id="14" name="TextBox 13"/>
          <p:cNvSpPr txBox="1"/>
          <p:nvPr/>
        </p:nvSpPr>
        <p:spPr>
          <a:xfrm>
            <a:off x="749808" y="239572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Classroom pilot</a:t>
            </a:r>
          </a:p>
        </p:txBody>
      </p:sp>
      <p:sp>
        <p:nvSpPr>
          <p:cNvPr id="15" name="TextBox 14"/>
          <p:cNvSpPr txBox="1"/>
          <p:nvPr/>
        </p:nvSpPr>
        <p:spPr>
          <a:xfrm>
            <a:off x="749808" y="258775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Pre/post quiz with a real cohort — the first test of learning impact.</a:t>
            </a:r>
          </a:p>
        </p:txBody>
      </p:sp>
      <p:sp>
        <p:nvSpPr>
          <p:cNvPr id="16" name="Rectangle 15"/>
          <p:cNvSpPr/>
          <p:nvPr/>
        </p:nvSpPr>
        <p:spPr>
          <a:xfrm>
            <a:off x="749808" y="3145536"/>
            <a:ext cx="3200400" cy="5486"/>
          </a:xfrm>
          <a:prstGeom prst="rect">
            <a:avLst/>
          </a:prstGeom>
          <a:solidFill>
            <a:srgbClr val="DCE4EA"/>
          </a:solidFill>
          <a:ln>
            <a:noFill/>
          </a:ln>
          <a:effectLst/>
        </p:spPr>
        <p:txBody>
          <a:bodyPr rtlCol="0" anchor="ctr" wrap="square"/>
          <a:lstStyle/>
          <a:p>
            <a:pPr algn="ctr"/>
          </a:p>
        </p:txBody>
      </p:sp>
      <p:sp>
        <p:nvSpPr>
          <p:cNvPr id="17" name="TextBox 16"/>
          <p:cNvSpPr txBox="1"/>
          <p:nvPr/>
        </p:nvSpPr>
        <p:spPr>
          <a:xfrm>
            <a:off x="749808" y="321868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Optional sync</a:t>
            </a:r>
          </a:p>
        </p:txBody>
      </p:sp>
      <p:sp>
        <p:nvSpPr>
          <p:cNvPr id="18" name="TextBox 17"/>
          <p:cNvSpPr txBox="1"/>
          <p:nvPr/>
        </p:nvSpPr>
        <p:spPr>
          <a:xfrm>
            <a:off x="749808" y="341071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Account-based, conflict-safe sync without losing local speed.</a:t>
            </a:r>
          </a:p>
        </p:txBody>
      </p:sp>
      <p:sp>
        <p:nvSpPr>
          <p:cNvPr id="19" name="Rectangle 18"/>
          <p:cNvSpPr/>
          <p:nvPr/>
        </p:nvSpPr>
        <p:spPr>
          <a:xfrm>
            <a:off x="749808" y="3968496"/>
            <a:ext cx="3200400" cy="5486"/>
          </a:xfrm>
          <a:prstGeom prst="rect">
            <a:avLst/>
          </a:prstGeom>
          <a:solidFill>
            <a:srgbClr val="DCE4EA"/>
          </a:solidFill>
          <a:ln>
            <a:noFill/>
          </a:ln>
          <a:effectLst/>
        </p:spPr>
        <p:txBody>
          <a:bodyPr rtlCol="0" anchor="ctr" wrap="square"/>
          <a:lstStyle/>
          <a:p>
            <a:pPr algn="ctr"/>
          </a:p>
        </p:txBody>
      </p:sp>
      <p:sp>
        <p:nvSpPr>
          <p:cNvPr id="20" name="TextBox 19"/>
          <p:cNvSpPr txBox="1"/>
          <p:nvPr/>
        </p:nvSpPr>
        <p:spPr>
          <a:xfrm>
            <a:off x="749808" y="404164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Accessibility pass</a:t>
            </a:r>
          </a:p>
        </p:txBody>
      </p:sp>
      <p:sp>
        <p:nvSpPr>
          <p:cNvPr id="21" name="TextBox 20"/>
          <p:cNvSpPr txBox="1"/>
          <p:nvPr/>
        </p:nvSpPr>
        <p:spPr>
          <a:xfrm>
            <a:off x="749808" y="423367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Keyboard paths, contrast and screen-reader labels.</a:t>
            </a:r>
          </a:p>
        </p:txBody>
      </p:sp>
      <p:sp>
        <p:nvSpPr>
          <p:cNvPr id="22" name="Rectangle 21"/>
          <p:cNvSpPr/>
          <p:nvPr/>
        </p:nvSpPr>
        <p:spPr>
          <a:xfrm>
            <a:off x="749808" y="4828032"/>
            <a:ext cx="3200400" cy="7315"/>
          </a:xfrm>
          <a:prstGeom prst="rect">
            <a:avLst/>
          </a:prstGeom>
          <a:solidFill>
            <a:srgbClr val="DCE4EA"/>
          </a:solidFill>
          <a:ln>
            <a:noFill/>
          </a:ln>
          <a:effectLst/>
        </p:spPr>
        <p:txBody>
          <a:bodyPr rtlCol="0" anchor="ctr" wrap="square"/>
          <a:lstStyle/>
          <a:p>
            <a:pPr algn="ctr"/>
          </a:p>
        </p:txBody>
      </p:sp>
      <p:sp>
        <p:nvSpPr>
          <p:cNvPr id="23" name="TextBox 22"/>
          <p:cNvSpPr txBox="1"/>
          <p:nvPr/>
        </p:nvSpPr>
        <p:spPr>
          <a:xfrm>
            <a:off x="749808" y="4901184"/>
            <a:ext cx="3200400" cy="164592"/>
          </a:xfrm>
          <a:prstGeom prst="rect">
            <a:avLst/>
          </a:prstGeom>
          <a:noFill/>
        </p:spPr>
        <p:txBody>
          <a:bodyPr wrap="square" anchor="t" lIns="0" rIns="0" tIns="0" bIns="0">
            <a:noAutofit/>
          </a:bodyPr>
          <a:lstStyle/>
          <a:p>
            <a:pPr algn="l">
              <a:lnSpc>
                <a:spcPct val="112000"/>
              </a:lnSpc>
              <a:spcAft>
                <a:spcPts val="0"/>
              </a:spcAft>
            </a:pPr>
            <a:r>
              <a:rPr sz="660" b="1" i="0">
                <a:solidFill>
                  <a:srgbClr val="0F7A82"/>
                </a:solidFill>
                <a:latin typeface="Calibri"/>
              </a:rPr>
              <a:t>HOW WE WILL KNOW</a:t>
            </a:r>
          </a:p>
        </p:txBody>
      </p:sp>
      <p:sp>
        <p:nvSpPr>
          <p:cNvPr id="24" name="TextBox 23"/>
          <p:cNvSpPr txBox="1"/>
          <p:nvPr/>
        </p:nvSpPr>
        <p:spPr>
          <a:xfrm>
            <a:off x="749808" y="5065776"/>
            <a:ext cx="3200400" cy="219456"/>
          </a:xfrm>
          <a:prstGeom prst="rect">
            <a:avLst/>
          </a:prstGeom>
          <a:noFill/>
        </p:spPr>
        <p:txBody>
          <a:bodyPr wrap="square" anchor="t" lIns="0" rIns="0" tIns="0" bIns="0">
            <a:noAutofit/>
          </a:bodyPr>
          <a:lstStyle/>
          <a:p>
            <a:pPr algn="l">
              <a:lnSpc>
                <a:spcPct val="112000"/>
              </a:lnSpc>
              <a:spcAft>
                <a:spcPts val="0"/>
              </a:spcAft>
            </a:pPr>
            <a:r>
              <a:rPr sz="760" b="1" i="0">
                <a:solidFill>
                  <a:srgbClr val="3D4A5C"/>
                </a:solidFill>
                <a:latin typeface="Calibri"/>
              </a:rPr>
              <a:t>SIGNAL  ·  pre/post quiz gain in one cohort</a:t>
            </a:r>
          </a:p>
        </p:txBody>
      </p:sp>
      <p:sp>
        <p:nvSpPr>
          <p:cNvPr id="25" name="Rounded Rectangle 24"/>
          <p:cNvSpPr/>
          <p:nvPr/>
        </p:nvSpPr>
        <p:spPr>
          <a:xfrm>
            <a:off x="4315968" y="1773936"/>
            <a:ext cx="3584448" cy="3639312"/>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26" name="Rounded Rectangle 25"/>
          <p:cNvSpPr/>
          <p:nvPr/>
        </p:nvSpPr>
        <p:spPr>
          <a:xfrm>
            <a:off x="4315968" y="1773936"/>
            <a:ext cx="3584448" cy="457200"/>
          </a:xfrm>
          <a:prstGeom prst="roundRect">
            <a:avLst>
              <a:gd name="adj" fmla="val 4000"/>
            </a:avLst>
          </a:prstGeom>
          <a:solidFill>
            <a:srgbClr val="EAF0F8"/>
          </a:solidFill>
          <a:ln>
            <a:noFill/>
          </a:ln>
          <a:effectLst/>
        </p:spPr>
        <p:txBody>
          <a:bodyPr rtlCol="0" anchor="ctr" wrap="square"/>
          <a:lstStyle/>
          <a:p>
            <a:pPr algn="ctr"/>
          </a:p>
        </p:txBody>
      </p:sp>
      <p:sp>
        <p:nvSpPr>
          <p:cNvPr id="27" name="TextBox 26"/>
          <p:cNvSpPr txBox="1"/>
          <p:nvPr/>
        </p:nvSpPr>
        <p:spPr>
          <a:xfrm>
            <a:off x="4498848" y="1901952"/>
            <a:ext cx="3108960" cy="201168"/>
          </a:xfrm>
          <a:prstGeom prst="rect">
            <a:avLst/>
          </a:prstGeom>
          <a:noFill/>
        </p:spPr>
        <p:txBody>
          <a:bodyPr wrap="square" anchor="t" lIns="0" rIns="0" tIns="0" bIns="0">
            <a:noAutofit/>
          </a:bodyPr>
          <a:lstStyle/>
          <a:p>
            <a:pPr algn="l">
              <a:lnSpc>
                <a:spcPct val="112000"/>
              </a:lnSpc>
              <a:spcAft>
                <a:spcPts val="0"/>
              </a:spcAft>
            </a:pPr>
            <a:r>
              <a:rPr sz="840" b="1" i="0">
                <a:solidFill>
                  <a:srgbClr val="2E5C9A"/>
                </a:solidFill>
                <a:latin typeface="Calibri"/>
              </a:rPr>
              <a:t>NEXT YEAR</a:t>
            </a:r>
          </a:p>
        </p:txBody>
      </p:sp>
      <p:sp>
        <p:nvSpPr>
          <p:cNvPr id="28" name="TextBox 27"/>
          <p:cNvSpPr txBox="1"/>
          <p:nvPr/>
        </p:nvSpPr>
        <p:spPr>
          <a:xfrm>
            <a:off x="4498848" y="239572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Native mobile shell</a:t>
            </a:r>
          </a:p>
        </p:txBody>
      </p:sp>
      <p:sp>
        <p:nvSpPr>
          <p:cNvPr id="29" name="TextBox 28"/>
          <p:cNvSpPr txBox="1"/>
          <p:nvPr/>
        </p:nvSpPr>
        <p:spPr>
          <a:xfrm>
            <a:off x="4498848" y="258775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Capture small study sessions between classes.</a:t>
            </a:r>
          </a:p>
        </p:txBody>
      </p:sp>
      <p:sp>
        <p:nvSpPr>
          <p:cNvPr id="30" name="Rectangle 29"/>
          <p:cNvSpPr/>
          <p:nvPr/>
        </p:nvSpPr>
        <p:spPr>
          <a:xfrm>
            <a:off x="4498848" y="3145536"/>
            <a:ext cx="3200400" cy="5486"/>
          </a:xfrm>
          <a:prstGeom prst="rect">
            <a:avLst/>
          </a:prstGeom>
          <a:solidFill>
            <a:srgbClr val="DCE4EA"/>
          </a:solidFill>
          <a:ln>
            <a:noFill/>
          </a:ln>
          <a:effectLst/>
        </p:spPr>
        <p:txBody>
          <a:bodyPr rtlCol="0" anchor="ctr" wrap="square"/>
          <a:lstStyle/>
          <a:p>
            <a:pPr algn="ctr"/>
          </a:p>
        </p:txBody>
      </p:sp>
      <p:sp>
        <p:nvSpPr>
          <p:cNvPr id="31" name="TextBox 30"/>
          <p:cNvSpPr txBox="1"/>
          <p:nvPr/>
        </p:nvSpPr>
        <p:spPr>
          <a:xfrm>
            <a:off x="4498848" y="321868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Mentor view</a:t>
            </a:r>
          </a:p>
        </p:txBody>
      </p:sp>
      <p:sp>
        <p:nvSpPr>
          <p:cNvPr id="32" name="TextBox 31"/>
          <p:cNvSpPr txBox="1"/>
          <p:nvPr/>
        </p:nvSpPr>
        <p:spPr>
          <a:xfrm>
            <a:off x="4498848" y="341071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A cohort view for teachers — aggregate, not surveillance.</a:t>
            </a:r>
          </a:p>
        </p:txBody>
      </p:sp>
      <p:sp>
        <p:nvSpPr>
          <p:cNvPr id="33" name="Rectangle 32"/>
          <p:cNvSpPr/>
          <p:nvPr/>
        </p:nvSpPr>
        <p:spPr>
          <a:xfrm>
            <a:off x="4498848" y="3968496"/>
            <a:ext cx="3200400" cy="5486"/>
          </a:xfrm>
          <a:prstGeom prst="rect">
            <a:avLst/>
          </a:prstGeom>
          <a:solidFill>
            <a:srgbClr val="DCE4EA"/>
          </a:solidFill>
          <a:ln>
            <a:noFill/>
          </a:ln>
          <a:effectLst/>
        </p:spPr>
        <p:txBody>
          <a:bodyPr rtlCol="0" anchor="ctr" wrap="square"/>
          <a:lstStyle/>
          <a:p>
            <a:pPr algn="ctr"/>
          </a:p>
        </p:txBody>
      </p:sp>
      <p:sp>
        <p:nvSpPr>
          <p:cNvPr id="34" name="TextBox 33"/>
          <p:cNvSpPr txBox="1"/>
          <p:nvPr/>
        </p:nvSpPr>
        <p:spPr>
          <a:xfrm>
            <a:off x="4498848" y="404164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Content review queue</a:t>
            </a:r>
          </a:p>
        </p:txBody>
      </p:sp>
      <p:sp>
        <p:nvSpPr>
          <p:cNvPr id="35" name="TextBox 34"/>
          <p:cNvSpPr txBox="1"/>
          <p:nvPr/>
        </p:nvSpPr>
        <p:spPr>
          <a:xfrm>
            <a:off x="4498848" y="423367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A workflow for checking AI-generated material before sharing.</a:t>
            </a:r>
          </a:p>
        </p:txBody>
      </p:sp>
      <p:sp>
        <p:nvSpPr>
          <p:cNvPr id="36" name="Rectangle 35"/>
          <p:cNvSpPr/>
          <p:nvPr/>
        </p:nvSpPr>
        <p:spPr>
          <a:xfrm>
            <a:off x="4498848" y="4828032"/>
            <a:ext cx="3200400" cy="7315"/>
          </a:xfrm>
          <a:prstGeom prst="rect">
            <a:avLst/>
          </a:prstGeom>
          <a:solidFill>
            <a:srgbClr val="DCE4EA"/>
          </a:solidFill>
          <a:ln>
            <a:noFill/>
          </a:ln>
          <a:effectLst/>
        </p:spPr>
        <p:txBody>
          <a:bodyPr rtlCol="0" anchor="ctr" wrap="square"/>
          <a:lstStyle/>
          <a:p>
            <a:pPr algn="ctr"/>
          </a:p>
        </p:txBody>
      </p:sp>
      <p:sp>
        <p:nvSpPr>
          <p:cNvPr id="37" name="TextBox 36"/>
          <p:cNvSpPr txBox="1"/>
          <p:nvPr/>
        </p:nvSpPr>
        <p:spPr>
          <a:xfrm>
            <a:off x="4498848" y="4901184"/>
            <a:ext cx="3200400" cy="164592"/>
          </a:xfrm>
          <a:prstGeom prst="rect">
            <a:avLst/>
          </a:prstGeom>
          <a:noFill/>
        </p:spPr>
        <p:txBody>
          <a:bodyPr wrap="square" anchor="t" lIns="0" rIns="0" tIns="0" bIns="0">
            <a:noAutofit/>
          </a:bodyPr>
          <a:lstStyle/>
          <a:p>
            <a:pPr algn="l">
              <a:lnSpc>
                <a:spcPct val="112000"/>
              </a:lnSpc>
              <a:spcAft>
                <a:spcPts val="0"/>
              </a:spcAft>
            </a:pPr>
            <a:r>
              <a:rPr sz="660" b="1" i="0">
                <a:solidFill>
                  <a:srgbClr val="2E5C9A"/>
                </a:solidFill>
                <a:latin typeface="Calibri"/>
              </a:rPr>
              <a:t>HOW WE WILL KNOW</a:t>
            </a:r>
          </a:p>
        </p:txBody>
      </p:sp>
      <p:sp>
        <p:nvSpPr>
          <p:cNvPr id="38" name="TextBox 37"/>
          <p:cNvSpPr txBox="1"/>
          <p:nvPr/>
        </p:nvSpPr>
        <p:spPr>
          <a:xfrm>
            <a:off x="4498848" y="5065776"/>
            <a:ext cx="3200400" cy="219456"/>
          </a:xfrm>
          <a:prstGeom prst="rect">
            <a:avLst/>
          </a:prstGeom>
          <a:noFill/>
        </p:spPr>
        <p:txBody>
          <a:bodyPr wrap="square" anchor="t" lIns="0" rIns="0" tIns="0" bIns="0">
            <a:noAutofit/>
          </a:bodyPr>
          <a:lstStyle/>
          <a:p>
            <a:pPr algn="l">
              <a:lnSpc>
                <a:spcPct val="112000"/>
              </a:lnSpc>
              <a:spcAft>
                <a:spcPts val="0"/>
              </a:spcAft>
            </a:pPr>
            <a:r>
              <a:rPr sz="760" b="1" i="0">
                <a:solidFill>
                  <a:srgbClr val="3D4A5C"/>
                </a:solidFill>
                <a:latin typeface="Calibri"/>
              </a:rPr>
              <a:t>SIGNAL  ·  weekly active students, review turnaround</a:t>
            </a:r>
          </a:p>
        </p:txBody>
      </p:sp>
      <p:sp>
        <p:nvSpPr>
          <p:cNvPr id="39" name="Rounded Rectangle 38"/>
          <p:cNvSpPr/>
          <p:nvPr/>
        </p:nvSpPr>
        <p:spPr>
          <a:xfrm>
            <a:off x="8065007" y="1773936"/>
            <a:ext cx="3584448" cy="3639312"/>
          </a:xfrm>
          <a:prstGeom prst="roundRect">
            <a:avLst>
              <a:gd name="adj" fmla="val 4000"/>
            </a:avLst>
          </a:prstGeom>
          <a:solidFill>
            <a:srgbClr val="FFFFFF"/>
          </a:solidFill>
          <a:ln w="9525">
            <a:solidFill>
              <a:srgbClr val="DCE4EA"/>
            </a:solidFill>
          </a:ln>
          <a:effectLst/>
        </p:spPr>
        <p:txBody>
          <a:bodyPr rtlCol="0" anchor="ctr" wrap="square"/>
          <a:lstStyle/>
          <a:p>
            <a:pPr algn="ctr"/>
          </a:p>
        </p:txBody>
      </p:sp>
      <p:sp>
        <p:nvSpPr>
          <p:cNvPr id="40" name="Rounded Rectangle 39"/>
          <p:cNvSpPr/>
          <p:nvPr/>
        </p:nvSpPr>
        <p:spPr>
          <a:xfrm>
            <a:off x="8065007" y="1773936"/>
            <a:ext cx="3584448" cy="457200"/>
          </a:xfrm>
          <a:prstGeom prst="roundRect">
            <a:avLst>
              <a:gd name="adj" fmla="val 4000"/>
            </a:avLst>
          </a:prstGeom>
          <a:solidFill>
            <a:srgbClr val="EFECF7"/>
          </a:solidFill>
          <a:ln>
            <a:noFill/>
          </a:ln>
          <a:effectLst/>
        </p:spPr>
        <p:txBody>
          <a:bodyPr rtlCol="0" anchor="ctr" wrap="square"/>
          <a:lstStyle/>
          <a:p>
            <a:pPr algn="ctr"/>
          </a:p>
        </p:txBody>
      </p:sp>
      <p:sp>
        <p:nvSpPr>
          <p:cNvPr id="41" name="TextBox 40"/>
          <p:cNvSpPr txBox="1"/>
          <p:nvPr/>
        </p:nvSpPr>
        <p:spPr>
          <a:xfrm>
            <a:off x="8247887" y="1901952"/>
            <a:ext cx="3108960" cy="201168"/>
          </a:xfrm>
          <a:prstGeom prst="rect">
            <a:avLst/>
          </a:prstGeom>
          <a:noFill/>
        </p:spPr>
        <p:txBody>
          <a:bodyPr wrap="square" anchor="t" lIns="0" rIns="0" tIns="0" bIns="0">
            <a:noAutofit/>
          </a:bodyPr>
          <a:lstStyle/>
          <a:p>
            <a:pPr algn="l">
              <a:lnSpc>
                <a:spcPct val="112000"/>
              </a:lnSpc>
              <a:spcAft>
                <a:spcPts val="0"/>
              </a:spcAft>
            </a:pPr>
            <a:r>
              <a:rPr sz="840" b="1" i="0">
                <a:solidFill>
                  <a:srgbClr val="5A4B87"/>
                </a:solidFill>
                <a:latin typeface="Calibri"/>
              </a:rPr>
              <a:t>BEYOND</a:t>
            </a:r>
          </a:p>
        </p:txBody>
      </p:sp>
      <p:sp>
        <p:nvSpPr>
          <p:cNvPr id="42" name="TextBox 41"/>
          <p:cNvSpPr txBox="1"/>
          <p:nvPr/>
        </p:nvSpPr>
        <p:spPr>
          <a:xfrm>
            <a:off x="8247887" y="239572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Multi-language content</a:t>
            </a:r>
          </a:p>
        </p:txBody>
      </p:sp>
      <p:sp>
        <p:nvSpPr>
          <p:cNvPr id="43" name="TextBox 42"/>
          <p:cNvSpPr txBox="1"/>
          <p:nvPr/>
        </p:nvSpPr>
        <p:spPr>
          <a:xfrm>
            <a:off x="8247887" y="258775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Localise notes and questions, not just the interface.</a:t>
            </a:r>
          </a:p>
        </p:txBody>
      </p:sp>
      <p:sp>
        <p:nvSpPr>
          <p:cNvPr id="44" name="Rectangle 43"/>
          <p:cNvSpPr/>
          <p:nvPr/>
        </p:nvSpPr>
        <p:spPr>
          <a:xfrm>
            <a:off x="8247887" y="3145536"/>
            <a:ext cx="3200400" cy="5486"/>
          </a:xfrm>
          <a:prstGeom prst="rect">
            <a:avLst/>
          </a:prstGeom>
          <a:solidFill>
            <a:srgbClr val="DCE4EA"/>
          </a:solidFill>
          <a:ln>
            <a:noFill/>
          </a:ln>
          <a:effectLst/>
        </p:spPr>
        <p:txBody>
          <a:bodyPr rtlCol="0" anchor="ctr" wrap="square"/>
          <a:lstStyle/>
          <a:p>
            <a:pPr algn="ctr"/>
          </a:p>
        </p:txBody>
      </p:sp>
      <p:sp>
        <p:nvSpPr>
          <p:cNvPr id="45" name="TextBox 44"/>
          <p:cNvSpPr txBox="1"/>
          <p:nvPr/>
        </p:nvSpPr>
        <p:spPr>
          <a:xfrm>
            <a:off x="8247887" y="321868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LMS integration</a:t>
            </a:r>
          </a:p>
        </p:txBody>
      </p:sp>
      <p:sp>
        <p:nvSpPr>
          <p:cNvPr id="46" name="TextBox 45"/>
          <p:cNvSpPr txBox="1"/>
          <p:nvPr/>
        </p:nvSpPr>
        <p:spPr>
          <a:xfrm>
            <a:off x="8247887" y="341071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LTI-style hand-off to institutional course spaces.</a:t>
            </a:r>
          </a:p>
        </p:txBody>
      </p:sp>
      <p:sp>
        <p:nvSpPr>
          <p:cNvPr id="47" name="Rectangle 46"/>
          <p:cNvSpPr/>
          <p:nvPr/>
        </p:nvSpPr>
        <p:spPr>
          <a:xfrm>
            <a:off x="8247887" y="3968496"/>
            <a:ext cx="3200400" cy="5486"/>
          </a:xfrm>
          <a:prstGeom prst="rect">
            <a:avLst/>
          </a:prstGeom>
          <a:solidFill>
            <a:srgbClr val="DCE4EA"/>
          </a:solidFill>
          <a:ln>
            <a:noFill/>
          </a:ln>
          <a:effectLst/>
        </p:spPr>
        <p:txBody>
          <a:bodyPr rtlCol="0" anchor="ctr" wrap="square"/>
          <a:lstStyle/>
          <a:p>
            <a:pPr algn="ctr"/>
          </a:p>
        </p:txBody>
      </p:sp>
      <p:sp>
        <p:nvSpPr>
          <p:cNvPr id="48" name="TextBox 47"/>
          <p:cNvSpPr txBox="1"/>
          <p:nvPr/>
        </p:nvSpPr>
        <p:spPr>
          <a:xfrm>
            <a:off x="8247887" y="4041648"/>
            <a:ext cx="3200400" cy="201168"/>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Longitudinal study</a:t>
            </a:r>
          </a:p>
        </p:txBody>
      </p:sp>
      <p:sp>
        <p:nvSpPr>
          <p:cNvPr id="49" name="TextBox 48"/>
          <p:cNvSpPr txBox="1"/>
          <p:nvPr/>
        </p:nvSpPr>
        <p:spPr>
          <a:xfrm>
            <a:off x="8247887" y="4233672"/>
            <a:ext cx="3200400" cy="502920"/>
          </a:xfrm>
          <a:prstGeom prst="rect">
            <a:avLst/>
          </a:prstGeom>
          <a:noFill/>
        </p:spPr>
        <p:txBody>
          <a:bodyPr wrap="square" anchor="t" lIns="0" rIns="0" tIns="0" bIns="0">
            <a:noAutofit/>
          </a:bodyPr>
          <a:lstStyle/>
          <a:p>
            <a:pPr algn="l">
              <a:lnSpc>
                <a:spcPct val="114000"/>
              </a:lnSpc>
              <a:spcAft>
                <a:spcPts val="0"/>
              </a:spcAft>
            </a:pPr>
            <a:r>
              <a:rPr sz="810" b="0" i="0">
                <a:solidFill>
                  <a:srgbClr val="77859A"/>
                </a:solidFill>
                <a:latin typeface="Calibri"/>
              </a:rPr>
              <a:t>A multi-semester evaluation with an education department.</a:t>
            </a:r>
          </a:p>
        </p:txBody>
      </p:sp>
      <p:sp>
        <p:nvSpPr>
          <p:cNvPr id="50" name="Rectangle 49"/>
          <p:cNvSpPr/>
          <p:nvPr/>
        </p:nvSpPr>
        <p:spPr>
          <a:xfrm>
            <a:off x="8247887" y="4828032"/>
            <a:ext cx="3200400" cy="7315"/>
          </a:xfrm>
          <a:prstGeom prst="rect">
            <a:avLst/>
          </a:prstGeom>
          <a:solidFill>
            <a:srgbClr val="DCE4EA"/>
          </a:solidFill>
          <a:ln>
            <a:noFill/>
          </a:ln>
          <a:effectLst/>
        </p:spPr>
        <p:txBody>
          <a:bodyPr rtlCol="0" anchor="ctr" wrap="square"/>
          <a:lstStyle/>
          <a:p>
            <a:pPr algn="ctr"/>
          </a:p>
        </p:txBody>
      </p:sp>
      <p:sp>
        <p:nvSpPr>
          <p:cNvPr id="51" name="TextBox 50"/>
          <p:cNvSpPr txBox="1"/>
          <p:nvPr/>
        </p:nvSpPr>
        <p:spPr>
          <a:xfrm>
            <a:off x="8247887" y="4901184"/>
            <a:ext cx="3200400" cy="164592"/>
          </a:xfrm>
          <a:prstGeom prst="rect">
            <a:avLst/>
          </a:prstGeom>
          <a:noFill/>
        </p:spPr>
        <p:txBody>
          <a:bodyPr wrap="square" anchor="t" lIns="0" rIns="0" tIns="0" bIns="0">
            <a:noAutofit/>
          </a:bodyPr>
          <a:lstStyle/>
          <a:p>
            <a:pPr algn="l">
              <a:lnSpc>
                <a:spcPct val="112000"/>
              </a:lnSpc>
              <a:spcAft>
                <a:spcPts val="0"/>
              </a:spcAft>
            </a:pPr>
            <a:r>
              <a:rPr sz="660" b="1" i="0">
                <a:solidFill>
                  <a:srgbClr val="5A4B87"/>
                </a:solidFill>
                <a:latin typeface="Calibri"/>
              </a:rPr>
              <a:t>HOW WE WILL KNOW</a:t>
            </a:r>
          </a:p>
        </p:txBody>
      </p:sp>
      <p:sp>
        <p:nvSpPr>
          <p:cNvPr id="52" name="TextBox 51"/>
          <p:cNvSpPr txBox="1"/>
          <p:nvPr/>
        </p:nvSpPr>
        <p:spPr>
          <a:xfrm>
            <a:off x="8247887" y="5065776"/>
            <a:ext cx="3200400" cy="219456"/>
          </a:xfrm>
          <a:prstGeom prst="rect">
            <a:avLst/>
          </a:prstGeom>
          <a:noFill/>
        </p:spPr>
        <p:txBody>
          <a:bodyPr wrap="square" anchor="t" lIns="0" rIns="0" tIns="0" bIns="0">
            <a:noAutofit/>
          </a:bodyPr>
          <a:lstStyle/>
          <a:p>
            <a:pPr algn="l">
              <a:lnSpc>
                <a:spcPct val="112000"/>
              </a:lnSpc>
              <a:spcAft>
                <a:spcPts val="0"/>
              </a:spcAft>
            </a:pPr>
            <a:r>
              <a:rPr sz="760" b="1" i="0">
                <a:solidFill>
                  <a:srgbClr val="3D4A5C"/>
                </a:solidFill>
                <a:latin typeface="Calibri"/>
              </a:rPr>
              <a:t>SIGNAL  ·  multi-semester retention and outcomes</a:t>
            </a:r>
          </a:p>
        </p:txBody>
      </p:sp>
      <p:cxnSp>
        <p:nvCxnSpPr>
          <p:cNvPr id="53" name="Connector 52"/>
          <p:cNvCxnSpPr/>
          <p:nvPr/>
        </p:nvCxnSpPr>
        <p:spPr>
          <a:xfrm>
            <a:off x="566928" y="5596128"/>
            <a:ext cx="10588752" cy="0"/>
          </a:xfrm>
          <a:prstGeom prst="line">
            <a:avLst/>
          </a:prstGeom>
          <a:ln w="16510">
            <a:solidFill>
              <a:srgbClr val="DCE4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2276856" y="5513832"/>
            <a:ext cx="164592" cy="164592"/>
          </a:xfrm>
          <a:prstGeom prst="ellipse">
            <a:avLst/>
          </a:prstGeom>
          <a:solidFill>
            <a:srgbClr val="0F7A82"/>
          </a:solidFill>
          <a:ln>
            <a:noFill/>
          </a:ln>
          <a:effectLst/>
        </p:spPr>
        <p:txBody>
          <a:bodyPr rtlCol="0" anchor="ctr"/>
          <a:lstStyle/>
          <a:p>
            <a:pPr algn="ctr"/>
          </a:p>
        </p:txBody>
      </p:sp>
      <p:sp>
        <p:nvSpPr>
          <p:cNvPr id="55" name="Oval 54"/>
          <p:cNvSpPr/>
          <p:nvPr/>
        </p:nvSpPr>
        <p:spPr>
          <a:xfrm>
            <a:off x="6025896" y="5513832"/>
            <a:ext cx="164592" cy="164592"/>
          </a:xfrm>
          <a:prstGeom prst="ellipse">
            <a:avLst/>
          </a:prstGeom>
          <a:solidFill>
            <a:srgbClr val="2E5C9A"/>
          </a:solidFill>
          <a:ln>
            <a:noFill/>
          </a:ln>
          <a:effectLst/>
        </p:spPr>
        <p:txBody>
          <a:bodyPr rtlCol="0" anchor="ctr"/>
          <a:lstStyle/>
          <a:p>
            <a:pPr algn="ctr"/>
          </a:p>
        </p:txBody>
      </p:sp>
      <p:sp>
        <p:nvSpPr>
          <p:cNvPr id="56" name="Oval 55"/>
          <p:cNvSpPr/>
          <p:nvPr/>
        </p:nvSpPr>
        <p:spPr>
          <a:xfrm>
            <a:off x="9774935" y="5513832"/>
            <a:ext cx="164592" cy="164592"/>
          </a:xfrm>
          <a:prstGeom prst="ellipse">
            <a:avLst/>
          </a:prstGeom>
          <a:solidFill>
            <a:srgbClr val="5A4B87"/>
          </a:solidFill>
          <a:ln>
            <a:noFill/>
          </a:ln>
          <a:effectLst/>
        </p:spPr>
        <p:txBody>
          <a:bodyPr rtlCol="0" anchor="ctr"/>
          <a:lstStyle/>
          <a:p>
            <a:pPr algn="ctr"/>
          </a:p>
        </p:txBody>
      </p:sp>
      <p:sp>
        <p:nvSpPr>
          <p:cNvPr id="57" name="TextBox 56"/>
          <p:cNvSpPr txBox="1"/>
          <p:nvPr/>
        </p:nvSpPr>
        <p:spPr>
          <a:xfrm>
            <a:off x="11247120" y="5504688"/>
            <a:ext cx="384048" cy="182880"/>
          </a:xfrm>
          <a:prstGeom prst="rect">
            <a:avLst/>
          </a:prstGeom>
          <a:noFill/>
        </p:spPr>
        <p:txBody>
          <a:bodyPr wrap="square" anchor="t" lIns="0" rIns="0" tIns="0" bIns="0">
            <a:noAutofit/>
          </a:bodyPr>
          <a:lstStyle/>
          <a:p>
            <a:pPr algn="l">
              <a:lnSpc>
                <a:spcPct val="112000"/>
              </a:lnSpc>
              <a:spcAft>
                <a:spcPts val="0"/>
              </a:spcAft>
            </a:pPr>
            <a:r>
              <a:rPr sz="640" b="1" i="0">
                <a:solidFill>
                  <a:srgbClr val="77859A"/>
                </a:solidFill>
                <a:latin typeface="Calibri"/>
              </a:rPr>
              <a:t>TIME</a:t>
            </a:r>
          </a:p>
        </p:txBody>
      </p:sp>
      <p:sp>
        <p:nvSpPr>
          <p:cNvPr id="58" name="TextBox 57"/>
          <p:cNvSpPr txBox="1"/>
          <p:nvPr/>
        </p:nvSpPr>
        <p:spPr>
          <a:xfrm>
            <a:off x="566928" y="5815584"/>
            <a:ext cx="10972800" cy="237744"/>
          </a:xfrm>
          <a:prstGeom prst="rect">
            <a:avLst/>
          </a:prstGeom>
          <a:noFill/>
        </p:spPr>
        <p:txBody>
          <a:bodyPr wrap="square" anchor="t" lIns="0" rIns="0" tIns="0" bIns="0">
            <a:noAutofit/>
          </a:bodyPr>
          <a:lstStyle/>
          <a:p>
            <a:pPr algn="l">
              <a:lnSpc>
                <a:spcPct val="112000"/>
              </a:lnSpc>
              <a:spcAft>
                <a:spcPts val="0"/>
              </a:spcAft>
            </a:pPr>
            <a:r>
              <a:rPr sz="940" b="1" i="0">
                <a:solidFill>
                  <a:srgbClr val="0A565C"/>
                </a:solidFill>
                <a:latin typeface="Calibri"/>
              </a:rPr>
              <a:t>Sequencing is deliberate: prove that the loop helps a student learn before adding surface area.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TextBox 2"/>
          <p:cNvSpPr txBox="1"/>
          <p:nvPr/>
        </p:nvSpPr>
        <p:spPr>
          <a:xfrm>
            <a:off x="566928" y="329184"/>
            <a:ext cx="7315200" cy="219456"/>
          </a:xfrm>
          <a:prstGeom prst="rect">
            <a:avLst/>
          </a:prstGeom>
          <a:noFill/>
        </p:spPr>
        <p:txBody>
          <a:bodyPr wrap="square" anchor="t" lIns="0" rIns="0" tIns="0" bIns="0">
            <a:noAutofit/>
          </a:bodyPr>
          <a:lstStyle/>
          <a:p>
            <a:pPr algn="l">
              <a:lnSpc>
                <a:spcPct val="112000"/>
              </a:lnSpc>
              <a:spcAft>
                <a:spcPts val="0"/>
              </a:spcAft>
            </a:pPr>
            <a:r>
              <a:rPr sz="900" b="1" i="0">
                <a:solidFill>
                  <a:srgbClr val="0F7A82"/>
                </a:solidFill>
                <a:latin typeface="Calibri"/>
              </a:rPr>
              <a:t>15 · REFERENCES</a:t>
            </a:r>
          </a:p>
        </p:txBody>
      </p:sp>
      <p:sp>
        <p:nvSpPr>
          <p:cNvPr id="4" name="TextBox 3"/>
          <p:cNvSpPr txBox="1"/>
          <p:nvPr/>
        </p:nvSpPr>
        <p:spPr>
          <a:xfrm>
            <a:off x="566928" y="530352"/>
            <a:ext cx="10241280" cy="566928"/>
          </a:xfrm>
          <a:prstGeom prst="rect">
            <a:avLst/>
          </a:prstGeom>
          <a:noFill/>
        </p:spPr>
        <p:txBody>
          <a:bodyPr wrap="square" anchor="t" lIns="0" rIns="0" tIns="0" bIns="0">
            <a:noAutofit/>
          </a:bodyPr>
          <a:lstStyle/>
          <a:p>
            <a:pPr algn="l">
              <a:lnSpc>
                <a:spcPct val="100000"/>
              </a:lnSpc>
              <a:spcAft>
                <a:spcPts val="0"/>
              </a:spcAft>
            </a:pPr>
            <a:r>
              <a:rPr sz="2700" b="1" i="0">
                <a:solidFill>
                  <a:srgbClr val="152238"/>
                </a:solidFill>
                <a:latin typeface="Calibri"/>
              </a:rPr>
              <a:t>Sources used to verify this work</a:t>
            </a:r>
          </a:p>
        </p:txBody>
      </p:sp>
      <p:sp>
        <p:nvSpPr>
          <p:cNvPr id="5" name="Rectangle 4"/>
          <p:cNvSpPr/>
          <p:nvPr/>
        </p:nvSpPr>
        <p:spPr>
          <a:xfrm>
            <a:off x="566928" y="1133856"/>
            <a:ext cx="777240" cy="32004"/>
          </a:xfrm>
          <a:prstGeom prst="rect">
            <a:avLst/>
          </a:prstGeom>
          <a:solidFill>
            <a:srgbClr val="0F7A82"/>
          </a:solidFill>
          <a:ln>
            <a:noFill/>
          </a:ln>
          <a:effectLst/>
        </p:spPr>
        <p:txBody>
          <a:bodyPr rtlCol="0" anchor="ctr" wrap="square"/>
          <a:lstStyle/>
          <a:p>
            <a:pPr algn="ctr"/>
          </a:p>
        </p:txBody>
      </p:sp>
      <p:sp>
        <p:nvSpPr>
          <p:cNvPr id="6" name="TextBox 5"/>
          <p:cNvSpPr txBox="1"/>
          <p:nvPr/>
        </p:nvSpPr>
        <p:spPr>
          <a:xfrm>
            <a:off x="566928" y="1243584"/>
            <a:ext cx="10561320" cy="457200"/>
          </a:xfrm>
          <a:prstGeom prst="rect">
            <a:avLst/>
          </a:prstGeom>
          <a:noFill/>
        </p:spPr>
        <p:txBody>
          <a:bodyPr wrap="square" anchor="t" lIns="0" rIns="0" tIns="0" bIns="0">
            <a:noAutofit/>
          </a:bodyPr>
          <a:lstStyle/>
          <a:p>
            <a:pPr algn="l">
              <a:lnSpc>
                <a:spcPct val="115000"/>
              </a:lnSpc>
              <a:spcAft>
                <a:spcPts val="0"/>
              </a:spcAft>
            </a:pPr>
            <a:r>
              <a:rPr sz="1150" b="0" i="0">
                <a:solidFill>
                  <a:srgbClr val="3D4A5C"/>
                </a:solidFill>
                <a:latin typeface="Calibri"/>
              </a:rPr>
              <a:t>Primary sources first; technical documentation only where it was needed to confirm a claim.</a:t>
            </a:r>
          </a:p>
        </p:txBody>
      </p:sp>
      <p:sp>
        <p:nvSpPr>
          <p:cNvPr id="7" name="TextBox 6"/>
          <p:cNvSpPr txBox="1"/>
          <p:nvPr/>
        </p:nvSpPr>
        <p:spPr>
          <a:xfrm>
            <a:off x="8412480" y="347472"/>
            <a:ext cx="3200400" cy="201168"/>
          </a:xfrm>
          <a:prstGeom prst="rect">
            <a:avLst/>
          </a:prstGeom>
          <a:noFill/>
        </p:spPr>
        <p:txBody>
          <a:bodyPr wrap="square" anchor="t" lIns="0" rIns="0" tIns="0" bIns="0">
            <a:noAutofit/>
          </a:bodyPr>
          <a:lstStyle/>
          <a:p>
            <a:pPr algn="r">
              <a:lnSpc>
                <a:spcPct val="112000"/>
              </a:lnSpc>
              <a:spcAft>
                <a:spcPts val="0"/>
              </a:spcAft>
            </a:pPr>
            <a:r>
              <a:rPr sz="800" b="1" i="0">
                <a:solidFill>
                  <a:srgbClr val="77859A"/>
                </a:solidFill>
                <a:latin typeface="Calibri"/>
              </a:rPr>
              <a:t>CLOSE</a:t>
            </a:r>
          </a:p>
        </p:txBody>
      </p:sp>
      <p:sp>
        <p:nvSpPr>
          <p:cNvPr id="8" name="TextBox 7"/>
          <p:cNvSpPr txBox="1"/>
          <p:nvPr/>
        </p:nvSpPr>
        <p:spPr>
          <a:xfrm>
            <a:off x="10332720" y="6510528"/>
            <a:ext cx="1298448" cy="182880"/>
          </a:xfrm>
          <a:prstGeom prst="rect">
            <a:avLst/>
          </a:prstGeom>
          <a:noFill/>
        </p:spPr>
        <p:txBody>
          <a:bodyPr wrap="square" anchor="t" lIns="0" rIns="0" tIns="0" bIns="0">
            <a:noAutofit/>
          </a:bodyPr>
          <a:lstStyle/>
          <a:p>
            <a:pPr algn="r">
              <a:lnSpc>
                <a:spcPct val="112000"/>
              </a:lnSpc>
              <a:spcAft>
                <a:spcPts val="0"/>
              </a:spcAft>
            </a:pPr>
            <a:r>
              <a:rPr sz="840" b="0" i="0">
                <a:solidFill>
                  <a:srgbClr val="77859A"/>
                </a:solidFill>
                <a:latin typeface="Calibri"/>
              </a:rPr>
              <a:t>17 / 18</a:t>
            </a:r>
          </a:p>
        </p:txBody>
      </p:sp>
      <p:sp>
        <p:nvSpPr>
          <p:cNvPr id="9" name="Rectangle 8"/>
          <p:cNvSpPr/>
          <p:nvPr/>
        </p:nvSpPr>
        <p:spPr>
          <a:xfrm>
            <a:off x="566928" y="6455664"/>
            <a:ext cx="11064240" cy="7315"/>
          </a:xfrm>
          <a:prstGeom prst="rect">
            <a:avLst/>
          </a:prstGeom>
          <a:solidFill>
            <a:srgbClr val="DCE4EA"/>
          </a:solidFill>
          <a:ln>
            <a:noFill/>
          </a:ln>
          <a:effectLst/>
        </p:spPr>
        <p:txBody>
          <a:bodyPr rtlCol="0" anchor="ctr" wrap="square"/>
          <a:lstStyle/>
          <a:p>
            <a:pPr algn="ctr"/>
          </a:p>
        </p:txBody>
      </p:sp>
      <p:sp>
        <p:nvSpPr>
          <p:cNvPr id="10" name="TextBox 9"/>
          <p:cNvSpPr txBox="1"/>
          <p:nvPr/>
        </p:nvSpPr>
        <p:spPr>
          <a:xfrm>
            <a:off x="566928" y="6519672"/>
            <a:ext cx="7315200" cy="182880"/>
          </a:xfrm>
          <a:prstGeom prst="rect">
            <a:avLst/>
          </a:prstGeom>
          <a:noFill/>
        </p:spPr>
        <p:txBody>
          <a:bodyPr wrap="square" anchor="t" lIns="0" rIns="0" tIns="0" bIns="0">
            <a:noAutofit/>
          </a:bodyPr>
          <a:lstStyle/>
          <a:p>
            <a:pPr algn="l">
              <a:lnSpc>
                <a:spcPct val="112000"/>
              </a:lnSpc>
              <a:spcAft>
                <a:spcPts val="0"/>
              </a:spcAft>
            </a:pPr>
            <a:r>
              <a:rPr sz="800" b="0" i="0">
                <a:solidFill>
                  <a:srgbClr val="77859A"/>
                </a:solidFill>
                <a:latin typeface="Calibri"/>
              </a:rPr>
              <a:t>StudyMapper  ·  AI-Driven Personalized Learning &amp; Academic Management</a:t>
            </a:r>
          </a:p>
        </p:txBody>
      </p:sp>
      <p:sp>
        <p:nvSpPr>
          <p:cNvPr id="11" name="Rounded Rectangle 10"/>
          <p:cNvSpPr/>
          <p:nvPr/>
        </p:nvSpPr>
        <p:spPr>
          <a:xfrm>
            <a:off x="566928" y="1737360"/>
            <a:ext cx="5358384" cy="4224528"/>
          </a:xfrm>
          <a:prstGeom prst="roundRect">
            <a:avLst>
              <a:gd name="adj" fmla="val 3500"/>
            </a:avLst>
          </a:prstGeom>
          <a:solidFill>
            <a:srgbClr val="F5F8FA"/>
          </a:solidFill>
          <a:ln w="9525">
            <a:solidFill>
              <a:srgbClr val="DCE4EA"/>
            </a:solidFill>
          </a:ln>
          <a:effectLst/>
        </p:spPr>
        <p:txBody>
          <a:bodyPr rtlCol="0" anchor="ctr" wrap="square"/>
          <a:lstStyle/>
          <a:p>
            <a:pPr algn="ctr"/>
          </a:p>
        </p:txBody>
      </p:sp>
      <p:sp>
        <p:nvSpPr>
          <p:cNvPr id="12" name="TextBox 11"/>
          <p:cNvSpPr txBox="1"/>
          <p:nvPr/>
        </p:nvSpPr>
        <p:spPr>
          <a:xfrm>
            <a:off x="786384" y="1865376"/>
            <a:ext cx="4919472" cy="182880"/>
          </a:xfrm>
          <a:prstGeom prst="rect">
            <a:avLst/>
          </a:prstGeom>
          <a:noFill/>
        </p:spPr>
        <p:txBody>
          <a:bodyPr wrap="square" anchor="t" lIns="0" rIns="0" tIns="0" bIns="0">
            <a:noAutofit/>
          </a:bodyPr>
          <a:lstStyle/>
          <a:p>
            <a:pPr algn="l">
              <a:lnSpc>
                <a:spcPct val="112000"/>
              </a:lnSpc>
              <a:spcAft>
                <a:spcPts val="0"/>
              </a:spcAft>
            </a:pPr>
            <a:r>
              <a:rPr sz="760" b="1" i="0">
                <a:solidFill>
                  <a:srgbClr val="0F7A82"/>
                </a:solidFill>
                <a:latin typeface="Calibri"/>
              </a:rPr>
              <a:t>PRIMARY &amp; PLATFORM</a:t>
            </a:r>
          </a:p>
        </p:txBody>
      </p:sp>
      <p:sp>
        <p:nvSpPr>
          <p:cNvPr id="13" name="Rounded Rectangle 12"/>
          <p:cNvSpPr/>
          <p:nvPr/>
        </p:nvSpPr>
        <p:spPr>
          <a:xfrm>
            <a:off x="6272784" y="1737360"/>
            <a:ext cx="5358384" cy="4224528"/>
          </a:xfrm>
          <a:prstGeom prst="roundRect">
            <a:avLst>
              <a:gd name="adj" fmla="val 3500"/>
            </a:avLst>
          </a:prstGeom>
          <a:solidFill>
            <a:srgbClr val="F5F8FA"/>
          </a:solidFill>
          <a:ln w="9525">
            <a:solidFill>
              <a:srgbClr val="DCE4EA"/>
            </a:solidFill>
          </a:ln>
          <a:effectLst/>
        </p:spPr>
        <p:txBody>
          <a:bodyPr rtlCol="0" anchor="ctr" wrap="square"/>
          <a:lstStyle/>
          <a:p>
            <a:pPr algn="ctr"/>
          </a:p>
        </p:txBody>
      </p:sp>
      <p:sp>
        <p:nvSpPr>
          <p:cNvPr id="14" name="TextBox 13"/>
          <p:cNvSpPr txBox="1"/>
          <p:nvPr/>
        </p:nvSpPr>
        <p:spPr>
          <a:xfrm>
            <a:off x="6492240" y="1865376"/>
            <a:ext cx="4919472" cy="182880"/>
          </a:xfrm>
          <a:prstGeom prst="rect">
            <a:avLst/>
          </a:prstGeom>
          <a:noFill/>
        </p:spPr>
        <p:txBody>
          <a:bodyPr wrap="square" anchor="t" lIns="0" rIns="0" tIns="0" bIns="0">
            <a:noAutofit/>
          </a:bodyPr>
          <a:lstStyle/>
          <a:p>
            <a:pPr algn="l">
              <a:lnSpc>
                <a:spcPct val="112000"/>
              </a:lnSpc>
              <a:spcAft>
                <a:spcPts val="0"/>
              </a:spcAft>
            </a:pPr>
            <a:r>
              <a:rPr sz="760" b="1" i="0">
                <a:solidFill>
                  <a:srgbClr val="0F7A82"/>
                </a:solidFill>
                <a:latin typeface="Calibri"/>
              </a:rPr>
              <a:t>LIBRARIES &amp; METHODS</a:t>
            </a:r>
          </a:p>
        </p:txBody>
      </p:sp>
      <p:sp>
        <p:nvSpPr>
          <p:cNvPr id="15" name="TextBox 14"/>
          <p:cNvSpPr txBox="1"/>
          <p:nvPr/>
        </p:nvSpPr>
        <p:spPr>
          <a:xfrm>
            <a:off x="786384" y="2148840"/>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1</a:t>
            </a:r>
          </a:p>
        </p:txBody>
      </p:sp>
      <p:sp>
        <p:nvSpPr>
          <p:cNvPr id="16" name="TextBox 15"/>
          <p:cNvSpPr txBox="1"/>
          <p:nvPr/>
        </p:nvSpPr>
        <p:spPr>
          <a:xfrm>
            <a:off x="1060704" y="2148840"/>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StudyMapper repository — github.com/palturuvenubhaskar/StudyMapper. Primary source for every implementation claim in this deck.</a:t>
            </a:r>
          </a:p>
        </p:txBody>
      </p:sp>
      <p:sp>
        <p:nvSpPr>
          <p:cNvPr id="17" name="TextBox 16"/>
          <p:cNvSpPr txBox="1"/>
          <p:nvPr/>
        </p:nvSpPr>
        <p:spPr>
          <a:xfrm>
            <a:off x="786384" y="2770632"/>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2</a:t>
            </a:r>
          </a:p>
        </p:txBody>
      </p:sp>
      <p:sp>
        <p:nvSpPr>
          <p:cNvPr id="18" name="TextBox 17"/>
          <p:cNvSpPr txBox="1"/>
          <p:nvPr/>
        </p:nvSpPr>
        <p:spPr>
          <a:xfrm>
            <a:off x="1060704" y="2770632"/>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Project abstract — “StudyMapper: AI-Driven Personalized Learning and Academic Management System”, ALITS, 2026–27.</a:t>
            </a:r>
          </a:p>
        </p:txBody>
      </p:sp>
      <p:sp>
        <p:nvSpPr>
          <p:cNvPr id="19" name="TextBox 18"/>
          <p:cNvSpPr txBox="1"/>
          <p:nvPr/>
        </p:nvSpPr>
        <p:spPr>
          <a:xfrm>
            <a:off x="786384" y="3392424"/>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3</a:t>
            </a:r>
          </a:p>
        </p:txBody>
      </p:sp>
      <p:sp>
        <p:nvSpPr>
          <p:cNvPr id="20" name="TextBox 19"/>
          <p:cNvSpPr txBox="1"/>
          <p:nvPr/>
        </p:nvSpPr>
        <p:spPr>
          <a:xfrm>
            <a:off x="1060704" y="3392424"/>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React 19 documentation — react.dev. Component model and hooks used across the 46 routed views.</a:t>
            </a:r>
          </a:p>
        </p:txBody>
      </p:sp>
      <p:sp>
        <p:nvSpPr>
          <p:cNvPr id="21" name="TextBox 20"/>
          <p:cNvSpPr txBox="1"/>
          <p:nvPr/>
        </p:nvSpPr>
        <p:spPr>
          <a:xfrm>
            <a:off x="786384" y="4014216"/>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4</a:t>
            </a:r>
          </a:p>
        </p:txBody>
      </p:sp>
      <p:sp>
        <p:nvSpPr>
          <p:cNvPr id="22" name="TextBox 21"/>
          <p:cNvSpPr txBox="1"/>
          <p:nvPr/>
        </p:nvSpPr>
        <p:spPr>
          <a:xfrm>
            <a:off x="1060704" y="4014216"/>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Vite documentation — vitejs.dev. Build tooling and the production bundle.</a:t>
            </a:r>
          </a:p>
        </p:txBody>
      </p:sp>
      <p:sp>
        <p:nvSpPr>
          <p:cNvPr id="23" name="TextBox 22"/>
          <p:cNvSpPr txBox="1"/>
          <p:nvPr/>
        </p:nvSpPr>
        <p:spPr>
          <a:xfrm>
            <a:off x="786384" y="4636008"/>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5</a:t>
            </a:r>
          </a:p>
        </p:txBody>
      </p:sp>
      <p:sp>
        <p:nvSpPr>
          <p:cNvPr id="24" name="TextBox 23"/>
          <p:cNvSpPr txBox="1"/>
          <p:nvPr/>
        </p:nvSpPr>
        <p:spPr>
          <a:xfrm>
            <a:off x="1060704" y="4636008"/>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Dexie.js documentation — dexie.org. IndexedDB schema, transactions and live queries.</a:t>
            </a:r>
          </a:p>
        </p:txBody>
      </p:sp>
      <p:sp>
        <p:nvSpPr>
          <p:cNvPr id="25" name="TextBox 24"/>
          <p:cNvSpPr txBox="1"/>
          <p:nvPr/>
        </p:nvSpPr>
        <p:spPr>
          <a:xfrm>
            <a:off x="786384" y="5257800"/>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6</a:t>
            </a:r>
          </a:p>
        </p:txBody>
      </p:sp>
      <p:sp>
        <p:nvSpPr>
          <p:cNvPr id="26" name="TextBox 25"/>
          <p:cNvSpPr txBox="1"/>
          <p:nvPr/>
        </p:nvSpPr>
        <p:spPr>
          <a:xfrm>
            <a:off x="1060704" y="5257800"/>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Firebase Authentication — firebase.google.com/docs/auth. Google, email and phone sign-in.</a:t>
            </a:r>
          </a:p>
        </p:txBody>
      </p:sp>
      <p:sp>
        <p:nvSpPr>
          <p:cNvPr id="27" name="TextBox 26"/>
          <p:cNvSpPr txBox="1"/>
          <p:nvPr/>
        </p:nvSpPr>
        <p:spPr>
          <a:xfrm>
            <a:off x="6492240" y="2148840"/>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7</a:t>
            </a:r>
          </a:p>
        </p:txBody>
      </p:sp>
      <p:sp>
        <p:nvSpPr>
          <p:cNvPr id="28" name="TextBox 27"/>
          <p:cNvSpPr txBox="1"/>
          <p:nvPr/>
        </p:nvSpPr>
        <p:spPr>
          <a:xfrm>
            <a:off x="6766560" y="2148840"/>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OpenRouter API documentation — openrouter.ai/docs. Model routing, streaming and fallback behaviour.</a:t>
            </a:r>
          </a:p>
        </p:txBody>
      </p:sp>
      <p:sp>
        <p:nvSpPr>
          <p:cNvPr id="29" name="TextBox 28"/>
          <p:cNvSpPr txBox="1"/>
          <p:nvPr/>
        </p:nvSpPr>
        <p:spPr>
          <a:xfrm>
            <a:off x="6492240" y="2770632"/>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8</a:t>
            </a:r>
          </a:p>
        </p:txBody>
      </p:sp>
      <p:sp>
        <p:nvSpPr>
          <p:cNvPr id="30" name="TextBox 29"/>
          <p:cNvSpPr txBox="1"/>
          <p:nvPr/>
        </p:nvSpPr>
        <p:spPr>
          <a:xfrm>
            <a:off x="6766560" y="2770632"/>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Pyodide documentation — pyodide.org. In-browser Python runtime used by coding practice.</a:t>
            </a:r>
          </a:p>
        </p:txBody>
      </p:sp>
      <p:sp>
        <p:nvSpPr>
          <p:cNvPr id="31" name="TextBox 30"/>
          <p:cNvSpPr txBox="1"/>
          <p:nvPr/>
        </p:nvSpPr>
        <p:spPr>
          <a:xfrm>
            <a:off x="6492240" y="3392424"/>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9</a:t>
            </a:r>
          </a:p>
        </p:txBody>
      </p:sp>
      <p:sp>
        <p:nvSpPr>
          <p:cNvPr id="32" name="TextBox 31"/>
          <p:cNvSpPr txBox="1"/>
          <p:nvPr/>
        </p:nvSpPr>
        <p:spPr>
          <a:xfrm>
            <a:off x="6766560" y="3392424"/>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Tesseract.js — tesseract.js.org; pdf.js — mozilla.github.io/pdf.js; mammoth.js — mammothjs.org. File parsing pipeline.</a:t>
            </a:r>
          </a:p>
        </p:txBody>
      </p:sp>
      <p:sp>
        <p:nvSpPr>
          <p:cNvPr id="33" name="TextBox 32"/>
          <p:cNvSpPr txBox="1"/>
          <p:nvPr/>
        </p:nvSpPr>
        <p:spPr>
          <a:xfrm>
            <a:off x="6492240" y="4014216"/>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10</a:t>
            </a:r>
          </a:p>
        </p:txBody>
      </p:sp>
      <p:sp>
        <p:nvSpPr>
          <p:cNvPr id="34" name="TextBox 33"/>
          <p:cNvSpPr txBox="1"/>
          <p:nvPr/>
        </p:nvSpPr>
        <p:spPr>
          <a:xfrm>
            <a:off x="6766560" y="4014216"/>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Mermaid — mermaid.js.org; KaTeX — katex.org. Diagram and mathematical rendering.</a:t>
            </a:r>
          </a:p>
        </p:txBody>
      </p:sp>
      <p:sp>
        <p:nvSpPr>
          <p:cNvPr id="35" name="TextBox 34"/>
          <p:cNvSpPr txBox="1"/>
          <p:nvPr/>
        </p:nvSpPr>
        <p:spPr>
          <a:xfrm>
            <a:off x="6492240" y="4636008"/>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11</a:t>
            </a:r>
          </a:p>
        </p:txBody>
      </p:sp>
      <p:sp>
        <p:nvSpPr>
          <p:cNvPr id="36" name="TextBox 35"/>
          <p:cNvSpPr txBox="1"/>
          <p:nvPr/>
        </p:nvSpPr>
        <p:spPr>
          <a:xfrm>
            <a:off x="6766560" y="4636008"/>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P. A. Woźniak, “SuperMemo 2: Algorithm and implementation”, 1987. Basis of the SM-2 scheduler.</a:t>
            </a:r>
          </a:p>
        </p:txBody>
      </p:sp>
      <p:sp>
        <p:nvSpPr>
          <p:cNvPr id="37" name="TextBox 36"/>
          <p:cNvSpPr txBox="1"/>
          <p:nvPr/>
        </p:nvSpPr>
        <p:spPr>
          <a:xfrm>
            <a:off x="6492240" y="5257800"/>
            <a:ext cx="292608" cy="201168"/>
          </a:xfrm>
          <a:prstGeom prst="rect">
            <a:avLst/>
          </a:prstGeom>
          <a:noFill/>
        </p:spPr>
        <p:txBody>
          <a:bodyPr wrap="square" anchor="t" lIns="0" rIns="0" tIns="0" bIns="0">
            <a:noAutofit/>
          </a:bodyPr>
          <a:lstStyle/>
          <a:p>
            <a:pPr algn="l">
              <a:lnSpc>
                <a:spcPct val="112000"/>
              </a:lnSpc>
              <a:spcAft>
                <a:spcPts val="0"/>
              </a:spcAft>
            </a:pPr>
            <a:r>
              <a:rPr sz="880" b="1" i="0">
                <a:solidFill>
                  <a:srgbClr val="0F7A82"/>
                </a:solidFill>
                <a:latin typeface="Calibri"/>
              </a:rPr>
              <a:t>12</a:t>
            </a:r>
          </a:p>
        </p:txBody>
      </p:sp>
      <p:sp>
        <p:nvSpPr>
          <p:cNvPr id="38" name="TextBox 37"/>
          <p:cNvSpPr txBox="1"/>
          <p:nvPr/>
        </p:nvSpPr>
        <p:spPr>
          <a:xfrm>
            <a:off x="6766560" y="5257800"/>
            <a:ext cx="4645152" cy="585216"/>
          </a:xfrm>
          <a:prstGeom prst="rect">
            <a:avLst/>
          </a:prstGeom>
          <a:noFill/>
        </p:spPr>
        <p:txBody>
          <a:bodyPr wrap="square" anchor="t" lIns="0" rIns="0" tIns="0" bIns="0">
            <a:noAutofit/>
          </a:bodyPr>
          <a:lstStyle/>
          <a:p>
            <a:pPr algn="l">
              <a:lnSpc>
                <a:spcPct val="116000"/>
              </a:lnSpc>
              <a:spcAft>
                <a:spcPts val="0"/>
              </a:spcAft>
            </a:pPr>
            <a:r>
              <a:rPr sz="840" b="0" i="0">
                <a:solidFill>
                  <a:srgbClr val="3D4A5C"/>
                </a:solidFill>
                <a:latin typeface="Calibri"/>
              </a:rPr>
              <a:t>Anki manual — apps.ankiweb.net. Reference implementation of spaced-repetition scheduling.</a:t>
            </a:r>
          </a:p>
        </p:txBody>
      </p:sp>
      <p:sp>
        <p:nvSpPr>
          <p:cNvPr id="39" name="TextBox 38"/>
          <p:cNvSpPr txBox="1"/>
          <p:nvPr/>
        </p:nvSpPr>
        <p:spPr>
          <a:xfrm>
            <a:off x="566928" y="6071616"/>
            <a:ext cx="11064240" cy="219456"/>
          </a:xfrm>
          <a:prstGeom prst="rect">
            <a:avLst/>
          </a:prstGeom>
          <a:noFill/>
        </p:spPr>
        <p:txBody>
          <a:bodyPr wrap="square" anchor="t" lIns="0" rIns="0" tIns="0" bIns="0">
            <a:noAutofit/>
          </a:bodyPr>
          <a:lstStyle/>
          <a:p>
            <a:pPr algn="l">
              <a:lnSpc>
                <a:spcPct val="112000"/>
              </a:lnSpc>
              <a:spcAft>
                <a:spcPts val="0"/>
              </a:spcAft>
            </a:pPr>
            <a:r>
              <a:rPr sz="819" b="0" i="1">
                <a:solidFill>
                  <a:srgbClr val="77859A"/>
                </a:solidFill>
                <a:latin typeface="Calibri"/>
              </a:rPr>
              <a:t>All web sources accessed October 2026. Only sources used to verify the implementation are listed.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0F7A82"/>
          </a:solidFill>
          <a:ln>
            <a:noFill/>
          </a:ln>
          <a:effectLst/>
        </p:spPr>
        <p:txBody>
          <a:bodyPr rtlCol="0" anchor="ctr" wrap="square"/>
          <a:lstStyle/>
          <a:p>
            <a:pPr algn="ctr"/>
          </a:p>
        </p:txBody>
      </p:sp>
      <p:sp>
        <p:nvSpPr>
          <p:cNvPr id="3" name="Oval 2"/>
          <p:cNvSpPr/>
          <p:nvPr/>
        </p:nvSpPr>
        <p:spPr>
          <a:xfrm>
            <a:off x="9692640" y="-1371600"/>
            <a:ext cx="4023360" cy="4023360"/>
          </a:xfrm>
          <a:prstGeom prst="ellipse">
            <a:avLst/>
          </a:prstGeom>
          <a:solidFill>
            <a:srgbClr val="E6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5669280" cy="777240"/>
          </a:xfrm>
          <a:prstGeom prst="rect">
            <a:avLst/>
          </a:prstGeom>
          <a:noFill/>
        </p:spPr>
        <p:txBody>
          <a:bodyPr wrap="square" anchor="t" lIns="0" rIns="0" tIns="0" bIns="0">
            <a:noAutofit/>
          </a:bodyPr>
          <a:lstStyle/>
          <a:p>
            <a:pPr algn="l">
              <a:lnSpc>
                <a:spcPct val="112000"/>
              </a:lnSpc>
              <a:spcAft>
                <a:spcPts val="0"/>
              </a:spcAft>
            </a:pPr>
            <a:r>
              <a:rPr sz="4600" b="1" i="0">
                <a:solidFill>
                  <a:srgbClr val="152238"/>
                </a:solidFill>
                <a:latin typeface="Calibri"/>
              </a:rPr>
              <a:t>Thank you.</a:t>
            </a:r>
          </a:p>
        </p:txBody>
      </p:sp>
      <p:sp>
        <p:nvSpPr>
          <p:cNvPr id="5" name="TextBox 4"/>
          <p:cNvSpPr txBox="1"/>
          <p:nvPr/>
        </p:nvSpPr>
        <p:spPr>
          <a:xfrm>
            <a:off x="566928" y="2395728"/>
            <a:ext cx="5669280" cy="365760"/>
          </a:xfrm>
          <a:prstGeom prst="rect">
            <a:avLst/>
          </a:prstGeom>
          <a:noFill/>
        </p:spPr>
        <p:txBody>
          <a:bodyPr wrap="square" anchor="t" lIns="0" rIns="0" tIns="0" bIns="0">
            <a:noAutofit/>
          </a:bodyPr>
          <a:lstStyle/>
          <a:p>
            <a:pPr algn="l">
              <a:lnSpc>
                <a:spcPct val="112000"/>
              </a:lnSpc>
              <a:spcAft>
                <a:spcPts val="0"/>
              </a:spcAft>
            </a:pPr>
            <a:r>
              <a:rPr sz="1800" b="1" i="0">
                <a:solidFill>
                  <a:srgbClr val="0F7A82"/>
                </a:solidFill>
                <a:latin typeface="Calibri"/>
              </a:rPr>
              <a:t>Questions &amp; discussion</a:t>
            </a:r>
          </a:p>
        </p:txBody>
      </p:sp>
      <p:sp>
        <p:nvSpPr>
          <p:cNvPr id="6" name="Rectangle 5"/>
          <p:cNvSpPr/>
          <p:nvPr/>
        </p:nvSpPr>
        <p:spPr>
          <a:xfrm>
            <a:off x="566928" y="2907792"/>
            <a:ext cx="822960" cy="32004"/>
          </a:xfrm>
          <a:prstGeom prst="rect">
            <a:avLst/>
          </a:prstGeom>
          <a:solidFill>
            <a:srgbClr val="0F7A82"/>
          </a:solidFill>
          <a:ln>
            <a:noFill/>
          </a:ln>
          <a:effectLst/>
        </p:spPr>
        <p:txBody>
          <a:bodyPr rtlCol="0" anchor="ctr" wrap="square"/>
          <a:lstStyle/>
          <a:p>
            <a:pPr algn="ctr"/>
          </a:p>
        </p:txBody>
      </p:sp>
      <p:sp>
        <p:nvSpPr>
          <p:cNvPr id="7" name="TextBox 6"/>
          <p:cNvSpPr txBox="1"/>
          <p:nvPr/>
        </p:nvSpPr>
        <p:spPr>
          <a:xfrm>
            <a:off x="566928" y="3127248"/>
            <a:ext cx="5486400" cy="640080"/>
          </a:xfrm>
          <a:prstGeom prst="rect">
            <a:avLst/>
          </a:prstGeom>
          <a:noFill/>
        </p:spPr>
        <p:txBody>
          <a:bodyPr wrap="square" anchor="t" lIns="0" rIns="0" tIns="0" bIns="0">
            <a:noAutofit/>
          </a:bodyPr>
          <a:lstStyle/>
          <a:p>
            <a:pPr algn="l">
              <a:lnSpc>
                <a:spcPct val="128000"/>
              </a:lnSpc>
              <a:spcAft>
                <a:spcPts val="0"/>
              </a:spcAft>
            </a:pPr>
            <a:r>
              <a:rPr sz="1019" b="0" i="0">
                <a:solidFill>
                  <a:srgbClr val="3D4A5C"/>
                </a:solidFill>
                <a:latin typeface="Calibri"/>
              </a:rPr>
              <a:t>The deck, the repository and the live build are available for review. Every screenshot in this presentation comes from the running application.</a:t>
            </a:r>
          </a:p>
        </p:txBody>
      </p:sp>
      <p:sp>
        <p:nvSpPr>
          <p:cNvPr id="8" name="Rounded Rectangle 7"/>
          <p:cNvSpPr/>
          <p:nvPr/>
        </p:nvSpPr>
        <p:spPr>
          <a:xfrm>
            <a:off x="566928" y="3986784"/>
            <a:ext cx="2999232" cy="347472"/>
          </a:xfrm>
          <a:prstGeom prst="roundRect">
            <a:avLst>
              <a:gd name="adj" fmla="val 50000"/>
            </a:avLst>
          </a:prstGeom>
          <a:solidFill>
            <a:srgbClr val="0F7A82"/>
          </a:solidFill>
          <a:ln>
            <a:noFill/>
          </a:ln>
          <a:effectLst/>
        </p:spPr>
        <p:txBody>
          <a:bodyPr rtlCol="0" anchor="ctr" wrap="square" lIns="54864" rIns="54864" tIns="0" bIns="0"/>
          <a:lstStyle/>
          <a:p>
            <a:pPr algn="ctr"/>
            <a:r>
              <a:rPr sz="880" b="1">
                <a:solidFill>
                  <a:srgbClr val="FFFFFF"/>
                </a:solidFill>
                <a:latin typeface="Calibri"/>
              </a:rPr>
              <a:t>Live demo  ·  study-mapper.vercel.app</a:t>
            </a:r>
          </a:p>
        </p:txBody>
      </p:sp>
      <p:sp>
        <p:nvSpPr>
          <p:cNvPr id="9" name="Rounded Rectangle 8"/>
          <p:cNvSpPr/>
          <p:nvPr/>
        </p:nvSpPr>
        <p:spPr>
          <a:xfrm>
            <a:off x="3694176" y="3986784"/>
            <a:ext cx="2176272" cy="347472"/>
          </a:xfrm>
          <a:prstGeom prst="roundRect">
            <a:avLst>
              <a:gd name="adj" fmla="val 50000"/>
            </a:avLst>
          </a:prstGeom>
          <a:solidFill>
            <a:srgbClr val="F5F8FA"/>
          </a:solidFill>
          <a:ln w="9525">
            <a:solidFill>
              <a:srgbClr val="DCE4EA"/>
            </a:solidFill>
          </a:ln>
          <a:effectLst/>
        </p:spPr>
        <p:txBody>
          <a:bodyPr rtlCol="0" anchor="ctr" wrap="square" lIns="54864" rIns="54864" tIns="0" bIns="0"/>
          <a:lstStyle/>
          <a:p>
            <a:pPr algn="ctr"/>
            <a:r>
              <a:rPr sz="840" b="1">
                <a:solidFill>
                  <a:srgbClr val="3D4A5C"/>
                </a:solidFill>
                <a:latin typeface="Calibri"/>
              </a:rPr>
              <a:t>GitHub  ·  palturuvenubhaskar</a:t>
            </a:r>
          </a:p>
        </p:txBody>
      </p:sp>
      <p:sp>
        <p:nvSpPr>
          <p:cNvPr id="10" name="TextBox 9"/>
          <p:cNvSpPr txBox="1"/>
          <p:nvPr/>
        </p:nvSpPr>
        <p:spPr>
          <a:xfrm>
            <a:off x="566928" y="5961888"/>
            <a:ext cx="5669280" cy="274320"/>
          </a:xfrm>
          <a:prstGeom prst="rect">
            <a:avLst/>
          </a:prstGeom>
          <a:noFill/>
        </p:spPr>
        <p:txBody>
          <a:bodyPr wrap="square" anchor="t" lIns="0" rIns="0" tIns="0" bIns="0">
            <a:noAutofit/>
          </a:bodyPr>
          <a:lstStyle/>
          <a:p>
            <a:pPr algn="l">
              <a:lnSpc>
                <a:spcPct val="112000"/>
              </a:lnSpc>
              <a:spcAft>
                <a:spcPts val="0"/>
              </a:spcAft>
            </a:pPr>
            <a:r>
              <a:rPr sz="840" b="0" i="0">
                <a:solidFill>
                  <a:srgbClr val="77859A"/>
                </a:solidFill>
                <a:latin typeface="Calibri"/>
              </a:rPr>
              <a:t>Academic project  ·  2026–27  ·  Batch 4</a:t>
            </a:r>
          </a:p>
        </p:txBody>
      </p:sp>
      <p:sp>
        <p:nvSpPr>
          <p:cNvPr id="11" name="Rounded Rectangle 10"/>
          <p:cNvSpPr/>
          <p:nvPr/>
        </p:nvSpPr>
        <p:spPr>
          <a:xfrm>
            <a:off x="6693408" y="566928"/>
            <a:ext cx="4937760" cy="5724144"/>
          </a:xfrm>
          <a:prstGeom prst="roundRect">
            <a:avLst>
              <a:gd name="adj" fmla="val 4000"/>
            </a:avLst>
          </a:prstGeom>
          <a:solidFill>
            <a:srgbClr val="F5F8FA"/>
          </a:solidFill>
          <a:ln w="9525">
            <a:solidFill>
              <a:srgbClr val="DCE4EA"/>
            </a:solidFill>
          </a:ln>
          <a:effectLst/>
        </p:spPr>
        <p:txBody>
          <a:bodyPr rtlCol="0" anchor="ctr" wrap="square"/>
          <a:lstStyle/>
          <a:p>
            <a:pPr algn="ctr"/>
          </a:p>
        </p:txBody>
      </p:sp>
      <p:pic>
        <p:nvPicPr>
          <p:cNvPr id="12" name="Picture 11" descr="logo_clean.png"/>
          <p:cNvPicPr>
            <a:picLocks noChangeAspect="1"/>
          </p:cNvPicPr>
          <p:nvPr/>
        </p:nvPicPr>
        <p:blipFill>
          <a:blip r:embed="rId2"/>
          <a:stretch>
            <a:fillRect/>
          </a:stretch>
        </p:blipFill>
        <p:spPr>
          <a:xfrm>
            <a:off x="6986016" y="804672"/>
            <a:ext cx="2148840" cy="338726"/>
          </a:xfrm>
          <a:prstGeom prst="rect">
            <a:avLst/>
          </a:prstGeom>
        </p:spPr>
      </p:pic>
      <p:sp>
        <p:nvSpPr>
          <p:cNvPr id="13" name="TextBox 12"/>
          <p:cNvSpPr txBox="1"/>
          <p:nvPr/>
        </p:nvSpPr>
        <p:spPr>
          <a:xfrm>
            <a:off x="6986016" y="1517904"/>
            <a:ext cx="4206240" cy="182880"/>
          </a:xfrm>
          <a:prstGeom prst="rect">
            <a:avLst/>
          </a:prstGeom>
          <a:noFill/>
        </p:spPr>
        <p:txBody>
          <a:bodyPr wrap="square" anchor="t" lIns="0" rIns="0" tIns="0" bIns="0">
            <a:noAutofit/>
          </a:bodyPr>
          <a:lstStyle/>
          <a:p>
            <a:pPr algn="l">
              <a:lnSpc>
                <a:spcPct val="112000"/>
              </a:lnSpc>
              <a:spcAft>
                <a:spcPts val="0"/>
              </a:spcAft>
            </a:pPr>
            <a:r>
              <a:rPr sz="760" b="1" i="0">
                <a:solidFill>
                  <a:srgbClr val="0F7A82"/>
                </a:solidFill>
                <a:latin typeface="Calibri"/>
              </a:rPr>
              <a:t>TEAM</a:t>
            </a:r>
          </a:p>
        </p:txBody>
      </p:sp>
      <p:sp>
        <p:nvSpPr>
          <p:cNvPr id="14" name="TextBox 13"/>
          <p:cNvSpPr txBox="1"/>
          <p:nvPr/>
        </p:nvSpPr>
        <p:spPr>
          <a:xfrm>
            <a:off x="6986016" y="1719072"/>
            <a:ext cx="2468880" cy="219456"/>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P. Venubhaskar</a:t>
            </a:r>
          </a:p>
        </p:txBody>
      </p:sp>
      <p:sp>
        <p:nvSpPr>
          <p:cNvPr id="15" name="TextBox 14"/>
          <p:cNvSpPr txBox="1"/>
          <p:nvPr/>
        </p:nvSpPr>
        <p:spPr>
          <a:xfrm>
            <a:off x="9692640" y="1737360"/>
            <a:ext cx="1645920" cy="201168"/>
          </a:xfrm>
          <a:prstGeom prst="rect">
            <a:avLst/>
          </a:prstGeom>
          <a:noFill/>
        </p:spPr>
        <p:txBody>
          <a:bodyPr wrap="square" anchor="t" lIns="0" rIns="0" tIns="0" bIns="0">
            <a:noAutofit/>
          </a:bodyPr>
          <a:lstStyle/>
          <a:p>
            <a:pPr algn="r">
              <a:lnSpc>
                <a:spcPct val="112000"/>
              </a:lnSpc>
              <a:spcAft>
                <a:spcPts val="0"/>
              </a:spcAft>
            </a:pPr>
            <a:r>
              <a:rPr sz="819" b="0" i="0">
                <a:solidFill>
                  <a:srgbClr val="77859A"/>
                </a:solidFill>
                <a:latin typeface="Calibri"/>
              </a:rPr>
              <a:t>252G5A0520</a:t>
            </a:r>
          </a:p>
        </p:txBody>
      </p:sp>
      <p:sp>
        <p:nvSpPr>
          <p:cNvPr id="16" name="Rectangle 15"/>
          <p:cNvSpPr/>
          <p:nvPr/>
        </p:nvSpPr>
        <p:spPr>
          <a:xfrm>
            <a:off x="6986016" y="2048255"/>
            <a:ext cx="4279392" cy="4572"/>
          </a:xfrm>
          <a:prstGeom prst="rect">
            <a:avLst/>
          </a:prstGeom>
          <a:solidFill>
            <a:srgbClr val="DCE4EA"/>
          </a:solidFill>
          <a:ln>
            <a:noFill/>
          </a:ln>
          <a:effectLst/>
        </p:spPr>
        <p:txBody>
          <a:bodyPr rtlCol="0" anchor="ctr" wrap="square"/>
          <a:lstStyle/>
          <a:p>
            <a:pPr algn="ctr"/>
          </a:p>
        </p:txBody>
      </p:sp>
      <p:sp>
        <p:nvSpPr>
          <p:cNvPr id="17" name="TextBox 16"/>
          <p:cNvSpPr txBox="1"/>
          <p:nvPr/>
        </p:nvSpPr>
        <p:spPr>
          <a:xfrm>
            <a:off x="6986016" y="2121408"/>
            <a:ext cx="2468880" cy="219456"/>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T. Vasanth</a:t>
            </a:r>
          </a:p>
        </p:txBody>
      </p:sp>
      <p:sp>
        <p:nvSpPr>
          <p:cNvPr id="18" name="TextBox 17"/>
          <p:cNvSpPr txBox="1"/>
          <p:nvPr/>
        </p:nvSpPr>
        <p:spPr>
          <a:xfrm>
            <a:off x="9692640" y="2139696"/>
            <a:ext cx="1645920" cy="201168"/>
          </a:xfrm>
          <a:prstGeom prst="rect">
            <a:avLst/>
          </a:prstGeom>
          <a:noFill/>
        </p:spPr>
        <p:txBody>
          <a:bodyPr wrap="square" anchor="t" lIns="0" rIns="0" tIns="0" bIns="0">
            <a:noAutofit/>
          </a:bodyPr>
          <a:lstStyle/>
          <a:p>
            <a:pPr algn="r">
              <a:lnSpc>
                <a:spcPct val="112000"/>
              </a:lnSpc>
              <a:spcAft>
                <a:spcPts val="0"/>
              </a:spcAft>
            </a:pPr>
            <a:r>
              <a:rPr sz="819" b="0" i="0">
                <a:solidFill>
                  <a:srgbClr val="77859A"/>
                </a:solidFill>
                <a:latin typeface="Calibri"/>
              </a:rPr>
              <a:t>252G5A0528</a:t>
            </a:r>
          </a:p>
        </p:txBody>
      </p:sp>
      <p:sp>
        <p:nvSpPr>
          <p:cNvPr id="19" name="Rectangle 18"/>
          <p:cNvSpPr/>
          <p:nvPr/>
        </p:nvSpPr>
        <p:spPr>
          <a:xfrm>
            <a:off x="6986016" y="2450591"/>
            <a:ext cx="4279392" cy="4572"/>
          </a:xfrm>
          <a:prstGeom prst="rect">
            <a:avLst/>
          </a:prstGeom>
          <a:solidFill>
            <a:srgbClr val="DCE4EA"/>
          </a:solidFill>
          <a:ln>
            <a:noFill/>
          </a:ln>
          <a:effectLst/>
        </p:spPr>
        <p:txBody>
          <a:bodyPr rtlCol="0" anchor="ctr" wrap="square"/>
          <a:lstStyle/>
          <a:p>
            <a:pPr algn="ctr"/>
          </a:p>
        </p:txBody>
      </p:sp>
      <p:sp>
        <p:nvSpPr>
          <p:cNvPr id="20" name="TextBox 19"/>
          <p:cNvSpPr txBox="1"/>
          <p:nvPr/>
        </p:nvSpPr>
        <p:spPr>
          <a:xfrm>
            <a:off x="6986016" y="2523744"/>
            <a:ext cx="2468880" cy="219456"/>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V. Adarsh Kumar</a:t>
            </a:r>
          </a:p>
        </p:txBody>
      </p:sp>
      <p:sp>
        <p:nvSpPr>
          <p:cNvPr id="21" name="TextBox 20"/>
          <p:cNvSpPr txBox="1"/>
          <p:nvPr/>
        </p:nvSpPr>
        <p:spPr>
          <a:xfrm>
            <a:off x="9692640" y="2542032"/>
            <a:ext cx="1645920" cy="201168"/>
          </a:xfrm>
          <a:prstGeom prst="rect">
            <a:avLst/>
          </a:prstGeom>
          <a:noFill/>
        </p:spPr>
        <p:txBody>
          <a:bodyPr wrap="square" anchor="t" lIns="0" rIns="0" tIns="0" bIns="0">
            <a:noAutofit/>
          </a:bodyPr>
          <a:lstStyle/>
          <a:p>
            <a:pPr algn="r">
              <a:lnSpc>
                <a:spcPct val="112000"/>
              </a:lnSpc>
              <a:spcAft>
                <a:spcPts val="0"/>
              </a:spcAft>
            </a:pPr>
            <a:r>
              <a:rPr sz="819" b="0" i="0">
                <a:solidFill>
                  <a:srgbClr val="77859A"/>
                </a:solidFill>
                <a:latin typeface="Calibri"/>
              </a:rPr>
              <a:t>252G5A0532</a:t>
            </a:r>
          </a:p>
        </p:txBody>
      </p:sp>
      <p:sp>
        <p:nvSpPr>
          <p:cNvPr id="22" name="Rectangle 21"/>
          <p:cNvSpPr/>
          <p:nvPr/>
        </p:nvSpPr>
        <p:spPr>
          <a:xfrm>
            <a:off x="6986016" y="2852927"/>
            <a:ext cx="4279392" cy="4572"/>
          </a:xfrm>
          <a:prstGeom prst="rect">
            <a:avLst/>
          </a:prstGeom>
          <a:solidFill>
            <a:srgbClr val="DCE4EA"/>
          </a:solidFill>
          <a:ln>
            <a:noFill/>
          </a:ln>
          <a:effectLst/>
        </p:spPr>
        <p:txBody>
          <a:bodyPr rtlCol="0" anchor="ctr" wrap="square"/>
          <a:lstStyle/>
          <a:p>
            <a:pPr algn="ctr"/>
          </a:p>
        </p:txBody>
      </p:sp>
      <p:sp>
        <p:nvSpPr>
          <p:cNvPr id="23" name="TextBox 22"/>
          <p:cNvSpPr txBox="1"/>
          <p:nvPr/>
        </p:nvSpPr>
        <p:spPr>
          <a:xfrm>
            <a:off x="6986016" y="2926080"/>
            <a:ext cx="2468880" cy="219456"/>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B. Sai Vikas</a:t>
            </a:r>
          </a:p>
        </p:txBody>
      </p:sp>
      <p:sp>
        <p:nvSpPr>
          <p:cNvPr id="24" name="TextBox 23"/>
          <p:cNvSpPr txBox="1"/>
          <p:nvPr/>
        </p:nvSpPr>
        <p:spPr>
          <a:xfrm>
            <a:off x="9692640" y="2944368"/>
            <a:ext cx="1645920" cy="201168"/>
          </a:xfrm>
          <a:prstGeom prst="rect">
            <a:avLst/>
          </a:prstGeom>
          <a:noFill/>
        </p:spPr>
        <p:txBody>
          <a:bodyPr wrap="square" anchor="t" lIns="0" rIns="0" tIns="0" bIns="0">
            <a:noAutofit/>
          </a:bodyPr>
          <a:lstStyle/>
          <a:p>
            <a:pPr algn="r">
              <a:lnSpc>
                <a:spcPct val="112000"/>
              </a:lnSpc>
              <a:spcAft>
                <a:spcPts val="0"/>
              </a:spcAft>
            </a:pPr>
            <a:r>
              <a:rPr sz="819" b="0" i="0">
                <a:solidFill>
                  <a:srgbClr val="77859A"/>
                </a:solidFill>
                <a:latin typeface="Calibri"/>
              </a:rPr>
              <a:t>252G5A0501</a:t>
            </a:r>
          </a:p>
        </p:txBody>
      </p:sp>
      <p:sp>
        <p:nvSpPr>
          <p:cNvPr id="25" name="Rectangle 24"/>
          <p:cNvSpPr/>
          <p:nvPr/>
        </p:nvSpPr>
        <p:spPr>
          <a:xfrm>
            <a:off x="6986016" y="3255264"/>
            <a:ext cx="4279392" cy="4572"/>
          </a:xfrm>
          <a:prstGeom prst="rect">
            <a:avLst/>
          </a:prstGeom>
          <a:solidFill>
            <a:srgbClr val="DCE4EA"/>
          </a:solidFill>
          <a:ln>
            <a:noFill/>
          </a:ln>
          <a:effectLst/>
        </p:spPr>
        <p:txBody>
          <a:bodyPr rtlCol="0" anchor="ctr" wrap="square"/>
          <a:lstStyle/>
          <a:p>
            <a:pPr algn="ctr"/>
          </a:p>
        </p:txBody>
      </p:sp>
      <p:sp>
        <p:nvSpPr>
          <p:cNvPr id="26" name="TextBox 25"/>
          <p:cNvSpPr txBox="1"/>
          <p:nvPr/>
        </p:nvSpPr>
        <p:spPr>
          <a:xfrm>
            <a:off x="6986016" y="3328415"/>
            <a:ext cx="2468880" cy="219456"/>
          </a:xfrm>
          <a:prstGeom prst="rect">
            <a:avLst/>
          </a:prstGeom>
          <a:noFill/>
        </p:spPr>
        <p:txBody>
          <a:bodyPr wrap="square" anchor="t" lIns="0" rIns="0" tIns="0" bIns="0">
            <a:noAutofit/>
          </a:bodyPr>
          <a:lstStyle/>
          <a:p>
            <a:pPr algn="l">
              <a:lnSpc>
                <a:spcPct val="112000"/>
              </a:lnSpc>
              <a:spcAft>
                <a:spcPts val="0"/>
              </a:spcAft>
            </a:pPr>
            <a:r>
              <a:rPr sz="960" b="1" i="0">
                <a:solidFill>
                  <a:srgbClr val="152238"/>
                </a:solidFill>
                <a:latin typeface="Calibri"/>
              </a:rPr>
              <a:t>C. Narendra</a:t>
            </a:r>
          </a:p>
        </p:txBody>
      </p:sp>
      <p:sp>
        <p:nvSpPr>
          <p:cNvPr id="27" name="TextBox 26"/>
          <p:cNvSpPr txBox="1"/>
          <p:nvPr/>
        </p:nvSpPr>
        <p:spPr>
          <a:xfrm>
            <a:off x="9692640" y="3346703"/>
            <a:ext cx="1645920" cy="201168"/>
          </a:xfrm>
          <a:prstGeom prst="rect">
            <a:avLst/>
          </a:prstGeom>
          <a:noFill/>
        </p:spPr>
        <p:txBody>
          <a:bodyPr wrap="square" anchor="t" lIns="0" rIns="0" tIns="0" bIns="0">
            <a:noAutofit/>
          </a:bodyPr>
          <a:lstStyle/>
          <a:p>
            <a:pPr algn="r">
              <a:lnSpc>
                <a:spcPct val="112000"/>
              </a:lnSpc>
              <a:spcAft>
                <a:spcPts val="0"/>
              </a:spcAft>
            </a:pPr>
            <a:r>
              <a:rPr sz="819" b="0" i="0">
                <a:solidFill>
                  <a:srgbClr val="77859A"/>
                </a:solidFill>
                <a:latin typeface="Calibri"/>
              </a:rPr>
              <a:t>252G5A0502</a:t>
            </a:r>
          </a:p>
        </p:txBody>
      </p:sp>
      <p:sp>
        <p:nvSpPr>
          <p:cNvPr id="28" name="Rectangle 27"/>
          <p:cNvSpPr/>
          <p:nvPr/>
        </p:nvSpPr>
        <p:spPr>
          <a:xfrm>
            <a:off x="6986016" y="3749039"/>
            <a:ext cx="4279392" cy="7315"/>
          </a:xfrm>
          <a:prstGeom prst="rect">
            <a:avLst/>
          </a:prstGeom>
          <a:solidFill>
            <a:srgbClr val="DCE4EA"/>
          </a:solidFill>
          <a:ln>
            <a:noFill/>
          </a:ln>
          <a:effectLst/>
        </p:spPr>
        <p:txBody>
          <a:bodyPr rtlCol="0" anchor="ctr" wrap="square"/>
          <a:lstStyle/>
          <a:p>
            <a:pPr algn="ctr"/>
          </a:p>
        </p:txBody>
      </p:sp>
      <p:sp>
        <p:nvSpPr>
          <p:cNvPr id="29" name="TextBox 28"/>
          <p:cNvSpPr txBox="1"/>
          <p:nvPr/>
        </p:nvSpPr>
        <p:spPr>
          <a:xfrm>
            <a:off x="6986016" y="3858768"/>
            <a:ext cx="4206240" cy="182880"/>
          </a:xfrm>
          <a:prstGeom prst="rect">
            <a:avLst/>
          </a:prstGeom>
          <a:noFill/>
        </p:spPr>
        <p:txBody>
          <a:bodyPr wrap="square" anchor="t" lIns="0" rIns="0" tIns="0" bIns="0">
            <a:noAutofit/>
          </a:bodyPr>
          <a:lstStyle/>
          <a:p>
            <a:pPr algn="l">
              <a:lnSpc>
                <a:spcPct val="112000"/>
              </a:lnSpc>
              <a:spcAft>
                <a:spcPts val="0"/>
              </a:spcAft>
            </a:pPr>
            <a:r>
              <a:rPr sz="760" b="1" i="0">
                <a:solidFill>
                  <a:srgbClr val="0F7A82"/>
                </a:solidFill>
                <a:latin typeface="Calibri"/>
              </a:rPr>
              <a:t>GUIDE</a:t>
            </a:r>
          </a:p>
        </p:txBody>
      </p:sp>
      <p:sp>
        <p:nvSpPr>
          <p:cNvPr id="30" name="TextBox 29"/>
          <p:cNvSpPr txBox="1"/>
          <p:nvPr/>
        </p:nvSpPr>
        <p:spPr>
          <a:xfrm>
            <a:off x="6986016" y="4041648"/>
            <a:ext cx="4206240" cy="237744"/>
          </a:xfrm>
          <a:prstGeom prst="rect">
            <a:avLst/>
          </a:prstGeom>
          <a:noFill/>
        </p:spPr>
        <p:txBody>
          <a:bodyPr wrap="square" anchor="t" lIns="0" rIns="0" tIns="0" bIns="0">
            <a:noAutofit/>
          </a:bodyPr>
          <a:lstStyle/>
          <a:p>
            <a:pPr algn="l">
              <a:lnSpc>
                <a:spcPct val="112000"/>
              </a:lnSpc>
              <a:spcAft>
                <a:spcPts val="0"/>
              </a:spcAft>
            </a:pPr>
            <a:r>
              <a:rPr sz="1100" b="1" i="0">
                <a:solidFill>
                  <a:srgbClr val="152238"/>
                </a:solidFill>
                <a:latin typeface="Calibri"/>
              </a:rPr>
              <a:t>Ms. C. Sravani</a:t>
            </a:r>
          </a:p>
        </p:txBody>
      </p:sp>
      <p:sp>
        <p:nvSpPr>
          <p:cNvPr id="31" name="TextBox 30"/>
          <p:cNvSpPr txBox="1"/>
          <p:nvPr/>
        </p:nvSpPr>
        <p:spPr>
          <a:xfrm>
            <a:off x="6986016" y="4370832"/>
            <a:ext cx="4206240" cy="182880"/>
          </a:xfrm>
          <a:prstGeom prst="rect">
            <a:avLst/>
          </a:prstGeom>
          <a:noFill/>
        </p:spPr>
        <p:txBody>
          <a:bodyPr wrap="square" anchor="t" lIns="0" rIns="0" tIns="0" bIns="0">
            <a:noAutofit/>
          </a:bodyPr>
          <a:lstStyle/>
          <a:p>
            <a:pPr algn="l">
              <a:lnSpc>
                <a:spcPct val="112000"/>
              </a:lnSpc>
              <a:spcAft>
                <a:spcPts val="0"/>
              </a:spcAft>
            </a:pPr>
            <a:r>
              <a:rPr sz="760" b="1" i="0">
                <a:solidFill>
                  <a:srgbClr val="0F7A82"/>
                </a:solidFill>
                <a:latin typeface="Calibri"/>
              </a:rPr>
              <a:t>DEPARTMENT</a:t>
            </a:r>
          </a:p>
        </p:txBody>
      </p:sp>
      <p:sp>
        <p:nvSpPr>
          <p:cNvPr id="32" name="TextBox 31"/>
          <p:cNvSpPr txBox="1"/>
          <p:nvPr/>
        </p:nvSpPr>
        <p:spPr>
          <a:xfrm>
            <a:off x="6986016" y="4553712"/>
            <a:ext cx="4206240" cy="457200"/>
          </a:xfrm>
          <a:prstGeom prst="rect">
            <a:avLst/>
          </a:prstGeom>
          <a:noFill/>
        </p:spPr>
        <p:txBody>
          <a:bodyPr wrap="square" anchor="t" lIns="0" rIns="0" tIns="0" bIns="0">
            <a:noAutofit/>
          </a:bodyPr>
          <a:lstStyle/>
          <a:p>
            <a:pPr algn="l">
              <a:lnSpc>
                <a:spcPct val="112000"/>
              </a:lnSpc>
              <a:spcAft>
                <a:spcPts val="0"/>
              </a:spcAft>
            </a:pPr>
            <a:r>
              <a:rPr sz="1000" b="1" i="0">
                <a:solidFill>
                  <a:srgbClr val="152238"/>
                </a:solidFill>
                <a:latin typeface="Calibri"/>
              </a:rPr>
              <a:t>Computer Science &amp; Engineering</a:t>
            </a:r>
          </a:p>
        </p:txBody>
      </p:sp>
      <p:sp>
        <p:nvSpPr>
          <p:cNvPr id="33" name="TextBox 32"/>
          <p:cNvSpPr txBox="1"/>
          <p:nvPr/>
        </p:nvSpPr>
        <p:spPr>
          <a:xfrm>
            <a:off x="6986016" y="4937760"/>
            <a:ext cx="4297680" cy="182880"/>
          </a:xfrm>
          <a:prstGeom prst="rect">
            <a:avLst/>
          </a:prstGeom>
          <a:noFill/>
        </p:spPr>
        <p:txBody>
          <a:bodyPr wrap="square" anchor="t" lIns="0" rIns="0" tIns="0" bIns="0">
            <a:noAutofit/>
          </a:bodyPr>
          <a:lstStyle/>
          <a:p>
            <a:pPr algn="l">
              <a:lnSpc>
                <a:spcPct val="112000"/>
              </a:lnSpc>
              <a:spcAft>
                <a:spcPts val="0"/>
              </a:spcAft>
            </a:pPr>
            <a:r>
              <a:rPr sz="760" b="1" i="0">
                <a:solidFill>
                  <a:srgbClr val="0F7A82"/>
                </a:solidFill>
                <a:latin typeface="Calibri"/>
              </a:rPr>
              <a:t>INSTITUTION</a:t>
            </a:r>
          </a:p>
        </p:txBody>
      </p:sp>
      <p:sp>
        <p:nvSpPr>
          <p:cNvPr id="34" name="TextBox 33"/>
          <p:cNvSpPr txBox="1"/>
          <p:nvPr/>
        </p:nvSpPr>
        <p:spPr>
          <a:xfrm>
            <a:off x="6986016" y="5120640"/>
            <a:ext cx="4297680" cy="566928"/>
          </a:xfrm>
          <a:prstGeom prst="rect">
            <a:avLst/>
          </a:prstGeom>
          <a:noFill/>
        </p:spPr>
        <p:txBody>
          <a:bodyPr wrap="square" anchor="t" lIns="0" rIns="0" tIns="0" bIns="0">
            <a:noAutofit/>
          </a:bodyPr>
          <a:lstStyle/>
          <a:p>
            <a:pPr algn="l">
              <a:lnSpc>
                <a:spcPct val="120000"/>
              </a:lnSpc>
              <a:spcAft>
                <a:spcPts val="0"/>
              </a:spcAft>
            </a:pPr>
            <a:r>
              <a:rPr sz="960" b="0" i="0">
                <a:solidFill>
                  <a:srgbClr val="152238"/>
                </a:solidFill>
                <a:latin typeface="Calibri"/>
              </a:rPr>
              <a:t>Anantha Lakshmi Institute of Technology &amp; Sciences (Autonomous)</a:t>
            </a:r>
          </a:p>
        </p:txBody>
      </p:sp>
      <p:sp>
        <p:nvSpPr>
          <p:cNvPr id="35" name="TextBox 34"/>
          <p:cNvSpPr txBox="1"/>
          <p:nvPr/>
        </p:nvSpPr>
        <p:spPr>
          <a:xfrm>
            <a:off x="6986016" y="5797296"/>
            <a:ext cx="4297680" cy="274320"/>
          </a:xfrm>
          <a:prstGeom prst="rect">
            <a:avLst/>
          </a:prstGeom>
          <a:noFill/>
        </p:spPr>
        <p:txBody>
          <a:bodyPr wrap="square" anchor="t" lIns="0" rIns="0" tIns="0" bIns="0">
            <a:noAutofit/>
          </a:bodyPr>
          <a:lstStyle/>
          <a:p>
            <a:pPr algn="l">
              <a:lnSpc>
                <a:spcPct val="112000"/>
              </a:lnSpc>
              <a:spcAft>
                <a:spcPts val="0"/>
              </a:spcAft>
            </a:pPr>
            <a:r>
              <a:rPr sz="819" b="0" i="0">
                <a:solidFill>
                  <a:srgbClr val="77859A"/>
                </a:solidFill>
                <a:latin typeface="Calibri"/>
              </a:rPr>
              <a:t>Ananthapuramu, Andhra Pradesh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StudyMapper — AI-Driven Personalized Learning and Academic Management System</dc:title>
  <dc:subject>Academic project presentation</dc:subject>
  <dc:creator>P. Venubhaskar, T. Vasanth, V. Adarsh Kumar, B. Sai Vikas, C. Narendra</dc:creator>
  <cp:keywords>adaptive learning, spaced repetition, AI, local-first, React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