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product, not the technology: StudyMapper turns a syllabus into a study plan that reacts to what the student gets wrong. The screenshot is the running build. Introduce the team and guide briefly; the roll numbers are on screen for the record, so do not read them aloud. Set the evidence standard now: every claim in the next nine slides is checked against the repository or the live app.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a map, not a list. Point to the five moves in the lead sentence: the first half explains the problem and the design, the second half shows the engineering and the evidence. Say the deck is deliberately short so there is time for questions. Do not read the ten titles aloud.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loop in one breath: the plan is built from the exam date, topic difficulty and current weakness scores; learn is where generated notes and diagrams live; practise is question banks, mock exams and in-browser coding; improve turns attempts into weakness scores and schedules SM-2 reviews. The green arrow back to Plan is the whole idea - the same records are read again. Finish with the three motivation lines, not with technology.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in student terms before any technology. Three failures: context is lost when tools are separate, a plan made once ignores difficulty and slipping dates, and feedback arrives after the exam. Then read the objectives as the direct response - one plan that recomputes, material that can be edited, and a weakness score per topic. The scope line matters: these are decisions, not missing pieces.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grid cell by cell; pick the contrast. Adaptive platforms sequence content well but rarely react to one student's week. AI tutors generate well but are usually cloud-only and disconnected from stored data. LMS analytics serve the institution. Spaced repetition is excellent but isolated from the syllabus. Gamified apps sustain habit but do not change what is studied. The gap line is the sentence to land. Say plainly that this is a design comparison, not a systematic literature review.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stack from the top. The interface is ordinary React. The domain band is the product: planner, SM-2 scheduler, weakness detector and gamification, all local logic. The services band can fail without stopping study - the AI service falls back across six models and repairs malformed JSON; the file parser handles PDF, DOCX and OCR. The data band is Dexie over IndexedDB with 40 tables. Firebase Auth is optional identity, drawn dashed because it needs the network. The point to land: no server is required for the study loop.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processing logic in one pass. Study actions are written locally; the weakness detector reads the last seven days and applies fixed weights: a failed coding attempt adds 30, low accuracy adds half of the shortfall below 100, a pomodoro adds 10, a successful coding attempt subtracts 20 and generating notes subtracts 10. The result is clamped to 0–100 and flagged at 40. Flashcards use SM-2, so the interval grows with the ease factor. Say that the weights are simple and inspectable on purpose — no black box.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choices by constraint, not by logo. React and Vite keep the feedback loop fast for a small team. OpenRouter avoids model hosting, Pyodide runs Python in the browser, Mermaid and KaTeX render diagrams and maths locally. Dexie is the product's memory; Firebase is only optional identity. Vitest and the production build are how claims are checked. The bottom line answers the hardware question: there is nothing to install or host - any modern browser is enough.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what these numbers mean. 47 tests across 14 files pass, the production build takes 6.21 seconds, the database has 40 tables and the app exposes 46 routed views. The before/after panel is a workflow comparison, not an experiment. The screenshot is the seeded demo. The sentence to land is the rose line: this proves functional completeness and build health, not learning gains - a classroom study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three claims and one next step. Adaptive: plans recompute from the exam date, difficulty and measured weakness. Explainable: a topic is flagged at 40 in the last seven days, and the weights are simple. Local-first: the core loop runs offline and identity is optional. Then the sequencing argument - the first thing next is a classroom pilot with a pre/post quiz, because that is the missing evidence, followed by sync and an accessibility pass. Do not add new claims in the conclusion.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_clean.png"/>
          <p:cNvPicPr>
            <a:picLocks noChangeAspect="1"/>
          </p:cNvPicPr>
          <p:nvPr/>
        </p:nvPicPr>
        <p:blipFill>
          <a:blip r:embed="rId2"/>
          <a:stretch>
            <a:fillRect/>
          </a:stretch>
        </p:blipFill>
        <p:spPr>
          <a:xfrm>
            <a:off x="685800" y="457200"/>
            <a:ext cx="2331720" cy="367554"/>
          </a:xfrm>
          <a:prstGeom prst="rect">
            <a:avLst/>
          </a:prstGeom>
        </p:spPr>
      </p:pic>
      <p:sp>
        <p:nvSpPr>
          <p:cNvPr id="3" name="TextBox 2"/>
          <p:cNvSpPr txBox="1"/>
          <p:nvPr/>
        </p:nvSpPr>
        <p:spPr>
          <a:xfrm>
            <a:off x="685800" y="1298448"/>
            <a:ext cx="585216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ACADEMIC PROJECT  ·  2026–27</a:t>
            </a:r>
          </a:p>
        </p:txBody>
      </p:sp>
      <p:sp>
        <p:nvSpPr>
          <p:cNvPr id="4" name="TextBox 3"/>
          <p:cNvSpPr txBox="1"/>
          <p:nvPr/>
        </p:nvSpPr>
        <p:spPr>
          <a:xfrm>
            <a:off x="658368" y="1517904"/>
            <a:ext cx="6035040" cy="868680"/>
          </a:xfrm>
          <a:prstGeom prst="rect">
            <a:avLst/>
          </a:prstGeom>
          <a:noFill/>
        </p:spPr>
        <p:txBody>
          <a:bodyPr wrap="square" anchor="t" lIns="0" rIns="0" tIns="0" bIns="0">
            <a:noAutofit/>
          </a:bodyPr>
          <a:lstStyle/>
          <a:p>
            <a:pPr algn="l">
              <a:lnSpc>
                <a:spcPct val="95000"/>
              </a:lnSpc>
              <a:spcAft>
                <a:spcPts val="0"/>
              </a:spcAft>
            </a:pPr>
            <a:r>
              <a:rPr sz="5800" b="1" i="0">
                <a:solidFill>
                  <a:srgbClr val="152238"/>
                </a:solidFill>
                <a:latin typeface="Calibri"/>
              </a:rPr>
              <a:t>StudyMapper</a:t>
            </a:r>
          </a:p>
        </p:txBody>
      </p:sp>
      <p:sp>
        <p:nvSpPr>
          <p:cNvPr id="5" name="TextBox 4"/>
          <p:cNvSpPr txBox="1"/>
          <p:nvPr/>
        </p:nvSpPr>
        <p:spPr>
          <a:xfrm>
            <a:off x="685800" y="2432304"/>
            <a:ext cx="5806440" cy="777240"/>
          </a:xfrm>
          <a:prstGeom prst="rect">
            <a:avLst/>
          </a:prstGeom>
          <a:noFill/>
        </p:spPr>
        <p:txBody>
          <a:bodyPr wrap="square" anchor="t" lIns="0" rIns="0" tIns="0" bIns="0">
            <a:noAutofit/>
          </a:bodyPr>
          <a:lstStyle/>
          <a:p>
            <a:pPr algn="l">
              <a:lnSpc>
                <a:spcPct val="112000"/>
              </a:lnSpc>
              <a:spcAft>
                <a:spcPts val="0"/>
              </a:spcAft>
            </a:pPr>
            <a:r>
              <a:rPr sz="2300" b="0" i="0">
                <a:solidFill>
                  <a:srgbClr val="3D4A5C"/>
                </a:solidFill>
                <a:latin typeface="Calibri"/>
              </a:rPr>
              <a:t>AI-driven personalised learning</a:t>
            </a:r>
          </a:p>
          <a:p>
            <a:pPr algn="l">
              <a:lnSpc>
                <a:spcPct val="112000"/>
              </a:lnSpc>
              <a:spcAft>
                <a:spcPts val="0"/>
              </a:spcAft>
            </a:pPr>
            <a:r>
              <a:rPr sz="2300" b="0" i="0">
                <a:solidFill>
                  <a:srgbClr val="3D4A5C"/>
                </a:solidFill>
                <a:latin typeface="Calibri"/>
              </a:rPr>
              <a:t>and academic management</a:t>
            </a:r>
          </a:p>
        </p:txBody>
      </p:sp>
      <p:sp>
        <p:nvSpPr>
          <p:cNvPr id="6" name="TextBox 5"/>
          <p:cNvSpPr txBox="1"/>
          <p:nvPr/>
        </p:nvSpPr>
        <p:spPr>
          <a:xfrm>
            <a:off x="685800" y="3529584"/>
            <a:ext cx="5669280" cy="182880"/>
          </a:xfrm>
          <a:prstGeom prst="rect">
            <a:avLst/>
          </a:prstGeom>
          <a:noFill/>
        </p:spPr>
        <p:txBody>
          <a:bodyPr wrap="square" anchor="t" lIns="0" rIns="0" tIns="0" bIns="0">
            <a:noAutofit/>
          </a:bodyPr>
          <a:lstStyle/>
          <a:p>
            <a:pPr algn="l">
              <a:lnSpc>
                <a:spcPct val="112000"/>
              </a:lnSpc>
              <a:spcAft>
                <a:spcPts val="0"/>
              </a:spcAft>
            </a:pPr>
            <a:r>
              <a:rPr sz="1000" b="1" i="0">
                <a:solidFill>
                  <a:srgbClr val="77859A"/>
                </a:solidFill>
                <a:latin typeface="Calibri"/>
              </a:rPr>
              <a:t>TEAM</a:t>
            </a:r>
          </a:p>
        </p:txBody>
      </p:sp>
      <p:sp>
        <p:nvSpPr>
          <p:cNvPr id="7" name="TextBox 6"/>
          <p:cNvSpPr txBox="1"/>
          <p:nvPr/>
        </p:nvSpPr>
        <p:spPr>
          <a:xfrm>
            <a:off x="685800" y="3749039"/>
            <a:ext cx="5852160" cy="603504"/>
          </a:xfrm>
          <a:prstGeom prst="rect">
            <a:avLst/>
          </a:prstGeom>
          <a:noFill/>
        </p:spPr>
        <p:txBody>
          <a:bodyPr wrap="square" anchor="t" lIns="0" rIns="0" tIns="0" bIns="0">
            <a:noAutofit/>
          </a:bodyPr>
          <a:lstStyle/>
          <a:p>
            <a:pPr algn="l">
              <a:lnSpc>
                <a:spcPct val="130000"/>
              </a:lnSpc>
              <a:spcAft>
                <a:spcPts val="0"/>
              </a:spcAft>
            </a:pPr>
            <a:r>
              <a:rPr sz="1450" b="1" i="0">
                <a:solidFill>
                  <a:srgbClr val="152238"/>
                </a:solidFill>
                <a:latin typeface="Calibri"/>
              </a:rPr>
              <a:t>P. Venubhaskar  ·  T. Vasanth  ·  V. Adarsh Kumar</a:t>
            </a:r>
          </a:p>
          <a:p>
            <a:pPr algn="l">
              <a:lnSpc>
                <a:spcPct val="130000"/>
              </a:lnSpc>
              <a:spcAft>
                <a:spcPts val="0"/>
              </a:spcAft>
            </a:pPr>
            <a:r>
              <a:rPr sz="1450" b="1" i="0">
                <a:solidFill>
                  <a:srgbClr val="152238"/>
                </a:solidFill>
                <a:latin typeface="Calibri"/>
              </a:rPr>
              <a:t>B. Sai Vikas  ·  C. Narendra</a:t>
            </a:r>
          </a:p>
        </p:txBody>
      </p:sp>
      <p:sp>
        <p:nvSpPr>
          <p:cNvPr id="8" name="TextBox 7"/>
          <p:cNvSpPr txBox="1"/>
          <p:nvPr/>
        </p:nvSpPr>
        <p:spPr>
          <a:xfrm>
            <a:off x="685800" y="4370832"/>
            <a:ext cx="5852160" cy="201168"/>
          </a:xfrm>
          <a:prstGeom prst="rect">
            <a:avLst/>
          </a:prstGeom>
          <a:noFill/>
        </p:spPr>
        <p:txBody>
          <a:bodyPr wrap="square" anchor="t" lIns="0" rIns="0" tIns="0" bIns="0">
            <a:noAutofit/>
          </a:bodyPr>
          <a:lstStyle/>
          <a:p>
            <a:pPr algn="l">
              <a:lnSpc>
                <a:spcPct val="112000"/>
              </a:lnSpc>
              <a:spcAft>
                <a:spcPts val="0"/>
              </a:spcAft>
            </a:pPr>
            <a:r>
              <a:rPr sz="950" b="0" i="0">
                <a:solidFill>
                  <a:srgbClr val="77859A"/>
                </a:solidFill>
                <a:latin typeface="Calibri"/>
              </a:rPr>
              <a:t>252G5A0520  ·  252G5A0528  ·  252G5A0532  ·  252G5A0501  ·  252G5A0502</a:t>
            </a:r>
          </a:p>
        </p:txBody>
      </p:sp>
      <p:sp>
        <p:nvSpPr>
          <p:cNvPr id="9" name="TextBox 8"/>
          <p:cNvSpPr txBox="1"/>
          <p:nvPr/>
        </p:nvSpPr>
        <p:spPr>
          <a:xfrm>
            <a:off x="685800" y="4974336"/>
            <a:ext cx="5669280" cy="182880"/>
          </a:xfrm>
          <a:prstGeom prst="rect">
            <a:avLst/>
          </a:prstGeom>
          <a:noFill/>
        </p:spPr>
        <p:txBody>
          <a:bodyPr wrap="square" anchor="t" lIns="0" rIns="0" tIns="0" bIns="0">
            <a:noAutofit/>
          </a:bodyPr>
          <a:lstStyle/>
          <a:p>
            <a:pPr algn="l">
              <a:lnSpc>
                <a:spcPct val="112000"/>
              </a:lnSpc>
              <a:spcAft>
                <a:spcPts val="0"/>
              </a:spcAft>
            </a:pPr>
            <a:r>
              <a:rPr sz="1000" b="1" i="0">
                <a:solidFill>
                  <a:srgbClr val="77859A"/>
                </a:solidFill>
                <a:latin typeface="Calibri"/>
              </a:rPr>
              <a:t>GUIDE</a:t>
            </a:r>
          </a:p>
        </p:txBody>
      </p:sp>
      <p:sp>
        <p:nvSpPr>
          <p:cNvPr id="10" name="TextBox 9"/>
          <p:cNvSpPr txBox="1"/>
          <p:nvPr/>
        </p:nvSpPr>
        <p:spPr>
          <a:xfrm>
            <a:off x="685800" y="5175504"/>
            <a:ext cx="5760720" cy="237744"/>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Ms. C. Sravani</a:t>
            </a:r>
          </a:p>
        </p:txBody>
      </p:sp>
      <p:sp>
        <p:nvSpPr>
          <p:cNvPr id="11" name="TextBox 10"/>
          <p:cNvSpPr txBox="1"/>
          <p:nvPr/>
        </p:nvSpPr>
        <p:spPr>
          <a:xfrm>
            <a:off x="685800" y="5541264"/>
            <a:ext cx="5852160" cy="502920"/>
          </a:xfrm>
          <a:prstGeom prst="rect">
            <a:avLst/>
          </a:prstGeom>
          <a:noFill/>
        </p:spPr>
        <p:txBody>
          <a:bodyPr wrap="square" anchor="t" lIns="0" rIns="0" tIns="0" bIns="0">
            <a:noAutofit/>
          </a:bodyPr>
          <a:lstStyle/>
          <a:p>
            <a:pPr algn="l">
              <a:lnSpc>
                <a:spcPct val="130000"/>
              </a:lnSpc>
              <a:spcAft>
                <a:spcPts val="0"/>
              </a:spcAft>
            </a:pPr>
            <a:r>
              <a:rPr sz="1150" b="0" i="0">
                <a:solidFill>
                  <a:srgbClr val="77859A"/>
                </a:solidFill>
                <a:latin typeface="Calibri"/>
              </a:rPr>
              <a:t>Department of Computer Science &amp; Engineering</a:t>
            </a:r>
          </a:p>
          <a:p>
            <a:pPr algn="l">
              <a:lnSpc>
                <a:spcPct val="130000"/>
              </a:lnSpc>
              <a:spcAft>
                <a:spcPts val="0"/>
              </a:spcAft>
            </a:pPr>
            <a:r>
              <a:rPr sz="1150" b="0" i="0">
                <a:solidFill>
                  <a:srgbClr val="77859A"/>
                </a:solidFill>
                <a:latin typeface="Calibri"/>
              </a:rPr>
              <a:t>Anantha Lakshmi Institute of Technology &amp; Sciences (Autonomous)</a:t>
            </a:r>
          </a:p>
        </p:txBody>
      </p:sp>
      <p:sp>
        <p:nvSpPr>
          <p:cNvPr id="12" name="Rounded Rectangle 11"/>
          <p:cNvSpPr/>
          <p:nvPr/>
        </p:nvSpPr>
        <p:spPr>
          <a:xfrm>
            <a:off x="6693408" y="1298448"/>
            <a:ext cx="4828032" cy="3310128"/>
          </a:xfrm>
          <a:prstGeom prst="roundRect">
            <a:avLst>
              <a:gd name="adj" fmla="val 3500"/>
            </a:avLst>
          </a:prstGeom>
          <a:solidFill>
            <a:srgbClr val="FFFFFF"/>
          </a:solidFill>
          <a:ln w="9525">
            <a:solidFill>
              <a:srgbClr val="DCE4EA"/>
            </a:solidFill>
          </a:ln>
          <a:effectLst/>
        </p:spPr>
        <p:txBody>
          <a:bodyPr rtlCol="0" anchor="ctr" wrap="square"/>
          <a:lstStyle/>
          <a:p>
            <a:pPr algn="ctr"/>
          </a:p>
        </p:txBody>
      </p:sp>
      <p:pic>
        <p:nvPicPr>
          <p:cNvPr id="13" name="Picture 12" descr="shot_dashboard10.png"/>
          <p:cNvPicPr>
            <a:picLocks noChangeAspect="1"/>
          </p:cNvPicPr>
          <p:nvPr/>
        </p:nvPicPr>
        <p:blipFill>
          <a:blip r:embed="rId3"/>
          <a:srcRect l="1029" r="1029"/>
          <a:stretch>
            <a:fillRect/>
          </a:stretch>
        </p:blipFill>
        <p:spPr>
          <a:xfrm>
            <a:off x="6757416" y="1362456"/>
            <a:ext cx="4700016" cy="2999232"/>
          </a:xfrm>
          <a:prstGeom prst="rect">
            <a:avLst/>
          </a:prstGeom>
          <a:ln w="12700">
            <a:solidFill>
              <a:srgbClr val="FFFFFF"/>
            </a:solidFill>
          </a:ln>
          <a:effectLst/>
        </p:spPr>
      </p:pic>
      <p:sp>
        <p:nvSpPr>
          <p:cNvPr id="14" name="TextBox 13"/>
          <p:cNvSpPr txBox="1"/>
          <p:nvPr/>
        </p:nvSpPr>
        <p:spPr>
          <a:xfrm>
            <a:off x="6757416" y="4389120"/>
            <a:ext cx="4700016" cy="164592"/>
          </a:xfrm>
          <a:prstGeom prst="rect">
            <a:avLst/>
          </a:prstGeom>
          <a:noFill/>
        </p:spPr>
        <p:txBody>
          <a:bodyPr wrap="square" anchor="t" lIns="0" rIns="0" tIns="0" bIns="0">
            <a:noAutofit/>
          </a:bodyPr>
          <a:lstStyle/>
          <a:p>
            <a:pPr algn="l">
              <a:lnSpc>
                <a:spcPct val="112000"/>
              </a:lnSpc>
              <a:spcAft>
                <a:spcPts val="0"/>
              </a:spcAft>
            </a:pPr>
            <a:r>
              <a:rPr sz="950" b="0" i="1">
                <a:solidFill>
                  <a:srgbClr val="77859A"/>
                </a:solidFill>
                <a:latin typeface="Calibri"/>
              </a:rPr>
              <a:t>The running build — dashboard at 1440 × 900</a:t>
            </a:r>
          </a:p>
        </p:txBody>
      </p:sp>
      <p:sp>
        <p:nvSpPr>
          <p:cNvPr id="15" name="TextBox 14"/>
          <p:cNvSpPr txBox="1"/>
          <p:nvPr/>
        </p:nvSpPr>
        <p:spPr>
          <a:xfrm>
            <a:off x="6757416" y="4754880"/>
            <a:ext cx="4663440" cy="219456"/>
          </a:xfrm>
          <a:prstGeom prst="rect">
            <a:avLst/>
          </a:prstGeom>
          <a:noFill/>
        </p:spPr>
        <p:txBody>
          <a:bodyPr wrap="square" anchor="t" lIns="0" rIns="0" tIns="0" bIns="0">
            <a:noAutofit/>
          </a:bodyPr>
          <a:lstStyle/>
          <a:p>
            <a:pPr algn="l">
              <a:lnSpc>
                <a:spcPct val="112000"/>
              </a:lnSpc>
              <a:spcAft>
                <a:spcPts val="0"/>
              </a:spcAft>
            </a:pPr>
            <a:r>
              <a:rPr sz="1150" b="1" i="0">
                <a:solidFill>
                  <a:srgbClr val="0F7A82"/>
                </a:solidFill>
                <a:latin typeface="Calibri"/>
              </a:rPr>
              <a:t>Live demo  ·  study-mapper.vercel.app</a:t>
            </a:r>
          </a:p>
        </p:txBody>
      </p:sp>
      <p:sp>
        <p:nvSpPr>
          <p:cNvPr id="16" name="TextBox 15"/>
          <p:cNvSpPr txBox="1"/>
          <p:nvPr/>
        </p:nvSpPr>
        <p:spPr>
          <a:xfrm>
            <a:off x="6757416" y="5029200"/>
            <a:ext cx="4663440" cy="457200"/>
          </a:xfrm>
          <a:prstGeom prst="rect">
            <a:avLst/>
          </a:prstGeom>
          <a:noFill/>
        </p:spPr>
        <p:txBody>
          <a:bodyPr wrap="square" anchor="t" lIns="0" rIns="0" tIns="0" bIns="0">
            <a:noAutofit/>
          </a:bodyPr>
          <a:lstStyle/>
          <a:p>
            <a:pPr algn="l">
              <a:lnSpc>
                <a:spcPct val="125000"/>
              </a:lnSpc>
              <a:spcAft>
                <a:spcPts val="0"/>
              </a:spcAft>
            </a:pPr>
            <a:r>
              <a:rPr sz="1100" b="0" i="0">
                <a:solidFill>
                  <a:srgbClr val="77859A"/>
                </a:solidFill>
                <a:latin typeface="Calibri"/>
              </a:rPr>
              <a:t>Every number and screen in this deck comes from the repository or the running 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47472"/>
            <a:ext cx="822960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01 · AGENDA</a:t>
            </a:r>
          </a:p>
        </p:txBody>
      </p:sp>
      <p:sp>
        <p:nvSpPr>
          <p:cNvPr id="3" name="TextBox 2"/>
          <p:cNvSpPr txBox="1"/>
          <p:nvPr/>
        </p:nvSpPr>
        <p:spPr>
          <a:xfrm>
            <a:off x="685800" y="585216"/>
            <a:ext cx="10881360" cy="566928"/>
          </a:xfrm>
          <a:prstGeom prst="rect">
            <a:avLst/>
          </a:prstGeom>
          <a:noFill/>
        </p:spPr>
        <p:txBody>
          <a:bodyPr wrap="square" anchor="t" lIns="0" rIns="0" tIns="0" bIns="0">
            <a:noAutofit/>
          </a:bodyPr>
          <a:lstStyle/>
          <a:p>
            <a:pPr algn="l">
              <a:lnSpc>
                <a:spcPct val="95000"/>
              </a:lnSpc>
              <a:spcAft>
                <a:spcPts val="0"/>
              </a:spcAft>
            </a:pPr>
            <a:r>
              <a:rPr sz="3300" b="1" i="0">
                <a:solidFill>
                  <a:srgbClr val="152238"/>
                </a:solidFill>
                <a:latin typeface="Calibri"/>
              </a:rPr>
              <a:t>Ten slides, one story</a:t>
            </a:r>
          </a:p>
        </p:txBody>
      </p:sp>
      <p:sp>
        <p:nvSpPr>
          <p:cNvPr id="4" name="TextBox 3"/>
          <p:cNvSpPr txBox="1"/>
          <p:nvPr/>
        </p:nvSpPr>
        <p:spPr>
          <a:xfrm>
            <a:off x="685800" y="1225296"/>
            <a:ext cx="10424160" cy="512064"/>
          </a:xfrm>
          <a:prstGeom prst="rect">
            <a:avLst/>
          </a:prstGeom>
          <a:noFill/>
        </p:spPr>
        <p:txBody>
          <a:bodyPr wrap="square" anchor="t" lIns="0" rIns="0" tIns="0" bIns="0">
            <a:noAutofit/>
          </a:bodyPr>
          <a:lstStyle/>
          <a:p>
            <a:pPr algn="l">
              <a:lnSpc>
                <a:spcPct val="112000"/>
              </a:lnSpc>
              <a:spcAft>
                <a:spcPts val="0"/>
              </a:spcAft>
            </a:pPr>
            <a:r>
              <a:rPr sz="1650" b="0" i="0">
                <a:solidFill>
                  <a:srgbClr val="3D4A5C"/>
                </a:solidFill>
                <a:latin typeface="Calibri"/>
              </a:rPr>
              <a:t>Why it exists  →  what it does  →  how it works  →  what is proven  →  what comes next.</a:t>
            </a:r>
          </a:p>
        </p:txBody>
      </p:sp>
      <p:sp>
        <p:nvSpPr>
          <p:cNvPr id="5" name="TextBox 4"/>
          <p:cNvSpPr txBox="1"/>
          <p:nvPr/>
        </p:nvSpPr>
        <p:spPr>
          <a:xfrm>
            <a:off x="685800" y="6510528"/>
            <a:ext cx="7315200" cy="182880"/>
          </a:xfrm>
          <a:prstGeom prst="rect">
            <a:avLst/>
          </a:prstGeom>
          <a:noFill/>
        </p:spPr>
        <p:txBody>
          <a:bodyPr wrap="square" anchor="t" lIns="0" rIns="0" tIns="0" bIns="0">
            <a:noAutofit/>
          </a:bodyPr>
          <a:lstStyle/>
          <a:p>
            <a:pPr algn="l">
              <a:lnSpc>
                <a:spcPct val="112000"/>
              </a:lnSpc>
              <a:spcAft>
                <a:spcPts val="0"/>
              </a:spcAft>
            </a:pPr>
            <a:r>
              <a:rPr sz="900" b="0" i="0">
                <a:solidFill>
                  <a:srgbClr val="77859A"/>
                </a:solidFill>
                <a:latin typeface="Calibri"/>
              </a:rPr>
              <a:t>StudyMapper  ·  ten-slide overview</a:t>
            </a:r>
          </a:p>
        </p:txBody>
      </p:sp>
      <p:sp>
        <p:nvSpPr>
          <p:cNvPr id="6" name="TextBox 5"/>
          <p:cNvSpPr txBox="1"/>
          <p:nvPr/>
        </p:nvSpPr>
        <p:spPr>
          <a:xfrm>
            <a:off x="10058400" y="6492240"/>
            <a:ext cx="1444752" cy="219456"/>
          </a:xfrm>
          <a:prstGeom prst="rect">
            <a:avLst/>
          </a:prstGeom>
          <a:noFill/>
        </p:spPr>
        <p:txBody>
          <a:bodyPr wrap="square" anchor="t" lIns="0" rIns="0" tIns="0" bIns="0">
            <a:noAutofit/>
          </a:bodyPr>
          <a:lstStyle/>
          <a:p>
            <a:pPr algn="r">
              <a:lnSpc>
                <a:spcPct val="112000"/>
              </a:lnSpc>
              <a:spcAft>
                <a:spcPts val="0"/>
              </a:spcAft>
            </a:pPr>
            <a:r>
              <a:rPr sz="1000" b="1" i="0">
                <a:solidFill>
                  <a:srgbClr val="77859A"/>
                </a:solidFill>
                <a:latin typeface="Calibri"/>
              </a:rPr>
              <a:t>02 / 10</a:t>
            </a:r>
          </a:p>
        </p:txBody>
      </p:sp>
      <p:sp>
        <p:nvSpPr>
          <p:cNvPr id="7" name="Oval 6"/>
          <p:cNvSpPr/>
          <p:nvPr/>
        </p:nvSpPr>
        <p:spPr>
          <a:xfrm>
            <a:off x="685800" y="1920240"/>
            <a:ext cx="457200" cy="457200"/>
          </a:xfrm>
          <a:prstGeom prst="ellipse">
            <a:avLst/>
          </a:prstGeom>
          <a:solidFill>
            <a:srgbClr val="E6F2F2"/>
          </a:solidFill>
          <a:ln>
            <a:noFill/>
          </a:ln>
          <a:effectLst/>
        </p:spPr>
        <p:txBody>
          <a:bodyPr rtlCol="0" anchor="ctr" lIns="0" rIns="0" tIns="0" bIns="0"/>
          <a:lstStyle/>
          <a:p>
            <a:pPr algn="ctr"/>
            <a:r>
              <a:rPr sz="1100" b="1">
                <a:solidFill>
                  <a:srgbClr val="0F7A82"/>
                </a:solidFill>
                <a:latin typeface="Calibri"/>
              </a:rPr>
              <a:t>01</a:t>
            </a:r>
          </a:p>
        </p:txBody>
      </p:sp>
      <p:sp>
        <p:nvSpPr>
          <p:cNvPr id="8" name="TextBox 7"/>
          <p:cNvSpPr txBox="1"/>
          <p:nvPr/>
        </p:nvSpPr>
        <p:spPr>
          <a:xfrm>
            <a:off x="1362456" y="2011680"/>
            <a:ext cx="4480560" cy="292608"/>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Title &amp; team</a:t>
            </a:r>
          </a:p>
        </p:txBody>
      </p:sp>
      <p:sp>
        <p:nvSpPr>
          <p:cNvPr id="9" name="Rectangle 8"/>
          <p:cNvSpPr/>
          <p:nvPr/>
        </p:nvSpPr>
        <p:spPr>
          <a:xfrm>
            <a:off x="914400" y="2468880"/>
            <a:ext cx="7315" cy="274320"/>
          </a:xfrm>
          <a:prstGeom prst="rect">
            <a:avLst/>
          </a:prstGeom>
          <a:solidFill>
            <a:srgbClr val="DCE4EA"/>
          </a:solidFill>
          <a:ln>
            <a:noFill/>
          </a:ln>
          <a:effectLst/>
        </p:spPr>
        <p:txBody>
          <a:bodyPr rtlCol="0" anchor="ctr" wrap="square"/>
          <a:lstStyle/>
          <a:p>
            <a:pPr algn="ctr"/>
          </a:p>
        </p:txBody>
      </p:sp>
      <p:sp>
        <p:nvSpPr>
          <p:cNvPr id="10" name="Oval 9"/>
          <p:cNvSpPr/>
          <p:nvPr/>
        </p:nvSpPr>
        <p:spPr>
          <a:xfrm>
            <a:off x="685800" y="2779776"/>
            <a:ext cx="457200" cy="457200"/>
          </a:xfrm>
          <a:prstGeom prst="ellipse">
            <a:avLst/>
          </a:prstGeom>
          <a:solidFill>
            <a:srgbClr val="E6F2F2"/>
          </a:solidFill>
          <a:ln>
            <a:noFill/>
          </a:ln>
          <a:effectLst/>
        </p:spPr>
        <p:txBody>
          <a:bodyPr rtlCol="0" anchor="ctr" lIns="0" rIns="0" tIns="0" bIns="0"/>
          <a:lstStyle/>
          <a:p>
            <a:pPr algn="ctr"/>
            <a:r>
              <a:rPr sz="1100" b="1">
                <a:solidFill>
                  <a:srgbClr val="0F7A82"/>
                </a:solidFill>
                <a:latin typeface="Calibri"/>
              </a:rPr>
              <a:t>02</a:t>
            </a:r>
          </a:p>
        </p:txBody>
      </p:sp>
      <p:sp>
        <p:nvSpPr>
          <p:cNvPr id="11" name="TextBox 10"/>
          <p:cNvSpPr txBox="1"/>
          <p:nvPr/>
        </p:nvSpPr>
        <p:spPr>
          <a:xfrm>
            <a:off x="1362456" y="2871216"/>
            <a:ext cx="4480560" cy="292608"/>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Agenda</a:t>
            </a:r>
          </a:p>
        </p:txBody>
      </p:sp>
      <p:sp>
        <p:nvSpPr>
          <p:cNvPr id="12" name="Rectangle 11"/>
          <p:cNvSpPr/>
          <p:nvPr/>
        </p:nvSpPr>
        <p:spPr>
          <a:xfrm>
            <a:off x="914400" y="3328416"/>
            <a:ext cx="7315" cy="274320"/>
          </a:xfrm>
          <a:prstGeom prst="rect">
            <a:avLst/>
          </a:prstGeom>
          <a:solidFill>
            <a:srgbClr val="DCE4EA"/>
          </a:solidFill>
          <a:ln>
            <a:noFill/>
          </a:ln>
          <a:effectLst/>
        </p:spPr>
        <p:txBody>
          <a:bodyPr rtlCol="0" anchor="ctr" wrap="square"/>
          <a:lstStyle/>
          <a:p>
            <a:pPr algn="ctr"/>
          </a:p>
        </p:txBody>
      </p:sp>
      <p:sp>
        <p:nvSpPr>
          <p:cNvPr id="13" name="Oval 12"/>
          <p:cNvSpPr/>
          <p:nvPr/>
        </p:nvSpPr>
        <p:spPr>
          <a:xfrm>
            <a:off x="685800" y="3639312"/>
            <a:ext cx="457200" cy="457200"/>
          </a:xfrm>
          <a:prstGeom prst="ellipse">
            <a:avLst/>
          </a:prstGeom>
          <a:solidFill>
            <a:srgbClr val="E6F2F2"/>
          </a:solidFill>
          <a:ln>
            <a:noFill/>
          </a:ln>
          <a:effectLst/>
        </p:spPr>
        <p:txBody>
          <a:bodyPr rtlCol="0" anchor="ctr" lIns="0" rIns="0" tIns="0" bIns="0"/>
          <a:lstStyle/>
          <a:p>
            <a:pPr algn="ctr"/>
            <a:r>
              <a:rPr sz="1100" b="1">
                <a:solidFill>
                  <a:srgbClr val="0F7A82"/>
                </a:solidFill>
                <a:latin typeface="Calibri"/>
              </a:rPr>
              <a:t>03</a:t>
            </a:r>
          </a:p>
        </p:txBody>
      </p:sp>
      <p:sp>
        <p:nvSpPr>
          <p:cNvPr id="14" name="TextBox 13"/>
          <p:cNvSpPr txBox="1"/>
          <p:nvPr/>
        </p:nvSpPr>
        <p:spPr>
          <a:xfrm>
            <a:off x="1362456" y="3730752"/>
            <a:ext cx="4480560" cy="292608"/>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Abstract &amp; motivation</a:t>
            </a:r>
          </a:p>
        </p:txBody>
      </p:sp>
      <p:sp>
        <p:nvSpPr>
          <p:cNvPr id="15" name="Rectangle 14"/>
          <p:cNvSpPr/>
          <p:nvPr/>
        </p:nvSpPr>
        <p:spPr>
          <a:xfrm>
            <a:off x="914400" y="4187952"/>
            <a:ext cx="7315" cy="274320"/>
          </a:xfrm>
          <a:prstGeom prst="rect">
            <a:avLst/>
          </a:prstGeom>
          <a:solidFill>
            <a:srgbClr val="DCE4EA"/>
          </a:solidFill>
          <a:ln>
            <a:noFill/>
          </a:ln>
          <a:effectLst/>
        </p:spPr>
        <p:txBody>
          <a:bodyPr rtlCol="0" anchor="ctr" wrap="square"/>
          <a:lstStyle/>
          <a:p>
            <a:pPr algn="ctr"/>
          </a:p>
        </p:txBody>
      </p:sp>
      <p:sp>
        <p:nvSpPr>
          <p:cNvPr id="16" name="Oval 15"/>
          <p:cNvSpPr/>
          <p:nvPr/>
        </p:nvSpPr>
        <p:spPr>
          <a:xfrm>
            <a:off x="685800" y="4498848"/>
            <a:ext cx="457200" cy="457200"/>
          </a:xfrm>
          <a:prstGeom prst="ellipse">
            <a:avLst/>
          </a:prstGeom>
          <a:solidFill>
            <a:srgbClr val="E6F2F2"/>
          </a:solidFill>
          <a:ln>
            <a:noFill/>
          </a:ln>
          <a:effectLst/>
        </p:spPr>
        <p:txBody>
          <a:bodyPr rtlCol="0" anchor="ctr" lIns="0" rIns="0" tIns="0" bIns="0"/>
          <a:lstStyle/>
          <a:p>
            <a:pPr algn="ctr"/>
            <a:r>
              <a:rPr sz="1100" b="1">
                <a:solidFill>
                  <a:srgbClr val="0F7A82"/>
                </a:solidFill>
                <a:latin typeface="Calibri"/>
              </a:rPr>
              <a:t>04</a:t>
            </a:r>
          </a:p>
        </p:txBody>
      </p:sp>
      <p:sp>
        <p:nvSpPr>
          <p:cNvPr id="17" name="TextBox 16"/>
          <p:cNvSpPr txBox="1"/>
          <p:nvPr/>
        </p:nvSpPr>
        <p:spPr>
          <a:xfrm>
            <a:off x="1362456" y="4590288"/>
            <a:ext cx="4480560" cy="292608"/>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Problem &amp; objectives</a:t>
            </a:r>
          </a:p>
        </p:txBody>
      </p:sp>
      <p:sp>
        <p:nvSpPr>
          <p:cNvPr id="18" name="Rectangle 17"/>
          <p:cNvSpPr/>
          <p:nvPr/>
        </p:nvSpPr>
        <p:spPr>
          <a:xfrm>
            <a:off x="914400" y="5047488"/>
            <a:ext cx="7315" cy="274320"/>
          </a:xfrm>
          <a:prstGeom prst="rect">
            <a:avLst/>
          </a:prstGeom>
          <a:solidFill>
            <a:srgbClr val="DCE4EA"/>
          </a:solidFill>
          <a:ln>
            <a:noFill/>
          </a:ln>
          <a:effectLst/>
        </p:spPr>
        <p:txBody>
          <a:bodyPr rtlCol="0" anchor="ctr" wrap="square"/>
          <a:lstStyle/>
          <a:p>
            <a:pPr algn="ctr"/>
          </a:p>
        </p:txBody>
      </p:sp>
      <p:sp>
        <p:nvSpPr>
          <p:cNvPr id="19" name="Oval 18"/>
          <p:cNvSpPr/>
          <p:nvPr/>
        </p:nvSpPr>
        <p:spPr>
          <a:xfrm>
            <a:off x="685800" y="5358383"/>
            <a:ext cx="457200" cy="457200"/>
          </a:xfrm>
          <a:prstGeom prst="ellipse">
            <a:avLst/>
          </a:prstGeom>
          <a:solidFill>
            <a:srgbClr val="E6F2F2"/>
          </a:solidFill>
          <a:ln>
            <a:noFill/>
          </a:ln>
          <a:effectLst/>
        </p:spPr>
        <p:txBody>
          <a:bodyPr rtlCol="0" anchor="ctr" lIns="0" rIns="0" tIns="0" bIns="0"/>
          <a:lstStyle/>
          <a:p>
            <a:pPr algn="ctr"/>
            <a:r>
              <a:rPr sz="1100" b="1">
                <a:solidFill>
                  <a:srgbClr val="0F7A82"/>
                </a:solidFill>
                <a:latin typeface="Calibri"/>
              </a:rPr>
              <a:t>05</a:t>
            </a:r>
          </a:p>
        </p:txBody>
      </p:sp>
      <p:sp>
        <p:nvSpPr>
          <p:cNvPr id="20" name="TextBox 19"/>
          <p:cNvSpPr txBox="1"/>
          <p:nvPr/>
        </p:nvSpPr>
        <p:spPr>
          <a:xfrm>
            <a:off x="1362456" y="5449823"/>
            <a:ext cx="4480560" cy="292608"/>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Literature survey</a:t>
            </a:r>
          </a:p>
        </p:txBody>
      </p:sp>
      <p:sp>
        <p:nvSpPr>
          <p:cNvPr id="21" name="Oval 20"/>
          <p:cNvSpPr/>
          <p:nvPr/>
        </p:nvSpPr>
        <p:spPr>
          <a:xfrm>
            <a:off x="6217920" y="1920240"/>
            <a:ext cx="457200" cy="457200"/>
          </a:xfrm>
          <a:prstGeom prst="ellipse">
            <a:avLst/>
          </a:prstGeom>
          <a:solidFill>
            <a:srgbClr val="E6F2F2"/>
          </a:solidFill>
          <a:ln>
            <a:noFill/>
          </a:ln>
          <a:effectLst/>
        </p:spPr>
        <p:txBody>
          <a:bodyPr rtlCol="0" anchor="ctr" lIns="0" rIns="0" tIns="0" bIns="0"/>
          <a:lstStyle/>
          <a:p>
            <a:pPr algn="ctr"/>
            <a:r>
              <a:rPr sz="1100" b="1">
                <a:solidFill>
                  <a:srgbClr val="0F7A82"/>
                </a:solidFill>
                <a:latin typeface="Calibri"/>
              </a:rPr>
              <a:t>06</a:t>
            </a:r>
          </a:p>
        </p:txBody>
      </p:sp>
      <p:sp>
        <p:nvSpPr>
          <p:cNvPr id="22" name="TextBox 21"/>
          <p:cNvSpPr txBox="1"/>
          <p:nvPr/>
        </p:nvSpPr>
        <p:spPr>
          <a:xfrm>
            <a:off x="6894576" y="2011680"/>
            <a:ext cx="4480560" cy="292608"/>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System architecture</a:t>
            </a:r>
          </a:p>
        </p:txBody>
      </p:sp>
      <p:sp>
        <p:nvSpPr>
          <p:cNvPr id="23" name="Rectangle 22"/>
          <p:cNvSpPr/>
          <p:nvPr/>
        </p:nvSpPr>
        <p:spPr>
          <a:xfrm>
            <a:off x="6446520" y="2468880"/>
            <a:ext cx="7315" cy="274320"/>
          </a:xfrm>
          <a:prstGeom prst="rect">
            <a:avLst/>
          </a:prstGeom>
          <a:solidFill>
            <a:srgbClr val="DCE4EA"/>
          </a:solidFill>
          <a:ln>
            <a:noFill/>
          </a:ln>
          <a:effectLst/>
        </p:spPr>
        <p:txBody>
          <a:bodyPr rtlCol="0" anchor="ctr" wrap="square"/>
          <a:lstStyle/>
          <a:p>
            <a:pPr algn="ctr"/>
          </a:p>
        </p:txBody>
      </p:sp>
      <p:sp>
        <p:nvSpPr>
          <p:cNvPr id="24" name="Oval 23"/>
          <p:cNvSpPr/>
          <p:nvPr/>
        </p:nvSpPr>
        <p:spPr>
          <a:xfrm>
            <a:off x="6217920" y="2779776"/>
            <a:ext cx="457200" cy="457200"/>
          </a:xfrm>
          <a:prstGeom prst="ellipse">
            <a:avLst/>
          </a:prstGeom>
          <a:solidFill>
            <a:srgbClr val="E6F2F2"/>
          </a:solidFill>
          <a:ln>
            <a:noFill/>
          </a:ln>
          <a:effectLst/>
        </p:spPr>
        <p:txBody>
          <a:bodyPr rtlCol="0" anchor="ctr" lIns="0" rIns="0" tIns="0" bIns="0"/>
          <a:lstStyle/>
          <a:p>
            <a:pPr algn="ctr"/>
            <a:r>
              <a:rPr sz="1100" b="1">
                <a:solidFill>
                  <a:srgbClr val="0F7A82"/>
                </a:solidFill>
                <a:latin typeface="Calibri"/>
              </a:rPr>
              <a:t>07</a:t>
            </a:r>
          </a:p>
        </p:txBody>
      </p:sp>
      <p:sp>
        <p:nvSpPr>
          <p:cNvPr id="25" name="TextBox 24"/>
          <p:cNvSpPr txBox="1"/>
          <p:nvPr/>
        </p:nvSpPr>
        <p:spPr>
          <a:xfrm>
            <a:off x="6894576" y="2871216"/>
            <a:ext cx="4480560" cy="292608"/>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Methodology &amp; algorithm</a:t>
            </a:r>
          </a:p>
        </p:txBody>
      </p:sp>
      <p:sp>
        <p:nvSpPr>
          <p:cNvPr id="26" name="Rectangle 25"/>
          <p:cNvSpPr/>
          <p:nvPr/>
        </p:nvSpPr>
        <p:spPr>
          <a:xfrm>
            <a:off x="6446520" y="3328416"/>
            <a:ext cx="7315" cy="274320"/>
          </a:xfrm>
          <a:prstGeom prst="rect">
            <a:avLst/>
          </a:prstGeom>
          <a:solidFill>
            <a:srgbClr val="DCE4EA"/>
          </a:solidFill>
          <a:ln>
            <a:noFill/>
          </a:ln>
          <a:effectLst/>
        </p:spPr>
        <p:txBody>
          <a:bodyPr rtlCol="0" anchor="ctr" wrap="square"/>
          <a:lstStyle/>
          <a:p>
            <a:pPr algn="ctr"/>
          </a:p>
        </p:txBody>
      </p:sp>
      <p:sp>
        <p:nvSpPr>
          <p:cNvPr id="27" name="Oval 26"/>
          <p:cNvSpPr/>
          <p:nvPr/>
        </p:nvSpPr>
        <p:spPr>
          <a:xfrm>
            <a:off x="6217920" y="3639312"/>
            <a:ext cx="457200" cy="457200"/>
          </a:xfrm>
          <a:prstGeom prst="ellipse">
            <a:avLst/>
          </a:prstGeom>
          <a:solidFill>
            <a:srgbClr val="E6F2F2"/>
          </a:solidFill>
          <a:ln>
            <a:noFill/>
          </a:ln>
          <a:effectLst/>
        </p:spPr>
        <p:txBody>
          <a:bodyPr rtlCol="0" anchor="ctr" lIns="0" rIns="0" tIns="0" bIns="0"/>
          <a:lstStyle/>
          <a:p>
            <a:pPr algn="ctr"/>
            <a:r>
              <a:rPr sz="1100" b="1">
                <a:solidFill>
                  <a:srgbClr val="0F7A82"/>
                </a:solidFill>
                <a:latin typeface="Calibri"/>
              </a:rPr>
              <a:t>08</a:t>
            </a:r>
          </a:p>
        </p:txBody>
      </p:sp>
      <p:sp>
        <p:nvSpPr>
          <p:cNvPr id="28" name="TextBox 27"/>
          <p:cNvSpPr txBox="1"/>
          <p:nvPr/>
        </p:nvSpPr>
        <p:spPr>
          <a:xfrm>
            <a:off x="6894576" y="3730752"/>
            <a:ext cx="4480560" cy="292608"/>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Implementation details</a:t>
            </a:r>
          </a:p>
        </p:txBody>
      </p:sp>
      <p:sp>
        <p:nvSpPr>
          <p:cNvPr id="29" name="Rectangle 28"/>
          <p:cNvSpPr/>
          <p:nvPr/>
        </p:nvSpPr>
        <p:spPr>
          <a:xfrm>
            <a:off x="6446520" y="4187952"/>
            <a:ext cx="7315" cy="274320"/>
          </a:xfrm>
          <a:prstGeom prst="rect">
            <a:avLst/>
          </a:prstGeom>
          <a:solidFill>
            <a:srgbClr val="DCE4EA"/>
          </a:solidFill>
          <a:ln>
            <a:noFill/>
          </a:ln>
          <a:effectLst/>
        </p:spPr>
        <p:txBody>
          <a:bodyPr rtlCol="0" anchor="ctr" wrap="square"/>
          <a:lstStyle/>
          <a:p>
            <a:pPr algn="ctr"/>
          </a:p>
        </p:txBody>
      </p:sp>
      <p:sp>
        <p:nvSpPr>
          <p:cNvPr id="30" name="Oval 29"/>
          <p:cNvSpPr/>
          <p:nvPr/>
        </p:nvSpPr>
        <p:spPr>
          <a:xfrm>
            <a:off x="6217920" y="4498848"/>
            <a:ext cx="457200" cy="457200"/>
          </a:xfrm>
          <a:prstGeom prst="ellipse">
            <a:avLst/>
          </a:prstGeom>
          <a:solidFill>
            <a:srgbClr val="E6F2F2"/>
          </a:solidFill>
          <a:ln>
            <a:noFill/>
          </a:ln>
          <a:effectLst/>
        </p:spPr>
        <p:txBody>
          <a:bodyPr rtlCol="0" anchor="ctr" lIns="0" rIns="0" tIns="0" bIns="0"/>
          <a:lstStyle/>
          <a:p>
            <a:pPr algn="ctr"/>
            <a:r>
              <a:rPr sz="1100" b="1">
                <a:solidFill>
                  <a:srgbClr val="0F7A82"/>
                </a:solidFill>
                <a:latin typeface="Calibri"/>
              </a:rPr>
              <a:t>09</a:t>
            </a:r>
          </a:p>
        </p:txBody>
      </p:sp>
      <p:sp>
        <p:nvSpPr>
          <p:cNvPr id="31" name="TextBox 30"/>
          <p:cNvSpPr txBox="1"/>
          <p:nvPr/>
        </p:nvSpPr>
        <p:spPr>
          <a:xfrm>
            <a:off x="6894576" y="4590288"/>
            <a:ext cx="4480560" cy="292608"/>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Results &amp; analysis</a:t>
            </a:r>
          </a:p>
        </p:txBody>
      </p:sp>
      <p:sp>
        <p:nvSpPr>
          <p:cNvPr id="32" name="Rectangle 31"/>
          <p:cNvSpPr/>
          <p:nvPr/>
        </p:nvSpPr>
        <p:spPr>
          <a:xfrm>
            <a:off x="6446520" y="5047488"/>
            <a:ext cx="7315" cy="274320"/>
          </a:xfrm>
          <a:prstGeom prst="rect">
            <a:avLst/>
          </a:prstGeom>
          <a:solidFill>
            <a:srgbClr val="DCE4EA"/>
          </a:solidFill>
          <a:ln>
            <a:noFill/>
          </a:ln>
          <a:effectLst/>
        </p:spPr>
        <p:txBody>
          <a:bodyPr rtlCol="0" anchor="ctr" wrap="square"/>
          <a:lstStyle/>
          <a:p>
            <a:pPr algn="ctr"/>
          </a:p>
        </p:txBody>
      </p:sp>
      <p:sp>
        <p:nvSpPr>
          <p:cNvPr id="33" name="Oval 32"/>
          <p:cNvSpPr/>
          <p:nvPr/>
        </p:nvSpPr>
        <p:spPr>
          <a:xfrm>
            <a:off x="6217920" y="5358383"/>
            <a:ext cx="457200" cy="457200"/>
          </a:xfrm>
          <a:prstGeom prst="ellipse">
            <a:avLst/>
          </a:prstGeom>
          <a:solidFill>
            <a:srgbClr val="E6F2F2"/>
          </a:solidFill>
          <a:ln>
            <a:noFill/>
          </a:ln>
          <a:effectLst/>
        </p:spPr>
        <p:txBody>
          <a:bodyPr rtlCol="0" anchor="ctr" lIns="0" rIns="0" tIns="0" bIns="0"/>
          <a:lstStyle/>
          <a:p>
            <a:pPr algn="ctr"/>
            <a:r>
              <a:rPr sz="1100" b="1">
                <a:solidFill>
                  <a:srgbClr val="0F7A82"/>
                </a:solidFill>
                <a:latin typeface="Calibri"/>
              </a:rPr>
              <a:t>10</a:t>
            </a:r>
          </a:p>
        </p:txBody>
      </p:sp>
      <p:sp>
        <p:nvSpPr>
          <p:cNvPr id="34" name="TextBox 33"/>
          <p:cNvSpPr txBox="1"/>
          <p:nvPr/>
        </p:nvSpPr>
        <p:spPr>
          <a:xfrm>
            <a:off x="6894576" y="5449823"/>
            <a:ext cx="4480560" cy="292608"/>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Conclusion, future &amp; references</a:t>
            </a:r>
          </a:p>
        </p:txBody>
      </p:sp>
      <p:sp>
        <p:nvSpPr>
          <p:cNvPr id="35" name="TextBox 34"/>
          <p:cNvSpPr txBox="1"/>
          <p:nvPr/>
        </p:nvSpPr>
        <p:spPr>
          <a:xfrm>
            <a:off x="685800" y="6144768"/>
            <a:ext cx="10789920" cy="237744"/>
          </a:xfrm>
          <a:prstGeom prst="rect">
            <a:avLst/>
          </a:prstGeom>
          <a:noFill/>
        </p:spPr>
        <p:txBody>
          <a:bodyPr wrap="square" anchor="t" lIns="0" rIns="0" tIns="0" bIns="0">
            <a:noAutofit/>
          </a:bodyPr>
          <a:lstStyle/>
          <a:p>
            <a:pPr algn="l">
              <a:lnSpc>
                <a:spcPct val="112000"/>
              </a:lnSpc>
              <a:spcAft>
                <a:spcPts val="0"/>
              </a:spcAft>
            </a:pPr>
            <a:r>
              <a:rPr sz="1200" b="0" i="1">
                <a:solidFill>
                  <a:srgbClr val="77859A"/>
                </a:solidFill>
                <a:latin typeface="Calibri"/>
              </a:rPr>
              <a:t>Short version: about ten minutes, then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47472"/>
            <a:ext cx="822960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02 · ABSTRACT &amp; MOTIVATION</a:t>
            </a:r>
          </a:p>
        </p:txBody>
      </p:sp>
      <p:sp>
        <p:nvSpPr>
          <p:cNvPr id="3" name="TextBox 2"/>
          <p:cNvSpPr txBox="1"/>
          <p:nvPr/>
        </p:nvSpPr>
        <p:spPr>
          <a:xfrm>
            <a:off x="685800" y="585216"/>
            <a:ext cx="10881360" cy="566928"/>
          </a:xfrm>
          <a:prstGeom prst="rect">
            <a:avLst/>
          </a:prstGeom>
          <a:noFill/>
        </p:spPr>
        <p:txBody>
          <a:bodyPr wrap="square" anchor="t" lIns="0" rIns="0" tIns="0" bIns="0">
            <a:noAutofit/>
          </a:bodyPr>
          <a:lstStyle/>
          <a:p>
            <a:pPr algn="l">
              <a:lnSpc>
                <a:spcPct val="95000"/>
              </a:lnSpc>
              <a:spcAft>
                <a:spcPts val="0"/>
              </a:spcAft>
            </a:pPr>
            <a:r>
              <a:rPr sz="3300" b="1" i="0">
                <a:solidFill>
                  <a:srgbClr val="152238"/>
                </a:solidFill>
                <a:latin typeface="Calibri"/>
              </a:rPr>
              <a:t>One loop: plan, learn, practise, improve</a:t>
            </a:r>
          </a:p>
        </p:txBody>
      </p:sp>
      <p:sp>
        <p:nvSpPr>
          <p:cNvPr id="4" name="TextBox 3"/>
          <p:cNvSpPr txBox="1"/>
          <p:nvPr/>
        </p:nvSpPr>
        <p:spPr>
          <a:xfrm>
            <a:off x="685800" y="1225296"/>
            <a:ext cx="10424160" cy="512064"/>
          </a:xfrm>
          <a:prstGeom prst="rect">
            <a:avLst/>
          </a:prstGeom>
          <a:noFill/>
        </p:spPr>
        <p:txBody>
          <a:bodyPr wrap="square" anchor="t" lIns="0" rIns="0" tIns="0" bIns="0">
            <a:noAutofit/>
          </a:bodyPr>
          <a:lstStyle/>
          <a:p>
            <a:pPr algn="l">
              <a:lnSpc>
                <a:spcPct val="112000"/>
              </a:lnSpc>
              <a:spcAft>
                <a:spcPts val="0"/>
              </a:spcAft>
            </a:pPr>
            <a:r>
              <a:rPr sz="1650" b="0" i="0">
                <a:solidFill>
                  <a:srgbClr val="3D4A5C"/>
                </a:solidFill>
                <a:latin typeface="Calibri"/>
              </a:rPr>
              <a:t>A syllabus becomes a plan that reacts to what the student actually gets wrong.</a:t>
            </a:r>
          </a:p>
        </p:txBody>
      </p:sp>
      <p:sp>
        <p:nvSpPr>
          <p:cNvPr id="5" name="TextBox 4"/>
          <p:cNvSpPr txBox="1"/>
          <p:nvPr/>
        </p:nvSpPr>
        <p:spPr>
          <a:xfrm>
            <a:off x="685800" y="6510528"/>
            <a:ext cx="7315200" cy="182880"/>
          </a:xfrm>
          <a:prstGeom prst="rect">
            <a:avLst/>
          </a:prstGeom>
          <a:noFill/>
        </p:spPr>
        <p:txBody>
          <a:bodyPr wrap="square" anchor="t" lIns="0" rIns="0" tIns="0" bIns="0">
            <a:noAutofit/>
          </a:bodyPr>
          <a:lstStyle/>
          <a:p>
            <a:pPr algn="l">
              <a:lnSpc>
                <a:spcPct val="112000"/>
              </a:lnSpc>
              <a:spcAft>
                <a:spcPts val="0"/>
              </a:spcAft>
            </a:pPr>
            <a:r>
              <a:rPr sz="900" b="0" i="0">
                <a:solidFill>
                  <a:srgbClr val="77859A"/>
                </a:solidFill>
                <a:latin typeface="Calibri"/>
              </a:rPr>
              <a:t>StudyMapper  ·  ten-slide overview</a:t>
            </a:r>
          </a:p>
        </p:txBody>
      </p:sp>
      <p:sp>
        <p:nvSpPr>
          <p:cNvPr id="6" name="TextBox 5"/>
          <p:cNvSpPr txBox="1"/>
          <p:nvPr/>
        </p:nvSpPr>
        <p:spPr>
          <a:xfrm>
            <a:off x="10058400" y="6492240"/>
            <a:ext cx="1444752" cy="219456"/>
          </a:xfrm>
          <a:prstGeom prst="rect">
            <a:avLst/>
          </a:prstGeom>
          <a:noFill/>
        </p:spPr>
        <p:txBody>
          <a:bodyPr wrap="square" anchor="t" lIns="0" rIns="0" tIns="0" bIns="0">
            <a:noAutofit/>
          </a:bodyPr>
          <a:lstStyle/>
          <a:p>
            <a:pPr algn="r">
              <a:lnSpc>
                <a:spcPct val="112000"/>
              </a:lnSpc>
              <a:spcAft>
                <a:spcPts val="0"/>
              </a:spcAft>
            </a:pPr>
            <a:r>
              <a:rPr sz="1000" b="1" i="0">
                <a:solidFill>
                  <a:srgbClr val="77859A"/>
                </a:solidFill>
                <a:latin typeface="Calibri"/>
              </a:rPr>
              <a:t>03 / 10</a:t>
            </a:r>
          </a:p>
        </p:txBody>
      </p:sp>
      <p:sp>
        <p:nvSpPr>
          <p:cNvPr id="7" name="Rounded Rectangle 6"/>
          <p:cNvSpPr/>
          <p:nvPr/>
        </p:nvSpPr>
        <p:spPr>
          <a:xfrm>
            <a:off x="658368" y="2157984"/>
            <a:ext cx="2487168" cy="1261872"/>
          </a:xfrm>
          <a:prstGeom prst="roundRect">
            <a:avLst>
              <a:gd name="adj" fmla="val 6000"/>
            </a:avLst>
          </a:prstGeom>
          <a:solidFill>
            <a:srgbClr val="F5F8FA"/>
          </a:solidFill>
          <a:ln>
            <a:noFill/>
          </a:ln>
          <a:effectLst/>
        </p:spPr>
        <p:txBody>
          <a:bodyPr rtlCol="0" anchor="ctr" wrap="square"/>
          <a:lstStyle/>
          <a:p>
            <a:pPr algn="ctr"/>
          </a:p>
        </p:txBody>
      </p:sp>
      <p:sp>
        <p:nvSpPr>
          <p:cNvPr id="8" name="TextBox 7"/>
          <p:cNvSpPr txBox="1"/>
          <p:nvPr/>
        </p:nvSpPr>
        <p:spPr>
          <a:xfrm>
            <a:off x="859536" y="2322576"/>
            <a:ext cx="2121408" cy="274320"/>
          </a:xfrm>
          <a:prstGeom prst="rect">
            <a:avLst/>
          </a:prstGeom>
          <a:noFill/>
        </p:spPr>
        <p:txBody>
          <a:bodyPr wrap="square" anchor="t" lIns="0" rIns="0" tIns="0" bIns="0">
            <a:noAutofit/>
          </a:bodyPr>
          <a:lstStyle/>
          <a:p>
            <a:pPr algn="l">
              <a:lnSpc>
                <a:spcPct val="112000"/>
              </a:lnSpc>
              <a:spcAft>
                <a:spcPts val="0"/>
              </a:spcAft>
            </a:pPr>
            <a:r>
              <a:rPr sz="1700" b="1" i="0">
                <a:solidFill>
                  <a:srgbClr val="0F7A82"/>
                </a:solidFill>
                <a:latin typeface="Calibri"/>
              </a:rPr>
              <a:t>PLAN</a:t>
            </a:r>
          </a:p>
        </p:txBody>
      </p:sp>
      <p:sp>
        <p:nvSpPr>
          <p:cNvPr id="9" name="TextBox 8"/>
          <p:cNvSpPr txBox="1"/>
          <p:nvPr/>
        </p:nvSpPr>
        <p:spPr>
          <a:xfrm>
            <a:off x="859536" y="2670048"/>
            <a:ext cx="2103120" cy="566928"/>
          </a:xfrm>
          <a:prstGeom prst="rect">
            <a:avLst/>
          </a:prstGeom>
          <a:noFill/>
        </p:spPr>
        <p:txBody>
          <a:bodyPr wrap="square" anchor="t" lIns="0" rIns="0" tIns="0" bIns="0">
            <a:noAutofit/>
          </a:bodyPr>
          <a:lstStyle/>
          <a:p>
            <a:pPr algn="l">
              <a:lnSpc>
                <a:spcPct val="120000"/>
              </a:lnSpc>
              <a:spcAft>
                <a:spcPts val="0"/>
              </a:spcAft>
            </a:pPr>
            <a:r>
              <a:rPr sz="1200" b="0" i="0">
                <a:solidFill>
                  <a:srgbClr val="3D4A5C"/>
                </a:solidFill>
                <a:latin typeface="Calibri"/>
              </a:rPr>
              <a:t>Exam date · difficulty · weak scores</a:t>
            </a:r>
          </a:p>
        </p:txBody>
      </p:sp>
      <p:cxnSp>
        <p:nvCxnSpPr>
          <p:cNvPr id="10" name="Connector 9"/>
          <p:cNvCxnSpPr/>
          <p:nvPr/>
        </p:nvCxnSpPr>
        <p:spPr>
          <a:xfrm>
            <a:off x="3182112" y="2788920"/>
            <a:ext cx="237744" cy="0"/>
          </a:xfrm>
          <a:prstGeom prst="line">
            <a:avLst/>
          </a:prstGeom>
          <a:ln w="20320">
            <a:solidFill>
              <a:srgbClr val="77859A"/>
            </a:solidFill>
            <a:tailEnd type="triangle" w="med" len="med"/>
          </a:ln>
          <a:effectLst/>
        </p:spPr>
      </p:cxnSp>
      <p:sp>
        <p:nvSpPr>
          <p:cNvPr id="11" name="Rounded Rectangle 10"/>
          <p:cNvSpPr/>
          <p:nvPr/>
        </p:nvSpPr>
        <p:spPr>
          <a:xfrm>
            <a:off x="3456432" y="2157984"/>
            <a:ext cx="2487168" cy="1261872"/>
          </a:xfrm>
          <a:prstGeom prst="roundRect">
            <a:avLst>
              <a:gd name="adj" fmla="val 6000"/>
            </a:avLst>
          </a:prstGeom>
          <a:solidFill>
            <a:srgbClr val="F5F8FA"/>
          </a:solidFill>
          <a:ln>
            <a:noFill/>
          </a:ln>
          <a:effectLst/>
        </p:spPr>
        <p:txBody>
          <a:bodyPr rtlCol="0" anchor="ctr" wrap="square"/>
          <a:lstStyle/>
          <a:p>
            <a:pPr algn="ctr"/>
          </a:p>
        </p:txBody>
      </p:sp>
      <p:sp>
        <p:nvSpPr>
          <p:cNvPr id="12" name="TextBox 11"/>
          <p:cNvSpPr txBox="1"/>
          <p:nvPr/>
        </p:nvSpPr>
        <p:spPr>
          <a:xfrm>
            <a:off x="3657600" y="2322576"/>
            <a:ext cx="2121408" cy="274320"/>
          </a:xfrm>
          <a:prstGeom prst="rect">
            <a:avLst/>
          </a:prstGeom>
          <a:noFill/>
        </p:spPr>
        <p:txBody>
          <a:bodyPr wrap="square" anchor="t" lIns="0" rIns="0" tIns="0" bIns="0">
            <a:noAutofit/>
          </a:bodyPr>
          <a:lstStyle/>
          <a:p>
            <a:pPr algn="l">
              <a:lnSpc>
                <a:spcPct val="112000"/>
              </a:lnSpc>
              <a:spcAft>
                <a:spcPts val="0"/>
              </a:spcAft>
            </a:pPr>
            <a:r>
              <a:rPr sz="1700" b="1" i="0">
                <a:solidFill>
                  <a:srgbClr val="2E5C9A"/>
                </a:solidFill>
                <a:latin typeface="Calibri"/>
              </a:rPr>
              <a:t>LEARN</a:t>
            </a:r>
          </a:p>
        </p:txBody>
      </p:sp>
      <p:sp>
        <p:nvSpPr>
          <p:cNvPr id="13" name="TextBox 12"/>
          <p:cNvSpPr txBox="1"/>
          <p:nvPr/>
        </p:nvSpPr>
        <p:spPr>
          <a:xfrm>
            <a:off x="3657600" y="2670048"/>
            <a:ext cx="2103120" cy="566928"/>
          </a:xfrm>
          <a:prstGeom prst="rect">
            <a:avLst/>
          </a:prstGeom>
          <a:noFill/>
        </p:spPr>
        <p:txBody>
          <a:bodyPr wrap="square" anchor="t" lIns="0" rIns="0" tIns="0" bIns="0">
            <a:noAutofit/>
          </a:bodyPr>
          <a:lstStyle/>
          <a:p>
            <a:pPr algn="l">
              <a:lnSpc>
                <a:spcPct val="120000"/>
              </a:lnSpc>
              <a:spcAft>
                <a:spcPts val="0"/>
              </a:spcAft>
            </a:pPr>
            <a:r>
              <a:rPr sz="1200" b="0" i="0">
                <a:solidFill>
                  <a:srgbClr val="3D4A5C"/>
                </a:solidFill>
                <a:latin typeface="Calibri"/>
              </a:rPr>
              <a:t>Notes, diagrams, imported PDFs</a:t>
            </a:r>
          </a:p>
        </p:txBody>
      </p:sp>
      <p:cxnSp>
        <p:nvCxnSpPr>
          <p:cNvPr id="14" name="Connector 13"/>
          <p:cNvCxnSpPr/>
          <p:nvPr/>
        </p:nvCxnSpPr>
        <p:spPr>
          <a:xfrm>
            <a:off x="5980176" y="2788920"/>
            <a:ext cx="237744" cy="0"/>
          </a:xfrm>
          <a:prstGeom prst="line">
            <a:avLst/>
          </a:prstGeom>
          <a:ln w="20320">
            <a:solidFill>
              <a:srgbClr val="77859A"/>
            </a:solidFill>
            <a:tailEnd type="triangle" w="med" len="med"/>
          </a:ln>
          <a:effectLst/>
        </p:spPr>
      </p:cxnSp>
      <p:sp>
        <p:nvSpPr>
          <p:cNvPr id="15" name="Rounded Rectangle 14"/>
          <p:cNvSpPr/>
          <p:nvPr/>
        </p:nvSpPr>
        <p:spPr>
          <a:xfrm>
            <a:off x="6254496" y="2157984"/>
            <a:ext cx="2487168" cy="1261872"/>
          </a:xfrm>
          <a:prstGeom prst="roundRect">
            <a:avLst>
              <a:gd name="adj" fmla="val 6000"/>
            </a:avLst>
          </a:prstGeom>
          <a:solidFill>
            <a:srgbClr val="F5F8FA"/>
          </a:solidFill>
          <a:ln>
            <a:noFill/>
          </a:ln>
          <a:effectLst/>
        </p:spPr>
        <p:txBody>
          <a:bodyPr rtlCol="0" anchor="ctr" wrap="square"/>
          <a:lstStyle/>
          <a:p>
            <a:pPr algn="ctr"/>
          </a:p>
        </p:txBody>
      </p:sp>
      <p:sp>
        <p:nvSpPr>
          <p:cNvPr id="16" name="TextBox 15"/>
          <p:cNvSpPr txBox="1"/>
          <p:nvPr/>
        </p:nvSpPr>
        <p:spPr>
          <a:xfrm>
            <a:off x="6455664" y="2322576"/>
            <a:ext cx="2121408" cy="274320"/>
          </a:xfrm>
          <a:prstGeom prst="rect">
            <a:avLst/>
          </a:prstGeom>
          <a:noFill/>
        </p:spPr>
        <p:txBody>
          <a:bodyPr wrap="square" anchor="t" lIns="0" rIns="0" tIns="0" bIns="0">
            <a:noAutofit/>
          </a:bodyPr>
          <a:lstStyle/>
          <a:p>
            <a:pPr algn="l">
              <a:lnSpc>
                <a:spcPct val="112000"/>
              </a:lnSpc>
              <a:spcAft>
                <a:spcPts val="0"/>
              </a:spcAft>
            </a:pPr>
            <a:r>
              <a:rPr sz="1700" b="1" i="0">
                <a:solidFill>
                  <a:srgbClr val="B0781C"/>
                </a:solidFill>
                <a:latin typeface="Calibri"/>
              </a:rPr>
              <a:t>PRACTISE</a:t>
            </a:r>
          </a:p>
        </p:txBody>
      </p:sp>
      <p:sp>
        <p:nvSpPr>
          <p:cNvPr id="17" name="TextBox 16"/>
          <p:cNvSpPr txBox="1"/>
          <p:nvPr/>
        </p:nvSpPr>
        <p:spPr>
          <a:xfrm>
            <a:off x="6455664" y="2670048"/>
            <a:ext cx="2103120" cy="566928"/>
          </a:xfrm>
          <a:prstGeom prst="rect">
            <a:avLst/>
          </a:prstGeom>
          <a:noFill/>
        </p:spPr>
        <p:txBody>
          <a:bodyPr wrap="square" anchor="t" lIns="0" rIns="0" tIns="0" bIns="0">
            <a:noAutofit/>
          </a:bodyPr>
          <a:lstStyle/>
          <a:p>
            <a:pPr algn="l">
              <a:lnSpc>
                <a:spcPct val="120000"/>
              </a:lnSpc>
              <a:spcAft>
                <a:spcPts val="0"/>
              </a:spcAft>
            </a:pPr>
            <a:r>
              <a:rPr sz="1200" b="0" i="0">
                <a:solidFill>
                  <a:srgbClr val="3D4A5C"/>
                </a:solidFill>
                <a:latin typeface="Calibri"/>
              </a:rPr>
              <a:t>Question banks, mock exams, code</a:t>
            </a:r>
          </a:p>
        </p:txBody>
      </p:sp>
      <p:cxnSp>
        <p:nvCxnSpPr>
          <p:cNvPr id="18" name="Connector 17"/>
          <p:cNvCxnSpPr/>
          <p:nvPr/>
        </p:nvCxnSpPr>
        <p:spPr>
          <a:xfrm>
            <a:off x="8778240" y="2788920"/>
            <a:ext cx="237744" cy="0"/>
          </a:xfrm>
          <a:prstGeom prst="line">
            <a:avLst/>
          </a:prstGeom>
          <a:ln w="20320">
            <a:solidFill>
              <a:srgbClr val="77859A"/>
            </a:solidFill>
            <a:tailEnd type="triangle" w="med" len="med"/>
          </a:ln>
          <a:effectLst/>
        </p:spPr>
      </p:cxnSp>
      <p:sp>
        <p:nvSpPr>
          <p:cNvPr id="19" name="Rounded Rectangle 18"/>
          <p:cNvSpPr/>
          <p:nvPr/>
        </p:nvSpPr>
        <p:spPr>
          <a:xfrm>
            <a:off x="9052560" y="2157984"/>
            <a:ext cx="2487168" cy="1261872"/>
          </a:xfrm>
          <a:prstGeom prst="roundRect">
            <a:avLst>
              <a:gd name="adj" fmla="val 6000"/>
            </a:avLst>
          </a:prstGeom>
          <a:solidFill>
            <a:srgbClr val="F5F8FA"/>
          </a:solidFill>
          <a:ln>
            <a:noFill/>
          </a:ln>
          <a:effectLst/>
        </p:spPr>
        <p:txBody>
          <a:bodyPr rtlCol="0" anchor="ctr" wrap="square"/>
          <a:lstStyle/>
          <a:p>
            <a:pPr algn="ctr"/>
          </a:p>
        </p:txBody>
      </p:sp>
      <p:sp>
        <p:nvSpPr>
          <p:cNvPr id="20" name="TextBox 19"/>
          <p:cNvSpPr txBox="1"/>
          <p:nvPr/>
        </p:nvSpPr>
        <p:spPr>
          <a:xfrm>
            <a:off x="9253728" y="2322576"/>
            <a:ext cx="2121408" cy="274320"/>
          </a:xfrm>
          <a:prstGeom prst="rect">
            <a:avLst/>
          </a:prstGeom>
          <a:noFill/>
        </p:spPr>
        <p:txBody>
          <a:bodyPr wrap="square" anchor="t" lIns="0" rIns="0" tIns="0" bIns="0">
            <a:noAutofit/>
          </a:bodyPr>
          <a:lstStyle/>
          <a:p>
            <a:pPr algn="l">
              <a:lnSpc>
                <a:spcPct val="112000"/>
              </a:lnSpc>
              <a:spcAft>
                <a:spcPts val="0"/>
              </a:spcAft>
            </a:pPr>
            <a:r>
              <a:rPr sz="1700" b="1" i="0">
                <a:solidFill>
                  <a:srgbClr val="2B7A58"/>
                </a:solidFill>
                <a:latin typeface="Calibri"/>
              </a:rPr>
              <a:t>IMPROVE</a:t>
            </a:r>
          </a:p>
        </p:txBody>
      </p:sp>
      <p:sp>
        <p:nvSpPr>
          <p:cNvPr id="21" name="TextBox 20"/>
          <p:cNvSpPr txBox="1"/>
          <p:nvPr/>
        </p:nvSpPr>
        <p:spPr>
          <a:xfrm>
            <a:off x="9253728" y="2670048"/>
            <a:ext cx="2103120" cy="566928"/>
          </a:xfrm>
          <a:prstGeom prst="rect">
            <a:avLst/>
          </a:prstGeom>
          <a:noFill/>
        </p:spPr>
        <p:txBody>
          <a:bodyPr wrap="square" anchor="t" lIns="0" rIns="0" tIns="0" bIns="0">
            <a:noAutofit/>
          </a:bodyPr>
          <a:lstStyle/>
          <a:p>
            <a:pPr algn="l">
              <a:lnSpc>
                <a:spcPct val="120000"/>
              </a:lnSpc>
              <a:spcAft>
                <a:spcPts val="0"/>
              </a:spcAft>
            </a:pPr>
            <a:r>
              <a:rPr sz="1200" b="0" i="0">
                <a:solidFill>
                  <a:srgbClr val="3D4A5C"/>
                </a:solidFill>
                <a:latin typeface="Calibri"/>
              </a:rPr>
              <a:t>Weakness scores and SM-2 reviews</a:t>
            </a:r>
          </a:p>
        </p:txBody>
      </p:sp>
      <p:cxnSp>
        <p:nvCxnSpPr>
          <p:cNvPr id="22" name="Connector 21"/>
          <p:cNvCxnSpPr/>
          <p:nvPr/>
        </p:nvCxnSpPr>
        <p:spPr>
          <a:xfrm>
            <a:off x="10296144" y="3419856"/>
            <a:ext cx="0" cy="402335"/>
          </a:xfrm>
          <a:prstGeom prst="line">
            <a:avLst/>
          </a:prstGeom>
          <a:ln w="17780">
            <a:solidFill>
              <a:srgbClr val="2B7A58"/>
            </a:solidFill>
          </a:ln>
          <a:effectLst/>
        </p:spPr>
      </p:cxnSp>
      <p:cxnSp>
        <p:nvCxnSpPr>
          <p:cNvPr id="23" name="Connector 22"/>
          <p:cNvCxnSpPr/>
          <p:nvPr/>
        </p:nvCxnSpPr>
        <p:spPr>
          <a:xfrm flipH="1">
            <a:off x="1901952" y="3822191"/>
            <a:ext cx="8394192" cy="0"/>
          </a:xfrm>
          <a:prstGeom prst="line">
            <a:avLst/>
          </a:prstGeom>
          <a:ln w="17780">
            <a:solidFill>
              <a:srgbClr val="2B7A58"/>
            </a:solidFill>
          </a:ln>
          <a:effectLst/>
        </p:spPr>
      </p:cxnSp>
      <p:cxnSp>
        <p:nvCxnSpPr>
          <p:cNvPr id="24" name="Connector 23"/>
          <p:cNvCxnSpPr/>
          <p:nvPr/>
        </p:nvCxnSpPr>
        <p:spPr>
          <a:xfrm flipV="1">
            <a:off x="1901952" y="3474720"/>
            <a:ext cx="0" cy="347471"/>
          </a:xfrm>
          <a:prstGeom prst="line">
            <a:avLst/>
          </a:prstGeom>
          <a:ln w="17780">
            <a:solidFill>
              <a:srgbClr val="2B7A58"/>
            </a:solidFill>
            <a:tailEnd type="triangle" w="med" len="med"/>
          </a:ln>
          <a:effectLst/>
        </p:spPr>
      </p:cxnSp>
      <p:sp>
        <p:nvSpPr>
          <p:cNvPr id="25" name="TextBox 24"/>
          <p:cNvSpPr txBox="1"/>
          <p:nvPr/>
        </p:nvSpPr>
        <p:spPr>
          <a:xfrm>
            <a:off x="3291840" y="3895344"/>
            <a:ext cx="5486400" cy="219456"/>
          </a:xfrm>
          <a:prstGeom prst="rect">
            <a:avLst/>
          </a:prstGeom>
          <a:noFill/>
        </p:spPr>
        <p:txBody>
          <a:bodyPr wrap="square" anchor="t" lIns="0" rIns="0" tIns="0" bIns="0">
            <a:noAutofit/>
          </a:bodyPr>
          <a:lstStyle/>
          <a:p>
            <a:pPr algn="ctr">
              <a:lnSpc>
                <a:spcPct val="112000"/>
              </a:lnSpc>
              <a:spcAft>
                <a:spcPts val="0"/>
              </a:spcAft>
            </a:pPr>
            <a:r>
              <a:rPr sz="1100" b="0" i="1">
                <a:solidFill>
                  <a:srgbClr val="2B7A58"/>
                </a:solidFill>
                <a:latin typeface="Calibri"/>
              </a:rPr>
              <a:t>the same records, recomputed</a:t>
            </a:r>
          </a:p>
        </p:txBody>
      </p:sp>
      <p:sp>
        <p:nvSpPr>
          <p:cNvPr id="26" name="TextBox 25"/>
          <p:cNvSpPr txBox="1"/>
          <p:nvPr/>
        </p:nvSpPr>
        <p:spPr>
          <a:xfrm>
            <a:off x="685800" y="4370832"/>
            <a:ext cx="5486400" cy="201168"/>
          </a:xfrm>
          <a:prstGeom prst="rect">
            <a:avLst/>
          </a:prstGeom>
          <a:noFill/>
        </p:spPr>
        <p:txBody>
          <a:bodyPr wrap="square" anchor="t" lIns="0" rIns="0" tIns="0" bIns="0">
            <a:noAutofit/>
          </a:bodyPr>
          <a:lstStyle/>
          <a:p>
            <a:pPr algn="l">
              <a:lnSpc>
                <a:spcPct val="112000"/>
              </a:lnSpc>
              <a:spcAft>
                <a:spcPts val="0"/>
              </a:spcAft>
            </a:pPr>
            <a:r>
              <a:rPr sz="1000" b="1" i="0">
                <a:solidFill>
                  <a:srgbClr val="77859A"/>
                </a:solidFill>
                <a:latin typeface="Calibri"/>
              </a:rPr>
              <a:t>WHY IT MATTERS</a:t>
            </a:r>
          </a:p>
        </p:txBody>
      </p:sp>
      <p:sp>
        <p:nvSpPr>
          <p:cNvPr id="27" name="Rounded Rectangle 26"/>
          <p:cNvSpPr/>
          <p:nvPr/>
        </p:nvSpPr>
        <p:spPr>
          <a:xfrm>
            <a:off x="685800" y="4626864"/>
            <a:ext cx="3456432" cy="1115568"/>
          </a:xfrm>
          <a:prstGeom prst="roundRect">
            <a:avLst>
              <a:gd name="adj" fmla="val 6000"/>
            </a:avLst>
          </a:prstGeom>
          <a:solidFill>
            <a:srgbClr val="FFFFFF"/>
          </a:solidFill>
          <a:ln w="9525">
            <a:solidFill>
              <a:srgbClr val="DCE4EA"/>
            </a:solidFill>
          </a:ln>
          <a:effectLst/>
        </p:spPr>
        <p:txBody>
          <a:bodyPr rtlCol="0" anchor="ctr" wrap="square"/>
          <a:lstStyle/>
          <a:p>
            <a:pPr algn="ctr"/>
          </a:p>
        </p:txBody>
      </p:sp>
      <p:sp>
        <p:nvSpPr>
          <p:cNvPr id="28" name="TextBox 27"/>
          <p:cNvSpPr txBox="1"/>
          <p:nvPr/>
        </p:nvSpPr>
        <p:spPr>
          <a:xfrm>
            <a:off x="886968" y="4754880"/>
            <a:ext cx="3063240" cy="237744"/>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Fixed study time</a:t>
            </a:r>
          </a:p>
        </p:txBody>
      </p:sp>
      <p:sp>
        <p:nvSpPr>
          <p:cNvPr id="29" name="TextBox 28"/>
          <p:cNvSpPr txBox="1"/>
          <p:nvPr/>
        </p:nvSpPr>
        <p:spPr>
          <a:xfrm>
            <a:off x="886968" y="5029200"/>
            <a:ext cx="3072384" cy="603504"/>
          </a:xfrm>
          <a:prstGeom prst="rect">
            <a:avLst/>
          </a:prstGeom>
          <a:noFill/>
        </p:spPr>
        <p:txBody>
          <a:bodyPr wrap="square" anchor="t" lIns="0" rIns="0" tIns="0" bIns="0">
            <a:noAutofit/>
          </a:bodyPr>
          <a:lstStyle/>
          <a:p>
            <a:pPr algn="l">
              <a:lnSpc>
                <a:spcPct val="120000"/>
              </a:lnSpc>
              <a:spcAft>
                <a:spcPts val="0"/>
              </a:spcAft>
            </a:pPr>
            <a:r>
              <a:rPr sz="1100" b="0" i="0">
                <a:solidFill>
                  <a:srgbClr val="77859A"/>
                </a:solidFill>
                <a:latin typeface="Calibri"/>
              </a:rPr>
              <a:t>The same hours for every topic, whatever its difficulty.</a:t>
            </a:r>
          </a:p>
        </p:txBody>
      </p:sp>
      <p:sp>
        <p:nvSpPr>
          <p:cNvPr id="30" name="Rounded Rectangle 29"/>
          <p:cNvSpPr/>
          <p:nvPr/>
        </p:nvSpPr>
        <p:spPr>
          <a:xfrm>
            <a:off x="4315968" y="4626864"/>
            <a:ext cx="3456432" cy="1115568"/>
          </a:xfrm>
          <a:prstGeom prst="roundRect">
            <a:avLst>
              <a:gd name="adj" fmla="val 6000"/>
            </a:avLst>
          </a:prstGeom>
          <a:solidFill>
            <a:srgbClr val="FFFFFF"/>
          </a:solidFill>
          <a:ln w="9525">
            <a:solidFill>
              <a:srgbClr val="DCE4EA"/>
            </a:solidFill>
          </a:ln>
          <a:effectLst/>
        </p:spPr>
        <p:txBody>
          <a:bodyPr rtlCol="0" anchor="ctr" wrap="square"/>
          <a:lstStyle/>
          <a:p>
            <a:pPr algn="ctr"/>
          </a:p>
        </p:txBody>
      </p:sp>
      <p:sp>
        <p:nvSpPr>
          <p:cNvPr id="31" name="TextBox 30"/>
          <p:cNvSpPr txBox="1"/>
          <p:nvPr/>
        </p:nvSpPr>
        <p:spPr>
          <a:xfrm>
            <a:off x="4517136" y="4754880"/>
            <a:ext cx="3063240" cy="237744"/>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Late feedback</a:t>
            </a:r>
          </a:p>
        </p:txBody>
      </p:sp>
      <p:sp>
        <p:nvSpPr>
          <p:cNvPr id="32" name="TextBox 31"/>
          <p:cNvSpPr txBox="1"/>
          <p:nvPr/>
        </p:nvSpPr>
        <p:spPr>
          <a:xfrm>
            <a:off x="4517136" y="5029200"/>
            <a:ext cx="3072384" cy="603504"/>
          </a:xfrm>
          <a:prstGeom prst="rect">
            <a:avLst/>
          </a:prstGeom>
          <a:noFill/>
        </p:spPr>
        <p:txBody>
          <a:bodyPr wrap="square" anchor="t" lIns="0" rIns="0" tIns="0" bIns="0">
            <a:noAutofit/>
          </a:bodyPr>
          <a:lstStyle/>
          <a:p>
            <a:pPr algn="l">
              <a:lnSpc>
                <a:spcPct val="120000"/>
              </a:lnSpc>
              <a:spcAft>
                <a:spcPts val="0"/>
              </a:spcAft>
            </a:pPr>
            <a:r>
              <a:rPr sz="1100" b="0" i="0">
                <a:solidFill>
                  <a:srgbClr val="77859A"/>
                </a:solidFill>
                <a:latin typeface="Calibri"/>
              </a:rPr>
              <a:t>Mistakes surface at the exam, not during practice.</a:t>
            </a:r>
          </a:p>
        </p:txBody>
      </p:sp>
      <p:sp>
        <p:nvSpPr>
          <p:cNvPr id="33" name="Rounded Rectangle 32"/>
          <p:cNvSpPr/>
          <p:nvPr/>
        </p:nvSpPr>
        <p:spPr>
          <a:xfrm>
            <a:off x="7946136" y="4626864"/>
            <a:ext cx="3456432" cy="1115568"/>
          </a:xfrm>
          <a:prstGeom prst="roundRect">
            <a:avLst>
              <a:gd name="adj" fmla="val 6000"/>
            </a:avLst>
          </a:prstGeom>
          <a:solidFill>
            <a:srgbClr val="FFFFFF"/>
          </a:solidFill>
          <a:ln w="9525">
            <a:solidFill>
              <a:srgbClr val="DCE4EA"/>
            </a:solidFill>
          </a:ln>
          <a:effectLst/>
        </p:spPr>
        <p:txBody>
          <a:bodyPr rtlCol="0" anchor="ctr" wrap="square"/>
          <a:lstStyle/>
          <a:p>
            <a:pPr algn="ctr"/>
          </a:p>
        </p:txBody>
      </p:sp>
      <p:sp>
        <p:nvSpPr>
          <p:cNvPr id="34" name="TextBox 33"/>
          <p:cNvSpPr txBox="1"/>
          <p:nvPr/>
        </p:nvSpPr>
        <p:spPr>
          <a:xfrm>
            <a:off x="8147304" y="4754880"/>
            <a:ext cx="3063240" cy="237744"/>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Scattered tools</a:t>
            </a:r>
          </a:p>
        </p:txBody>
      </p:sp>
      <p:sp>
        <p:nvSpPr>
          <p:cNvPr id="35" name="TextBox 34"/>
          <p:cNvSpPr txBox="1"/>
          <p:nvPr/>
        </p:nvSpPr>
        <p:spPr>
          <a:xfrm>
            <a:off x="8147304" y="5029200"/>
            <a:ext cx="3072384" cy="603504"/>
          </a:xfrm>
          <a:prstGeom prst="rect">
            <a:avLst/>
          </a:prstGeom>
          <a:noFill/>
        </p:spPr>
        <p:txBody>
          <a:bodyPr wrap="square" anchor="t" lIns="0" rIns="0" tIns="0" bIns="0">
            <a:noAutofit/>
          </a:bodyPr>
          <a:lstStyle/>
          <a:p>
            <a:pPr algn="l">
              <a:lnSpc>
                <a:spcPct val="120000"/>
              </a:lnSpc>
              <a:spcAft>
                <a:spcPts val="0"/>
              </a:spcAft>
            </a:pPr>
            <a:r>
              <a:rPr sz="1100" b="0" i="0">
                <a:solidFill>
                  <a:srgbClr val="77859A"/>
                </a:solidFill>
                <a:latin typeface="Calibri"/>
              </a:rPr>
              <a:t>Notes, deadlines and tests live in different apps.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47472"/>
            <a:ext cx="822960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03 · PROBLEM &amp; OBJECTIVES</a:t>
            </a:r>
          </a:p>
        </p:txBody>
      </p:sp>
      <p:sp>
        <p:nvSpPr>
          <p:cNvPr id="3" name="TextBox 2"/>
          <p:cNvSpPr txBox="1"/>
          <p:nvPr/>
        </p:nvSpPr>
        <p:spPr>
          <a:xfrm>
            <a:off x="685800" y="585216"/>
            <a:ext cx="10881360" cy="566928"/>
          </a:xfrm>
          <a:prstGeom prst="rect">
            <a:avLst/>
          </a:prstGeom>
          <a:noFill/>
        </p:spPr>
        <p:txBody>
          <a:bodyPr wrap="square" anchor="t" lIns="0" rIns="0" tIns="0" bIns="0">
            <a:noAutofit/>
          </a:bodyPr>
          <a:lstStyle/>
          <a:p>
            <a:pPr algn="l">
              <a:lnSpc>
                <a:spcPct val="95000"/>
              </a:lnSpc>
              <a:spcAft>
                <a:spcPts val="0"/>
              </a:spcAft>
            </a:pPr>
            <a:r>
              <a:rPr sz="3300" b="1" i="0">
                <a:solidFill>
                  <a:srgbClr val="152238"/>
                </a:solidFill>
                <a:latin typeface="Calibri"/>
              </a:rPr>
              <a:t>The gap is response, not content</a:t>
            </a:r>
          </a:p>
        </p:txBody>
      </p:sp>
      <p:sp>
        <p:nvSpPr>
          <p:cNvPr id="4" name="TextBox 3"/>
          <p:cNvSpPr txBox="1"/>
          <p:nvPr/>
        </p:nvSpPr>
        <p:spPr>
          <a:xfrm>
            <a:off x="685800" y="1225296"/>
            <a:ext cx="10424160" cy="512064"/>
          </a:xfrm>
          <a:prstGeom prst="rect">
            <a:avLst/>
          </a:prstGeom>
          <a:noFill/>
        </p:spPr>
        <p:txBody>
          <a:bodyPr wrap="square" anchor="t" lIns="0" rIns="0" tIns="0" bIns="0">
            <a:noAutofit/>
          </a:bodyPr>
          <a:lstStyle/>
          <a:p>
            <a:pPr algn="l">
              <a:lnSpc>
                <a:spcPct val="112000"/>
              </a:lnSpc>
              <a:spcAft>
                <a:spcPts val="0"/>
              </a:spcAft>
            </a:pPr>
            <a:r>
              <a:rPr sz="1650" b="0" i="0">
                <a:solidFill>
                  <a:srgbClr val="3D4A5C"/>
                </a:solidFill>
                <a:latin typeface="Calibri"/>
              </a:rPr>
              <a:t>Students do not lack material. They lack a system that reacts to their week.</a:t>
            </a:r>
          </a:p>
        </p:txBody>
      </p:sp>
      <p:sp>
        <p:nvSpPr>
          <p:cNvPr id="5" name="TextBox 4"/>
          <p:cNvSpPr txBox="1"/>
          <p:nvPr/>
        </p:nvSpPr>
        <p:spPr>
          <a:xfrm>
            <a:off x="685800" y="6510528"/>
            <a:ext cx="7315200" cy="182880"/>
          </a:xfrm>
          <a:prstGeom prst="rect">
            <a:avLst/>
          </a:prstGeom>
          <a:noFill/>
        </p:spPr>
        <p:txBody>
          <a:bodyPr wrap="square" anchor="t" lIns="0" rIns="0" tIns="0" bIns="0">
            <a:noAutofit/>
          </a:bodyPr>
          <a:lstStyle/>
          <a:p>
            <a:pPr algn="l">
              <a:lnSpc>
                <a:spcPct val="112000"/>
              </a:lnSpc>
              <a:spcAft>
                <a:spcPts val="0"/>
              </a:spcAft>
            </a:pPr>
            <a:r>
              <a:rPr sz="900" b="0" i="0">
                <a:solidFill>
                  <a:srgbClr val="77859A"/>
                </a:solidFill>
                <a:latin typeface="Calibri"/>
              </a:rPr>
              <a:t>StudyMapper  ·  ten-slide overview</a:t>
            </a:r>
          </a:p>
        </p:txBody>
      </p:sp>
      <p:sp>
        <p:nvSpPr>
          <p:cNvPr id="6" name="TextBox 5"/>
          <p:cNvSpPr txBox="1"/>
          <p:nvPr/>
        </p:nvSpPr>
        <p:spPr>
          <a:xfrm>
            <a:off x="10058400" y="6492240"/>
            <a:ext cx="1444752" cy="219456"/>
          </a:xfrm>
          <a:prstGeom prst="rect">
            <a:avLst/>
          </a:prstGeom>
          <a:noFill/>
        </p:spPr>
        <p:txBody>
          <a:bodyPr wrap="square" anchor="t" lIns="0" rIns="0" tIns="0" bIns="0">
            <a:noAutofit/>
          </a:bodyPr>
          <a:lstStyle/>
          <a:p>
            <a:pPr algn="r">
              <a:lnSpc>
                <a:spcPct val="112000"/>
              </a:lnSpc>
              <a:spcAft>
                <a:spcPts val="0"/>
              </a:spcAft>
            </a:pPr>
            <a:r>
              <a:rPr sz="1000" b="1" i="0">
                <a:solidFill>
                  <a:srgbClr val="77859A"/>
                </a:solidFill>
                <a:latin typeface="Calibri"/>
              </a:rPr>
              <a:t>04 / 10</a:t>
            </a:r>
          </a:p>
        </p:txBody>
      </p:sp>
      <p:sp>
        <p:nvSpPr>
          <p:cNvPr id="7" name="TextBox 6"/>
          <p:cNvSpPr txBox="1"/>
          <p:nvPr/>
        </p:nvSpPr>
        <p:spPr>
          <a:xfrm>
            <a:off x="685800" y="1810512"/>
            <a:ext cx="5486400" cy="201168"/>
          </a:xfrm>
          <a:prstGeom prst="rect">
            <a:avLst/>
          </a:prstGeom>
          <a:noFill/>
        </p:spPr>
        <p:txBody>
          <a:bodyPr wrap="square" anchor="t" lIns="0" rIns="0" tIns="0" bIns="0">
            <a:noAutofit/>
          </a:bodyPr>
          <a:lstStyle/>
          <a:p>
            <a:pPr algn="l">
              <a:lnSpc>
                <a:spcPct val="112000"/>
              </a:lnSpc>
              <a:spcAft>
                <a:spcPts val="0"/>
              </a:spcAft>
            </a:pPr>
            <a:r>
              <a:rPr sz="1000" b="1" i="0">
                <a:solidFill>
                  <a:srgbClr val="A64B39"/>
                </a:solidFill>
                <a:latin typeface="Calibri"/>
              </a:rPr>
              <a:t>WHAT IS BROKEN</a:t>
            </a:r>
          </a:p>
        </p:txBody>
      </p:sp>
      <p:sp>
        <p:nvSpPr>
          <p:cNvPr id="8" name="Rounded Rectangle 7"/>
          <p:cNvSpPr/>
          <p:nvPr/>
        </p:nvSpPr>
        <p:spPr>
          <a:xfrm>
            <a:off x="685800" y="2066543"/>
            <a:ext cx="3456432" cy="1371600"/>
          </a:xfrm>
          <a:prstGeom prst="roundRect">
            <a:avLst>
              <a:gd name="adj" fmla="val 6000"/>
            </a:avLst>
          </a:prstGeom>
          <a:solidFill>
            <a:srgbClr val="FBEDE9"/>
          </a:solidFill>
          <a:ln>
            <a:noFill/>
          </a:ln>
          <a:effectLst/>
        </p:spPr>
        <p:txBody>
          <a:bodyPr rtlCol="0" anchor="ctr" wrap="square"/>
          <a:lstStyle/>
          <a:p>
            <a:pPr algn="ctr"/>
          </a:p>
        </p:txBody>
      </p:sp>
      <p:sp>
        <p:nvSpPr>
          <p:cNvPr id="9" name="TextBox 8"/>
          <p:cNvSpPr txBox="1"/>
          <p:nvPr/>
        </p:nvSpPr>
        <p:spPr>
          <a:xfrm>
            <a:off x="886968" y="2194560"/>
            <a:ext cx="457200" cy="201168"/>
          </a:xfrm>
          <a:prstGeom prst="rect">
            <a:avLst/>
          </a:prstGeom>
          <a:noFill/>
        </p:spPr>
        <p:txBody>
          <a:bodyPr wrap="square" anchor="t" lIns="0" rIns="0" tIns="0" bIns="0">
            <a:noAutofit/>
          </a:bodyPr>
          <a:lstStyle/>
          <a:p>
            <a:pPr algn="l">
              <a:lnSpc>
                <a:spcPct val="112000"/>
              </a:lnSpc>
              <a:spcAft>
                <a:spcPts val="0"/>
              </a:spcAft>
            </a:pPr>
            <a:r>
              <a:rPr sz="1050" b="1" i="0">
                <a:solidFill>
                  <a:srgbClr val="A64B39"/>
                </a:solidFill>
                <a:latin typeface="Calibri"/>
              </a:rPr>
              <a:t>01</a:t>
            </a:r>
          </a:p>
        </p:txBody>
      </p:sp>
      <p:sp>
        <p:nvSpPr>
          <p:cNvPr id="10" name="TextBox 9"/>
          <p:cNvSpPr txBox="1"/>
          <p:nvPr/>
        </p:nvSpPr>
        <p:spPr>
          <a:xfrm>
            <a:off x="886968" y="2414016"/>
            <a:ext cx="3017520" cy="256032"/>
          </a:xfrm>
          <a:prstGeom prst="rect">
            <a:avLst/>
          </a:prstGeom>
          <a:noFill/>
        </p:spPr>
        <p:txBody>
          <a:bodyPr wrap="square" anchor="t" lIns="0" rIns="0" tIns="0" bIns="0">
            <a:noAutofit/>
          </a:bodyPr>
          <a:lstStyle/>
          <a:p>
            <a:pPr algn="l">
              <a:lnSpc>
                <a:spcPct val="112000"/>
              </a:lnSpc>
              <a:spcAft>
                <a:spcPts val="0"/>
              </a:spcAft>
            </a:pPr>
            <a:r>
              <a:rPr sz="1600" b="1" i="0">
                <a:solidFill>
                  <a:srgbClr val="152238"/>
                </a:solidFill>
                <a:latin typeface="Calibri"/>
              </a:rPr>
              <a:t>Fragmented tools</a:t>
            </a:r>
          </a:p>
        </p:txBody>
      </p:sp>
      <p:sp>
        <p:nvSpPr>
          <p:cNvPr id="11" name="TextBox 10"/>
          <p:cNvSpPr txBox="1"/>
          <p:nvPr/>
        </p:nvSpPr>
        <p:spPr>
          <a:xfrm>
            <a:off x="886968" y="2724912"/>
            <a:ext cx="3035808" cy="603504"/>
          </a:xfrm>
          <a:prstGeom prst="rect">
            <a:avLst/>
          </a:prstGeom>
          <a:noFill/>
        </p:spPr>
        <p:txBody>
          <a:bodyPr wrap="square" anchor="t" lIns="0" rIns="0" tIns="0" bIns="0">
            <a:noAutofit/>
          </a:bodyPr>
          <a:lstStyle/>
          <a:p>
            <a:pPr algn="l">
              <a:lnSpc>
                <a:spcPct val="120000"/>
              </a:lnSpc>
              <a:spcAft>
                <a:spcPts val="0"/>
              </a:spcAft>
            </a:pPr>
            <a:r>
              <a:rPr sz="1200" b="0" i="0">
                <a:solidFill>
                  <a:srgbClr val="3D4A5C"/>
                </a:solidFill>
                <a:latin typeface="Calibri"/>
              </a:rPr>
              <a:t>Notes, deadlines and tests live in different apps.</a:t>
            </a:r>
          </a:p>
        </p:txBody>
      </p:sp>
      <p:sp>
        <p:nvSpPr>
          <p:cNvPr id="12" name="Rounded Rectangle 11"/>
          <p:cNvSpPr/>
          <p:nvPr/>
        </p:nvSpPr>
        <p:spPr>
          <a:xfrm>
            <a:off x="4315968" y="2066543"/>
            <a:ext cx="3456432" cy="1371600"/>
          </a:xfrm>
          <a:prstGeom prst="roundRect">
            <a:avLst>
              <a:gd name="adj" fmla="val 6000"/>
            </a:avLst>
          </a:prstGeom>
          <a:solidFill>
            <a:srgbClr val="FBEDE9"/>
          </a:solidFill>
          <a:ln>
            <a:noFill/>
          </a:ln>
          <a:effectLst/>
        </p:spPr>
        <p:txBody>
          <a:bodyPr rtlCol="0" anchor="ctr" wrap="square"/>
          <a:lstStyle/>
          <a:p>
            <a:pPr algn="ctr"/>
          </a:p>
        </p:txBody>
      </p:sp>
      <p:sp>
        <p:nvSpPr>
          <p:cNvPr id="13" name="TextBox 12"/>
          <p:cNvSpPr txBox="1"/>
          <p:nvPr/>
        </p:nvSpPr>
        <p:spPr>
          <a:xfrm>
            <a:off x="4517136" y="2194560"/>
            <a:ext cx="457200" cy="201168"/>
          </a:xfrm>
          <a:prstGeom prst="rect">
            <a:avLst/>
          </a:prstGeom>
          <a:noFill/>
        </p:spPr>
        <p:txBody>
          <a:bodyPr wrap="square" anchor="t" lIns="0" rIns="0" tIns="0" bIns="0">
            <a:noAutofit/>
          </a:bodyPr>
          <a:lstStyle/>
          <a:p>
            <a:pPr algn="l">
              <a:lnSpc>
                <a:spcPct val="112000"/>
              </a:lnSpc>
              <a:spcAft>
                <a:spcPts val="0"/>
              </a:spcAft>
            </a:pPr>
            <a:r>
              <a:rPr sz="1050" b="1" i="0">
                <a:solidFill>
                  <a:srgbClr val="A64B39"/>
                </a:solidFill>
                <a:latin typeface="Calibri"/>
              </a:rPr>
              <a:t>02</a:t>
            </a:r>
          </a:p>
        </p:txBody>
      </p:sp>
      <p:sp>
        <p:nvSpPr>
          <p:cNvPr id="14" name="TextBox 13"/>
          <p:cNvSpPr txBox="1"/>
          <p:nvPr/>
        </p:nvSpPr>
        <p:spPr>
          <a:xfrm>
            <a:off x="4517136" y="2414016"/>
            <a:ext cx="3017520" cy="256032"/>
          </a:xfrm>
          <a:prstGeom prst="rect">
            <a:avLst/>
          </a:prstGeom>
          <a:noFill/>
        </p:spPr>
        <p:txBody>
          <a:bodyPr wrap="square" anchor="t" lIns="0" rIns="0" tIns="0" bIns="0">
            <a:noAutofit/>
          </a:bodyPr>
          <a:lstStyle/>
          <a:p>
            <a:pPr algn="l">
              <a:lnSpc>
                <a:spcPct val="112000"/>
              </a:lnSpc>
              <a:spcAft>
                <a:spcPts val="0"/>
              </a:spcAft>
            </a:pPr>
            <a:r>
              <a:rPr sz="1600" b="1" i="0">
                <a:solidFill>
                  <a:srgbClr val="152238"/>
                </a:solidFill>
                <a:latin typeface="Calibri"/>
              </a:rPr>
              <a:t>Static plans</a:t>
            </a:r>
          </a:p>
        </p:txBody>
      </p:sp>
      <p:sp>
        <p:nvSpPr>
          <p:cNvPr id="15" name="TextBox 14"/>
          <p:cNvSpPr txBox="1"/>
          <p:nvPr/>
        </p:nvSpPr>
        <p:spPr>
          <a:xfrm>
            <a:off x="4517136" y="2724912"/>
            <a:ext cx="3035808" cy="603504"/>
          </a:xfrm>
          <a:prstGeom prst="rect">
            <a:avLst/>
          </a:prstGeom>
          <a:noFill/>
        </p:spPr>
        <p:txBody>
          <a:bodyPr wrap="square" anchor="t" lIns="0" rIns="0" tIns="0" bIns="0">
            <a:noAutofit/>
          </a:bodyPr>
          <a:lstStyle/>
          <a:p>
            <a:pPr algn="l">
              <a:lnSpc>
                <a:spcPct val="120000"/>
              </a:lnSpc>
              <a:spcAft>
                <a:spcPts val="0"/>
              </a:spcAft>
            </a:pPr>
            <a:r>
              <a:rPr sz="1200" b="0" i="0">
                <a:solidFill>
                  <a:srgbClr val="3D4A5C"/>
                </a:solidFill>
                <a:latin typeface="Calibri"/>
              </a:rPr>
              <a:t>One plan for every topic, whatever its difficulty.</a:t>
            </a:r>
          </a:p>
        </p:txBody>
      </p:sp>
      <p:sp>
        <p:nvSpPr>
          <p:cNvPr id="16" name="Rounded Rectangle 15"/>
          <p:cNvSpPr/>
          <p:nvPr/>
        </p:nvSpPr>
        <p:spPr>
          <a:xfrm>
            <a:off x="7946136" y="2066543"/>
            <a:ext cx="3456432" cy="1371600"/>
          </a:xfrm>
          <a:prstGeom prst="roundRect">
            <a:avLst>
              <a:gd name="adj" fmla="val 6000"/>
            </a:avLst>
          </a:prstGeom>
          <a:solidFill>
            <a:srgbClr val="FBEDE9"/>
          </a:solidFill>
          <a:ln>
            <a:noFill/>
          </a:ln>
          <a:effectLst/>
        </p:spPr>
        <p:txBody>
          <a:bodyPr rtlCol="0" anchor="ctr" wrap="square"/>
          <a:lstStyle/>
          <a:p>
            <a:pPr algn="ctr"/>
          </a:p>
        </p:txBody>
      </p:sp>
      <p:sp>
        <p:nvSpPr>
          <p:cNvPr id="17" name="TextBox 16"/>
          <p:cNvSpPr txBox="1"/>
          <p:nvPr/>
        </p:nvSpPr>
        <p:spPr>
          <a:xfrm>
            <a:off x="8147304" y="2194560"/>
            <a:ext cx="457200" cy="201168"/>
          </a:xfrm>
          <a:prstGeom prst="rect">
            <a:avLst/>
          </a:prstGeom>
          <a:noFill/>
        </p:spPr>
        <p:txBody>
          <a:bodyPr wrap="square" anchor="t" lIns="0" rIns="0" tIns="0" bIns="0">
            <a:noAutofit/>
          </a:bodyPr>
          <a:lstStyle/>
          <a:p>
            <a:pPr algn="l">
              <a:lnSpc>
                <a:spcPct val="112000"/>
              </a:lnSpc>
              <a:spcAft>
                <a:spcPts val="0"/>
              </a:spcAft>
            </a:pPr>
            <a:r>
              <a:rPr sz="1050" b="1" i="0">
                <a:solidFill>
                  <a:srgbClr val="A64B39"/>
                </a:solidFill>
                <a:latin typeface="Calibri"/>
              </a:rPr>
              <a:t>03</a:t>
            </a:r>
          </a:p>
        </p:txBody>
      </p:sp>
      <p:sp>
        <p:nvSpPr>
          <p:cNvPr id="18" name="TextBox 17"/>
          <p:cNvSpPr txBox="1"/>
          <p:nvPr/>
        </p:nvSpPr>
        <p:spPr>
          <a:xfrm>
            <a:off x="8147304" y="2414016"/>
            <a:ext cx="3017520" cy="256032"/>
          </a:xfrm>
          <a:prstGeom prst="rect">
            <a:avLst/>
          </a:prstGeom>
          <a:noFill/>
        </p:spPr>
        <p:txBody>
          <a:bodyPr wrap="square" anchor="t" lIns="0" rIns="0" tIns="0" bIns="0">
            <a:noAutofit/>
          </a:bodyPr>
          <a:lstStyle/>
          <a:p>
            <a:pPr algn="l">
              <a:lnSpc>
                <a:spcPct val="112000"/>
              </a:lnSpc>
              <a:spcAft>
                <a:spcPts val="0"/>
              </a:spcAft>
            </a:pPr>
            <a:r>
              <a:rPr sz="1600" b="1" i="0">
                <a:solidFill>
                  <a:srgbClr val="152238"/>
                </a:solidFill>
                <a:latin typeface="Calibri"/>
              </a:rPr>
              <a:t>Late feedback</a:t>
            </a:r>
          </a:p>
        </p:txBody>
      </p:sp>
      <p:sp>
        <p:nvSpPr>
          <p:cNvPr id="19" name="TextBox 18"/>
          <p:cNvSpPr txBox="1"/>
          <p:nvPr/>
        </p:nvSpPr>
        <p:spPr>
          <a:xfrm>
            <a:off x="8147304" y="2724912"/>
            <a:ext cx="3035808" cy="603504"/>
          </a:xfrm>
          <a:prstGeom prst="rect">
            <a:avLst/>
          </a:prstGeom>
          <a:noFill/>
        </p:spPr>
        <p:txBody>
          <a:bodyPr wrap="square" anchor="t" lIns="0" rIns="0" tIns="0" bIns="0">
            <a:noAutofit/>
          </a:bodyPr>
          <a:lstStyle/>
          <a:p>
            <a:pPr algn="l">
              <a:lnSpc>
                <a:spcPct val="120000"/>
              </a:lnSpc>
              <a:spcAft>
                <a:spcPts val="0"/>
              </a:spcAft>
            </a:pPr>
            <a:r>
              <a:rPr sz="1200" b="0" i="0">
                <a:solidFill>
                  <a:srgbClr val="3D4A5C"/>
                </a:solidFill>
                <a:latin typeface="Calibri"/>
              </a:rPr>
              <a:t>Mistakes surface at the exam, not during practice.</a:t>
            </a:r>
          </a:p>
        </p:txBody>
      </p:sp>
      <p:cxnSp>
        <p:nvCxnSpPr>
          <p:cNvPr id="20" name="Connector 19"/>
          <p:cNvCxnSpPr/>
          <p:nvPr/>
        </p:nvCxnSpPr>
        <p:spPr>
          <a:xfrm>
            <a:off x="6053328" y="3529584"/>
            <a:ext cx="0" cy="384048"/>
          </a:xfrm>
          <a:prstGeom prst="line">
            <a:avLst/>
          </a:prstGeom>
          <a:ln w="20320">
            <a:solidFill>
              <a:srgbClr val="77859A"/>
            </a:solidFill>
            <a:tailEnd type="triangle" w="med" len="med"/>
          </a:ln>
          <a:effectLst/>
        </p:spPr>
      </p:cxnSp>
      <p:sp>
        <p:nvSpPr>
          <p:cNvPr id="21" name="TextBox 20"/>
          <p:cNvSpPr txBox="1"/>
          <p:nvPr/>
        </p:nvSpPr>
        <p:spPr>
          <a:xfrm>
            <a:off x="685800" y="3913632"/>
            <a:ext cx="5486400" cy="201168"/>
          </a:xfrm>
          <a:prstGeom prst="rect">
            <a:avLst/>
          </a:prstGeom>
          <a:noFill/>
        </p:spPr>
        <p:txBody>
          <a:bodyPr wrap="square" anchor="t" lIns="0" rIns="0" tIns="0" bIns="0">
            <a:noAutofit/>
          </a:bodyPr>
          <a:lstStyle/>
          <a:p>
            <a:pPr algn="l">
              <a:lnSpc>
                <a:spcPct val="112000"/>
              </a:lnSpc>
              <a:spcAft>
                <a:spcPts val="0"/>
              </a:spcAft>
            </a:pPr>
            <a:r>
              <a:rPr sz="1000" b="1" i="0">
                <a:solidFill>
                  <a:srgbClr val="0F7A82"/>
                </a:solidFill>
                <a:latin typeface="Calibri"/>
              </a:rPr>
              <a:t>WHAT WE SET OUT TO DO</a:t>
            </a:r>
          </a:p>
        </p:txBody>
      </p:sp>
      <p:sp>
        <p:nvSpPr>
          <p:cNvPr id="22" name="Rounded Rectangle 21"/>
          <p:cNvSpPr/>
          <p:nvPr/>
        </p:nvSpPr>
        <p:spPr>
          <a:xfrm>
            <a:off x="685800" y="4169663"/>
            <a:ext cx="3456432" cy="1371600"/>
          </a:xfrm>
          <a:prstGeom prst="roundRect">
            <a:avLst>
              <a:gd name="adj" fmla="val 6000"/>
            </a:avLst>
          </a:prstGeom>
          <a:solidFill>
            <a:srgbClr val="E6F2F2"/>
          </a:solidFill>
          <a:ln>
            <a:noFill/>
          </a:ln>
          <a:effectLst/>
        </p:spPr>
        <p:txBody>
          <a:bodyPr rtlCol="0" anchor="ctr" wrap="square"/>
          <a:lstStyle/>
          <a:p>
            <a:pPr algn="ctr"/>
          </a:p>
        </p:txBody>
      </p:sp>
      <p:sp>
        <p:nvSpPr>
          <p:cNvPr id="23" name="Oval 22"/>
          <p:cNvSpPr/>
          <p:nvPr/>
        </p:nvSpPr>
        <p:spPr>
          <a:xfrm>
            <a:off x="886968" y="4297680"/>
            <a:ext cx="274320" cy="274320"/>
          </a:xfrm>
          <a:prstGeom prst="ellipse">
            <a:avLst/>
          </a:prstGeom>
          <a:solidFill>
            <a:srgbClr val="0F7A82"/>
          </a:solidFill>
          <a:ln>
            <a:noFill/>
          </a:ln>
          <a:effectLst/>
        </p:spPr>
        <p:txBody>
          <a:bodyPr rtlCol="0" anchor="ctr" lIns="0" rIns="0" tIns="0" bIns="0"/>
          <a:lstStyle/>
          <a:p>
            <a:pPr algn="ctr"/>
            <a:r>
              <a:rPr sz="800" b="1">
                <a:solidFill>
                  <a:srgbClr val="FFFFFF"/>
                </a:solidFill>
                <a:latin typeface="Calibri"/>
              </a:rPr>
              <a:t>✓</a:t>
            </a:r>
          </a:p>
        </p:txBody>
      </p:sp>
      <p:sp>
        <p:nvSpPr>
          <p:cNvPr id="24" name="TextBox 23"/>
          <p:cNvSpPr txBox="1"/>
          <p:nvPr/>
        </p:nvSpPr>
        <p:spPr>
          <a:xfrm>
            <a:off x="1271016" y="4306824"/>
            <a:ext cx="2651760" cy="256032"/>
          </a:xfrm>
          <a:prstGeom prst="rect">
            <a:avLst/>
          </a:prstGeom>
          <a:noFill/>
        </p:spPr>
        <p:txBody>
          <a:bodyPr wrap="square" anchor="t" lIns="0" rIns="0" tIns="0" bIns="0">
            <a:noAutofit/>
          </a:bodyPr>
          <a:lstStyle/>
          <a:p>
            <a:pPr algn="l">
              <a:lnSpc>
                <a:spcPct val="112000"/>
              </a:lnSpc>
              <a:spcAft>
                <a:spcPts val="0"/>
              </a:spcAft>
            </a:pPr>
            <a:r>
              <a:rPr sz="1600" b="1" i="0">
                <a:solidFill>
                  <a:srgbClr val="152238"/>
                </a:solidFill>
                <a:latin typeface="Calibri"/>
              </a:rPr>
              <a:t>Adaptive plan</a:t>
            </a:r>
          </a:p>
        </p:txBody>
      </p:sp>
      <p:sp>
        <p:nvSpPr>
          <p:cNvPr id="25" name="TextBox 24"/>
          <p:cNvSpPr txBox="1"/>
          <p:nvPr/>
        </p:nvSpPr>
        <p:spPr>
          <a:xfrm>
            <a:off x="886968" y="4700016"/>
            <a:ext cx="3054096" cy="658368"/>
          </a:xfrm>
          <a:prstGeom prst="rect">
            <a:avLst/>
          </a:prstGeom>
          <a:noFill/>
        </p:spPr>
        <p:txBody>
          <a:bodyPr wrap="square" anchor="t" lIns="0" rIns="0" tIns="0" bIns="0">
            <a:noAutofit/>
          </a:bodyPr>
          <a:lstStyle/>
          <a:p>
            <a:pPr algn="l">
              <a:lnSpc>
                <a:spcPct val="120000"/>
              </a:lnSpc>
              <a:spcAft>
                <a:spcPts val="0"/>
              </a:spcAft>
            </a:pPr>
            <a:r>
              <a:rPr sz="1200" b="0" i="0">
                <a:solidFill>
                  <a:srgbClr val="3D4A5C"/>
                </a:solidFill>
                <a:latin typeface="Calibri"/>
              </a:rPr>
              <a:t>Recomputed from the exam date, difficulty and weak scores.</a:t>
            </a:r>
          </a:p>
        </p:txBody>
      </p:sp>
      <p:sp>
        <p:nvSpPr>
          <p:cNvPr id="26" name="Rounded Rectangle 25"/>
          <p:cNvSpPr/>
          <p:nvPr/>
        </p:nvSpPr>
        <p:spPr>
          <a:xfrm>
            <a:off x="4315968" y="4169663"/>
            <a:ext cx="3456432" cy="1371600"/>
          </a:xfrm>
          <a:prstGeom prst="roundRect">
            <a:avLst>
              <a:gd name="adj" fmla="val 6000"/>
            </a:avLst>
          </a:prstGeom>
          <a:solidFill>
            <a:srgbClr val="E6F2F2"/>
          </a:solidFill>
          <a:ln>
            <a:noFill/>
          </a:ln>
          <a:effectLst/>
        </p:spPr>
        <p:txBody>
          <a:bodyPr rtlCol="0" anchor="ctr" wrap="square"/>
          <a:lstStyle/>
          <a:p>
            <a:pPr algn="ctr"/>
          </a:p>
        </p:txBody>
      </p:sp>
      <p:sp>
        <p:nvSpPr>
          <p:cNvPr id="27" name="Oval 26"/>
          <p:cNvSpPr/>
          <p:nvPr/>
        </p:nvSpPr>
        <p:spPr>
          <a:xfrm>
            <a:off x="4517136" y="4297680"/>
            <a:ext cx="274320" cy="274320"/>
          </a:xfrm>
          <a:prstGeom prst="ellipse">
            <a:avLst/>
          </a:prstGeom>
          <a:solidFill>
            <a:srgbClr val="0F7A82"/>
          </a:solidFill>
          <a:ln>
            <a:noFill/>
          </a:ln>
          <a:effectLst/>
        </p:spPr>
        <p:txBody>
          <a:bodyPr rtlCol="0" anchor="ctr" lIns="0" rIns="0" tIns="0" bIns="0"/>
          <a:lstStyle/>
          <a:p>
            <a:pPr algn="ctr"/>
            <a:r>
              <a:rPr sz="800" b="1">
                <a:solidFill>
                  <a:srgbClr val="FFFFFF"/>
                </a:solidFill>
                <a:latin typeface="Calibri"/>
              </a:rPr>
              <a:t>✓</a:t>
            </a:r>
          </a:p>
        </p:txBody>
      </p:sp>
      <p:sp>
        <p:nvSpPr>
          <p:cNvPr id="28" name="TextBox 27"/>
          <p:cNvSpPr txBox="1"/>
          <p:nvPr/>
        </p:nvSpPr>
        <p:spPr>
          <a:xfrm>
            <a:off x="4901184" y="4306824"/>
            <a:ext cx="2651760" cy="256032"/>
          </a:xfrm>
          <a:prstGeom prst="rect">
            <a:avLst/>
          </a:prstGeom>
          <a:noFill/>
        </p:spPr>
        <p:txBody>
          <a:bodyPr wrap="square" anchor="t" lIns="0" rIns="0" tIns="0" bIns="0">
            <a:noAutofit/>
          </a:bodyPr>
          <a:lstStyle/>
          <a:p>
            <a:pPr algn="l">
              <a:lnSpc>
                <a:spcPct val="112000"/>
              </a:lnSpc>
              <a:spcAft>
                <a:spcPts val="0"/>
              </a:spcAft>
            </a:pPr>
            <a:r>
              <a:rPr sz="1600" b="1" i="0">
                <a:solidFill>
                  <a:srgbClr val="152238"/>
                </a:solidFill>
                <a:latin typeface="Calibri"/>
              </a:rPr>
              <a:t>Generated material</a:t>
            </a:r>
          </a:p>
        </p:txBody>
      </p:sp>
      <p:sp>
        <p:nvSpPr>
          <p:cNvPr id="29" name="TextBox 28"/>
          <p:cNvSpPr txBox="1"/>
          <p:nvPr/>
        </p:nvSpPr>
        <p:spPr>
          <a:xfrm>
            <a:off x="4517136" y="4700016"/>
            <a:ext cx="3054096" cy="658368"/>
          </a:xfrm>
          <a:prstGeom prst="rect">
            <a:avLst/>
          </a:prstGeom>
          <a:noFill/>
        </p:spPr>
        <p:txBody>
          <a:bodyPr wrap="square" anchor="t" lIns="0" rIns="0" tIns="0" bIns="0">
            <a:noAutofit/>
          </a:bodyPr>
          <a:lstStyle/>
          <a:p>
            <a:pPr algn="l">
              <a:lnSpc>
                <a:spcPct val="120000"/>
              </a:lnSpc>
              <a:spcAft>
                <a:spcPts val="0"/>
              </a:spcAft>
            </a:pPr>
            <a:r>
              <a:rPr sz="1200" b="0" i="0">
                <a:solidFill>
                  <a:srgbClr val="3D4A5C"/>
                </a:solidFill>
                <a:latin typeface="Calibri"/>
              </a:rPr>
              <a:t>Notes, diagrams and questions the student can edit.</a:t>
            </a:r>
          </a:p>
        </p:txBody>
      </p:sp>
      <p:sp>
        <p:nvSpPr>
          <p:cNvPr id="30" name="Rounded Rectangle 29"/>
          <p:cNvSpPr/>
          <p:nvPr/>
        </p:nvSpPr>
        <p:spPr>
          <a:xfrm>
            <a:off x="7946136" y="4169663"/>
            <a:ext cx="3456432" cy="1371600"/>
          </a:xfrm>
          <a:prstGeom prst="roundRect">
            <a:avLst>
              <a:gd name="adj" fmla="val 6000"/>
            </a:avLst>
          </a:prstGeom>
          <a:solidFill>
            <a:srgbClr val="E6F2F2"/>
          </a:solidFill>
          <a:ln>
            <a:noFill/>
          </a:ln>
          <a:effectLst/>
        </p:spPr>
        <p:txBody>
          <a:bodyPr rtlCol="0" anchor="ctr" wrap="square"/>
          <a:lstStyle/>
          <a:p>
            <a:pPr algn="ctr"/>
          </a:p>
        </p:txBody>
      </p:sp>
      <p:sp>
        <p:nvSpPr>
          <p:cNvPr id="31" name="Oval 30"/>
          <p:cNvSpPr/>
          <p:nvPr/>
        </p:nvSpPr>
        <p:spPr>
          <a:xfrm>
            <a:off x="8147304" y="4297680"/>
            <a:ext cx="274320" cy="274320"/>
          </a:xfrm>
          <a:prstGeom prst="ellipse">
            <a:avLst/>
          </a:prstGeom>
          <a:solidFill>
            <a:srgbClr val="0F7A82"/>
          </a:solidFill>
          <a:ln>
            <a:noFill/>
          </a:ln>
          <a:effectLst/>
        </p:spPr>
        <p:txBody>
          <a:bodyPr rtlCol="0" anchor="ctr" lIns="0" rIns="0" tIns="0" bIns="0"/>
          <a:lstStyle/>
          <a:p>
            <a:pPr algn="ctr"/>
            <a:r>
              <a:rPr sz="800" b="1">
                <a:solidFill>
                  <a:srgbClr val="FFFFFF"/>
                </a:solidFill>
                <a:latin typeface="Calibri"/>
              </a:rPr>
              <a:t>✓</a:t>
            </a:r>
          </a:p>
        </p:txBody>
      </p:sp>
      <p:sp>
        <p:nvSpPr>
          <p:cNvPr id="32" name="TextBox 31"/>
          <p:cNvSpPr txBox="1"/>
          <p:nvPr/>
        </p:nvSpPr>
        <p:spPr>
          <a:xfrm>
            <a:off x="8531352" y="4306824"/>
            <a:ext cx="2651760" cy="256032"/>
          </a:xfrm>
          <a:prstGeom prst="rect">
            <a:avLst/>
          </a:prstGeom>
          <a:noFill/>
        </p:spPr>
        <p:txBody>
          <a:bodyPr wrap="square" anchor="t" lIns="0" rIns="0" tIns="0" bIns="0">
            <a:noAutofit/>
          </a:bodyPr>
          <a:lstStyle/>
          <a:p>
            <a:pPr algn="l">
              <a:lnSpc>
                <a:spcPct val="112000"/>
              </a:lnSpc>
              <a:spcAft>
                <a:spcPts val="0"/>
              </a:spcAft>
            </a:pPr>
            <a:r>
              <a:rPr sz="1600" b="1" i="0">
                <a:solidFill>
                  <a:srgbClr val="152238"/>
                </a:solidFill>
                <a:latin typeface="Calibri"/>
              </a:rPr>
              <a:t>Measured weakness</a:t>
            </a:r>
          </a:p>
        </p:txBody>
      </p:sp>
      <p:sp>
        <p:nvSpPr>
          <p:cNvPr id="33" name="TextBox 32"/>
          <p:cNvSpPr txBox="1"/>
          <p:nvPr/>
        </p:nvSpPr>
        <p:spPr>
          <a:xfrm>
            <a:off x="8147304" y="4700016"/>
            <a:ext cx="3054096" cy="658368"/>
          </a:xfrm>
          <a:prstGeom prst="rect">
            <a:avLst/>
          </a:prstGeom>
          <a:noFill/>
        </p:spPr>
        <p:txBody>
          <a:bodyPr wrap="square" anchor="t" lIns="0" rIns="0" tIns="0" bIns="0">
            <a:noAutofit/>
          </a:bodyPr>
          <a:lstStyle/>
          <a:p>
            <a:pPr algn="l">
              <a:lnSpc>
                <a:spcPct val="120000"/>
              </a:lnSpc>
              <a:spcAft>
                <a:spcPts val="0"/>
              </a:spcAft>
            </a:pPr>
            <a:r>
              <a:rPr sz="1200" b="0" i="0">
                <a:solidFill>
                  <a:srgbClr val="3D4A5C"/>
                </a:solidFill>
                <a:latin typeface="Calibri"/>
              </a:rPr>
              <a:t>A 0–100 score per topic, from the last seven days.</a:t>
            </a:r>
          </a:p>
        </p:txBody>
      </p:sp>
      <p:sp>
        <p:nvSpPr>
          <p:cNvPr id="34" name="TextBox 33"/>
          <p:cNvSpPr txBox="1"/>
          <p:nvPr/>
        </p:nvSpPr>
        <p:spPr>
          <a:xfrm>
            <a:off x="685800" y="5797296"/>
            <a:ext cx="10789920" cy="237744"/>
          </a:xfrm>
          <a:prstGeom prst="rect">
            <a:avLst/>
          </a:prstGeom>
          <a:noFill/>
        </p:spPr>
        <p:txBody>
          <a:bodyPr wrap="square" anchor="t" lIns="0" rIns="0" tIns="0" bIns="0">
            <a:noAutofit/>
          </a:bodyPr>
          <a:lstStyle/>
          <a:p>
            <a:pPr algn="l">
              <a:lnSpc>
                <a:spcPct val="112000"/>
              </a:lnSpc>
              <a:spcAft>
                <a:spcPts val="0"/>
              </a:spcAft>
            </a:pPr>
            <a:r>
              <a:rPr sz="1150" b="0" i="0">
                <a:solidFill>
                  <a:srgbClr val="77859A"/>
                </a:solidFill>
                <a:latin typeface="Calibri"/>
              </a:rPr>
              <a:t>Out of scope  ·  institutional timetabling  ·  proctored exams  ·  a native mobile 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47472"/>
            <a:ext cx="822960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04 · LITERATURE SURVEY</a:t>
            </a:r>
          </a:p>
        </p:txBody>
      </p:sp>
      <p:sp>
        <p:nvSpPr>
          <p:cNvPr id="3" name="TextBox 2"/>
          <p:cNvSpPr txBox="1"/>
          <p:nvPr/>
        </p:nvSpPr>
        <p:spPr>
          <a:xfrm>
            <a:off x="685800" y="585216"/>
            <a:ext cx="10881360" cy="566928"/>
          </a:xfrm>
          <a:prstGeom prst="rect">
            <a:avLst/>
          </a:prstGeom>
          <a:noFill/>
        </p:spPr>
        <p:txBody>
          <a:bodyPr wrap="square" anchor="t" lIns="0" rIns="0" tIns="0" bIns="0">
            <a:noAutofit/>
          </a:bodyPr>
          <a:lstStyle/>
          <a:p>
            <a:pPr algn="l">
              <a:lnSpc>
                <a:spcPct val="95000"/>
              </a:lnSpc>
              <a:spcAft>
                <a:spcPts val="0"/>
              </a:spcAft>
            </a:pPr>
            <a:r>
              <a:rPr sz="3300" b="1" i="0">
                <a:solidFill>
                  <a:srgbClr val="152238"/>
                </a:solidFill>
                <a:latin typeface="Calibri"/>
              </a:rPr>
              <a:t>Five approaches, one missing loop</a:t>
            </a:r>
          </a:p>
        </p:txBody>
      </p:sp>
      <p:sp>
        <p:nvSpPr>
          <p:cNvPr id="4" name="TextBox 3"/>
          <p:cNvSpPr txBox="1"/>
          <p:nvPr/>
        </p:nvSpPr>
        <p:spPr>
          <a:xfrm>
            <a:off x="685800" y="1225296"/>
            <a:ext cx="10424160" cy="512064"/>
          </a:xfrm>
          <a:prstGeom prst="rect">
            <a:avLst/>
          </a:prstGeom>
          <a:noFill/>
        </p:spPr>
        <p:txBody>
          <a:bodyPr wrap="square" anchor="t" lIns="0" rIns="0" tIns="0" bIns="0">
            <a:noAutofit/>
          </a:bodyPr>
          <a:lstStyle/>
          <a:p>
            <a:pPr algn="l">
              <a:lnSpc>
                <a:spcPct val="112000"/>
              </a:lnSpc>
              <a:spcAft>
                <a:spcPts val="0"/>
              </a:spcAft>
            </a:pPr>
            <a:r>
              <a:rPr sz="1650" b="0" i="0">
                <a:solidFill>
                  <a:srgbClr val="3D4A5C"/>
                </a:solidFill>
                <a:latin typeface="Calibri"/>
              </a:rPr>
              <a:t>Each category solves part of the problem. None closes the loop for one student.</a:t>
            </a:r>
          </a:p>
        </p:txBody>
      </p:sp>
      <p:sp>
        <p:nvSpPr>
          <p:cNvPr id="5" name="TextBox 4"/>
          <p:cNvSpPr txBox="1"/>
          <p:nvPr/>
        </p:nvSpPr>
        <p:spPr>
          <a:xfrm>
            <a:off x="685800" y="6510528"/>
            <a:ext cx="7315200" cy="182880"/>
          </a:xfrm>
          <a:prstGeom prst="rect">
            <a:avLst/>
          </a:prstGeom>
          <a:noFill/>
        </p:spPr>
        <p:txBody>
          <a:bodyPr wrap="square" anchor="t" lIns="0" rIns="0" tIns="0" bIns="0">
            <a:noAutofit/>
          </a:bodyPr>
          <a:lstStyle/>
          <a:p>
            <a:pPr algn="l">
              <a:lnSpc>
                <a:spcPct val="112000"/>
              </a:lnSpc>
              <a:spcAft>
                <a:spcPts val="0"/>
              </a:spcAft>
            </a:pPr>
            <a:r>
              <a:rPr sz="900" b="0" i="0">
                <a:solidFill>
                  <a:srgbClr val="77859A"/>
                </a:solidFill>
                <a:latin typeface="Calibri"/>
              </a:rPr>
              <a:t>StudyMapper  ·  ten-slide overview</a:t>
            </a:r>
          </a:p>
        </p:txBody>
      </p:sp>
      <p:sp>
        <p:nvSpPr>
          <p:cNvPr id="6" name="TextBox 5"/>
          <p:cNvSpPr txBox="1"/>
          <p:nvPr/>
        </p:nvSpPr>
        <p:spPr>
          <a:xfrm>
            <a:off x="10058400" y="6492240"/>
            <a:ext cx="1444752" cy="219456"/>
          </a:xfrm>
          <a:prstGeom prst="rect">
            <a:avLst/>
          </a:prstGeom>
          <a:noFill/>
        </p:spPr>
        <p:txBody>
          <a:bodyPr wrap="square" anchor="t" lIns="0" rIns="0" tIns="0" bIns="0">
            <a:noAutofit/>
          </a:bodyPr>
          <a:lstStyle/>
          <a:p>
            <a:pPr algn="r">
              <a:lnSpc>
                <a:spcPct val="112000"/>
              </a:lnSpc>
              <a:spcAft>
                <a:spcPts val="0"/>
              </a:spcAft>
            </a:pPr>
            <a:r>
              <a:rPr sz="1000" b="1" i="0">
                <a:solidFill>
                  <a:srgbClr val="77859A"/>
                </a:solidFill>
                <a:latin typeface="Calibri"/>
              </a:rPr>
              <a:t>05 / 10</a:t>
            </a:r>
          </a:p>
        </p:txBody>
      </p:sp>
      <p:sp>
        <p:nvSpPr>
          <p:cNvPr id="7" name="TextBox 6"/>
          <p:cNvSpPr txBox="1"/>
          <p:nvPr/>
        </p:nvSpPr>
        <p:spPr>
          <a:xfrm>
            <a:off x="4251960" y="1847088"/>
            <a:ext cx="1783080" cy="274320"/>
          </a:xfrm>
          <a:prstGeom prst="rect">
            <a:avLst/>
          </a:prstGeom>
          <a:noFill/>
        </p:spPr>
        <p:txBody>
          <a:bodyPr wrap="square" anchor="t" lIns="0" rIns="0" tIns="0" bIns="0">
            <a:noAutofit/>
          </a:bodyPr>
          <a:lstStyle/>
          <a:p>
            <a:pPr algn="ctr">
              <a:lnSpc>
                <a:spcPct val="112000"/>
              </a:lnSpc>
              <a:spcAft>
                <a:spcPts val="0"/>
              </a:spcAft>
            </a:pPr>
            <a:r>
              <a:rPr sz="1100" b="1" i="0">
                <a:solidFill>
                  <a:srgbClr val="77859A"/>
                </a:solidFill>
                <a:latin typeface="Calibri"/>
              </a:rPr>
              <a:t>Personalises</a:t>
            </a:r>
          </a:p>
        </p:txBody>
      </p:sp>
      <p:sp>
        <p:nvSpPr>
          <p:cNvPr id="8" name="TextBox 7"/>
          <p:cNvSpPr txBox="1"/>
          <p:nvPr/>
        </p:nvSpPr>
        <p:spPr>
          <a:xfrm>
            <a:off x="6035040" y="1847088"/>
            <a:ext cx="1783080" cy="274320"/>
          </a:xfrm>
          <a:prstGeom prst="rect">
            <a:avLst/>
          </a:prstGeom>
          <a:noFill/>
        </p:spPr>
        <p:txBody>
          <a:bodyPr wrap="square" anchor="t" lIns="0" rIns="0" tIns="0" bIns="0">
            <a:noAutofit/>
          </a:bodyPr>
          <a:lstStyle/>
          <a:p>
            <a:pPr algn="ctr">
              <a:lnSpc>
                <a:spcPct val="112000"/>
              </a:lnSpc>
              <a:spcAft>
                <a:spcPts val="0"/>
              </a:spcAft>
            </a:pPr>
            <a:r>
              <a:rPr sz="1100" b="1" i="0">
                <a:solidFill>
                  <a:srgbClr val="77859A"/>
                </a:solidFill>
                <a:latin typeface="Calibri"/>
              </a:rPr>
              <a:t>Uses own data</a:t>
            </a:r>
          </a:p>
        </p:txBody>
      </p:sp>
      <p:sp>
        <p:nvSpPr>
          <p:cNvPr id="9" name="TextBox 8"/>
          <p:cNvSpPr txBox="1"/>
          <p:nvPr/>
        </p:nvSpPr>
        <p:spPr>
          <a:xfrm>
            <a:off x="7818120" y="1847088"/>
            <a:ext cx="1783080" cy="274320"/>
          </a:xfrm>
          <a:prstGeom prst="rect">
            <a:avLst/>
          </a:prstGeom>
          <a:noFill/>
        </p:spPr>
        <p:txBody>
          <a:bodyPr wrap="square" anchor="t" lIns="0" rIns="0" tIns="0" bIns="0">
            <a:noAutofit/>
          </a:bodyPr>
          <a:lstStyle/>
          <a:p>
            <a:pPr algn="ctr">
              <a:lnSpc>
                <a:spcPct val="112000"/>
              </a:lnSpc>
              <a:spcAft>
                <a:spcPts val="0"/>
              </a:spcAft>
            </a:pPr>
            <a:r>
              <a:rPr sz="1100" b="1" i="0">
                <a:solidFill>
                  <a:srgbClr val="77859A"/>
                </a:solidFill>
                <a:latin typeface="Calibri"/>
              </a:rPr>
              <a:t>Works offline</a:t>
            </a:r>
          </a:p>
        </p:txBody>
      </p:sp>
      <p:sp>
        <p:nvSpPr>
          <p:cNvPr id="10" name="TextBox 9"/>
          <p:cNvSpPr txBox="1"/>
          <p:nvPr/>
        </p:nvSpPr>
        <p:spPr>
          <a:xfrm>
            <a:off x="9601200" y="1847088"/>
            <a:ext cx="1783080" cy="274320"/>
          </a:xfrm>
          <a:prstGeom prst="rect">
            <a:avLst/>
          </a:prstGeom>
          <a:noFill/>
        </p:spPr>
        <p:txBody>
          <a:bodyPr wrap="square" anchor="t" lIns="0" rIns="0" tIns="0" bIns="0">
            <a:noAutofit/>
          </a:bodyPr>
          <a:lstStyle/>
          <a:p>
            <a:pPr algn="ctr">
              <a:lnSpc>
                <a:spcPct val="112000"/>
              </a:lnSpc>
              <a:spcAft>
                <a:spcPts val="0"/>
              </a:spcAft>
            </a:pPr>
            <a:r>
              <a:rPr sz="1100" b="1" i="0">
                <a:solidFill>
                  <a:srgbClr val="77859A"/>
                </a:solidFill>
                <a:latin typeface="Calibri"/>
              </a:rPr>
              <a:t>Closes loop</a:t>
            </a:r>
          </a:p>
        </p:txBody>
      </p:sp>
      <p:sp>
        <p:nvSpPr>
          <p:cNvPr id="11" name="Rectangle 10"/>
          <p:cNvSpPr/>
          <p:nvPr/>
        </p:nvSpPr>
        <p:spPr>
          <a:xfrm>
            <a:off x="685800" y="2212848"/>
            <a:ext cx="10789920" cy="10972"/>
          </a:xfrm>
          <a:prstGeom prst="rect">
            <a:avLst/>
          </a:prstGeom>
          <a:solidFill>
            <a:srgbClr val="DCE4EA"/>
          </a:solidFill>
          <a:ln>
            <a:noFill/>
          </a:ln>
          <a:effectLst/>
        </p:spPr>
        <p:txBody>
          <a:bodyPr rtlCol="0" anchor="ctr" wrap="square"/>
          <a:lstStyle/>
          <a:p>
            <a:pPr algn="ctr"/>
          </a:p>
        </p:txBody>
      </p:sp>
      <p:sp>
        <p:nvSpPr>
          <p:cNvPr id="12" name="Rounded Rectangle 11"/>
          <p:cNvSpPr/>
          <p:nvPr/>
        </p:nvSpPr>
        <p:spPr>
          <a:xfrm>
            <a:off x="685800" y="2267712"/>
            <a:ext cx="10789920" cy="530352"/>
          </a:xfrm>
          <a:prstGeom prst="roundRect">
            <a:avLst>
              <a:gd name="adj" fmla="val 4000"/>
            </a:avLst>
          </a:prstGeom>
          <a:solidFill>
            <a:srgbClr val="F5F8FA"/>
          </a:solidFill>
          <a:ln>
            <a:noFill/>
          </a:ln>
          <a:effectLst/>
        </p:spPr>
        <p:txBody>
          <a:bodyPr rtlCol="0" anchor="ctr" wrap="square"/>
          <a:lstStyle/>
          <a:p>
            <a:pPr algn="ctr"/>
          </a:p>
        </p:txBody>
      </p:sp>
      <p:sp>
        <p:nvSpPr>
          <p:cNvPr id="13" name="TextBox 12"/>
          <p:cNvSpPr txBox="1"/>
          <p:nvPr/>
        </p:nvSpPr>
        <p:spPr>
          <a:xfrm>
            <a:off x="685800" y="2404872"/>
            <a:ext cx="3474720" cy="274320"/>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Adaptive platforms</a:t>
            </a:r>
          </a:p>
        </p:txBody>
      </p:sp>
      <p:sp>
        <p:nvSpPr>
          <p:cNvPr id="14" name="Oval 13"/>
          <p:cNvSpPr/>
          <p:nvPr/>
        </p:nvSpPr>
        <p:spPr>
          <a:xfrm>
            <a:off x="5052060" y="2441448"/>
            <a:ext cx="182880" cy="182880"/>
          </a:xfrm>
          <a:prstGeom prst="ellipse">
            <a:avLst/>
          </a:prstGeom>
          <a:solidFill>
            <a:srgbClr val="2B7A58"/>
          </a:solidFill>
          <a:ln>
            <a:noFill/>
          </a:ln>
          <a:effectLst/>
        </p:spPr>
        <p:txBody>
          <a:bodyPr rtlCol="0" anchor="ctr"/>
          <a:lstStyle/>
          <a:p>
            <a:pPr algn="ctr"/>
          </a:p>
        </p:txBody>
      </p:sp>
      <p:sp>
        <p:nvSpPr>
          <p:cNvPr id="15" name="Oval 14"/>
          <p:cNvSpPr/>
          <p:nvPr/>
        </p:nvSpPr>
        <p:spPr>
          <a:xfrm>
            <a:off x="6835140" y="2441448"/>
            <a:ext cx="182880" cy="182880"/>
          </a:xfrm>
          <a:prstGeom prst="ellipse">
            <a:avLst/>
          </a:prstGeom>
          <a:solidFill>
            <a:srgbClr val="2B7A58"/>
          </a:solidFill>
          <a:ln>
            <a:noFill/>
          </a:ln>
          <a:effectLst/>
        </p:spPr>
        <p:txBody>
          <a:bodyPr rtlCol="0" anchor="ctr"/>
          <a:lstStyle/>
          <a:p>
            <a:pPr algn="ctr"/>
          </a:p>
        </p:txBody>
      </p:sp>
      <p:sp>
        <p:nvSpPr>
          <p:cNvPr id="16" name="Rectangle 15"/>
          <p:cNvSpPr/>
          <p:nvPr/>
        </p:nvSpPr>
        <p:spPr>
          <a:xfrm>
            <a:off x="8609076" y="2516428"/>
            <a:ext cx="201168" cy="32918"/>
          </a:xfrm>
          <a:prstGeom prst="rect">
            <a:avLst/>
          </a:prstGeom>
          <a:solidFill>
            <a:srgbClr val="DCE4EA"/>
          </a:solidFill>
          <a:ln>
            <a:noFill/>
          </a:ln>
          <a:effectLst/>
        </p:spPr>
        <p:txBody>
          <a:bodyPr rtlCol="0" anchor="ctr" wrap="square"/>
          <a:lstStyle/>
          <a:p>
            <a:pPr algn="ctr"/>
          </a:p>
        </p:txBody>
      </p:sp>
      <p:sp>
        <p:nvSpPr>
          <p:cNvPr id="17" name="Oval 16"/>
          <p:cNvSpPr/>
          <p:nvPr/>
        </p:nvSpPr>
        <p:spPr>
          <a:xfrm>
            <a:off x="10401300" y="2441448"/>
            <a:ext cx="182880" cy="182880"/>
          </a:xfrm>
          <a:prstGeom prst="ellipse">
            <a:avLst/>
          </a:prstGeom>
          <a:noFill/>
          <a:ln w="22860">
            <a:solidFill>
              <a:srgbClr val="B0781C"/>
            </a:solidFill>
          </a:ln>
          <a:effectLst/>
        </p:spPr>
        <p:txBody>
          <a:bodyPr rtlCol="0" anchor="ctr"/>
          <a:lstStyle/>
          <a:p>
            <a:pPr algn="ctr"/>
          </a:p>
        </p:txBody>
      </p:sp>
      <p:sp>
        <p:nvSpPr>
          <p:cNvPr id="18" name="TextBox 17"/>
          <p:cNvSpPr txBox="1"/>
          <p:nvPr/>
        </p:nvSpPr>
        <p:spPr>
          <a:xfrm>
            <a:off x="685800" y="2971800"/>
            <a:ext cx="3474720" cy="274320"/>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AI tutors</a:t>
            </a:r>
          </a:p>
        </p:txBody>
      </p:sp>
      <p:sp>
        <p:nvSpPr>
          <p:cNvPr id="19" name="Oval 18"/>
          <p:cNvSpPr/>
          <p:nvPr/>
        </p:nvSpPr>
        <p:spPr>
          <a:xfrm>
            <a:off x="5052060" y="3008376"/>
            <a:ext cx="182880" cy="182880"/>
          </a:xfrm>
          <a:prstGeom prst="ellipse">
            <a:avLst/>
          </a:prstGeom>
          <a:solidFill>
            <a:srgbClr val="2B7A58"/>
          </a:solidFill>
          <a:ln>
            <a:noFill/>
          </a:ln>
          <a:effectLst/>
        </p:spPr>
        <p:txBody>
          <a:bodyPr rtlCol="0" anchor="ctr"/>
          <a:lstStyle/>
          <a:p>
            <a:pPr algn="ctr"/>
          </a:p>
        </p:txBody>
      </p:sp>
      <p:sp>
        <p:nvSpPr>
          <p:cNvPr id="20" name="Oval 19"/>
          <p:cNvSpPr/>
          <p:nvPr/>
        </p:nvSpPr>
        <p:spPr>
          <a:xfrm>
            <a:off x="6835140" y="3008376"/>
            <a:ext cx="182880" cy="182880"/>
          </a:xfrm>
          <a:prstGeom prst="ellipse">
            <a:avLst/>
          </a:prstGeom>
          <a:noFill/>
          <a:ln w="22860">
            <a:solidFill>
              <a:srgbClr val="B0781C"/>
            </a:solidFill>
          </a:ln>
          <a:effectLst/>
        </p:spPr>
        <p:txBody>
          <a:bodyPr rtlCol="0" anchor="ctr"/>
          <a:lstStyle/>
          <a:p>
            <a:pPr algn="ctr"/>
          </a:p>
        </p:txBody>
      </p:sp>
      <p:sp>
        <p:nvSpPr>
          <p:cNvPr id="21" name="Rectangle 20"/>
          <p:cNvSpPr/>
          <p:nvPr/>
        </p:nvSpPr>
        <p:spPr>
          <a:xfrm>
            <a:off x="8609076" y="3083356"/>
            <a:ext cx="201168" cy="32918"/>
          </a:xfrm>
          <a:prstGeom prst="rect">
            <a:avLst/>
          </a:prstGeom>
          <a:solidFill>
            <a:srgbClr val="DCE4EA"/>
          </a:solidFill>
          <a:ln>
            <a:noFill/>
          </a:ln>
          <a:effectLst/>
        </p:spPr>
        <p:txBody>
          <a:bodyPr rtlCol="0" anchor="ctr" wrap="square"/>
          <a:lstStyle/>
          <a:p>
            <a:pPr algn="ctr"/>
          </a:p>
        </p:txBody>
      </p:sp>
      <p:sp>
        <p:nvSpPr>
          <p:cNvPr id="22" name="Rectangle 21"/>
          <p:cNvSpPr/>
          <p:nvPr/>
        </p:nvSpPr>
        <p:spPr>
          <a:xfrm>
            <a:off x="10392156" y="3083356"/>
            <a:ext cx="201168" cy="32918"/>
          </a:xfrm>
          <a:prstGeom prst="rect">
            <a:avLst/>
          </a:prstGeom>
          <a:solidFill>
            <a:srgbClr val="DCE4EA"/>
          </a:solidFill>
          <a:ln>
            <a:noFill/>
          </a:ln>
          <a:effectLst/>
        </p:spPr>
        <p:txBody>
          <a:bodyPr rtlCol="0" anchor="ctr" wrap="square"/>
          <a:lstStyle/>
          <a:p>
            <a:pPr algn="ctr"/>
          </a:p>
        </p:txBody>
      </p:sp>
      <p:sp>
        <p:nvSpPr>
          <p:cNvPr id="23" name="Rounded Rectangle 22"/>
          <p:cNvSpPr/>
          <p:nvPr/>
        </p:nvSpPr>
        <p:spPr>
          <a:xfrm>
            <a:off x="685800" y="3401568"/>
            <a:ext cx="10789920" cy="530352"/>
          </a:xfrm>
          <a:prstGeom prst="roundRect">
            <a:avLst>
              <a:gd name="adj" fmla="val 4000"/>
            </a:avLst>
          </a:prstGeom>
          <a:solidFill>
            <a:srgbClr val="F5F8FA"/>
          </a:solidFill>
          <a:ln>
            <a:noFill/>
          </a:ln>
          <a:effectLst/>
        </p:spPr>
        <p:txBody>
          <a:bodyPr rtlCol="0" anchor="ctr" wrap="square"/>
          <a:lstStyle/>
          <a:p>
            <a:pPr algn="ctr"/>
          </a:p>
        </p:txBody>
      </p:sp>
      <p:sp>
        <p:nvSpPr>
          <p:cNvPr id="24" name="TextBox 23"/>
          <p:cNvSpPr txBox="1"/>
          <p:nvPr/>
        </p:nvSpPr>
        <p:spPr>
          <a:xfrm>
            <a:off x="685800" y="3538728"/>
            <a:ext cx="3474720" cy="274320"/>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LMS analytics</a:t>
            </a:r>
          </a:p>
        </p:txBody>
      </p:sp>
      <p:sp>
        <p:nvSpPr>
          <p:cNvPr id="25" name="Rectangle 24"/>
          <p:cNvSpPr/>
          <p:nvPr/>
        </p:nvSpPr>
        <p:spPr>
          <a:xfrm>
            <a:off x="5042916" y="3650284"/>
            <a:ext cx="201168" cy="32918"/>
          </a:xfrm>
          <a:prstGeom prst="rect">
            <a:avLst/>
          </a:prstGeom>
          <a:solidFill>
            <a:srgbClr val="DCE4EA"/>
          </a:solidFill>
          <a:ln>
            <a:noFill/>
          </a:ln>
          <a:effectLst/>
        </p:spPr>
        <p:txBody>
          <a:bodyPr rtlCol="0" anchor="ctr" wrap="square"/>
          <a:lstStyle/>
          <a:p>
            <a:pPr algn="ctr"/>
          </a:p>
        </p:txBody>
      </p:sp>
      <p:sp>
        <p:nvSpPr>
          <p:cNvPr id="26" name="Oval 25"/>
          <p:cNvSpPr/>
          <p:nvPr/>
        </p:nvSpPr>
        <p:spPr>
          <a:xfrm>
            <a:off x="6835140" y="3575303"/>
            <a:ext cx="182880" cy="182880"/>
          </a:xfrm>
          <a:prstGeom prst="ellipse">
            <a:avLst/>
          </a:prstGeom>
          <a:solidFill>
            <a:srgbClr val="2B7A58"/>
          </a:solidFill>
          <a:ln>
            <a:noFill/>
          </a:ln>
          <a:effectLst/>
        </p:spPr>
        <p:txBody>
          <a:bodyPr rtlCol="0" anchor="ctr"/>
          <a:lstStyle/>
          <a:p>
            <a:pPr algn="ctr"/>
          </a:p>
        </p:txBody>
      </p:sp>
      <p:sp>
        <p:nvSpPr>
          <p:cNvPr id="27" name="Rectangle 26"/>
          <p:cNvSpPr/>
          <p:nvPr/>
        </p:nvSpPr>
        <p:spPr>
          <a:xfrm>
            <a:off x="8609076" y="3650284"/>
            <a:ext cx="201168" cy="32918"/>
          </a:xfrm>
          <a:prstGeom prst="rect">
            <a:avLst/>
          </a:prstGeom>
          <a:solidFill>
            <a:srgbClr val="DCE4EA"/>
          </a:solidFill>
          <a:ln>
            <a:noFill/>
          </a:ln>
          <a:effectLst/>
        </p:spPr>
        <p:txBody>
          <a:bodyPr rtlCol="0" anchor="ctr" wrap="square"/>
          <a:lstStyle/>
          <a:p>
            <a:pPr algn="ctr"/>
          </a:p>
        </p:txBody>
      </p:sp>
      <p:sp>
        <p:nvSpPr>
          <p:cNvPr id="28" name="Rectangle 27"/>
          <p:cNvSpPr/>
          <p:nvPr/>
        </p:nvSpPr>
        <p:spPr>
          <a:xfrm>
            <a:off x="10392156" y="3650284"/>
            <a:ext cx="201168" cy="32918"/>
          </a:xfrm>
          <a:prstGeom prst="rect">
            <a:avLst/>
          </a:prstGeom>
          <a:solidFill>
            <a:srgbClr val="DCE4EA"/>
          </a:solidFill>
          <a:ln>
            <a:noFill/>
          </a:ln>
          <a:effectLst/>
        </p:spPr>
        <p:txBody>
          <a:bodyPr rtlCol="0" anchor="ctr" wrap="square"/>
          <a:lstStyle/>
          <a:p>
            <a:pPr algn="ctr"/>
          </a:p>
        </p:txBody>
      </p:sp>
      <p:sp>
        <p:nvSpPr>
          <p:cNvPr id="29" name="TextBox 28"/>
          <p:cNvSpPr txBox="1"/>
          <p:nvPr/>
        </p:nvSpPr>
        <p:spPr>
          <a:xfrm>
            <a:off x="685800" y="4105655"/>
            <a:ext cx="3474720" cy="274320"/>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Spaced repetition</a:t>
            </a:r>
          </a:p>
        </p:txBody>
      </p:sp>
      <p:sp>
        <p:nvSpPr>
          <p:cNvPr id="30" name="Oval 29"/>
          <p:cNvSpPr/>
          <p:nvPr/>
        </p:nvSpPr>
        <p:spPr>
          <a:xfrm>
            <a:off x="5052060" y="4142231"/>
            <a:ext cx="182880" cy="182880"/>
          </a:xfrm>
          <a:prstGeom prst="ellipse">
            <a:avLst/>
          </a:prstGeom>
          <a:solidFill>
            <a:srgbClr val="2B7A58"/>
          </a:solidFill>
          <a:ln>
            <a:noFill/>
          </a:ln>
          <a:effectLst/>
        </p:spPr>
        <p:txBody>
          <a:bodyPr rtlCol="0" anchor="ctr"/>
          <a:lstStyle/>
          <a:p>
            <a:pPr algn="ctr"/>
          </a:p>
        </p:txBody>
      </p:sp>
      <p:sp>
        <p:nvSpPr>
          <p:cNvPr id="31" name="Oval 30"/>
          <p:cNvSpPr/>
          <p:nvPr/>
        </p:nvSpPr>
        <p:spPr>
          <a:xfrm>
            <a:off x="6835140" y="4142231"/>
            <a:ext cx="182880" cy="182880"/>
          </a:xfrm>
          <a:prstGeom prst="ellipse">
            <a:avLst/>
          </a:prstGeom>
          <a:solidFill>
            <a:srgbClr val="2B7A58"/>
          </a:solidFill>
          <a:ln>
            <a:noFill/>
          </a:ln>
          <a:effectLst/>
        </p:spPr>
        <p:txBody>
          <a:bodyPr rtlCol="0" anchor="ctr"/>
          <a:lstStyle/>
          <a:p>
            <a:pPr algn="ctr"/>
          </a:p>
        </p:txBody>
      </p:sp>
      <p:sp>
        <p:nvSpPr>
          <p:cNvPr id="32" name="Oval 31"/>
          <p:cNvSpPr/>
          <p:nvPr/>
        </p:nvSpPr>
        <p:spPr>
          <a:xfrm>
            <a:off x="8618220" y="4142231"/>
            <a:ext cx="182880" cy="182880"/>
          </a:xfrm>
          <a:prstGeom prst="ellipse">
            <a:avLst/>
          </a:prstGeom>
          <a:solidFill>
            <a:srgbClr val="2B7A58"/>
          </a:solidFill>
          <a:ln>
            <a:noFill/>
          </a:ln>
          <a:effectLst/>
        </p:spPr>
        <p:txBody>
          <a:bodyPr rtlCol="0" anchor="ctr"/>
          <a:lstStyle/>
          <a:p>
            <a:pPr algn="ctr"/>
          </a:p>
        </p:txBody>
      </p:sp>
      <p:sp>
        <p:nvSpPr>
          <p:cNvPr id="33" name="Rectangle 32"/>
          <p:cNvSpPr/>
          <p:nvPr/>
        </p:nvSpPr>
        <p:spPr>
          <a:xfrm>
            <a:off x="10392156" y="4217212"/>
            <a:ext cx="201168" cy="32918"/>
          </a:xfrm>
          <a:prstGeom prst="rect">
            <a:avLst/>
          </a:prstGeom>
          <a:solidFill>
            <a:srgbClr val="DCE4EA"/>
          </a:solidFill>
          <a:ln>
            <a:noFill/>
          </a:ln>
          <a:effectLst/>
        </p:spPr>
        <p:txBody>
          <a:bodyPr rtlCol="0" anchor="ctr" wrap="square"/>
          <a:lstStyle/>
          <a:p>
            <a:pPr algn="ctr"/>
          </a:p>
        </p:txBody>
      </p:sp>
      <p:sp>
        <p:nvSpPr>
          <p:cNvPr id="34" name="Rounded Rectangle 33"/>
          <p:cNvSpPr/>
          <p:nvPr/>
        </p:nvSpPr>
        <p:spPr>
          <a:xfrm>
            <a:off x="685800" y="4535424"/>
            <a:ext cx="10789920" cy="530352"/>
          </a:xfrm>
          <a:prstGeom prst="roundRect">
            <a:avLst>
              <a:gd name="adj" fmla="val 4000"/>
            </a:avLst>
          </a:prstGeom>
          <a:solidFill>
            <a:srgbClr val="F5F8FA"/>
          </a:solidFill>
          <a:ln>
            <a:noFill/>
          </a:ln>
          <a:effectLst/>
        </p:spPr>
        <p:txBody>
          <a:bodyPr rtlCol="0" anchor="ctr" wrap="square"/>
          <a:lstStyle/>
          <a:p>
            <a:pPr algn="ctr"/>
          </a:p>
        </p:txBody>
      </p:sp>
      <p:sp>
        <p:nvSpPr>
          <p:cNvPr id="35" name="TextBox 34"/>
          <p:cNvSpPr txBox="1"/>
          <p:nvPr/>
        </p:nvSpPr>
        <p:spPr>
          <a:xfrm>
            <a:off x="685800" y="4672584"/>
            <a:ext cx="3474720" cy="274320"/>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Gamified apps</a:t>
            </a:r>
          </a:p>
        </p:txBody>
      </p:sp>
      <p:sp>
        <p:nvSpPr>
          <p:cNvPr id="36" name="Oval 35"/>
          <p:cNvSpPr/>
          <p:nvPr/>
        </p:nvSpPr>
        <p:spPr>
          <a:xfrm>
            <a:off x="5052060" y="4709160"/>
            <a:ext cx="182880" cy="182880"/>
          </a:xfrm>
          <a:prstGeom prst="ellipse">
            <a:avLst/>
          </a:prstGeom>
          <a:noFill/>
          <a:ln w="22860">
            <a:solidFill>
              <a:srgbClr val="B0781C"/>
            </a:solidFill>
          </a:ln>
          <a:effectLst/>
        </p:spPr>
        <p:txBody>
          <a:bodyPr rtlCol="0" anchor="ctr"/>
          <a:lstStyle/>
          <a:p>
            <a:pPr algn="ctr"/>
          </a:p>
        </p:txBody>
      </p:sp>
      <p:sp>
        <p:nvSpPr>
          <p:cNvPr id="37" name="Oval 36"/>
          <p:cNvSpPr/>
          <p:nvPr/>
        </p:nvSpPr>
        <p:spPr>
          <a:xfrm>
            <a:off x="6835140" y="4709160"/>
            <a:ext cx="182880" cy="182880"/>
          </a:xfrm>
          <a:prstGeom prst="ellipse">
            <a:avLst/>
          </a:prstGeom>
          <a:noFill/>
          <a:ln w="22860">
            <a:solidFill>
              <a:srgbClr val="B0781C"/>
            </a:solidFill>
          </a:ln>
          <a:effectLst/>
        </p:spPr>
        <p:txBody>
          <a:bodyPr rtlCol="0" anchor="ctr"/>
          <a:lstStyle/>
          <a:p>
            <a:pPr algn="ctr"/>
          </a:p>
        </p:txBody>
      </p:sp>
      <p:sp>
        <p:nvSpPr>
          <p:cNvPr id="38" name="Oval 37"/>
          <p:cNvSpPr/>
          <p:nvPr/>
        </p:nvSpPr>
        <p:spPr>
          <a:xfrm>
            <a:off x="8618220" y="4709160"/>
            <a:ext cx="182880" cy="182880"/>
          </a:xfrm>
          <a:prstGeom prst="ellipse">
            <a:avLst/>
          </a:prstGeom>
          <a:solidFill>
            <a:srgbClr val="2B7A58"/>
          </a:solidFill>
          <a:ln>
            <a:noFill/>
          </a:ln>
          <a:effectLst/>
        </p:spPr>
        <p:txBody>
          <a:bodyPr rtlCol="0" anchor="ctr"/>
          <a:lstStyle/>
          <a:p>
            <a:pPr algn="ctr"/>
          </a:p>
        </p:txBody>
      </p:sp>
      <p:sp>
        <p:nvSpPr>
          <p:cNvPr id="39" name="Rectangle 38"/>
          <p:cNvSpPr/>
          <p:nvPr/>
        </p:nvSpPr>
        <p:spPr>
          <a:xfrm>
            <a:off x="10392156" y="4784140"/>
            <a:ext cx="201168" cy="32918"/>
          </a:xfrm>
          <a:prstGeom prst="rect">
            <a:avLst/>
          </a:prstGeom>
          <a:solidFill>
            <a:srgbClr val="DCE4EA"/>
          </a:solidFill>
          <a:ln>
            <a:noFill/>
          </a:ln>
          <a:effectLst/>
        </p:spPr>
        <p:txBody>
          <a:bodyPr rtlCol="0" anchor="ctr" wrap="square"/>
          <a:lstStyle/>
          <a:p>
            <a:pPr algn="ctr"/>
          </a:p>
        </p:txBody>
      </p:sp>
      <p:sp>
        <p:nvSpPr>
          <p:cNvPr id="40" name="Rounded Rectangle 39"/>
          <p:cNvSpPr/>
          <p:nvPr/>
        </p:nvSpPr>
        <p:spPr>
          <a:xfrm>
            <a:off x="685800" y="5157216"/>
            <a:ext cx="10789920" cy="621792"/>
          </a:xfrm>
          <a:prstGeom prst="roundRect">
            <a:avLst>
              <a:gd name="adj" fmla="val 6000"/>
            </a:avLst>
          </a:prstGeom>
          <a:solidFill>
            <a:srgbClr val="E6F2F2"/>
          </a:solidFill>
          <a:ln>
            <a:noFill/>
          </a:ln>
          <a:effectLst/>
        </p:spPr>
        <p:txBody>
          <a:bodyPr rtlCol="0" anchor="ctr" wrap="square"/>
          <a:lstStyle/>
          <a:p>
            <a:pPr algn="ctr"/>
          </a:p>
        </p:txBody>
      </p:sp>
      <p:sp>
        <p:nvSpPr>
          <p:cNvPr id="41" name="TextBox 40"/>
          <p:cNvSpPr txBox="1"/>
          <p:nvPr/>
        </p:nvSpPr>
        <p:spPr>
          <a:xfrm>
            <a:off x="896112" y="5248656"/>
            <a:ext cx="1371600" cy="182880"/>
          </a:xfrm>
          <a:prstGeom prst="rect">
            <a:avLst/>
          </a:prstGeom>
          <a:noFill/>
        </p:spPr>
        <p:txBody>
          <a:bodyPr wrap="square" anchor="t" lIns="0" rIns="0" tIns="0" bIns="0">
            <a:noAutofit/>
          </a:bodyPr>
          <a:lstStyle/>
          <a:p>
            <a:pPr algn="l">
              <a:lnSpc>
                <a:spcPct val="112000"/>
              </a:lnSpc>
              <a:spcAft>
                <a:spcPts val="0"/>
              </a:spcAft>
            </a:pPr>
            <a:r>
              <a:rPr sz="1000" b="1" i="0">
                <a:solidFill>
                  <a:srgbClr val="0F7A82"/>
                </a:solidFill>
                <a:latin typeface="Calibri"/>
              </a:rPr>
              <a:t>THE GAP</a:t>
            </a:r>
          </a:p>
        </p:txBody>
      </p:sp>
      <p:sp>
        <p:nvSpPr>
          <p:cNvPr id="42" name="TextBox 41"/>
          <p:cNvSpPr txBox="1"/>
          <p:nvPr/>
        </p:nvSpPr>
        <p:spPr>
          <a:xfrm>
            <a:off x="1847088" y="5239512"/>
            <a:ext cx="9418320" cy="256032"/>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No category combines planning, practice, measurement and offline study for one learner.</a:t>
            </a:r>
          </a:p>
        </p:txBody>
      </p:sp>
      <p:sp>
        <p:nvSpPr>
          <p:cNvPr id="43" name="Oval 42"/>
          <p:cNvSpPr/>
          <p:nvPr/>
        </p:nvSpPr>
        <p:spPr>
          <a:xfrm>
            <a:off x="694944" y="5961888"/>
            <a:ext cx="182880" cy="182880"/>
          </a:xfrm>
          <a:prstGeom prst="ellipse">
            <a:avLst/>
          </a:prstGeom>
          <a:solidFill>
            <a:srgbClr val="2B7A58"/>
          </a:solidFill>
          <a:ln>
            <a:noFill/>
          </a:ln>
          <a:effectLst/>
        </p:spPr>
        <p:txBody>
          <a:bodyPr rtlCol="0" anchor="ctr"/>
          <a:lstStyle/>
          <a:p>
            <a:pPr algn="ctr"/>
          </a:p>
        </p:txBody>
      </p:sp>
      <p:sp>
        <p:nvSpPr>
          <p:cNvPr id="44" name="TextBox 43"/>
          <p:cNvSpPr txBox="1"/>
          <p:nvPr/>
        </p:nvSpPr>
        <p:spPr>
          <a:xfrm>
            <a:off x="932688" y="5952744"/>
            <a:ext cx="731520" cy="201168"/>
          </a:xfrm>
          <a:prstGeom prst="rect">
            <a:avLst/>
          </a:prstGeom>
          <a:noFill/>
        </p:spPr>
        <p:txBody>
          <a:bodyPr wrap="square" anchor="t" lIns="0" rIns="0" tIns="0" bIns="0">
            <a:noAutofit/>
          </a:bodyPr>
          <a:lstStyle/>
          <a:p>
            <a:pPr algn="l">
              <a:lnSpc>
                <a:spcPct val="112000"/>
              </a:lnSpc>
              <a:spcAft>
                <a:spcPts val="0"/>
              </a:spcAft>
            </a:pPr>
            <a:r>
              <a:rPr sz="1000" b="0" i="0">
                <a:solidFill>
                  <a:srgbClr val="77859A"/>
                </a:solidFill>
                <a:latin typeface="Calibri"/>
              </a:rPr>
              <a:t>built in</a:t>
            </a:r>
          </a:p>
        </p:txBody>
      </p:sp>
      <p:sp>
        <p:nvSpPr>
          <p:cNvPr id="45" name="Oval 44"/>
          <p:cNvSpPr/>
          <p:nvPr/>
        </p:nvSpPr>
        <p:spPr>
          <a:xfrm>
            <a:off x="1682495" y="5961888"/>
            <a:ext cx="182880" cy="182880"/>
          </a:xfrm>
          <a:prstGeom prst="ellipse">
            <a:avLst/>
          </a:prstGeom>
          <a:noFill/>
          <a:ln w="22860">
            <a:solidFill>
              <a:srgbClr val="B0781C"/>
            </a:solidFill>
          </a:ln>
          <a:effectLst/>
        </p:spPr>
        <p:txBody>
          <a:bodyPr rtlCol="0" anchor="ctr"/>
          <a:lstStyle/>
          <a:p>
            <a:pPr algn="ctr"/>
          </a:p>
        </p:txBody>
      </p:sp>
      <p:sp>
        <p:nvSpPr>
          <p:cNvPr id="46" name="TextBox 45"/>
          <p:cNvSpPr txBox="1"/>
          <p:nvPr/>
        </p:nvSpPr>
        <p:spPr>
          <a:xfrm>
            <a:off x="1920240" y="5952744"/>
            <a:ext cx="731520" cy="201168"/>
          </a:xfrm>
          <a:prstGeom prst="rect">
            <a:avLst/>
          </a:prstGeom>
          <a:noFill/>
        </p:spPr>
        <p:txBody>
          <a:bodyPr wrap="square" anchor="t" lIns="0" rIns="0" tIns="0" bIns="0">
            <a:noAutofit/>
          </a:bodyPr>
          <a:lstStyle/>
          <a:p>
            <a:pPr algn="l">
              <a:lnSpc>
                <a:spcPct val="112000"/>
              </a:lnSpc>
              <a:spcAft>
                <a:spcPts val="0"/>
              </a:spcAft>
            </a:pPr>
            <a:r>
              <a:rPr sz="1000" b="0" i="0">
                <a:solidFill>
                  <a:srgbClr val="77859A"/>
                </a:solidFill>
                <a:latin typeface="Calibri"/>
              </a:rPr>
              <a:t>partial</a:t>
            </a:r>
          </a:p>
        </p:txBody>
      </p:sp>
      <p:sp>
        <p:nvSpPr>
          <p:cNvPr id="47" name="Rectangle 46"/>
          <p:cNvSpPr/>
          <p:nvPr/>
        </p:nvSpPr>
        <p:spPr>
          <a:xfrm>
            <a:off x="2606040" y="6036868"/>
            <a:ext cx="201168" cy="32918"/>
          </a:xfrm>
          <a:prstGeom prst="rect">
            <a:avLst/>
          </a:prstGeom>
          <a:solidFill>
            <a:srgbClr val="DCE4EA"/>
          </a:solidFill>
          <a:ln>
            <a:noFill/>
          </a:ln>
          <a:effectLst/>
        </p:spPr>
        <p:txBody>
          <a:bodyPr rtlCol="0" anchor="ctr" wrap="square"/>
          <a:lstStyle/>
          <a:p>
            <a:pPr algn="ctr"/>
          </a:p>
        </p:txBody>
      </p:sp>
      <p:sp>
        <p:nvSpPr>
          <p:cNvPr id="48" name="TextBox 47"/>
          <p:cNvSpPr txBox="1"/>
          <p:nvPr/>
        </p:nvSpPr>
        <p:spPr>
          <a:xfrm>
            <a:off x="2852928" y="5952744"/>
            <a:ext cx="731520" cy="201168"/>
          </a:xfrm>
          <a:prstGeom prst="rect">
            <a:avLst/>
          </a:prstGeom>
          <a:noFill/>
        </p:spPr>
        <p:txBody>
          <a:bodyPr wrap="square" anchor="t" lIns="0" rIns="0" tIns="0" bIns="0">
            <a:noAutofit/>
          </a:bodyPr>
          <a:lstStyle/>
          <a:p>
            <a:pPr algn="l">
              <a:lnSpc>
                <a:spcPct val="112000"/>
              </a:lnSpc>
              <a:spcAft>
                <a:spcPts val="0"/>
              </a:spcAft>
            </a:pPr>
            <a:r>
              <a:rPr sz="1000" b="0" i="0">
                <a:solidFill>
                  <a:srgbClr val="77859A"/>
                </a:solidFill>
                <a:latin typeface="Calibri"/>
              </a:rPr>
              <a:t>absent</a:t>
            </a:r>
          </a:p>
        </p:txBody>
      </p:sp>
      <p:sp>
        <p:nvSpPr>
          <p:cNvPr id="49" name="TextBox 48"/>
          <p:cNvSpPr txBox="1"/>
          <p:nvPr/>
        </p:nvSpPr>
        <p:spPr>
          <a:xfrm>
            <a:off x="6766560" y="5952744"/>
            <a:ext cx="4709160" cy="201168"/>
          </a:xfrm>
          <a:prstGeom prst="rect">
            <a:avLst/>
          </a:prstGeom>
          <a:noFill/>
        </p:spPr>
        <p:txBody>
          <a:bodyPr wrap="square" anchor="t" lIns="0" rIns="0" tIns="0" bIns="0">
            <a:noAutofit/>
          </a:bodyPr>
          <a:lstStyle/>
          <a:p>
            <a:pPr algn="r">
              <a:lnSpc>
                <a:spcPct val="112000"/>
              </a:lnSpc>
              <a:spcAft>
                <a:spcPts val="0"/>
              </a:spcAft>
            </a:pPr>
            <a:r>
              <a:rPr sz="1000" b="0" i="1">
                <a:solidFill>
                  <a:srgbClr val="77859A"/>
                </a:solidFill>
                <a:latin typeface="Calibri"/>
              </a:rPr>
              <a:t>Design comparison, not a systematic 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47472"/>
            <a:ext cx="822960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05 · SYSTEM ARCHITECTURE</a:t>
            </a:r>
          </a:p>
        </p:txBody>
      </p:sp>
      <p:sp>
        <p:nvSpPr>
          <p:cNvPr id="3" name="TextBox 2"/>
          <p:cNvSpPr txBox="1"/>
          <p:nvPr/>
        </p:nvSpPr>
        <p:spPr>
          <a:xfrm>
            <a:off x="685800" y="585216"/>
            <a:ext cx="10881360" cy="566928"/>
          </a:xfrm>
          <a:prstGeom prst="rect">
            <a:avLst/>
          </a:prstGeom>
          <a:noFill/>
        </p:spPr>
        <p:txBody>
          <a:bodyPr wrap="square" anchor="t" lIns="0" rIns="0" tIns="0" bIns="0">
            <a:noAutofit/>
          </a:bodyPr>
          <a:lstStyle/>
          <a:p>
            <a:pPr algn="l">
              <a:lnSpc>
                <a:spcPct val="95000"/>
              </a:lnSpc>
              <a:spcAft>
                <a:spcPts val="0"/>
              </a:spcAft>
            </a:pPr>
            <a:r>
              <a:rPr sz="3300" b="1" i="0">
                <a:solidFill>
                  <a:srgbClr val="152238"/>
                </a:solidFill>
                <a:latin typeface="Calibri"/>
              </a:rPr>
              <a:t>Four layers, two optional services</a:t>
            </a:r>
          </a:p>
        </p:txBody>
      </p:sp>
      <p:sp>
        <p:nvSpPr>
          <p:cNvPr id="4" name="TextBox 3"/>
          <p:cNvSpPr txBox="1"/>
          <p:nvPr/>
        </p:nvSpPr>
        <p:spPr>
          <a:xfrm>
            <a:off x="685800" y="1225296"/>
            <a:ext cx="10424160" cy="512064"/>
          </a:xfrm>
          <a:prstGeom prst="rect">
            <a:avLst/>
          </a:prstGeom>
          <a:noFill/>
        </p:spPr>
        <p:txBody>
          <a:bodyPr wrap="square" anchor="t" lIns="0" rIns="0" tIns="0" bIns="0">
            <a:noAutofit/>
          </a:bodyPr>
          <a:lstStyle/>
          <a:p>
            <a:pPr algn="l">
              <a:lnSpc>
                <a:spcPct val="112000"/>
              </a:lnSpc>
              <a:spcAft>
                <a:spcPts val="0"/>
              </a:spcAft>
            </a:pPr>
            <a:r>
              <a:rPr sz="1650" b="0" i="0">
                <a:solidFill>
                  <a:srgbClr val="3D4A5C"/>
                </a:solidFill>
                <a:latin typeface="Calibri"/>
              </a:rPr>
              <a:t>Everything that matters runs in the browser. The network is optional.</a:t>
            </a:r>
          </a:p>
        </p:txBody>
      </p:sp>
      <p:sp>
        <p:nvSpPr>
          <p:cNvPr id="5" name="TextBox 4"/>
          <p:cNvSpPr txBox="1"/>
          <p:nvPr/>
        </p:nvSpPr>
        <p:spPr>
          <a:xfrm>
            <a:off x="685800" y="6510528"/>
            <a:ext cx="7315200" cy="182880"/>
          </a:xfrm>
          <a:prstGeom prst="rect">
            <a:avLst/>
          </a:prstGeom>
          <a:noFill/>
        </p:spPr>
        <p:txBody>
          <a:bodyPr wrap="square" anchor="t" lIns="0" rIns="0" tIns="0" bIns="0">
            <a:noAutofit/>
          </a:bodyPr>
          <a:lstStyle/>
          <a:p>
            <a:pPr algn="l">
              <a:lnSpc>
                <a:spcPct val="112000"/>
              </a:lnSpc>
              <a:spcAft>
                <a:spcPts val="0"/>
              </a:spcAft>
            </a:pPr>
            <a:r>
              <a:rPr sz="900" b="0" i="0">
                <a:solidFill>
                  <a:srgbClr val="77859A"/>
                </a:solidFill>
                <a:latin typeface="Calibri"/>
              </a:rPr>
              <a:t>StudyMapper  ·  ten-slide overview</a:t>
            </a:r>
          </a:p>
        </p:txBody>
      </p:sp>
      <p:sp>
        <p:nvSpPr>
          <p:cNvPr id="6" name="TextBox 5"/>
          <p:cNvSpPr txBox="1"/>
          <p:nvPr/>
        </p:nvSpPr>
        <p:spPr>
          <a:xfrm>
            <a:off x="10058400" y="6492240"/>
            <a:ext cx="1444752" cy="219456"/>
          </a:xfrm>
          <a:prstGeom prst="rect">
            <a:avLst/>
          </a:prstGeom>
          <a:noFill/>
        </p:spPr>
        <p:txBody>
          <a:bodyPr wrap="square" anchor="t" lIns="0" rIns="0" tIns="0" bIns="0">
            <a:noAutofit/>
          </a:bodyPr>
          <a:lstStyle/>
          <a:p>
            <a:pPr algn="r">
              <a:lnSpc>
                <a:spcPct val="112000"/>
              </a:lnSpc>
              <a:spcAft>
                <a:spcPts val="0"/>
              </a:spcAft>
            </a:pPr>
            <a:r>
              <a:rPr sz="1000" b="1" i="0">
                <a:solidFill>
                  <a:srgbClr val="77859A"/>
                </a:solidFill>
                <a:latin typeface="Calibri"/>
              </a:rPr>
              <a:t>06 / 10</a:t>
            </a:r>
          </a:p>
        </p:txBody>
      </p:sp>
      <p:sp>
        <p:nvSpPr>
          <p:cNvPr id="7" name="Rounded Rectangle 6"/>
          <p:cNvSpPr/>
          <p:nvPr/>
        </p:nvSpPr>
        <p:spPr>
          <a:xfrm>
            <a:off x="685800" y="1792224"/>
            <a:ext cx="1298448" cy="896112"/>
          </a:xfrm>
          <a:prstGeom prst="roundRect">
            <a:avLst>
              <a:gd name="adj" fmla="val 6000"/>
            </a:avLst>
          </a:prstGeom>
          <a:solidFill>
            <a:srgbClr val="E6F2F2"/>
          </a:solidFill>
          <a:ln>
            <a:noFill/>
          </a:ln>
          <a:effectLst/>
        </p:spPr>
        <p:txBody>
          <a:bodyPr rtlCol="0" anchor="ctr" wrap="square"/>
          <a:lstStyle/>
          <a:p>
            <a:pPr algn="ctr"/>
          </a:p>
        </p:txBody>
      </p:sp>
      <p:sp>
        <p:nvSpPr>
          <p:cNvPr id="8" name="TextBox 7"/>
          <p:cNvSpPr txBox="1"/>
          <p:nvPr/>
        </p:nvSpPr>
        <p:spPr>
          <a:xfrm>
            <a:off x="731520" y="2103120"/>
            <a:ext cx="1207008" cy="274320"/>
          </a:xfrm>
          <a:prstGeom prst="rect">
            <a:avLst/>
          </a:prstGeom>
          <a:noFill/>
        </p:spPr>
        <p:txBody>
          <a:bodyPr wrap="square" anchor="t" lIns="0" rIns="0" tIns="0" bIns="0">
            <a:noAutofit/>
          </a:bodyPr>
          <a:lstStyle/>
          <a:p>
            <a:pPr algn="ctr">
              <a:lnSpc>
                <a:spcPct val="112000"/>
              </a:lnSpc>
              <a:spcAft>
                <a:spcPts val="0"/>
              </a:spcAft>
            </a:pPr>
            <a:r>
              <a:rPr sz="950" b="1" i="0">
                <a:solidFill>
                  <a:srgbClr val="0F7A82"/>
                </a:solidFill>
                <a:latin typeface="Calibri"/>
              </a:rPr>
              <a:t>INTERFACE</a:t>
            </a:r>
          </a:p>
        </p:txBody>
      </p:sp>
      <p:sp>
        <p:nvSpPr>
          <p:cNvPr id="9" name="Rounded Rectangle 8"/>
          <p:cNvSpPr/>
          <p:nvPr/>
        </p:nvSpPr>
        <p:spPr>
          <a:xfrm>
            <a:off x="2139696" y="1993392"/>
            <a:ext cx="2999232" cy="493776"/>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1250" b="1">
                <a:solidFill>
                  <a:srgbClr val="3D4A5C"/>
                </a:solidFill>
                <a:latin typeface="Calibri"/>
              </a:rPr>
              <a:t>React 19 SPA</a:t>
            </a:r>
          </a:p>
        </p:txBody>
      </p:sp>
      <p:sp>
        <p:nvSpPr>
          <p:cNvPr id="10" name="Rounded Rectangle 9"/>
          <p:cNvSpPr/>
          <p:nvPr/>
        </p:nvSpPr>
        <p:spPr>
          <a:xfrm>
            <a:off x="5276088" y="1993392"/>
            <a:ext cx="2999232" cy="493776"/>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1250" b="1">
                <a:solidFill>
                  <a:srgbClr val="3D4A5C"/>
                </a:solidFill>
                <a:latin typeface="Calibri"/>
              </a:rPr>
              <a:t>46 routed views</a:t>
            </a:r>
          </a:p>
        </p:txBody>
      </p:sp>
      <p:sp>
        <p:nvSpPr>
          <p:cNvPr id="11" name="Rounded Rectangle 10"/>
          <p:cNvSpPr/>
          <p:nvPr/>
        </p:nvSpPr>
        <p:spPr>
          <a:xfrm>
            <a:off x="8412480" y="1993392"/>
            <a:ext cx="2999232" cy="493776"/>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1250" b="1">
                <a:solidFill>
                  <a:srgbClr val="3D4A5C"/>
                </a:solidFill>
                <a:latin typeface="Calibri"/>
              </a:rPr>
              <a:t>Responsive light UI</a:t>
            </a:r>
          </a:p>
        </p:txBody>
      </p:sp>
      <p:sp>
        <p:nvSpPr>
          <p:cNvPr id="12" name="Rounded Rectangle 11"/>
          <p:cNvSpPr/>
          <p:nvPr/>
        </p:nvSpPr>
        <p:spPr>
          <a:xfrm>
            <a:off x="685800" y="2834639"/>
            <a:ext cx="1298448" cy="896112"/>
          </a:xfrm>
          <a:prstGeom prst="roundRect">
            <a:avLst>
              <a:gd name="adj" fmla="val 6000"/>
            </a:avLst>
          </a:prstGeom>
          <a:solidFill>
            <a:srgbClr val="EAF0F8"/>
          </a:solidFill>
          <a:ln>
            <a:noFill/>
          </a:ln>
          <a:effectLst/>
        </p:spPr>
        <p:txBody>
          <a:bodyPr rtlCol="0" anchor="ctr" wrap="square"/>
          <a:lstStyle/>
          <a:p>
            <a:pPr algn="ctr"/>
          </a:p>
        </p:txBody>
      </p:sp>
      <p:sp>
        <p:nvSpPr>
          <p:cNvPr id="13" name="TextBox 12"/>
          <p:cNvSpPr txBox="1"/>
          <p:nvPr/>
        </p:nvSpPr>
        <p:spPr>
          <a:xfrm>
            <a:off x="731520" y="3145535"/>
            <a:ext cx="1207008" cy="274320"/>
          </a:xfrm>
          <a:prstGeom prst="rect">
            <a:avLst/>
          </a:prstGeom>
          <a:noFill/>
        </p:spPr>
        <p:txBody>
          <a:bodyPr wrap="square" anchor="t" lIns="0" rIns="0" tIns="0" bIns="0">
            <a:noAutofit/>
          </a:bodyPr>
          <a:lstStyle/>
          <a:p>
            <a:pPr algn="ctr">
              <a:lnSpc>
                <a:spcPct val="112000"/>
              </a:lnSpc>
              <a:spcAft>
                <a:spcPts val="0"/>
              </a:spcAft>
            </a:pPr>
            <a:r>
              <a:rPr sz="950" b="1" i="0">
                <a:solidFill>
                  <a:srgbClr val="2E5C9A"/>
                </a:solidFill>
                <a:latin typeface="Calibri"/>
              </a:rPr>
              <a:t>DOMAIN</a:t>
            </a:r>
          </a:p>
        </p:txBody>
      </p:sp>
      <p:sp>
        <p:nvSpPr>
          <p:cNvPr id="14" name="Rounded Rectangle 13"/>
          <p:cNvSpPr/>
          <p:nvPr/>
        </p:nvSpPr>
        <p:spPr>
          <a:xfrm>
            <a:off x="2139696" y="3035808"/>
            <a:ext cx="2212848" cy="493776"/>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1250" b="1">
                <a:solidFill>
                  <a:srgbClr val="3D4A5C"/>
                </a:solidFill>
                <a:latin typeface="Calibri"/>
              </a:rPr>
              <a:t>Adaptive planner</a:t>
            </a:r>
          </a:p>
        </p:txBody>
      </p:sp>
      <p:sp>
        <p:nvSpPr>
          <p:cNvPr id="15" name="Rounded Rectangle 14"/>
          <p:cNvSpPr/>
          <p:nvPr/>
        </p:nvSpPr>
        <p:spPr>
          <a:xfrm>
            <a:off x="4489704" y="3035808"/>
            <a:ext cx="2212848" cy="493776"/>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1250" b="1">
                <a:solidFill>
                  <a:srgbClr val="3D4A5C"/>
                </a:solidFill>
                <a:latin typeface="Calibri"/>
              </a:rPr>
              <a:t>SM-2 scheduler</a:t>
            </a:r>
          </a:p>
        </p:txBody>
      </p:sp>
      <p:sp>
        <p:nvSpPr>
          <p:cNvPr id="16" name="Rounded Rectangle 15"/>
          <p:cNvSpPr/>
          <p:nvPr/>
        </p:nvSpPr>
        <p:spPr>
          <a:xfrm>
            <a:off x="6839712" y="3035808"/>
            <a:ext cx="2212848" cy="493776"/>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1250" b="1">
                <a:solidFill>
                  <a:srgbClr val="3D4A5C"/>
                </a:solidFill>
                <a:latin typeface="Calibri"/>
              </a:rPr>
              <a:t>Weakness detector</a:t>
            </a:r>
          </a:p>
        </p:txBody>
      </p:sp>
      <p:sp>
        <p:nvSpPr>
          <p:cNvPr id="17" name="Rounded Rectangle 16"/>
          <p:cNvSpPr/>
          <p:nvPr/>
        </p:nvSpPr>
        <p:spPr>
          <a:xfrm>
            <a:off x="9189720" y="3035808"/>
            <a:ext cx="2212848" cy="493776"/>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1250" b="1">
                <a:solidFill>
                  <a:srgbClr val="3D4A5C"/>
                </a:solidFill>
                <a:latin typeface="Calibri"/>
              </a:rPr>
              <a:t>Gamification</a:t>
            </a:r>
          </a:p>
        </p:txBody>
      </p:sp>
      <p:sp>
        <p:nvSpPr>
          <p:cNvPr id="18" name="Rounded Rectangle 17"/>
          <p:cNvSpPr/>
          <p:nvPr/>
        </p:nvSpPr>
        <p:spPr>
          <a:xfrm>
            <a:off x="685800" y="3877055"/>
            <a:ext cx="1298448" cy="896112"/>
          </a:xfrm>
          <a:prstGeom prst="roundRect">
            <a:avLst>
              <a:gd name="adj" fmla="val 6000"/>
            </a:avLst>
          </a:prstGeom>
          <a:solidFill>
            <a:srgbClr val="FBF3E2"/>
          </a:solidFill>
          <a:ln>
            <a:noFill/>
          </a:ln>
          <a:effectLst/>
        </p:spPr>
        <p:txBody>
          <a:bodyPr rtlCol="0" anchor="ctr" wrap="square"/>
          <a:lstStyle/>
          <a:p>
            <a:pPr algn="ctr"/>
          </a:p>
        </p:txBody>
      </p:sp>
      <p:sp>
        <p:nvSpPr>
          <p:cNvPr id="19" name="TextBox 18"/>
          <p:cNvSpPr txBox="1"/>
          <p:nvPr/>
        </p:nvSpPr>
        <p:spPr>
          <a:xfrm>
            <a:off x="731520" y="4187951"/>
            <a:ext cx="1207008" cy="274320"/>
          </a:xfrm>
          <a:prstGeom prst="rect">
            <a:avLst/>
          </a:prstGeom>
          <a:noFill/>
        </p:spPr>
        <p:txBody>
          <a:bodyPr wrap="square" anchor="t" lIns="0" rIns="0" tIns="0" bIns="0">
            <a:noAutofit/>
          </a:bodyPr>
          <a:lstStyle/>
          <a:p>
            <a:pPr algn="ctr">
              <a:lnSpc>
                <a:spcPct val="112000"/>
              </a:lnSpc>
              <a:spcAft>
                <a:spcPts val="0"/>
              </a:spcAft>
            </a:pPr>
            <a:r>
              <a:rPr sz="950" b="1" i="0">
                <a:solidFill>
                  <a:srgbClr val="B0781C"/>
                </a:solidFill>
                <a:latin typeface="Calibri"/>
              </a:rPr>
              <a:t>SERVICES</a:t>
            </a:r>
          </a:p>
        </p:txBody>
      </p:sp>
      <p:sp>
        <p:nvSpPr>
          <p:cNvPr id="20" name="Rounded Rectangle 19"/>
          <p:cNvSpPr/>
          <p:nvPr/>
        </p:nvSpPr>
        <p:spPr>
          <a:xfrm>
            <a:off x="2139696" y="4078223"/>
            <a:ext cx="4572000" cy="493776"/>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1250" b="1">
                <a:solidFill>
                  <a:srgbClr val="3D4A5C"/>
                </a:solidFill>
                <a:latin typeface="Calibri"/>
              </a:rPr>
              <a:t>AI service  ·  6-model fallback</a:t>
            </a:r>
          </a:p>
        </p:txBody>
      </p:sp>
      <p:sp>
        <p:nvSpPr>
          <p:cNvPr id="21" name="Rounded Rectangle 20"/>
          <p:cNvSpPr/>
          <p:nvPr/>
        </p:nvSpPr>
        <p:spPr>
          <a:xfrm>
            <a:off x="6848856" y="4078223"/>
            <a:ext cx="4572000" cy="493776"/>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1250" b="1">
                <a:solidFill>
                  <a:srgbClr val="3D4A5C"/>
                </a:solidFill>
                <a:latin typeface="Calibri"/>
              </a:rPr>
              <a:t>File parser  ·  PDF / DOCX / OCR</a:t>
            </a:r>
          </a:p>
        </p:txBody>
      </p:sp>
      <p:sp>
        <p:nvSpPr>
          <p:cNvPr id="22" name="Rounded Rectangle 21"/>
          <p:cNvSpPr/>
          <p:nvPr/>
        </p:nvSpPr>
        <p:spPr>
          <a:xfrm>
            <a:off x="685800" y="4919471"/>
            <a:ext cx="1298448" cy="896112"/>
          </a:xfrm>
          <a:prstGeom prst="roundRect">
            <a:avLst>
              <a:gd name="adj" fmla="val 6000"/>
            </a:avLst>
          </a:prstGeom>
          <a:solidFill>
            <a:srgbClr val="E9F4EE"/>
          </a:solidFill>
          <a:ln>
            <a:noFill/>
          </a:ln>
          <a:effectLst/>
        </p:spPr>
        <p:txBody>
          <a:bodyPr rtlCol="0" anchor="ctr" wrap="square"/>
          <a:lstStyle/>
          <a:p>
            <a:pPr algn="ctr"/>
          </a:p>
        </p:txBody>
      </p:sp>
      <p:sp>
        <p:nvSpPr>
          <p:cNvPr id="23" name="TextBox 22"/>
          <p:cNvSpPr txBox="1"/>
          <p:nvPr/>
        </p:nvSpPr>
        <p:spPr>
          <a:xfrm>
            <a:off x="731520" y="5230367"/>
            <a:ext cx="1207008" cy="274320"/>
          </a:xfrm>
          <a:prstGeom prst="rect">
            <a:avLst/>
          </a:prstGeom>
          <a:noFill/>
        </p:spPr>
        <p:txBody>
          <a:bodyPr wrap="square" anchor="t" lIns="0" rIns="0" tIns="0" bIns="0">
            <a:noAutofit/>
          </a:bodyPr>
          <a:lstStyle/>
          <a:p>
            <a:pPr algn="ctr">
              <a:lnSpc>
                <a:spcPct val="112000"/>
              </a:lnSpc>
              <a:spcAft>
                <a:spcPts val="0"/>
              </a:spcAft>
            </a:pPr>
            <a:r>
              <a:rPr sz="950" b="1" i="0">
                <a:solidFill>
                  <a:srgbClr val="2B7A58"/>
                </a:solidFill>
                <a:latin typeface="Calibri"/>
              </a:rPr>
              <a:t>DATA</a:t>
            </a:r>
          </a:p>
        </p:txBody>
      </p:sp>
      <p:sp>
        <p:nvSpPr>
          <p:cNvPr id="24" name="Rounded Rectangle 23"/>
          <p:cNvSpPr/>
          <p:nvPr/>
        </p:nvSpPr>
        <p:spPr>
          <a:xfrm>
            <a:off x="2139696" y="5120639"/>
            <a:ext cx="4937760" cy="493776"/>
          </a:xfrm>
          <a:prstGeom prst="roundRect">
            <a:avLst>
              <a:gd name="adj" fmla="val 14000"/>
            </a:avLst>
          </a:prstGeom>
          <a:solidFill>
            <a:srgbClr val="FFFFFF"/>
          </a:solidFill>
          <a:ln w="9525">
            <a:solidFill>
              <a:srgbClr val="DCE4EA"/>
            </a:solidFill>
          </a:ln>
          <a:effectLst/>
        </p:spPr>
        <p:txBody>
          <a:bodyPr rtlCol="0" anchor="ctr" wrap="square" lIns="54864" rIns="54864" tIns="0" bIns="0"/>
          <a:lstStyle/>
          <a:p>
            <a:pPr algn="ctr"/>
            <a:r>
              <a:rPr sz="1250" b="1">
                <a:solidFill>
                  <a:srgbClr val="3D4A5C"/>
                </a:solidFill>
                <a:latin typeface="Calibri"/>
              </a:rPr>
              <a:t>Dexie / IndexedDB  ·  40 tables</a:t>
            </a:r>
          </a:p>
        </p:txBody>
      </p:sp>
      <p:sp>
        <p:nvSpPr>
          <p:cNvPr id="25" name="Rounded Rectangle 24"/>
          <p:cNvSpPr/>
          <p:nvPr/>
        </p:nvSpPr>
        <p:spPr>
          <a:xfrm>
            <a:off x="7214616" y="5120639"/>
            <a:ext cx="4206240" cy="493776"/>
          </a:xfrm>
          <a:prstGeom prst="roundRect">
            <a:avLst>
              <a:gd name="adj" fmla="val 14000"/>
            </a:avLst>
          </a:prstGeom>
          <a:solidFill>
            <a:srgbClr val="FFFFFF"/>
          </a:solidFill>
          <a:ln w="13970">
            <a:solidFill>
              <a:srgbClr val="2B7A58"/>
            </a:solidFill>
            <a:prstDash val="dash"/>
          </a:ln>
          <a:effectLst/>
        </p:spPr>
        <p:txBody>
          <a:bodyPr rtlCol="0" anchor="ctr" wrap="square" lIns="54864" rIns="54864" tIns="0" bIns="0"/>
          <a:lstStyle/>
          <a:p>
            <a:pPr algn="ctr"/>
            <a:r>
              <a:rPr sz="1250" b="1">
                <a:solidFill>
                  <a:srgbClr val="3D4A5C"/>
                </a:solidFill>
                <a:latin typeface="Calibri"/>
              </a:rPr>
              <a:t>Firebase Auth (optional)</a:t>
            </a:r>
          </a:p>
        </p:txBody>
      </p:sp>
      <p:sp>
        <p:nvSpPr>
          <p:cNvPr id="26" name="TextBox 25"/>
          <p:cNvSpPr txBox="1"/>
          <p:nvPr/>
        </p:nvSpPr>
        <p:spPr>
          <a:xfrm>
            <a:off x="685800" y="5989320"/>
            <a:ext cx="10789920" cy="237744"/>
          </a:xfrm>
          <a:prstGeom prst="rect">
            <a:avLst/>
          </a:prstGeom>
          <a:noFill/>
        </p:spPr>
        <p:txBody>
          <a:bodyPr wrap="square" anchor="t" lIns="0" rIns="0" tIns="0" bIns="0">
            <a:noAutofit/>
          </a:bodyPr>
          <a:lstStyle/>
          <a:p>
            <a:pPr algn="l">
              <a:lnSpc>
                <a:spcPct val="112000"/>
              </a:lnSpc>
              <a:spcAft>
                <a:spcPts val="0"/>
              </a:spcAft>
            </a:pPr>
            <a:r>
              <a:rPr sz="1100" b="0" i="0">
                <a:solidFill>
                  <a:srgbClr val="77859A"/>
                </a:solidFill>
                <a:latin typeface="Calibri"/>
              </a:rPr>
              <a:t>Solid boxes run locally  ·  the dashed box needs the network  ·  no server in the study loop.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47472"/>
            <a:ext cx="822960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06 · METHODOLOGY &amp; ALGORITHM</a:t>
            </a:r>
          </a:p>
        </p:txBody>
      </p:sp>
      <p:sp>
        <p:nvSpPr>
          <p:cNvPr id="3" name="TextBox 2"/>
          <p:cNvSpPr txBox="1"/>
          <p:nvPr/>
        </p:nvSpPr>
        <p:spPr>
          <a:xfrm>
            <a:off x="685800" y="585216"/>
            <a:ext cx="10881360" cy="566928"/>
          </a:xfrm>
          <a:prstGeom prst="rect">
            <a:avLst/>
          </a:prstGeom>
          <a:noFill/>
        </p:spPr>
        <p:txBody>
          <a:bodyPr wrap="square" anchor="t" lIns="0" rIns="0" tIns="0" bIns="0">
            <a:noAutofit/>
          </a:bodyPr>
          <a:lstStyle/>
          <a:p>
            <a:pPr algn="l">
              <a:lnSpc>
                <a:spcPct val="95000"/>
              </a:lnSpc>
              <a:spcAft>
                <a:spcPts val="0"/>
              </a:spcAft>
            </a:pPr>
            <a:r>
              <a:rPr sz="3300" b="1" i="0">
                <a:solidFill>
                  <a:srgbClr val="152238"/>
                </a:solidFill>
                <a:latin typeface="Calibri"/>
              </a:rPr>
              <a:t>From activity to next action</a:t>
            </a:r>
          </a:p>
        </p:txBody>
      </p:sp>
      <p:sp>
        <p:nvSpPr>
          <p:cNvPr id="4" name="TextBox 3"/>
          <p:cNvSpPr txBox="1"/>
          <p:nvPr/>
        </p:nvSpPr>
        <p:spPr>
          <a:xfrm>
            <a:off x="685800" y="1225296"/>
            <a:ext cx="10424160" cy="512064"/>
          </a:xfrm>
          <a:prstGeom prst="rect">
            <a:avLst/>
          </a:prstGeom>
          <a:noFill/>
        </p:spPr>
        <p:txBody>
          <a:bodyPr wrap="square" anchor="t" lIns="0" rIns="0" tIns="0" bIns="0">
            <a:noAutofit/>
          </a:bodyPr>
          <a:lstStyle/>
          <a:p>
            <a:pPr algn="l">
              <a:lnSpc>
                <a:spcPct val="112000"/>
              </a:lnSpc>
              <a:spcAft>
                <a:spcPts val="0"/>
              </a:spcAft>
            </a:pPr>
            <a:r>
              <a:rPr sz="1650" b="0" i="0">
                <a:solidFill>
                  <a:srgbClr val="3D4A5C"/>
                </a:solidFill>
                <a:latin typeface="Calibri"/>
              </a:rPr>
              <a:t>Every study action is scored, and the score changes the plan.</a:t>
            </a:r>
          </a:p>
        </p:txBody>
      </p:sp>
      <p:sp>
        <p:nvSpPr>
          <p:cNvPr id="5" name="TextBox 4"/>
          <p:cNvSpPr txBox="1"/>
          <p:nvPr/>
        </p:nvSpPr>
        <p:spPr>
          <a:xfrm>
            <a:off x="685800" y="6510528"/>
            <a:ext cx="7315200" cy="182880"/>
          </a:xfrm>
          <a:prstGeom prst="rect">
            <a:avLst/>
          </a:prstGeom>
          <a:noFill/>
        </p:spPr>
        <p:txBody>
          <a:bodyPr wrap="square" anchor="t" lIns="0" rIns="0" tIns="0" bIns="0">
            <a:noAutofit/>
          </a:bodyPr>
          <a:lstStyle/>
          <a:p>
            <a:pPr algn="l">
              <a:lnSpc>
                <a:spcPct val="112000"/>
              </a:lnSpc>
              <a:spcAft>
                <a:spcPts val="0"/>
              </a:spcAft>
            </a:pPr>
            <a:r>
              <a:rPr sz="900" b="0" i="0">
                <a:solidFill>
                  <a:srgbClr val="77859A"/>
                </a:solidFill>
                <a:latin typeface="Calibri"/>
              </a:rPr>
              <a:t>StudyMapper  ·  ten-slide overview</a:t>
            </a:r>
          </a:p>
        </p:txBody>
      </p:sp>
      <p:sp>
        <p:nvSpPr>
          <p:cNvPr id="6" name="TextBox 5"/>
          <p:cNvSpPr txBox="1"/>
          <p:nvPr/>
        </p:nvSpPr>
        <p:spPr>
          <a:xfrm>
            <a:off x="10058400" y="6492240"/>
            <a:ext cx="1444752" cy="219456"/>
          </a:xfrm>
          <a:prstGeom prst="rect">
            <a:avLst/>
          </a:prstGeom>
          <a:noFill/>
        </p:spPr>
        <p:txBody>
          <a:bodyPr wrap="square" anchor="t" lIns="0" rIns="0" tIns="0" bIns="0">
            <a:noAutofit/>
          </a:bodyPr>
          <a:lstStyle/>
          <a:p>
            <a:pPr algn="r">
              <a:lnSpc>
                <a:spcPct val="112000"/>
              </a:lnSpc>
              <a:spcAft>
                <a:spcPts val="0"/>
              </a:spcAft>
            </a:pPr>
            <a:r>
              <a:rPr sz="1000" b="1" i="0">
                <a:solidFill>
                  <a:srgbClr val="77859A"/>
                </a:solidFill>
                <a:latin typeface="Calibri"/>
              </a:rPr>
              <a:t>07 / 10</a:t>
            </a:r>
          </a:p>
        </p:txBody>
      </p:sp>
      <p:sp>
        <p:nvSpPr>
          <p:cNvPr id="7" name="Oval 6"/>
          <p:cNvSpPr/>
          <p:nvPr/>
        </p:nvSpPr>
        <p:spPr>
          <a:xfrm>
            <a:off x="685800" y="1828800"/>
            <a:ext cx="493776" cy="493776"/>
          </a:xfrm>
          <a:prstGeom prst="ellipse">
            <a:avLst/>
          </a:prstGeom>
          <a:solidFill>
            <a:srgbClr val="0F7A82"/>
          </a:solidFill>
          <a:ln>
            <a:noFill/>
          </a:ln>
          <a:effectLst/>
        </p:spPr>
        <p:txBody>
          <a:bodyPr rtlCol="0" anchor="ctr" lIns="0" rIns="0" tIns="0" bIns="0"/>
          <a:lstStyle/>
          <a:p>
            <a:pPr algn="ctr"/>
            <a:r>
              <a:rPr sz="1000" b="1">
                <a:solidFill>
                  <a:srgbClr val="FFFFFF"/>
                </a:solidFill>
                <a:latin typeface="Calibri"/>
              </a:rPr>
              <a:t>01</a:t>
            </a:r>
          </a:p>
        </p:txBody>
      </p:sp>
      <p:sp>
        <p:nvSpPr>
          <p:cNvPr id="8" name="Rectangle 7"/>
          <p:cNvSpPr/>
          <p:nvPr/>
        </p:nvSpPr>
        <p:spPr>
          <a:xfrm>
            <a:off x="923544" y="2322576"/>
            <a:ext cx="12801" cy="438912"/>
          </a:xfrm>
          <a:prstGeom prst="rect">
            <a:avLst/>
          </a:prstGeom>
          <a:solidFill>
            <a:srgbClr val="DCE4EA"/>
          </a:solidFill>
          <a:ln>
            <a:noFill/>
          </a:ln>
          <a:effectLst/>
        </p:spPr>
        <p:txBody>
          <a:bodyPr rtlCol="0" anchor="ctr" wrap="square"/>
          <a:lstStyle/>
          <a:p>
            <a:pPr algn="ctr"/>
          </a:p>
        </p:txBody>
      </p:sp>
      <p:sp>
        <p:nvSpPr>
          <p:cNvPr id="9" name="TextBox 8"/>
          <p:cNvSpPr txBox="1"/>
          <p:nvPr/>
        </p:nvSpPr>
        <p:spPr>
          <a:xfrm>
            <a:off x="1389888" y="1847088"/>
            <a:ext cx="4480560" cy="274320"/>
          </a:xfrm>
          <a:prstGeom prst="rect">
            <a:avLst/>
          </a:prstGeom>
          <a:noFill/>
        </p:spPr>
        <p:txBody>
          <a:bodyPr wrap="square" anchor="t" lIns="0" rIns="0" tIns="0" bIns="0">
            <a:noAutofit/>
          </a:bodyPr>
          <a:lstStyle/>
          <a:p>
            <a:pPr algn="l">
              <a:lnSpc>
                <a:spcPct val="112000"/>
              </a:lnSpc>
              <a:spcAft>
                <a:spcPts val="0"/>
              </a:spcAft>
            </a:pPr>
            <a:r>
              <a:rPr sz="1650" b="1" i="0">
                <a:solidFill>
                  <a:srgbClr val="152238"/>
                </a:solidFill>
                <a:latin typeface="Calibri"/>
              </a:rPr>
              <a:t>Log activity</a:t>
            </a:r>
          </a:p>
        </p:txBody>
      </p:sp>
      <p:sp>
        <p:nvSpPr>
          <p:cNvPr id="10" name="TextBox 9"/>
          <p:cNvSpPr txBox="1"/>
          <p:nvPr/>
        </p:nvSpPr>
        <p:spPr>
          <a:xfrm>
            <a:off x="1389888" y="2139696"/>
            <a:ext cx="4480560" cy="384048"/>
          </a:xfrm>
          <a:prstGeom prst="rect">
            <a:avLst/>
          </a:prstGeom>
          <a:noFill/>
        </p:spPr>
        <p:txBody>
          <a:bodyPr wrap="square" anchor="t" lIns="0" rIns="0" tIns="0" bIns="0">
            <a:noAutofit/>
          </a:bodyPr>
          <a:lstStyle/>
          <a:p>
            <a:pPr algn="l">
              <a:lnSpc>
                <a:spcPct val="120000"/>
              </a:lnSpc>
              <a:spcAft>
                <a:spcPts val="0"/>
              </a:spcAft>
            </a:pPr>
            <a:r>
              <a:rPr sz="1200" b="0" i="0">
                <a:solidFill>
                  <a:srgbClr val="77859A"/>
                </a:solidFill>
                <a:latin typeface="Calibri"/>
              </a:rPr>
              <a:t>Attempts, pomodoros, notes and coding runs.</a:t>
            </a:r>
          </a:p>
        </p:txBody>
      </p:sp>
      <p:sp>
        <p:nvSpPr>
          <p:cNvPr id="11" name="Oval 10"/>
          <p:cNvSpPr/>
          <p:nvPr/>
        </p:nvSpPr>
        <p:spPr>
          <a:xfrm>
            <a:off x="685800" y="2761488"/>
            <a:ext cx="493776" cy="493776"/>
          </a:xfrm>
          <a:prstGeom prst="ellipse">
            <a:avLst/>
          </a:prstGeom>
          <a:solidFill>
            <a:srgbClr val="0F7A82"/>
          </a:solidFill>
          <a:ln>
            <a:noFill/>
          </a:ln>
          <a:effectLst/>
        </p:spPr>
        <p:txBody>
          <a:bodyPr rtlCol="0" anchor="ctr" lIns="0" rIns="0" tIns="0" bIns="0"/>
          <a:lstStyle/>
          <a:p>
            <a:pPr algn="ctr"/>
            <a:r>
              <a:rPr sz="1000" b="1">
                <a:solidFill>
                  <a:srgbClr val="FFFFFF"/>
                </a:solidFill>
                <a:latin typeface="Calibri"/>
              </a:rPr>
              <a:t>02</a:t>
            </a:r>
          </a:p>
        </p:txBody>
      </p:sp>
      <p:sp>
        <p:nvSpPr>
          <p:cNvPr id="12" name="Rectangle 11"/>
          <p:cNvSpPr/>
          <p:nvPr/>
        </p:nvSpPr>
        <p:spPr>
          <a:xfrm>
            <a:off x="923544" y="3255264"/>
            <a:ext cx="12801" cy="438912"/>
          </a:xfrm>
          <a:prstGeom prst="rect">
            <a:avLst/>
          </a:prstGeom>
          <a:solidFill>
            <a:srgbClr val="DCE4EA"/>
          </a:solidFill>
          <a:ln>
            <a:noFill/>
          </a:ln>
          <a:effectLst/>
        </p:spPr>
        <p:txBody>
          <a:bodyPr rtlCol="0" anchor="ctr" wrap="square"/>
          <a:lstStyle/>
          <a:p>
            <a:pPr algn="ctr"/>
          </a:p>
        </p:txBody>
      </p:sp>
      <p:sp>
        <p:nvSpPr>
          <p:cNvPr id="13" name="TextBox 12"/>
          <p:cNvSpPr txBox="1"/>
          <p:nvPr/>
        </p:nvSpPr>
        <p:spPr>
          <a:xfrm>
            <a:off x="1389888" y="2779776"/>
            <a:ext cx="4480560" cy="274320"/>
          </a:xfrm>
          <a:prstGeom prst="rect">
            <a:avLst/>
          </a:prstGeom>
          <a:noFill/>
        </p:spPr>
        <p:txBody>
          <a:bodyPr wrap="square" anchor="t" lIns="0" rIns="0" tIns="0" bIns="0">
            <a:noAutofit/>
          </a:bodyPr>
          <a:lstStyle/>
          <a:p>
            <a:pPr algn="l">
              <a:lnSpc>
                <a:spcPct val="112000"/>
              </a:lnSpc>
              <a:spcAft>
                <a:spcPts val="0"/>
              </a:spcAft>
            </a:pPr>
            <a:r>
              <a:rPr sz="1650" b="1" i="0">
                <a:solidFill>
                  <a:srgbClr val="152238"/>
                </a:solidFill>
                <a:latin typeface="Calibri"/>
              </a:rPr>
              <a:t>Score each topic</a:t>
            </a:r>
          </a:p>
        </p:txBody>
      </p:sp>
      <p:sp>
        <p:nvSpPr>
          <p:cNvPr id="14" name="TextBox 13"/>
          <p:cNvSpPr txBox="1"/>
          <p:nvPr/>
        </p:nvSpPr>
        <p:spPr>
          <a:xfrm>
            <a:off x="1389888" y="3072384"/>
            <a:ext cx="4480560" cy="384048"/>
          </a:xfrm>
          <a:prstGeom prst="rect">
            <a:avLst/>
          </a:prstGeom>
          <a:noFill/>
        </p:spPr>
        <p:txBody>
          <a:bodyPr wrap="square" anchor="t" lIns="0" rIns="0" tIns="0" bIns="0">
            <a:noAutofit/>
          </a:bodyPr>
          <a:lstStyle/>
          <a:p>
            <a:pPr algn="l">
              <a:lnSpc>
                <a:spcPct val="120000"/>
              </a:lnSpc>
              <a:spcAft>
                <a:spcPts val="0"/>
              </a:spcAft>
            </a:pPr>
            <a:r>
              <a:rPr sz="1200" b="0" i="0">
                <a:solidFill>
                  <a:srgbClr val="77859A"/>
                </a:solidFill>
                <a:latin typeface="Calibri"/>
              </a:rPr>
              <a:t>A 0–100 weakness score, computed locally.</a:t>
            </a:r>
          </a:p>
        </p:txBody>
      </p:sp>
      <p:sp>
        <p:nvSpPr>
          <p:cNvPr id="15" name="Oval 14"/>
          <p:cNvSpPr/>
          <p:nvPr/>
        </p:nvSpPr>
        <p:spPr>
          <a:xfrm>
            <a:off x="685800" y="3694176"/>
            <a:ext cx="493776" cy="493776"/>
          </a:xfrm>
          <a:prstGeom prst="ellipse">
            <a:avLst/>
          </a:prstGeom>
          <a:solidFill>
            <a:srgbClr val="0F7A82"/>
          </a:solidFill>
          <a:ln>
            <a:noFill/>
          </a:ln>
          <a:effectLst/>
        </p:spPr>
        <p:txBody>
          <a:bodyPr rtlCol="0" anchor="ctr" lIns="0" rIns="0" tIns="0" bIns="0"/>
          <a:lstStyle/>
          <a:p>
            <a:pPr algn="ctr"/>
            <a:r>
              <a:rPr sz="1000" b="1">
                <a:solidFill>
                  <a:srgbClr val="FFFFFF"/>
                </a:solidFill>
                <a:latin typeface="Calibri"/>
              </a:rPr>
              <a:t>03</a:t>
            </a:r>
          </a:p>
        </p:txBody>
      </p:sp>
      <p:sp>
        <p:nvSpPr>
          <p:cNvPr id="16" name="Rectangle 15"/>
          <p:cNvSpPr/>
          <p:nvPr/>
        </p:nvSpPr>
        <p:spPr>
          <a:xfrm>
            <a:off x="923544" y="4187952"/>
            <a:ext cx="12801" cy="438912"/>
          </a:xfrm>
          <a:prstGeom prst="rect">
            <a:avLst/>
          </a:prstGeom>
          <a:solidFill>
            <a:srgbClr val="DCE4EA"/>
          </a:solidFill>
          <a:ln>
            <a:noFill/>
          </a:ln>
          <a:effectLst/>
        </p:spPr>
        <p:txBody>
          <a:bodyPr rtlCol="0" anchor="ctr" wrap="square"/>
          <a:lstStyle/>
          <a:p>
            <a:pPr algn="ctr"/>
          </a:p>
        </p:txBody>
      </p:sp>
      <p:sp>
        <p:nvSpPr>
          <p:cNvPr id="17" name="TextBox 16"/>
          <p:cNvSpPr txBox="1"/>
          <p:nvPr/>
        </p:nvSpPr>
        <p:spPr>
          <a:xfrm>
            <a:off x="1389888" y="3712463"/>
            <a:ext cx="4480560" cy="274320"/>
          </a:xfrm>
          <a:prstGeom prst="rect">
            <a:avLst/>
          </a:prstGeom>
          <a:noFill/>
        </p:spPr>
        <p:txBody>
          <a:bodyPr wrap="square" anchor="t" lIns="0" rIns="0" tIns="0" bIns="0">
            <a:noAutofit/>
          </a:bodyPr>
          <a:lstStyle/>
          <a:p>
            <a:pPr algn="l">
              <a:lnSpc>
                <a:spcPct val="112000"/>
              </a:lnSpc>
              <a:spcAft>
                <a:spcPts val="0"/>
              </a:spcAft>
            </a:pPr>
            <a:r>
              <a:rPr sz="1650" b="1" i="0">
                <a:solidFill>
                  <a:srgbClr val="152238"/>
                </a:solidFill>
                <a:latin typeface="Calibri"/>
              </a:rPr>
              <a:t>Flag the weak</a:t>
            </a:r>
          </a:p>
        </p:txBody>
      </p:sp>
      <p:sp>
        <p:nvSpPr>
          <p:cNvPr id="18" name="TextBox 17"/>
          <p:cNvSpPr txBox="1"/>
          <p:nvPr/>
        </p:nvSpPr>
        <p:spPr>
          <a:xfrm>
            <a:off x="1389888" y="4005072"/>
            <a:ext cx="4480560" cy="384048"/>
          </a:xfrm>
          <a:prstGeom prst="rect">
            <a:avLst/>
          </a:prstGeom>
          <a:noFill/>
        </p:spPr>
        <p:txBody>
          <a:bodyPr wrap="square" anchor="t" lIns="0" rIns="0" tIns="0" bIns="0">
            <a:noAutofit/>
          </a:bodyPr>
          <a:lstStyle/>
          <a:p>
            <a:pPr algn="l">
              <a:lnSpc>
                <a:spcPct val="120000"/>
              </a:lnSpc>
              <a:spcAft>
                <a:spcPts val="0"/>
              </a:spcAft>
            </a:pPr>
            <a:r>
              <a:rPr sz="1200" b="0" i="0">
                <a:solidFill>
                  <a:srgbClr val="77859A"/>
                </a:solidFill>
                <a:latin typeface="Calibri"/>
              </a:rPr>
              <a:t>40 or above, over the last seven days.</a:t>
            </a:r>
          </a:p>
        </p:txBody>
      </p:sp>
      <p:sp>
        <p:nvSpPr>
          <p:cNvPr id="19" name="Oval 18"/>
          <p:cNvSpPr/>
          <p:nvPr/>
        </p:nvSpPr>
        <p:spPr>
          <a:xfrm>
            <a:off x="685800" y="4626864"/>
            <a:ext cx="493776" cy="493776"/>
          </a:xfrm>
          <a:prstGeom prst="ellipse">
            <a:avLst/>
          </a:prstGeom>
          <a:solidFill>
            <a:srgbClr val="0F7A82"/>
          </a:solidFill>
          <a:ln>
            <a:noFill/>
          </a:ln>
          <a:effectLst/>
        </p:spPr>
        <p:txBody>
          <a:bodyPr rtlCol="0" anchor="ctr" lIns="0" rIns="0" tIns="0" bIns="0"/>
          <a:lstStyle/>
          <a:p>
            <a:pPr algn="ctr"/>
            <a:r>
              <a:rPr sz="1000" b="1">
                <a:solidFill>
                  <a:srgbClr val="FFFFFF"/>
                </a:solidFill>
                <a:latin typeface="Calibri"/>
              </a:rPr>
              <a:t>04</a:t>
            </a:r>
          </a:p>
        </p:txBody>
      </p:sp>
      <p:sp>
        <p:nvSpPr>
          <p:cNvPr id="20" name="TextBox 19"/>
          <p:cNvSpPr txBox="1"/>
          <p:nvPr/>
        </p:nvSpPr>
        <p:spPr>
          <a:xfrm>
            <a:off x="1389888" y="4645152"/>
            <a:ext cx="4480560" cy="274320"/>
          </a:xfrm>
          <a:prstGeom prst="rect">
            <a:avLst/>
          </a:prstGeom>
          <a:noFill/>
        </p:spPr>
        <p:txBody>
          <a:bodyPr wrap="square" anchor="t" lIns="0" rIns="0" tIns="0" bIns="0">
            <a:noAutofit/>
          </a:bodyPr>
          <a:lstStyle/>
          <a:p>
            <a:pPr algn="l">
              <a:lnSpc>
                <a:spcPct val="112000"/>
              </a:lnSpc>
              <a:spcAft>
                <a:spcPts val="0"/>
              </a:spcAft>
            </a:pPr>
            <a:r>
              <a:rPr sz="1650" b="1" i="0">
                <a:solidFill>
                  <a:srgbClr val="152238"/>
                </a:solidFill>
                <a:latin typeface="Calibri"/>
              </a:rPr>
              <a:t>Re-plan</a:t>
            </a:r>
          </a:p>
        </p:txBody>
      </p:sp>
      <p:sp>
        <p:nvSpPr>
          <p:cNvPr id="21" name="TextBox 20"/>
          <p:cNvSpPr txBox="1"/>
          <p:nvPr/>
        </p:nvSpPr>
        <p:spPr>
          <a:xfrm>
            <a:off x="1389888" y="4937760"/>
            <a:ext cx="4480560" cy="384048"/>
          </a:xfrm>
          <a:prstGeom prst="rect">
            <a:avLst/>
          </a:prstGeom>
          <a:noFill/>
        </p:spPr>
        <p:txBody>
          <a:bodyPr wrap="square" anchor="t" lIns="0" rIns="0" tIns="0" bIns="0">
            <a:noAutofit/>
          </a:bodyPr>
          <a:lstStyle/>
          <a:p>
            <a:pPr algn="l">
              <a:lnSpc>
                <a:spcPct val="120000"/>
              </a:lnSpc>
              <a:spcAft>
                <a:spcPts val="0"/>
              </a:spcAft>
            </a:pPr>
            <a:r>
              <a:rPr sz="1200" b="0" i="0">
                <a:solidFill>
                  <a:srgbClr val="77859A"/>
                </a:solidFill>
                <a:latin typeface="Calibri"/>
              </a:rPr>
              <a:t>Regenerate the plan from the latest scores.</a:t>
            </a:r>
          </a:p>
        </p:txBody>
      </p:sp>
      <p:sp>
        <p:nvSpPr>
          <p:cNvPr id="22" name="Rounded Rectangle 21"/>
          <p:cNvSpPr/>
          <p:nvPr/>
        </p:nvSpPr>
        <p:spPr>
          <a:xfrm>
            <a:off x="6172200" y="1792224"/>
            <a:ext cx="5349240" cy="3218688"/>
          </a:xfrm>
          <a:prstGeom prst="roundRect">
            <a:avLst>
              <a:gd name="adj" fmla="val 6000"/>
            </a:avLst>
          </a:prstGeom>
          <a:solidFill>
            <a:srgbClr val="F5F8FA"/>
          </a:solidFill>
          <a:ln>
            <a:noFill/>
          </a:ln>
          <a:effectLst/>
        </p:spPr>
        <p:txBody>
          <a:bodyPr rtlCol="0" anchor="ctr" wrap="square"/>
          <a:lstStyle/>
          <a:p>
            <a:pPr algn="ctr"/>
          </a:p>
        </p:txBody>
      </p:sp>
      <p:sp>
        <p:nvSpPr>
          <p:cNvPr id="23" name="TextBox 22"/>
          <p:cNvSpPr txBox="1"/>
          <p:nvPr/>
        </p:nvSpPr>
        <p:spPr>
          <a:xfrm>
            <a:off x="6400800" y="1938528"/>
            <a:ext cx="4846320" cy="201168"/>
          </a:xfrm>
          <a:prstGeom prst="rect">
            <a:avLst/>
          </a:prstGeom>
          <a:noFill/>
        </p:spPr>
        <p:txBody>
          <a:bodyPr wrap="square" anchor="t" lIns="0" rIns="0" tIns="0" bIns="0">
            <a:noAutofit/>
          </a:bodyPr>
          <a:lstStyle/>
          <a:p>
            <a:pPr algn="l">
              <a:lnSpc>
                <a:spcPct val="112000"/>
              </a:lnSpc>
              <a:spcAft>
                <a:spcPts val="0"/>
              </a:spcAft>
            </a:pPr>
            <a:r>
              <a:rPr sz="1000" b="1" i="0">
                <a:solidFill>
                  <a:srgbClr val="0F7A82"/>
                </a:solidFill>
                <a:latin typeface="Calibri"/>
              </a:rPr>
              <a:t>WEAKNESS SCORE</a:t>
            </a:r>
          </a:p>
        </p:txBody>
      </p:sp>
      <p:sp>
        <p:nvSpPr>
          <p:cNvPr id="24" name="TextBox 23"/>
          <p:cNvSpPr txBox="1"/>
          <p:nvPr/>
        </p:nvSpPr>
        <p:spPr>
          <a:xfrm>
            <a:off x="6400800" y="2157984"/>
            <a:ext cx="4892040" cy="274320"/>
          </a:xfrm>
          <a:prstGeom prst="rect">
            <a:avLst/>
          </a:prstGeom>
          <a:noFill/>
        </p:spPr>
        <p:txBody>
          <a:bodyPr wrap="square" anchor="t" lIns="0" rIns="0" tIns="0" bIns="0">
            <a:noAutofit/>
          </a:bodyPr>
          <a:lstStyle/>
          <a:p>
            <a:pPr algn="l">
              <a:lnSpc>
                <a:spcPct val="112000"/>
              </a:lnSpc>
              <a:spcAft>
                <a:spcPts val="0"/>
              </a:spcAft>
            </a:pPr>
            <a:r>
              <a:rPr sz="1500" b="1" i="0">
                <a:solidFill>
                  <a:srgbClr val="152238"/>
                </a:solidFill>
                <a:latin typeface="Calibri"/>
              </a:rPr>
              <a:t>0–100 per topic, clamped</a:t>
            </a:r>
          </a:p>
        </p:txBody>
      </p:sp>
      <p:sp>
        <p:nvSpPr>
          <p:cNvPr id="25" name="TextBox 24"/>
          <p:cNvSpPr txBox="1"/>
          <p:nvPr/>
        </p:nvSpPr>
        <p:spPr>
          <a:xfrm>
            <a:off x="6400800" y="2578608"/>
            <a:ext cx="2084831" cy="237744"/>
          </a:xfrm>
          <a:prstGeom prst="rect">
            <a:avLst/>
          </a:prstGeom>
          <a:noFill/>
        </p:spPr>
        <p:txBody>
          <a:bodyPr wrap="square" anchor="t" lIns="0" rIns="0" tIns="0" bIns="0">
            <a:noAutofit/>
          </a:bodyPr>
          <a:lstStyle/>
          <a:p>
            <a:pPr algn="l">
              <a:lnSpc>
                <a:spcPct val="112000"/>
              </a:lnSpc>
              <a:spcAft>
                <a:spcPts val="0"/>
              </a:spcAft>
            </a:pPr>
            <a:r>
              <a:rPr sz="1250" b="1" i="0">
                <a:solidFill>
                  <a:srgbClr val="A64B39"/>
                </a:solidFill>
                <a:latin typeface="Calibri"/>
              </a:rPr>
              <a:t>+30</a:t>
            </a:r>
          </a:p>
        </p:txBody>
      </p:sp>
      <p:sp>
        <p:nvSpPr>
          <p:cNvPr id="26" name="TextBox 25"/>
          <p:cNvSpPr txBox="1"/>
          <p:nvPr/>
        </p:nvSpPr>
        <p:spPr>
          <a:xfrm>
            <a:off x="8558784" y="2578608"/>
            <a:ext cx="2743200" cy="237744"/>
          </a:xfrm>
          <a:prstGeom prst="rect">
            <a:avLst/>
          </a:prstGeom>
          <a:noFill/>
        </p:spPr>
        <p:txBody>
          <a:bodyPr wrap="square" anchor="t" lIns="0" rIns="0" tIns="0" bIns="0">
            <a:noAutofit/>
          </a:bodyPr>
          <a:lstStyle/>
          <a:p>
            <a:pPr algn="l">
              <a:lnSpc>
                <a:spcPct val="112000"/>
              </a:lnSpc>
              <a:spcAft>
                <a:spcPts val="0"/>
              </a:spcAft>
            </a:pPr>
            <a:r>
              <a:rPr sz="1150" b="0" i="0">
                <a:solidFill>
                  <a:srgbClr val="3D4A5C"/>
                </a:solidFill>
                <a:latin typeface="Calibri"/>
              </a:rPr>
              <a:t>failed coding attempt</a:t>
            </a:r>
          </a:p>
        </p:txBody>
      </p:sp>
      <p:sp>
        <p:nvSpPr>
          <p:cNvPr id="27" name="TextBox 26"/>
          <p:cNvSpPr txBox="1"/>
          <p:nvPr/>
        </p:nvSpPr>
        <p:spPr>
          <a:xfrm>
            <a:off x="6400800" y="2944368"/>
            <a:ext cx="2084831" cy="237744"/>
          </a:xfrm>
          <a:prstGeom prst="rect">
            <a:avLst/>
          </a:prstGeom>
          <a:noFill/>
        </p:spPr>
        <p:txBody>
          <a:bodyPr wrap="square" anchor="t" lIns="0" rIns="0" tIns="0" bIns="0">
            <a:noAutofit/>
          </a:bodyPr>
          <a:lstStyle/>
          <a:p>
            <a:pPr algn="l">
              <a:lnSpc>
                <a:spcPct val="112000"/>
              </a:lnSpc>
              <a:spcAft>
                <a:spcPts val="0"/>
              </a:spcAft>
            </a:pPr>
            <a:r>
              <a:rPr sz="1250" b="1" i="0">
                <a:solidFill>
                  <a:srgbClr val="A64B39"/>
                </a:solidFill>
                <a:latin typeface="Calibri"/>
              </a:rPr>
              <a:t>+0.5 × (100 − accuracy)</a:t>
            </a:r>
          </a:p>
        </p:txBody>
      </p:sp>
      <p:sp>
        <p:nvSpPr>
          <p:cNvPr id="28" name="TextBox 27"/>
          <p:cNvSpPr txBox="1"/>
          <p:nvPr/>
        </p:nvSpPr>
        <p:spPr>
          <a:xfrm>
            <a:off x="8558784" y="2944368"/>
            <a:ext cx="2743200" cy="237744"/>
          </a:xfrm>
          <a:prstGeom prst="rect">
            <a:avLst/>
          </a:prstGeom>
          <a:noFill/>
        </p:spPr>
        <p:txBody>
          <a:bodyPr wrap="square" anchor="t" lIns="0" rIns="0" tIns="0" bIns="0">
            <a:noAutofit/>
          </a:bodyPr>
          <a:lstStyle/>
          <a:p>
            <a:pPr algn="l">
              <a:lnSpc>
                <a:spcPct val="112000"/>
              </a:lnSpc>
              <a:spcAft>
                <a:spcPts val="0"/>
              </a:spcAft>
            </a:pPr>
            <a:r>
              <a:rPr sz="1150" b="0" i="0">
                <a:solidFill>
                  <a:srgbClr val="3D4A5C"/>
                </a:solidFill>
                <a:latin typeface="Calibri"/>
              </a:rPr>
              <a:t>low accuracy, below 60</a:t>
            </a:r>
          </a:p>
        </p:txBody>
      </p:sp>
      <p:sp>
        <p:nvSpPr>
          <p:cNvPr id="29" name="TextBox 28"/>
          <p:cNvSpPr txBox="1"/>
          <p:nvPr/>
        </p:nvSpPr>
        <p:spPr>
          <a:xfrm>
            <a:off x="6400800" y="3310128"/>
            <a:ext cx="2084831" cy="237744"/>
          </a:xfrm>
          <a:prstGeom prst="rect">
            <a:avLst/>
          </a:prstGeom>
          <a:noFill/>
        </p:spPr>
        <p:txBody>
          <a:bodyPr wrap="square" anchor="t" lIns="0" rIns="0" tIns="0" bIns="0">
            <a:noAutofit/>
          </a:bodyPr>
          <a:lstStyle/>
          <a:p>
            <a:pPr algn="l">
              <a:lnSpc>
                <a:spcPct val="112000"/>
              </a:lnSpc>
              <a:spcAft>
                <a:spcPts val="0"/>
              </a:spcAft>
            </a:pPr>
            <a:r>
              <a:rPr sz="1250" b="1" i="0">
                <a:solidFill>
                  <a:srgbClr val="B0781C"/>
                </a:solidFill>
                <a:latin typeface="Calibri"/>
              </a:rPr>
              <a:t>+10</a:t>
            </a:r>
          </a:p>
        </p:txBody>
      </p:sp>
      <p:sp>
        <p:nvSpPr>
          <p:cNvPr id="30" name="TextBox 29"/>
          <p:cNvSpPr txBox="1"/>
          <p:nvPr/>
        </p:nvSpPr>
        <p:spPr>
          <a:xfrm>
            <a:off x="8558784" y="3310128"/>
            <a:ext cx="2743200" cy="237744"/>
          </a:xfrm>
          <a:prstGeom prst="rect">
            <a:avLst/>
          </a:prstGeom>
          <a:noFill/>
        </p:spPr>
        <p:txBody>
          <a:bodyPr wrap="square" anchor="t" lIns="0" rIns="0" tIns="0" bIns="0">
            <a:noAutofit/>
          </a:bodyPr>
          <a:lstStyle/>
          <a:p>
            <a:pPr algn="l">
              <a:lnSpc>
                <a:spcPct val="112000"/>
              </a:lnSpc>
              <a:spcAft>
                <a:spcPts val="0"/>
              </a:spcAft>
            </a:pPr>
            <a:r>
              <a:rPr sz="1150" b="0" i="0">
                <a:solidFill>
                  <a:srgbClr val="3D4A5C"/>
                </a:solidFill>
                <a:latin typeface="Calibri"/>
              </a:rPr>
              <a:t>completed pomodoro</a:t>
            </a:r>
          </a:p>
        </p:txBody>
      </p:sp>
      <p:sp>
        <p:nvSpPr>
          <p:cNvPr id="31" name="TextBox 30"/>
          <p:cNvSpPr txBox="1"/>
          <p:nvPr/>
        </p:nvSpPr>
        <p:spPr>
          <a:xfrm>
            <a:off x="6400800" y="3675887"/>
            <a:ext cx="2084831" cy="237744"/>
          </a:xfrm>
          <a:prstGeom prst="rect">
            <a:avLst/>
          </a:prstGeom>
          <a:noFill/>
        </p:spPr>
        <p:txBody>
          <a:bodyPr wrap="square" anchor="t" lIns="0" rIns="0" tIns="0" bIns="0">
            <a:noAutofit/>
          </a:bodyPr>
          <a:lstStyle/>
          <a:p>
            <a:pPr algn="l">
              <a:lnSpc>
                <a:spcPct val="112000"/>
              </a:lnSpc>
              <a:spcAft>
                <a:spcPts val="0"/>
              </a:spcAft>
            </a:pPr>
            <a:r>
              <a:rPr sz="1250" b="1" i="0">
                <a:solidFill>
                  <a:srgbClr val="2B7A58"/>
                </a:solidFill>
                <a:latin typeface="Calibri"/>
              </a:rPr>
              <a:t>−20</a:t>
            </a:r>
          </a:p>
        </p:txBody>
      </p:sp>
      <p:sp>
        <p:nvSpPr>
          <p:cNvPr id="32" name="TextBox 31"/>
          <p:cNvSpPr txBox="1"/>
          <p:nvPr/>
        </p:nvSpPr>
        <p:spPr>
          <a:xfrm>
            <a:off x="8558784" y="3675887"/>
            <a:ext cx="2743200" cy="237744"/>
          </a:xfrm>
          <a:prstGeom prst="rect">
            <a:avLst/>
          </a:prstGeom>
          <a:noFill/>
        </p:spPr>
        <p:txBody>
          <a:bodyPr wrap="square" anchor="t" lIns="0" rIns="0" tIns="0" bIns="0">
            <a:noAutofit/>
          </a:bodyPr>
          <a:lstStyle/>
          <a:p>
            <a:pPr algn="l">
              <a:lnSpc>
                <a:spcPct val="112000"/>
              </a:lnSpc>
              <a:spcAft>
                <a:spcPts val="0"/>
              </a:spcAft>
            </a:pPr>
            <a:r>
              <a:rPr sz="1150" b="0" i="0">
                <a:solidFill>
                  <a:srgbClr val="3D4A5C"/>
                </a:solidFill>
                <a:latin typeface="Calibri"/>
              </a:rPr>
              <a:t>successful coding attempt</a:t>
            </a:r>
          </a:p>
        </p:txBody>
      </p:sp>
      <p:sp>
        <p:nvSpPr>
          <p:cNvPr id="33" name="TextBox 32"/>
          <p:cNvSpPr txBox="1"/>
          <p:nvPr/>
        </p:nvSpPr>
        <p:spPr>
          <a:xfrm>
            <a:off x="6400800" y="4041648"/>
            <a:ext cx="2084831" cy="237744"/>
          </a:xfrm>
          <a:prstGeom prst="rect">
            <a:avLst/>
          </a:prstGeom>
          <a:noFill/>
        </p:spPr>
        <p:txBody>
          <a:bodyPr wrap="square" anchor="t" lIns="0" rIns="0" tIns="0" bIns="0">
            <a:noAutofit/>
          </a:bodyPr>
          <a:lstStyle/>
          <a:p>
            <a:pPr algn="l">
              <a:lnSpc>
                <a:spcPct val="112000"/>
              </a:lnSpc>
              <a:spcAft>
                <a:spcPts val="0"/>
              </a:spcAft>
            </a:pPr>
            <a:r>
              <a:rPr sz="1250" b="1" i="0">
                <a:solidFill>
                  <a:srgbClr val="2B7A58"/>
                </a:solidFill>
                <a:latin typeface="Calibri"/>
              </a:rPr>
              <a:t>−10</a:t>
            </a:r>
          </a:p>
        </p:txBody>
      </p:sp>
      <p:sp>
        <p:nvSpPr>
          <p:cNvPr id="34" name="TextBox 33"/>
          <p:cNvSpPr txBox="1"/>
          <p:nvPr/>
        </p:nvSpPr>
        <p:spPr>
          <a:xfrm>
            <a:off x="8558784" y="4041648"/>
            <a:ext cx="2743200" cy="237744"/>
          </a:xfrm>
          <a:prstGeom prst="rect">
            <a:avLst/>
          </a:prstGeom>
          <a:noFill/>
        </p:spPr>
        <p:txBody>
          <a:bodyPr wrap="square" anchor="t" lIns="0" rIns="0" tIns="0" bIns="0">
            <a:noAutofit/>
          </a:bodyPr>
          <a:lstStyle/>
          <a:p>
            <a:pPr algn="l">
              <a:lnSpc>
                <a:spcPct val="112000"/>
              </a:lnSpc>
              <a:spcAft>
                <a:spcPts val="0"/>
              </a:spcAft>
            </a:pPr>
            <a:r>
              <a:rPr sz="1150" b="0" i="0">
                <a:solidFill>
                  <a:srgbClr val="3D4A5C"/>
                </a:solidFill>
                <a:latin typeface="Calibri"/>
              </a:rPr>
              <a:t>notes generated</a:t>
            </a:r>
          </a:p>
        </p:txBody>
      </p:sp>
      <p:sp>
        <p:nvSpPr>
          <p:cNvPr id="35" name="TextBox 34"/>
          <p:cNvSpPr txBox="1"/>
          <p:nvPr/>
        </p:nvSpPr>
        <p:spPr>
          <a:xfrm>
            <a:off x="6400800" y="4498848"/>
            <a:ext cx="4846320" cy="219456"/>
          </a:xfrm>
          <a:prstGeom prst="rect">
            <a:avLst/>
          </a:prstGeom>
          <a:noFill/>
        </p:spPr>
        <p:txBody>
          <a:bodyPr wrap="square" anchor="t" lIns="0" rIns="0" tIns="0" bIns="0">
            <a:noAutofit/>
          </a:bodyPr>
          <a:lstStyle/>
          <a:p>
            <a:pPr algn="l">
              <a:lnSpc>
                <a:spcPct val="112000"/>
              </a:lnSpc>
              <a:spcAft>
                <a:spcPts val="0"/>
              </a:spcAft>
            </a:pPr>
            <a:r>
              <a:rPr sz="1100" b="0" i="1">
                <a:solidFill>
                  <a:srgbClr val="77859A"/>
                </a:solidFill>
                <a:latin typeface="Calibri"/>
              </a:rPr>
              <a:t>Flagged as a weakness at 40 or above.</a:t>
            </a:r>
          </a:p>
        </p:txBody>
      </p:sp>
      <p:sp>
        <p:nvSpPr>
          <p:cNvPr id="36" name="Rounded Rectangle 35"/>
          <p:cNvSpPr/>
          <p:nvPr/>
        </p:nvSpPr>
        <p:spPr>
          <a:xfrm>
            <a:off x="6172200" y="5193792"/>
            <a:ext cx="5349240" cy="713232"/>
          </a:xfrm>
          <a:prstGeom prst="roundRect">
            <a:avLst>
              <a:gd name="adj" fmla="val 6000"/>
            </a:avLst>
          </a:prstGeom>
          <a:solidFill>
            <a:srgbClr val="EAF0F8"/>
          </a:solidFill>
          <a:ln>
            <a:noFill/>
          </a:ln>
          <a:effectLst/>
        </p:spPr>
        <p:txBody>
          <a:bodyPr rtlCol="0" anchor="ctr" wrap="square"/>
          <a:lstStyle/>
          <a:p>
            <a:pPr algn="ctr"/>
          </a:p>
        </p:txBody>
      </p:sp>
      <p:sp>
        <p:nvSpPr>
          <p:cNvPr id="37" name="TextBox 36"/>
          <p:cNvSpPr txBox="1"/>
          <p:nvPr/>
        </p:nvSpPr>
        <p:spPr>
          <a:xfrm>
            <a:off x="6400800" y="5303520"/>
            <a:ext cx="914400" cy="201168"/>
          </a:xfrm>
          <a:prstGeom prst="rect">
            <a:avLst/>
          </a:prstGeom>
          <a:noFill/>
        </p:spPr>
        <p:txBody>
          <a:bodyPr wrap="square" anchor="t" lIns="0" rIns="0" tIns="0" bIns="0">
            <a:noAutofit/>
          </a:bodyPr>
          <a:lstStyle/>
          <a:p>
            <a:pPr algn="l">
              <a:lnSpc>
                <a:spcPct val="112000"/>
              </a:lnSpc>
              <a:spcAft>
                <a:spcPts val="0"/>
              </a:spcAft>
            </a:pPr>
            <a:r>
              <a:rPr sz="1000" b="1" i="0">
                <a:solidFill>
                  <a:srgbClr val="2E5C9A"/>
                </a:solidFill>
                <a:latin typeface="Calibri"/>
              </a:rPr>
              <a:t>SM-2</a:t>
            </a:r>
          </a:p>
        </p:txBody>
      </p:sp>
      <p:sp>
        <p:nvSpPr>
          <p:cNvPr id="38" name="TextBox 37"/>
          <p:cNvSpPr txBox="1"/>
          <p:nvPr/>
        </p:nvSpPr>
        <p:spPr>
          <a:xfrm>
            <a:off x="7004304" y="5285232"/>
            <a:ext cx="4389120" cy="256032"/>
          </a:xfrm>
          <a:prstGeom prst="rect">
            <a:avLst/>
          </a:prstGeom>
          <a:noFill/>
        </p:spPr>
        <p:txBody>
          <a:bodyPr wrap="square" anchor="t" lIns="0" rIns="0" tIns="0" bIns="0">
            <a:noAutofit/>
          </a:bodyPr>
          <a:lstStyle/>
          <a:p>
            <a:pPr algn="l">
              <a:lnSpc>
                <a:spcPct val="112000"/>
              </a:lnSpc>
              <a:spcAft>
                <a:spcPts val="0"/>
              </a:spcAft>
            </a:pPr>
            <a:r>
              <a:rPr sz="1300" b="1" i="0">
                <a:solidFill>
                  <a:srgbClr val="152238"/>
                </a:solidFill>
                <a:latin typeface="Calibri"/>
              </a:rPr>
              <a:t>interval  ←  interval × ease factor</a:t>
            </a:r>
          </a:p>
        </p:txBody>
      </p:sp>
      <p:sp>
        <p:nvSpPr>
          <p:cNvPr id="39" name="TextBox 38"/>
          <p:cNvSpPr txBox="1"/>
          <p:nvPr/>
        </p:nvSpPr>
        <p:spPr>
          <a:xfrm>
            <a:off x="685800" y="5577840"/>
            <a:ext cx="5212080" cy="457200"/>
          </a:xfrm>
          <a:prstGeom prst="rect">
            <a:avLst/>
          </a:prstGeom>
          <a:noFill/>
        </p:spPr>
        <p:txBody>
          <a:bodyPr wrap="square" anchor="t" lIns="0" rIns="0" tIns="0" bIns="0">
            <a:noAutofit/>
          </a:bodyPr>
          <a:lstStyle/>
          <a:p>
            <a:pPr algn="l">
              <a:lnSpc>
                <a:spcPct val="120000"/>
              </a:lnSpc>
              <a:spcAft>
                <a:spcPts val="0"/>
              </a:spcAft>
            </a:pPr>
            <a:r>
              <a:rPr sz="1250" b="1" i="0">
                <a:solidFill>
                  <a:srgbClr val="0A565C"/>
                </a:solidFill>
                <a:latin typeface="Calibri"/>
              </a:rPr>
              <a:t>Fixed weights, inspectable rules — no training, no black box.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47472"/>
            <a:ext cx="822960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07 · IMPLEMENTATION</a:t>
            </a:r>
          </a:p>
        </p:txBody>
      </p:sp>
      <p:sp>
        <p:nvSpPr>
          <p:cNvPr id="3" name="TextBox 2"/>
          <p:cNvSpPr txBox="1"/>
          <p:nvPr/>
        </p:nvSpPr>
        <p:spPr>
          <a:xfrm>
            <a:off x="685800" y="585216"/>
            <a:ext cx="10881360" cy="566928"/>
          </a:xfrm>
          <a:prstGeom prst="rect">
            <a:avLst/>
          </a:prstGeom>
          <a:noFill/>
        </p:spPr>
        <p:txBody>
          <a:bodyPr wrap="square" anchor="t" lIns="0" rIns="0" tIns="0" bIns="0">
            <a:noAutofit/>
          </a:bodyPr>
          <a:lstStyle/>
          <a:p>
            <a:pPr algn="l">
              <a:lnSpc>
                <a:spcPct val="95000"/>
              </a:lnSpc>
              <a:spcAft>
                <a:spcPts val="0"/>
              </a:spcAft>
            </a:pPr>
            <a:r>
              <a:rPr sz="3300" b="1" i="0">
                <a:solidFill>
                  <a:srgbClr val="152238"/>
                </a:solidFill>
                <a:latin typeface="Calibri"/>
              </a:rPr>
              <a:t>A browser app, not a server stack</a:t>
            </a:r>
          </a:p>
        </p:txBody>
      </p:sp>
      <p:sp>
        <p:nvSpPr>
          <p:cNvPr id="4" name="TextBox 3"/>
          <p:cNvSpPr txBox="1"/>
          <p:nvPr/>
        </p:nvSpPr>
        <p:spPr>
          <a:xfrm>
            <a:off x="685800" y="1225296"/>
            <a:ext cx="10424160" cy="512064"/>
          </a:xfrm>
          <a:prstGeom prst="rect">
            <a:avLst/>
          </a:prstGeom>
          <a:noFill/>
        </p:spPr>
        <p:txBody>
          <a:bodyPr wrap="square" anchor="t" lIns="0" rIns="0" tIns="0" bIns="0">
            <a:noAutofit/>
          </a:bodyPr>
          <a:lstStyle/>
          <a:p>
            <a:pPr algn="l">
              <a:lnSpc>
                <a:spcPct val="112000"/>
              </a:lnSpc>
              <a:spcAft>
                <a:spcPts val="0"/>
              </a:spcAft>
            </a:pPr>
            <a:r>
              <a:rPr sz="1650" b="0" i="0">
                <a:solidFill>
                  <a:srgbClr val="3D4A5C"/>
                </a:solidFill>
                <a:latin typeface="Calibri"/>
              </a:rPr>
              <a:t>Four groups of tools, chosen to keep the loop small and free to run.</a:t>
            </a:r>
          </a:p>
        </p:txBody>
      </p:sp>
      <p:sp>
        <p:nvSpPr>
          <p:cNvPr id="5" name="TextBox 4"/>
          <p:cNvSpPr txBox="1"/>
          <p:nvPr/>
        </p:nvSpPr>
        <p:spPr>
          <a:xfrm>
            <a:off x="685800" y="6510528"/>
            <a:ext cx="7315200" cy="182880"/>
          </a:xfrm>
          <a:prstGeom prst="rect">
            <a:avLst/>
          </a:prstGeom>
          <a:noFill/>
        </p:spPr>
        <p:txBody>
          <a:bodyPr wrap="square" anchor="t" lIns="0" rIns="0" tIns="0" bIns="0">
            <a:noAutofit/>
          </a:bodyPr>
          <a:lstStyle/>
          <a:p>
            <a:pPr algn="l">
              <a:lnSpc>
                <a:spcPct val="112000"/>
              </a:lnSpc>
              <a:spcAft>
                <a:spcPts val="0"/>
              </a:spcAft>
            </a:pPr>
            <a:r>
              <a:rPr sz="900" b="0" i="0">
                <a:solidFill>
                  <a:srgbClr val="77859A"/>
                </a:solidFill>
                <a:latin typeface="Calibri"/>
              </a:rPr>
              <a:t>StudyMapper  ·  ten-slide overview</a:t>
            </a:r>
          </a:p>
        </p:txBody>
      </p:sp>
      <p:sp>
        <p:nvSpPr>
          <p:cNvPr id="6" name="TextBox 5"/>
          <p:cNvSpPr txBox="1"/>
          <p:nvPr/>
        </p:nvSpPr>
        <p:spPr>
          <a:xfrm>
            <a:off x="10058400" y="6492240"/>
            <a:ext cx="1444752" cy="219456"/>
          </a:xfrm>
          <a:prstGeom prst="rect">
            <a:avLst/>
          </a:prstGeom>
          <a:noFill/>
        </p:spPr>
        <p:txBody>
          <a:bodyPr wrap="square" anchor="t" lIns="0" rIns="0" tIns="0" bIns="0">
            <a:noAutofit/>
          </a:bodyPr>
          <a:lstStyle/>
          <a:p>
            <a:pPr algn="r">
              <a:lnSpc>
                <a:spcPct val="112000"/>
              </a:lnSpc>
              <a:spcAft>
                <a:spcPts val="0"/>
              </a:spcAft>
            </a:pPr>
            <a:r>
              <a:rPr sz="1000" b="1" i="0">
                <a:solidFill>
                  <a:srgbClr val="77859A"/>
                </a:solidFill>
                <a:latin typeface="Calibri"/>
              </a:rPr>
              <a:t>08 / 10</a:t>
            </a:r>
          </a:p>
        </p:txBody>
      </p:sp>
      <p:sp>
        <p:nvSpPr>
          <p:cNvPr id="7" name="Oval 6"/>
          <p:cNvSpPr/>
          <p:nvPr/>
        </p:nvSpPr>
        <p:spPr>
          <a:xfrm>
            <a:off x="685800" y="1792224"/>
            <a:ext cx="566928" cy="566928"/>
          </a:xfrm>
          <a:prstGeom prst="ellipse">
            <a:avLst/>
          </a:prstGeom>
          <a:solidFill>
            <a:srgbClr val="E6F2F2"/>
          </a:solidFill>
          <a:ln>
            <a:noFill/>
          </a:ln>
          <a:effectLst/>
        </p:spPr>
        <p:txBody>
          <a:bodyPr rtlCol="0" anchor="ctr" lIns="0" rIns="0" tIns="0" bIns="0"/>
          <a:lstStyle/>
          <a:p>
            <a:pPr algn="ctr"/>
            <a:r>
              <a:rPr sz="1200" b="1">
                <a:solidFill>
                  <a:srgbClr val="0F7A82"/>
                </a:solidFill>
                <a:latin typeface="Calibri"/>
              </a:rPr>
              <a:t>UI</a:t>
            </a:r>
          </a:p>
        </p:txBody>
      </p:sp>
      <p:sp>
        <p:nvSpPr>
          <p:cNvPr id="8" name="TextBox 7"/>
          <p:cNvSpPr txBox="1"/>
          <p:nvPr/>
        </p:nvSpPr>
        <p:spPr>
          <a:xfrm>
            <a:off x="685800" y="2487168"/>
            <a:ext cx="2606040" cy="274320"/>
          </a:xfrm>
          <a:prstGeom prst="rect">
            <a:avLst/>
          </a:prstGeom>
          <a:noFill/>
        </p:spPr>
        <p:txBody>
          <a:bodyPr wrap="square" anchor="t" lIns="0" rIns="0" tIns="0" bIns="0">
            <a:noAutofit/>
          </a:bodyPr>
          <a:lstStyle/>
          <a:p>
            <a:pPr algn="l">
              <a:lnSpc>
                <a:spcPct val="112000"/>
              </a:lnSpc>
              <a:spcAft>
                <a:spcPts val="0"/>
              </a:spcAft>
            </a:pPr>
            <a:r>
              <a:rPr sz="1600" b="1" i="0">
                <a:solidFill>
                  <a:srgbClr val="152238"/>
                </a:solidFill>
                <a:latin typeface="Calibri"/>
              </a:rPr>
              <a:t>Interface</a:t>
            </a:r>
          </a:p>
        </p:txBody>
      </p:sp>
      <p:sp>
        <p:nvSpPr>
          <p:cNvPr id="9" name="TextBox 8"/>
          <p:cNvSpPr txBox="1"/>
          <p:nvPr/>
        </p:nvSpPr>
        <p:spPr>
          <a:xfrm>
            <a:off x="685800" y="28895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React 19</a:t>
            </a:r>
          </a:p>
        </p:txBody>
      </p:sp>
      <p:sp>
        <p:nvSpPr>
          <p:cNvPr id="10" name="TextBox 9"/>
          <p:cNvSpPr txBox="1"/>
          <p:nvPr/>
        </p:nvSpPr>
        <p:spPr>
          <a:xfrm>
            <a:off x="685800" y="33467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Vite</a:t>
            </a:r>
          </a:p>
        </p:txBody>
      </p:sp>
      <p:sp>
        <p:nvSpPr>
          <p:cNvPr id="11" name="TextBox 10"/>
          <p:cNvSpPr txBox="1"/>
          <p:nvPr/>
        </p:nvSpPr>
        <p:spPr>
          <a:xfrm>
            <a:off x="685800" y="38039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React Router</a:t>
            </a:r>
          </a:p>
        </p:txBody>
      </p:sp>
      <p:sp>
        <p:nvSpPr>
          <p:cNvPr id="12" name="TextBox 11"/>
          <p:cNvSpPr txBox="1"/>
          <p:nvPr/>
        </p:nvSpPr>
        <p:spPr>
          <a:xfrm>
            <a:off x="685800" y="4297680"/>
            <a:ext cx="2468880" cy="457200"/>
          </a:xfrm>
          <a:prstGeom prst="rect">
            <a:avLst/>
          </a:prstGeom>
          <a:noFill/>
        </p:spPr>
        <p:txBody>
          <a:bodyPr wrap="square" anchor="t" lIns="0" rIns="0" tIns="0" bIns="0">
            <a:noAutofit/>
          </a:bodyPr>
          <a:lstStyle/>
          <a:p>
            <a:pPr algn="l">
              <a:lnSpc>
                <a:spcPct val="120000"/>
              </a:lnSpc>
              <a:spcAft>
                <a:spcPts val="0"/>
              </a:spcAft>
            </a:pPr>
            <a:r>
              <a:rPr sz="1100" b="0" i="1">
                <a:solidFill>
                  <a:srgbClr val="77859A"/>
                </a:solidFill>
                <a:latin typeface="Calibri"/>
              </a:rPr>
              <a:t>Fast feedback for a small team.</a:t>
            </a:r>
          </a:p>
        </p:txBody>
      </p:sp>
      <p:sp>
        <p:nvSpPr>
          <p:cNvPr id="13" name="Rectangle 12"/>
          <p:cNvSpPr/>
          <p:nvPr/>
        </p:nvSpPr>
        <p:spPr>
          <a:xfrm>
            <a:off x="3337560" y="1810512"/>
            <a:ext cx="7315" cy="2834640"/>
          </a:xfrm>
          <a:prstGeom prst="rect">
            <a:avLst/>
          </a:prstGeom>
          <a:solidFill>
            <a:srgbClr val="DCE4EA"/>
          </a:solidFill>
          <a:ln>
            <a:noFill/>
          </a:ln>
          <a:effectLst/>
        </p:spPr>
        <p:txBody>
          <a:bodyPr rtlCol="0" anchor="ctr" wrap="square"/>
          <a:lstStyle/>
          <a:p>
            <a:pPr algn="ctr"/>
          </a:p>
        </p:txBody>
      </p:sp>
      <p:sp>
        <p:nvSpPr>
          <p:cNvPr id="14" name="Oval 13"/>
          <p:cNvSpPr/>
          <p:nvPr/>
        </p:nvSpPr>
        <p:spPr>
          <a:xfrm>
            <a:off x="3456432" y="1792224"/>
            <a:ext cx="566928" cy="566928"/>
          </a:xfrm>
          <a:prstGeom prst="ellipse">
            <a:avLst/>
          </a:prstGeom>
          <a:solidFill>
            <a:srgbClr val="EAF0F8"/>
          </a:solidFill>
          <a:ln>
            <a:noFill/>
          </a:ln>
          <a:effectLst/>
        </p:spPr>
        <p:txBody>
          <a:bodyPr rtlCol="0" anchor="ctr" lIns="0" rIns="0" tIns="0" bIns="0"/>
          <a:lstStyle/>
          <a:p>
            <a:pPr algn="ctr"/>
            <a:r>
              <a:rPr sz="1200" b="1">
                <a:solidFill>
                  <a:srgbClr val="2E5C9A"/>
                </a:solidFill>
                <a:latin typeface="Calibri"/>
              </a:rPr>
              <a:t>AI</a:t>
            </a:r>
          </a:p>
        </p:txBody>
      </p:sp>
      <p:sp>
        <p:nvSpPr>
          <p:cNvPr id="15" name="TextBox 14"/>
          <p:cNvSpPr txBox="1"/>
          <p:nvPr/>
        </p:nvSpPr>
        <p:spPr>
          <a:xfrm>
            <a:off x="3456432" y="2487168"/>
            <a:ext cx="2606040" cy="274320"/>
          </a:xfrm>
          <a:prstGeom prst="rect">
            <a:avLst/>
          </a:prstGeom>
          <a:noFill/>
        </p:spPr>
        <p:txBody>
          <a:bodyPr wrap="square" anchor="t" lIns="0" rIns="0" tIns="0" bIns="0">
            <a:noAutofit/>
          </a:bodyPr>
          <a:lstStyle/>
          <a:p>
            <a:pPr algn="l">
              <a:lnSpc>
                <a:spcPct val="112000"/>
              </a:lnSpc>
              <a:spcAft>
                <a:spcPts val="0"/>
              </a:spcAft>
            </a:pPr>
            <a:r>
              <a:rPr sz="1600" b="1" i="0">
                <a:solidFill>
                  <a:srgbClr val="152238"/>
                </a:solidFill>
                <a:latin typeface="Calibri"/>
              </a:rPr>
              <a:t>Intelligence</a:t>
            </a:r>
          </a:p>
        </p:txBody>
      </p:sp>
      <p:sp>
        <p:nvSpPr>
          <p:cNvPr id="16" name="TextBox 15"/>
          <p:cNvSpPr txBox="1"/>
          <p:nvPr/>
        </p:nvSpPr>
        <p:spPr>
          <a:xfrm>
            <a:off x="3456432" y="28895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OpenRouter</a:t>
            </a:r>
          </a:p>
        </p:txBody>
      </p:sp>
      <p:sp>
        <p:nvSpPr>
          <p:cNvPr id="17" name="TextBox 16"/>
          <p:cNvSpPr txBox="1"/>
          <p:nvPr/>
        </p:nvSpPr>
        <p:spPr>
          <a:xfrm>
            <a:off x="3456432" y="33467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Pyodide</a:t>
            </a:r>
          </a:p>
        </p:txBody>
      </p:sp>
      <p:sp>
        <p:nvSpPr>
          <p:cNvPr id="18" name="TextBox 17"/>
          <p:cNvSpPr txBox="1"/>
          <p:nvPr/>
        </p:nvSpPr>
        <p:spPr>
          <a:xfrm>
            <a:off x="3456432" y="38039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Mermaid · KaTeX</a:t>
            </a:r>
          </a:p>
        </p:txBody>
      </p:sp>
      <p:sp>
        <p:nvSpPr>
          <p:cNvPr id="19" name="TextBox 18"/>
          <p:cNvSpPr txBox="1"/>
          <p:nvPr/>
        </p:nvSpPr>
        <p:spPr>
          <a:xfrm>
            <a:off x="3456432" y="4297680"/>
            <a:ext cx="2468880" cy="457200"/>
          </a:xfrm>
          <a:prstGeom prst="rect">
            <a:avLst/>
          </a:prstGeom>
          <a:noFill/>
        </p:spPr>
        <p:txBody>
          <a:bodyPr wrap="square" anchor="t" lIns="0" rIns="0" tIns="0" bIns="0">
            <a:noAutofit/>
          </a:bodyPr>
          <a:lstStyle/>
          <a:p>
            <a:pPr algn="l">
              <a:lnSpc>
                <a:spcPct val="120000"/>
              </a:lnSpc>
              <a:spcAft>
                <a:spcPts val="0"/>
              </a:spcAft>
            </a:pPr>
            <a:r>
              <a:rPr sz="1100" b="0" i="1">
                <a:solidFill>
                  <a:srgbClr val="77859A"/>
                </a:solidFill>
                <a:latin typeface="Calibri"/>
              </a:rPr>
              <a:t>No model training or hosting.</a:t>
            </a:r>
          </a:p>
        </p:txBody>
      </p:sp>
      <p:sp>
        <p:nvSpPr>
          <p:cNvPr id="20" name="Rectangle 19"/>
          <p:cNvSpPr/>
          <p:nvPr/>
        </p:nvSpPr>
        <p:spPr>
          <a:xfrm>
            <a:off x="6108192" y="1810512"/>
            <a:ext cx="7315" cy="2834640"/>
          </a:xfrm>
          <a:prstGeom prst="rect">
            <a:avLst/>
          </a:prstGeom>
          <a:solidFill>
            <a:srgbClr val="DCE4EA"/>
          </a:solidFill>
          <a:ln>
            <a:noFill/>
          </a:ln>
          <a:effectLst/>
        </p:spPr>
        <p:txBody>
          <a:bodyPr rtlCol="0" anchor="ctr" wrap="square"/>
          <a:lstStyle/>
          <a:p>
            <a:pPr algn="ctr"/>
          </a:p>
        </p:txBody>
      </p:sp>
      <p:sp>
        <p:nvSpPr>
          <p:cNvPr id="21" name="Oval 20"/>
          <p:cNvSpPr/>
          <p:nvPr/>
        </p:nvSpPr>
        <p:spPr>
          <a:xfrm>
            <a:off x="6227064" y="1792224"/>
            <a:ext cx="566928" cy="566928"/>
          </a:xfrm>
          <a:prstGeom prst="ellipse">
            <a:avLst/>
          </a:prstGeom>
          <a:solidFill>
            <a:srgbClr val="E9F4EE"/>
          </a:solidFill>
          <a:ln>
            <a:noFill/>
          </a:ln>
          <a:effectLst/>
        </p:spPr>
        <p:txBody>
          <a:bodyPr rtlCol="0" anchor="ctr" lIns="0" rIns="0" tIns="0" bIns="0"/>
          <a:lstStyle/>
          <a:p>
            <a:pPr algn="ctr"/>
            <a:r>
              <a:rPr sz="1200" b="1">
                <a:solidFill>
                  <a:srgbClr val="2B7A58"/>
                </a:solidFill>
                <a:latin typeface="Calibri"/>
              </a:rPr>
              <a:t>DB</a:t>
            </a:r>
          </a:p>
        </p:txBody>
      </p:sp>
      <p:sp>
        <p:nvSpPr>
          <p:cNvPr id="22" name="TextBox 21"/>
          <p:cNvSpPr txBox="1"/>
          <p:nvPr/>
        </p:nvSpPr>
        <p:spPr>
          <a:xfrm>
            <a:off x="6227064" y="2487168"/>
            <a:ext cx="2606040" cy="274320"/>
          </a:xfrm>
          <a:prstGeom prst="rect">
            <a:avLst/>
          </a:prstGeom>
          <a:noFill/>
        </p:spPr>
        <p:txBody>
          <a:bodyPr wrap="square" anchor="t" lIns="0" rIns="0" tIns="0" bIns="0">
            <a:noAutofit/>
          </a:bodyPr>
          <a:lstStyle/>
          <a:p>
            <a:pPr algn="l">
              <a:lnSpc>
                <a:spcPct val="112000"/>
              </a:lnSpc>
              <a:spcAft>
                <a:spcPts val="0"/>
              </a:spcAft>
            </a:pPr>
            <a:r>
              <a:rPr sz="1600" b="1" i="0">
                <a:solidFill>
                  <a:srgbClr val="152238"/>
                </a:solidFill>
                <a:latin typeface="Calibri"/>
              </a:rPr>
              <a:t>Data</a:t>
            </a:r>
          </a:p>
        </p:txBody>
      </p:sp>
      <p:sp>
        <p:nvSpPr>
          <p:cNvPr id="23" name="TextBox 22"/>
          <p:cNvSpPr txBox="1"/>
          <p:nvPr/>
        </p:nvSpPr>
        <p:spPr>
          <a:xfrm>
            <a:off x="6227064" y="28895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Dexie</a:t>
            </a:r>
          </a:p>
        </p:txBody>
      </p:sp>
      <p:sp>
        <p:nvSpPr>
          <p:cNvPr id="24" name="TextBox 23"/>
          <p:cNvSpPr txBox="1"/>
          <p:nvPr/>
        </p:nvSpPr>
        <p:spPr>
          <a:xfrm>
            <a:off x="6227064" y="33467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40 tables</a:t>
            </a:r>
          </a:p>
        </p:txBody>
      </p:sp>
      <p:sp>
        <p:nvSpPr>
          <p:cNvPr id="25" name="TextBox 24"/>
          <p:cNvSpPr txBox="1"/>
          <p:nvPr/>
        </p:nvSpPr>
        <p:spPr>
          <a:xfrm>
            <a:off x="6227064" y="38039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Firebase Auth</a:t>
            </a:r>
          </a:p>
        </p:txBody>
      </p:sp>
      <p:sp>
        <p:nvSpPr>
          <p:cNvPr id="26" name="TextBox 25"/>
          <p:cNvSpPr txBox="1"/>
          <p:nvPr/>
        </p:nvSpPr>
        <p:spPr>
          <a:xfrm>
            <a:off x="6227064" y="4297680"/>
            <a:ext cx="2468880" cy="457200"/>
          </a:xfrm>
          <a:prstGeom prst="rect">
            <a:avLst/>
          </a:prstGeom>
          <a:noFill/>
        </p:spPr>
        <p:txBody>
          <a:bodyPr wrap="square" anchor="t" lIns="0" rIns="0" tIns="0" bIns="0">
            <a:noAutofit/>
          </a:bodyPr>
          <a:lstStyle/>
          <a:p>
            <a:pPr algn="l">
              <a:lnSpc>
                <a:spcPct val="120000"/>
              </a:lnSpc>
              <a:spcAft>
                <a:spcPts val="0"/>
              </a:spcAft>
            </a:pPr>
            <a:r>
              <a:rPr sz="1100" b="0" i="1">
                <a:solidFill>
                  <a:srgbClr val="77859A"/>
                </a:solidFill>
                <a:latin typeface="Calibri"/>
              </a:rPr>
              <a:t>Local data; sign-in is optional.</a:t>
            </a:r>
          </a:p>
        </p:txBody>
      </p:sp>
      <p:sp>
        <p:nvSpPr>
          <p:cNvPr id="27" name="Rectangle 26"/>
          <p:cNvSpPr/>
          <p:nvPr/>
        </p:nvSpPr>
        <p:spPr>
          <a:xfrm>
            <a:off x="8878824" y="1810512"/>
            <a:ext cx="7315" cy="2834640"/>
          </a:xfrm>
          <a:prstGeom prst="rect">
            <a:avLst/>
          </a:prstGeom>
          <a:solidFill>
            <a:srgbClr val="DCE4EA"/>
          </a:solidFill>
          <a:ln>
            <a:noFill/>
          </a:ln>
          <a:effectLst/>
        </p:spPr>
        <p:txBody>
          <a:bodyPr rtlCol="0" anchor="ctr" wrap="square"/>
          <a:lstStyle/>
          <a:p>
            <a:pPr algn="ctr"/>
          </a:p>
        </p:txBody>
      </p:sp>
      <p:sp>
        <p:nvSpPr>
          <p:cNvPr id="28" name="Oval 27"/>
          <p:cNvSpPr/>
          <p:nvPr/>
        </p:nvSpPr>
        <p:spPr>
          <a:xfrm>
            <a:off x="8997696" y="1792224"/>
            <a:ext cx="566928" cy="566928"/>
          </a:xfrm>
          <a:prstGeom prst="ellipse">
            <a:avLst/>
          </a:prstGeom>
          <a:solidFill>
            <a:srgbClr val="FBF3E2"/>
          </a:solidFill>
          <a:ln>
            <a:noFill/>
          </a:ln>
          <a:effectLst/>
        </p:spPr>
        <p:txBody>
          <a:bodyPr rtlCol="0" anchor="ctr" lIns="0" rIns="0" tIns="0" bIns="0"/>
          <a:lstStyle/>
          <a:p>
            <a:pPr algn="ctr"/>
            <a:r>
              <a:rPr sz="1200" b="1">
                <a:solidFill>
                  <a:srgbClr val="B0781C"/>
                </a:solidFill>
                <a:latin typeface="Calibri"/>
              </a:rPr>
              <a:t>✓</a:t>
            </a:r>
          </a:p>
        </p:txBody>
      </p:sp>
      <p:sp>
        <p:nvSpPr>
          <p:cNvPr id="29" name="TextBox 28"/>
          <p:cNvSpPr txBox="1"/>
          <p:nvPr/>
        </p:nvSpPr>
        <p:spPr>
          <a:xfrm>
            <a:off x="8997696" y="2487168"/>
            <a:ext cx="2606040" cy="274320"/>
          </a:xfrm>
          <a:prstGeom prst="rect">
            <a:avLst/>
          </a:prstGeom>
          <a:noFill/>
        </p:spPr>
        <p:txBody>
          <a:bodyPr wrap="square" anchor="t" lIns="0" rIns="0" tIns="0" bIns="0">
            <a:noAutofit/>
          </a:bodyPr>
          <a:lstStyle/>
          <a:p>
            <a:pPr algn="l">
              <a:lnSpc>
                <a:spcPct val="112000"/>
              </a:lnSpc>
              <a:spcAft>
                <a:spcPts val="0"/>
              </a:spcAft>
            </a:pPr>
            <a:r>
              <a:rPr sz="1600" b="1" i="0">
                <a:solidFill>
                  <a:srgbClr val="152238"/>
                </a:solidFill>
                <a:latin typeface="Calibri"/>
              </a:rPr>
              <a:t>Quality</a:t>
            </a:r>
          </a:p>
        </p:txBody>
      </p:sp>
      <p:sp>
        <p:nvSpPr>
          <p:cNvPr id="30" name="TextBox 29"/>
          <p:cNvSpPr txBox="1"/>
          <p:nvPr/>
        </p:nvSpPr>
        <p:spPr>
          <a:xfrm>
            <a:off x="8997696" y="28895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Vitest · 47 tests</a:t>
            </a:r>
          </a:p>
        </p:txBody>
      </p:sp>
      <p:sp>
        <p:nvSpPr>
          <p:cNvPr id="31" name="TextBox 30"/>
          <p:cNvSpPr txBox="1"/>
          <p:nvPr/>
        </p:nvSpPr>
        <p:spPr>
          <a:xfrm>
            <a:off x="8997696" y="33467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Vite build</a:t>
            </a:r>
          </a:p>
        </p:txBody>
      </p:sp>
      <p:sp>
        <p:nvSpPr>
          <p:cNvPr id="32" name="TextBox 31"/>
          <p:cNvSpPr txBox="1"/>
          <p:nvPr/>
        </p:nvSpPr>
        <p:spPr>
          <a:xfrm>
            <a:off x="8997696" y="3803904"/>
            <a:ext cx="2606040" cy="256032"/>
          </a:xfrm>
          <a:prstGeom prst="rect">
            <a:avLst/>
          </a:prstGeom>
          <a:noFill/>
        </p:spPr>
        <p:txBody>
          <a:bodyPr wrap="square" anchor="t" lIns="0" rIns="0" tIns="0" bIns="0">
            <a:noAutofit/>
          </a:bodyPr>
          <a:lstStyle/>
          <a:p>
            <a:pPr algn="l">
              <a:lnSpc>
                <a:spcPct val="112000"/>
              </a:lnSpc>
              <a:spcAft>
                <a:spcPts val="0"/>
              </a:spcAft>
            </a:pPr>
            <a:r>
              <a:rPr sz="1350" b="0" i="0">
                <a:solidFill>
                  <a:srgbClr val="3D4A5C"/>
                </a:solidFill>
                <a:latin typeface="Calibri"/>
              </a:rPr>
              <a:t>Vercel deploy</a:t>
            </a:r>
          </a:p>
        </p:txBody>
      </p:sp>
      <p:sp>
        <p:nvSpPr>
          <p:cNvPr id="33" name="TextBox 32"/>
          <p:cNvSpPr txBox="1"/>
          <p:nvPr/>
        </p:nvSpPr>
        <p:spPr>
          <a:xfrm>
            <a:off x="8997696" y="4297680"/>
            <a:ext cx="2468880" cy="457200"/>
          </a:xfrm>
          <a:prstGeom prst="rect">
            <a:avLst/>
          </a:prstGeom>
          <a:noFill/>
        </p:spPr>
        <p:txBody>
          <a:bodyPr wrap="square" anchor="t" lIns="0" rIns="0" tIns="0" bIns="0">
            <a:noAutofit/>
          </a:bodyPr>
          <a:lstStyle/>
          <a:p>
            <a:pPr algn="l">
              <a:lnSpc>
                <a:spcPct val="120000"/>
              </a:lnSpc>
              <a:spcAft>
                <a:spcPts val="0"/>
              </a:spcAft>
            </a:pPr>
            <a:r>
              <a:rPr sz="1100" b="0" i="1">
                <a:solidFill>
                  <a:srgbClr val="77859A"/>
                </a:solidFill>
                <a:latin typeface="Calibri"/>
              </a:rPr>
              <a:t>Every claim is checked.</a:t>
            </a:r>
          </a:p>
        </p:txBody>
      </p:sp>
      <p:sp>
        <p:nvSpPr>
          <p:cNvPr id="34" name="Rounded Rectangle 33"/>
          <p:cNvSpPr/>
          <p:nvPr/>
        </p:nvSpPr>
        <p:spPr>
          <a:xfrm>
            <a:off x="685800" y="4846320"/>
            <a:ext cx="10835640" cy="1078992"/>
          </a:xfrm>
          <a:prstGeom prst="roundRect">
            <a:avLst>
              <a:gd name="adj" fmla="val 6000"/>
            </a:avLst>
          </a:prstGeom>
          <a:solidFill>
            <a:srgbClr val="F5F8FA"/>
          </a:solidFill>
          <a:ln>
            <a:noFill/>
          </a:ln>
          <a:effectLst/>
        </p:spPr>
        <p:txBody>
          <a:bodyPr rtlCol="0" anchor="ctr" wrap="square"/>
          <a:lstStyle/>
          <a:p>
            <a:pPr algn="ctr"/>
          </a:p>
        </p:txBody>
      </p:sp>
      <p:sp>
        <p:nvSpPr>
          <p:cNvPr id="35" name="TextBox 34"/>
          <p:cNvSpPr txBox="1"/>
          <p:nvPr/>
        </p:nvSpPr>
        <p:spPr>
          <a:xfrm>
            <a:off x="914400" y="4974336"/>
            <a:ext cx="2194560" cy="201168"/>
          </a:xfrm>
          <a:prstGeom prst="rect">
            <a:avLst/>
          </a:prstGeom>
          <a:noFill/>
        </p:spPr>
        <p:txBody>
          <a:bodyPr wrap="square" anchor="t" lIns="0" rIns="0" tIns="0" bIns="0">
            <a:noAutofit/>
          </a:bodyPr>
          <a:lstStyle/>
          <a:p>
            <a:pPr algn="l">
              <a:lnSpc>
                <a:spcPct val="112000"/>
              </a:lnSpc>
              <a:spcAft>
                <a:spcPts val="0"/>
              </a:spcAft>
            </a:pPr>
            <a:r>
              <a:rPr sz="1000" b="1" i="0">
                <a:solidFill>
                  <a:srgbClr val="0F7A82"/>
                </a:solidFill>
                <a:latin typeface="Calibri"/>
              </a:rPr>
              <a:t>HARDWARE &amp; RUNTIME</a:t>
            </a:r>
          </a:p>
        </p:txBody>
      </p:sp>
      <p:sp>
        <p:nvSpPr>
          <p:cNvPr id="36" name="TextBox 35"/>
          <p:cNvSpPr txBox="1"/>
          <p:nvPr/>
        </p:nvSpPr>
        <p:spPr>
          <a:xfrm>
            <a:off x="914400" y="5193792"/>
            <a:ext cx="10332720" cy="310896"/>
          </a:xfrm>
          <a:prstGeom prst="rect">
            <a:avLst/>
          </a:prstGeom>
          <a:noFill/>
        </p:spPr>
        <p:txBody>
          <a:bodyPr wrap="square" anchor="t" lIns="0" rIns="0" tIns="0" bIns="0">
            <a:noAutofit/>
          </a:bodyPr>
          <a:lstStyle/>
          <a:p>
            <a:pPr algn="l">
              <a:lnSpc>
                <a:spcPct val="112000"/>
              </a:lnSpc>
              <a:spcAft>
                <a:spcPts val="0"/>
              </a:spcAft>
            </a:pPr>
            <a:r>
              <a:rPr sz="1700" b="1" i="0">
                <a:solidFill>
                  <a:srgbClr val="152238"/>
                </a:solidFill>
                <a:latin typeface="Calibri"/>
              </a:rPr>
              <a:t>Any modern browser. No GPU, no server, no model hosting, no paid tier.</a:t>
            </a:r>
          </a:p>
        </p:txBody>
      </p:sp>
      <p:sp>
        <p:nvSpPr>
          <p:cNvPr id="37" name="TextBox 36"/>
          <p:cNvSpPr txBox="1"/>
          <p:nvPr/>
        </p:nvSpPr>
        <p:spPr>
          <a:xfrm>
            <a:off x="914400" y="5541264"/>
            <a:ext cx="10332720" cy="237744"/>
          </a:xfrm>
          <a:prstGeom prst="rect">
            <a:avLst/>
          </a:prstGeom>
          <a:noFill/>
        </p:spPr>
        <p:txBody>
          <a:bodyPr wrap="square" anchor="t" lIns="0" rIns="0" tIns="0" bIns="0">
            <a:noAutofit/>
          </a:bodyPr>
          <a:lstStyle/>
          <a:p>
            <a:pPr algn="l">
              <a:lnSpc>
                <a:spcPct val="112000"/>
              </a:lnSpc>
              <a:spcAft>
                <a:spcPts val="0"/>
              </a:spcAft>
            </a:pPr>
            <a:r>
              <a:rPr sz="1150" b="0" i="0">
                <a:solidFill>
                  <a:srgbClr val="77859A"/>
                </a:solidFill>
                <a:latin typeface="Calibri"/>
              </a:rPr>
              <a:t>The same build runs on a laptop and on the deployed demo.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47472"/>
            <a:ext cx="822960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08 · RESULTS</a:t>
            </a:r>
          </a:p>
        </p:txBody>
      </p:sp>
      <p:sp>
        <p:nvSpPr>
          <p:cNvPr id="3" name="TextBox 2"/>
          <p:cNvSpPr txBox="1"/>
          <p:nvPr/>
        </p:nvSpPr>
        <p:spPr>
          <a:xfrm>
            <a:off x="685800" y="585216"/>
            <a:ext cx="10881360" cy="566928"/>
          </a:xfrm>
          <a:prstGeom prst="rect">
            <a:avLst/>
          </a:prstGeom>
          <a:noFill/>
        </p:spPr>
        <p:txBody>
          <a:bodyPr wrap="square" anchor="t" lIns="0" rIns="0" tIns="0" bIns="0">
            <a:noAutofit/>
          </a:bodyPr>
          <a:lstStyle/>
          <a:p>
            <a:pPr algn="l">
              <a:lnSpc>
                <a:spcPct val="95000"/>
              </a:lnSpc>
              <a:spcAft>
                <a:spcPts val="0"/>
              </a:spcAft>
            </a:pPr>
            <a:r>
              <a:rPr sz="3300" b="1" i="0">
                <a:solidFill>
                  <a:srgbClr val="152238"/>
                </a:solidFill>
                <a:latin typeface="Calibri"/>
              </a:rPr>
              <a:t>What is verified — and what is not</a:t>
            </a:r>
          </a:p>
        </p:txBody>
      </p:sp>
      <p:sp>
        <p:nvSpPr>
          <p:cNvPr id="4" name="TextBox 3"/>
          <p:cNvSpPr txBox="1"/>
          <p:nvPr/>
        </p:nvSpPr>
        <p:spPr>
          <a:xfrm>
            <a:off x="685800" y="1225296"/>
            <a:ext cx="10424160" cy="512064"/>
          </a:xfrm>
          <a:prstGeom prst="rect">
            <a:avLst/>
          </a:prstGeom>
          <a:noFill/>
        </p:spPr>
        <p:txBody>
          <a:bodyPr wrap="square" anchor="t" lIns="0" rIns="0" tIns="0" bIns="0">
            <a:noAutofit/>
          </a:bodyPr>
          <a:lstStyle/>
          <a:p>
            <a:pPr algn="l">
              <a:lnSpc>
                <a:spcPct val="112000"/>
              </a:lnSpc>
              <a:spcAft>
                <a:spcPts val="0"/>
              </a:spcAft>
            </a:pPr>
            <a:r>
              <a:rPr sz="1650" b="0" i="0">
                <a:solidFill>
                  <a:srgbClr val="3D4A5C"/>
                </a:solidFill>
                <a:latin typeface="Calibri"/>
              </a:rPr>
              <a:t>Functional completeness and build health, measured. Learning gains are the next study.</a:t>
            </a:r>
          </a:p>
        </p:txBody>
      </p:sp>
      <p:sp>
        <p:nvSpPr>
          <p:cNvPr id="5" name="TextBox 4"/>
          <p:cNvSpPr txBox="1"/>
          <p:nvPr/>
        </p:nvSpPr>
        <p:spPr>
          <a:xfrm>
            <a:off x="685800" y="6510528"/>
            <a:ext cx="7315200" cy="182880"/>
          </a:xfrm>
          <a:prstGeom prst="rect">
            <a:avLst/>
          </a:prstGeom>
          <a:noFill/>
        </p:spPr>
        <p:txBody>
          <a:bodyPr wrap="square" anchor="t" lIns="0" rIns="0" tIns="0" bIns="0">
            <a:noAutofit/>
          </a:bodyPr>
          <a:lstStyle/>
          <a:p>
            <a:pPr algn="l">
              <a:lnSpc>
                <a:spcPct val="112000"/>
              </a:lnSpc>
              <a:spcAft>
                <a:spcPts val="0"/>
              </a:spcAft>
            </a:pPr>
            <a:r>
              <a:rPr sz="900" b="0" i="0">
                <a:solidFill>
                  <a:srgbClr val="77859A"/>
                </a:solidFill>
                <a:latin typeface="Calibri"/>
              </a:rPr>
              <a:t>StudyMapper  ·  ten-slide overview</a:t>
            </a:r>
          </a:p>
        </p:txBody>
      </p:sp>
      <p:sp>
        <p:nvSpPr>
          <p:cNvPr id="6" name="TextBox 5"/>
          <p:cNvSpPr txBox="1"/>
          <p:nvPr/>
        </p:nvSpPr>
        <p:spPr>
          <a:xfrm>
            <a:off x="10058400" y="6492240"/>
            <a:ext cx="1444752" cy="219456"/>
          </a:xfrm>
          <a:prstGeom prst="rect">
            <a:avLst/>
          </a:prstGeom>
          <a:noFill/>
        </p:spPr>
        <p:txBody>
          <a:bodyPr wrap="square" anchor="t" lIns="0" rIns="0" tIns="0" bIns="0">
            <a:noAutofit/>
          </a:bodyPr>
          <a:lstStyle/>
          <a:p>
            <a:pPr algn="r">
              <a:lnSpc>
                <a:spcPct val="112000"/>
              </a:lnSpc>
              <a:spcAft>
                <a:spcPts val="0"/>
              </a:spcAft>
            </a:pPr>
            <a:r>
              <a:rPr sz="1000" b="1" i="0">
                <a:solidFill>
                  <a:srgbClr val="77859A"/>
                </a:solidFill>
                <a:latin typeface="Calibri"/>
              </a:rPr>
              <a:t>09 / 10</a:t>
            </a:r>
          </a:p>
        </p:txBody>
      </p:sp>
      <p:sp>
        <p:nvSpPr>
          <p:cNvPr id="7" name="Rounded Rectangle 6"/>
          <p:cNvSpPr/>
          <p:nvPr/>
        </p:nvSpPr>
        <p:spPr>
          <a:xfrm>
            <a:off x="685800" y="1773936"/>
            <a:ext cx="2606040" cy="1005840"/>
          </a:xfrm>
          <a:prstGeom prst="roundRect">
            <a:avLst>
              <a:gd name="adj" fmla="val 6000"/>
            </a:avLst>
          </a:prstGeom>
          <a:solidFill>
            <a:srgbClr val="FFFFFF"/>
          </a:solidFill>
          <a:ln w="9525">
            <a:solidFill>
              <a:srgbClr val="DCE4EA"/>
            </a:solidFill>
          </a:ln>
          <a:effectLst/>
        </p:spPr>
        <p:txBody>
          <a:bodyPr rtlCol="0" anchor="ctr" wrap="square"/>
          <a:lstStyle/>
          <a:p>
            <a:pPr algn="ctr"/>
          </a:p>
        </p:txBody>
      </p:sp>
      <p:sp>
        <p:nvSpPr>
          <p:cNvPr id="8" name="TextBox 7"/>
          <p:cNvSpPr txBox="1"/>
          <p:nvPr/>
        </p:nvSpPr>
        <p:spPr>
          <a:xfrm>
            <a:off x="868680" y="1865376"/>
            <a:ext cx="2194560" cy="420624"/>
          </a:xfrm>
          <a:prstGeom prst="rect">
            <a:avLst/>
          </a:prstGeom>
          <a:noFill/>
        </p:spPr>
        <p:txBody>
          <a:bodyPr wrap="square" anchor="t" lIns="0" rIns="0" tIns="0" bIns="0">
            <a:noAutofit/>
          </a:bodyPr>
          <a:lstStyle/>
          <a:p>
            <a:pPr algn="l">
              <a:lnSpc>
                <a:spcPct val="112000"/>
              </a:lnSpc>
              <a:spcAft>
                <a:spcPts val="0"/>
              </a:spcAft>
            </a:pPr>
            <a:r>
              <a:rPr sz="2800" b="1" i="0">
                <a:solidFill>
                  <a:srgbClr val="2B7A58"/>
                </a:solidFill>
                <a:latin typeface="Calibri"/>
              </a:rPr>
              <a:t>47/47</a:t>
            </a:r>
          </a:p>
        </p:txBody>
      </p:sp>
      <p:sp>
        <p:nvSpPr>
          <p:cNvPr id="9" name="TextBox 8"/>
          <p:cNvSpPr txBox="1"/>
          <p:nvPr/>
        </p:nvSpPr>
        <p:spPr>
          <a:xfrm>
            <a:off x="868680" y="2340864"/>
            <a:ext cx="2286000" cy="201168"/>
          </a:xfrm>
          <a:prstGeom prst="rect">
            <a:avLst/>
          </a:prstGeom>
          <a:noFill/>
        </p:spPr>
        <p:txBody>
          <a:bodyPr wrap="square" anchor="t" lIns="0" rIns="0" tIns="0" bIns="0">
            <a:noAutofit/>
          </a:bodyPr>
          <a:lstStyle/>
          <a:p>
            <a:pPr algn="l">
              <a:lnSpc>
                <a:spcPct val="112000"/>
              </a:lnSpc>
              <a:spcAft>
                <a:spcPts val="0"/>
              </a:spcAft>
            </a:pPr>
            <a:r>
              <a:rPr sz="1050" b="0" i="0">
                <a:solidFill>
                  <a:srgbClr val="77859A"/>
                </a:solidFill>
                <a:latin typeface="Calibri"/>
              </a:rPr>
              <a:t>automated tests</a:t>
            </a:r>
          </a:p>
        </p:txBody>
      </p:sp>
      <p:sp>
        <p:nvSpPr>
          <p:cNvPr id="10" name="Rounded Rectangle 9"/>
          <p:cNvSpPr/>
          <p:nvPr/>
        </p:nvSpPr>
        <p:spPr>
          <a:xfrm>
            <a:off x="3456432" y="1773936"/>
            <a:ext cx="2606040" cy="1005840"/>
          </a:xfrm>
          <a:prstGeom prst="roundRect">
            <a:avLst>
              <a:gd name="adj" fmla="val 6000"/>
            </a:avLst>
          </a:prstGeom>
          <a:solidFill>
            <a:srgbClr val="FFFFFF"/>
          </a:solidFill>
          <a:ln w="9525">
            <a:solidFill>
              <a:srgbClr val="DCE4EA"/>
            </a:solidFill>
          </a:ln>
          <a:effectLst/>
        </p:spPr>
        <p:txBody>
          <a:bodyPr rtlCol="0" anchor="ctr" wrap="square"/>
          <a:lstStyle/>
          <a:p>
            <a:pPr algn="ctr"/>
          </a:p>
        </p:txBody>
      </p:sp>
      <p:sp>
        <p:nvSpPr>
          <p:cNvPr id="11" name="TextBox 10"/>
          <p:cNvSpPr txBox="1"/>
          <p:nvPr/>
        </p:nvSpPr>
        <p:spPr>
          <a:xfrm>
            <a:off x="3639312" y="1865376"/>
            <a:ext cx="2194560" cy="420624"/>
          </a:xfrm>
          <a:prstGeom prst="rect">
            <a:avLst/>
          </a:prstGeom>
          <a:noFill/>
        </p:spPr>
        <p:txBody>
          <a:bodyPr wrap="square" anchor="t" lIns="0" rIns="0" tIns="0" bIns="0">
            <a:noAutofit/>
          </a:bodyPr>
          <a:lstStyle/>
          <a:p>
            <a:pPr algn="l">
              <a:lnSpc>
                <a:spcPct val="112000"/>
              </a:lnSpc>
              <a:spcAft>
                <a:spcPts val="0"/>
              </a:spcAft>
            </a:pPr>
            <a:r>
              <a:rPr sz="2800" b="1" i="0">
                <a:solidFill>
                  <a:srgbClr val="0F7A82"/>
                </a:solidFill>
                <a:latin typeface="Calibri"/>
              </a:rPr>
              <a:t>6.21 s</a:t>
            </a:r>
          </a:p>
        </p:txBody>
      </p:sp>
      <p:sp>
        <p:nvSpPr>
          <p:cNvPr id="12" name="TextBox 11"/>
          <p:cNvSpPr txBox="1"/>
          <p:nvPr/>
        </p:nvSpPr>
        <p:spPr>
          <a:xfrm>
            <a:off x="3639312" y="2340864"/>
            <a:ext cx="2286000" cy="201168"/>
          </a:xfrm>
          <a:prstGeom prst="rect">
            <a:avLst/>
          </a:prstGeom>
          <a:noFill/>
        </p:spPr>
        <p:txBody>
          <a:bodyPr wrap="square" anchor="t" lIns="0" rIns="0" tIns="0" bIns="0">
            <a:noAutofit/>
          </a:bodyPr>
          <a:lstStyle/>
          <a:p>
            <a:pPr algn="l">
              <a:lnSpc>
                <a:spcPct val="112000"/>
              </a:lnSpc>
              <a:spcAft>
                <a:spcPts val="0"/>
              </a:spcAft>
            </a:pPr>
            <a:r>
              <a:rPr sz="1050" b="0" i="0">
                <a:solidFill>
                  <a:srgbClr val="77859A"/>
                </a:solidFill>
                <a:latin typeface="Calibri"/>
              </a:rPr>
              <a:t>production build</a:t>
            </a:r>
          </a:p>
        </p:txBody>
      </p:sp>
      <p:sp>
        <p:nvSpPr>
          <p:cNvPr id="13" name="Rounded Rectangle 12"/>
          <p:cNvSpPr/>
          <p:nvPr/>
        </p:nvSpPr>
        <p:spPr>
          <a:xfrm>
            <a:off x="6227064" y="1773936"/>
            <a:ext cx="2606040" cy="1005840"/>
          </a:xfrm>
          <a:prstGeom prst="roundRect">
            <a:avLst>
              <a:gd name="adj" fmla="val 6000"/>
            </a:avLst>
          </a:prstGeom>
          <a:solidFill>
            <a:srgbClr val="FFFFFF"/>
          </a:solidFill>
          <a:ln w="9525">
            <a:solidFill>
              <a:srgbClr val="DCE4EA"/>
            </a:solidFill>
          </a:ln>
          <a:effectLst/>
        </p:spPr>
        <p:txBody>
          <a:bodyPr rtlCol="0" anchor="ctr" wrap="square"/>
          <a:lstStyle/>
          <a:p>
            <a:pPr algn="ctr"/>
          </a:p>
        </p:txBody>
      </p:sp>
      <p:sp>
        <p:nvSpPr>
          <p:cNvPr id="14" name="TextBox 13"/>
          <p:cNvSpPr txBox="1"/>
          <p:nvPr/>
        </p:nvSpPr>
        <p:spPr>
          <a:xfrm>
            <a:off x="6409944" y="1865376"/>
            <a:ext cx="2194560" cy="420624"/>
          </a:xfrm>
          <a:prstGeom prst="rect">
            <a:avLst/>
          </a:prstGeom>
          <a:noFill/>
        </p:spPr>
        <p:txBody>
          <a:bodyPr wrap="square" anchor="t" lIns="0" rIns="0" tIns="0" bIns="0">
            <a:noAutofit/>
          </a:bodyPr>
          <a:lstStyle/>
          <a:p>
            <a:pPr algn="l">
              <a:lnSpc>
                <a:spcPct val="112000"/>
              </a:lnSpc>
              <a:spcAft>
                <a:spcPts val="0"/>
              </a:spcAft>
            </a:pPr>
            <a:r>
              <a:rPr sz="2800" b="1" i="0">
                <a:solidFill>
                  <a:srgbClr val="2E5C9A"/>
                </a:solidFill>
                <a:latin typeface="Calibri"/>
              </a:rPr>
              <a:t>40</a:t>
            </a:r>
          </a:p>
        </p:txBody>
      </p:sp>
      <p:sp>
        <p:nvSpPr>
          <p:cNvPr id="15" name="TextBox 14"/>
          <p:cNvSpPr txBox="1"/>
          <p:nvPr/>
        </p:nvSpPr>
        <p:spPr>
          <a:xfrm>
            <a:off x="6409944" y="2340864"/>
            <a:ext cx="2286000" cy="201168"/>
          </a:xfrm>
          <a:prstGeom prst="rect">
            <a:avLst/>
          </a:prstGeom>
          <a:noFill/>
        </p:spPr>
        <p:txBody>
          <a:bodyPr wrap="square" anchor="t" lIns="0" rIns="0" tIns="0" bIns="0">
            <a:noAutofit/>
          </a:bodyPr>
          <a:lstStyle/>
          <a:p>
            <a:pPr algn="l">
              <a:lnSpc>
                <a:spcPct val="112000"/>
              </a:lnSpc>
              <a:spcAft>
                <a:spcPts val="0"/>
              </a:spcAft>
            </a:pPr>
            <a:r>
              <a:rPr sz="1050" b="0" i="0">
                <a:solidFill>
                  <a:srgbClr val="77859A"/>
                </a:solidFill>
                <a:latin typeface="Calibri"/>
              </a:rPr>
              <a:t>database tables</a:t>
            </a:r>
          </a:p>
        </p:txBody>
      </p:sp>
      <p:sp>
        <p:nvSpPr>
          <p:cNvPr id="16" name="Rounded Rectangle 15"/>
          <p:cNvSpPr/>
          <p:nvPr/>
        </p:nvSpPr>
        <p:spPr>
          <a:xfrm>
            <a:off x="8997696" y="1773936"/>
            <a:ext cx="2606040" cy="1005840"/>
          </a:xfrm>
          <a:prstGeom prst="roundRect">
            <a:avLst>
              <a:gd name="adj" fmla="val 6000"/>
            </a:avLst>
          </a:prstGeom>
          <a:solidFill>
            <a:srgbClr val="FFFFFF"/>
          </a:solidFill>
          <a:ln w="9525">
            <a:solidFill>
              <a:srgbClr val="DCE4EA"/>
            </a:solidFill>
          </a:ln>
          <a:effectLst/>
        </p:spPr>
        <p:txBody>
          <a:bodyPr rtlCol="0" anchor="ctr" wrap="square"/>
          <a:lstStyle/>
          <a:p>
            <a:pPr algn="ctr"/>
          </a:p>
        </p:txBody>
      </p:sp>
      <p:sp>
        <p:nvSpPr>
          <p:cNvPr id="17" name="TextBox 16"/>
          <p:cNvSpPr txBox="1"/>
          <p:nvPr/>
        </p:nvSpPr>
        <p:spPr>
          <a:xfrm>
            <a:off x="9180576" y="1865376"/>
            <a:ext cx="2194560" cy="420624"/>
          </a:xfrm>
          <a:prstGeom prst="rect">
            <a:avLst/>
          </a:prstGeom>
          <a:noFill/>
        </p:spPr>
        <p:txBody>
          <a:bodyPr wrap="square" anchor="t" lIns="0" rIns="0" tIns="0" bIns="0">
            <a:noAutofit/>
          </a:bodyPr>
          <a:lstStyle/>
          <a:p>
            <a:pPr algn="l">
              <a:lnSpc>
                <a:spcPct val="112000"/>
              </a:lnSpc>
              <a:spcAft>
                <a:spcPts val="0"/>
              </a:spcAft>
            </a:pPr>
            <a:r>
              <a:rPr sz="2800" b="1" i="0">
                <a:solidFill>
                  <a:srgbClr val="B0781C"/>
                </a:solidFill>
                <a:latin typeface="Calibri"/>
              </a:rPr>
              <a:t>46</a:t>
            </a:r>
          </a:p>
        </p:txBody>
      </p:sp>
      <p:sp>
        <p:nvSpPr>
          <p:cNvPr id="18" name="TextBox 17"/>
          <p:cNvSpPr txBox="1"/>
          <p:nvPr/>
        </p:nvSpPr>
        <p:spPr>
          <a:xfrm>
            <a:off x="9180576" y="2340864"/>
            <a:ext cx="2286000" cy="201168"/>
          </a:xfrm>
          <a:prstGeom prst="rect">
            <a:avLst/>
          </a:prstGeom>
          <a:noFill/>
        </p:spPr>
        <p:txBody>
          <a:bodyPr wrap="square" anchor="t" lIns="0" rIns="0" tIns="0" bIns="0">
            <a:noAutofit/>
          </a:bodyPr>
          <a:lstStyle/>
          <a:p>
            <a:pPr algn="l">
              <a:lnSpc>
                <a:spcPct val="112000"/>
              </a:lnSpc>
              <a:spcAft>
                <a:spcPts val="0"/>
              </a:spcAft>
            </a:pPr>
            <a:r>
              <a:rPr sz="1050" b="0" i="0">
                <a:solidFill>
                  <a:srgbClr val="77859A"/>
                </a:solidFill>
                <a:latin typeface="Calibri"/>
              </a:rPr>
              <a:t>routed views</a:t>
            </a:r>
          </a:p>
        </p:txBody>
      </p:sp>
      <p:sp>
        <p:nvSpPr>
          <p:cNvPr id="19" name="Rounded Rectangle 18"/>
          <p:cNvSpPr/>
          <p:nvPr/>
        </p:nvSpPr>
        <p:spPr>
          <a:xfrm>
            <a:off x="685800" y="2999232"/>
            <a:ext cx="6400800" cy="2560320"/>
          </a:xfrm>
          <a:prstGeom prst="roundRect">
            <a:avLst>
              <a:gd name="adj" fmla="val 6000"/>
            </a:avLst>
          </a:prstGeom>
          <a:solidFill>
            <a:srgbClr val="F5F8FA"/>
          </a:solidFill>
          <a:ln>
            <a:noFill/>
          </a:ln>
          <a:effectLst/>
        </p:spPr>
        <p:txBody>
          <a:bodyPr rtlCol="0" anchor="ctr" wrap="square"/>
          <a:lstStyle/>
          <a:p>
            <a:pPr algn="ctr"/>
          </a:p>
        </p:txBody>
      </p:sp>
      <p:sp>
        <p:nvSpPr>
          <p:cNvPr id="20" name="TextBox 19"/>
          <p:cNvSpPr txBox="1"/>
          <p:nvPr/>
        </p:nvSpPr>
        <p:spPr>
          <a:xfrm>
            <a:off x="896112" y="3127248"/>
            <a:ext cx="5394960" cy="201168"/>
          </a:xfrm>
          <a:prstGeom prst="rect">
            <a:avLst/>
          </a:prstGeom>
          <a:noFill/>
        </p:spPr>
        <p:txBody>
          <a:bodyPr wrap="square" anchor="t" lIns="0" rIns="0" tIns="0" bIns="0">
            <a:noAutofit/>
          </a:bodyPr>
          <a:lstStyle/>
          <a:p>
            <a:pPr algn="l">
              <a:lnSpc>
                <a:spcPct val="112000"/>
              </a:lnSpc>
              <a:spcAft>
                <a:spcPts val="0"/>
              </a:spcAft>
            </a:pPr>
            <a:r>
              <a:rPr sz="1000" b="1" i="0">
                <a:solidFill>
                  <a:srgbClr val="0F7A82"/>
                </a:solidFill>
                <a:latin typeface="Calibri"/>
              </a:rPr>
              <a:t>BEFORE  →  WITH STUDYMAPPER</a:t>
            </a:r>
          </a:p>
        </p:txBody>
      </p:sp>
      <p:sp>
        <p:nvSpPr>
          <p:cNvPr id="21" name="TextBox 20"/>
          <p:cNvSpPr txBox="1"/>
          <p:nvPr/>
        </p:nvSpPr>
        <p:spPr>
          <a:xfrm>
            <a:off x="896112" y="3474720"/>
            <a:ext cx="2148840" cy="256032"/>
          </a:xfrm>
          <a:prstGeom prst="rect">
            <a:avLst/>
          </a:prstGeom>
          <a:noFill/>
        </p:spPr>
        <p:txBody>
          <a:bodyPr wrap="square" anchor="t" lIns="0" rIns="0" tIns="0" bIns="0">
            <a:noAutofit/>
          </a:bodyPr>
          <a:lstStyle/>
          <a:p>
            <a:pPr algn="l">
              <a:lnSpc>
                <a:spcPct val="112000"/>
              </a:lnSpc>
              <a:spcAft>
                <a:spcPts val="0"/>
              </a:spcAft>
            </a:pPr>
            <a:r>
              <a:rPr sz="1200" b="0" i="0">
                <a:solidFill>
                  <a:srgbClr val="77859A"/>
                </a:solidFill>
                <a:latin typeface="Calibri"/>
              </a:rPr>
              <a:t>Four apps</a:t>
            </a:r>
          </a:p>
        </p:txBody>
      </p:sp>
      <p:cxnSp>
        <p:nvCxnSpPr>
          <p:cNvPr id="22" name="Connector 21"/>
          <p:cNvCxnSpPr/>
          <p:nvPr/>
        </p:nvCxnSpPr>
        <p:spPr>
          <a:xfrm>
            <a:off x="2999232" y="3602736"/>
            <a:ext cx="347472" cy="0"/>
          </a:xfrm>
          <a:prstGeom prst="line">
            <a:avLst/>
          </a:prstGeom>
          <a:ln w="16510">
            <a:solidFill>
              <a:srgbClr val="0F7A82"/>
            </a:solidFill>
            <a:tailEnd type="triangle" w="med" len="med"/>
          </a:ln>
          <a:effectLst/>
        </p:spPr>
      </p:cxnSp>
      <p:sp>
        <p:nvSpPr>
          <p:cNvPr id="23" name="TextBox 22"/>
          <p:cNvSpPr txBox="1"/>
          <p:nvPr/>
        </p:nvSpPr>
        <p:spPr>
          <a:xfrm>
            <a:off x="3493008" y="3474720"/>
            <a:ext cx="3383280" cy="256032"/>
          </a:xfrm>
          <a:prstGeom prst="rect">
            <a:avLst/>
          </a:prstGeom>
          <a:noFill/>
        </p:spPr>
        <p:txBody>
          <a:bodyPr wrap="square" anchor="t" lIns="0" rIns="0" tIns="0" bIns="0">
            <a:noAutofit/>
          </a:bodyPr>
          <a:lstStyle/>
          <a:p>
            <a:pPr algn="l">
              <a:lnSpc>
                <a:spcPct val="112000"/>
              </a:lnSpc>
              <a:spcAft>
                <a:spcPts val="0"/>
              </a:spcAft>
            </a:pPr>
            <a:r>
              <a:rPr sz="1350" b="1" i="0">
                <a:solidFill>
                  <a:srgbClr val="152238"/>
                </a:solidFill>
                <a:latin typeface="Calibri"/>
              </a:rPr>
              <a:t>One workspace</a:t>
            </a:r>
          </a:p>
        </p:txBody>
      </p:sp>
      <p:sp>
        <p:nvSpPr>
          <p:cNvPr id="24" name="TextBox 23"/>
          <p:cNvSpPr txBox="1"/>
          <p:nvPr/>
        </p:nvSpPr>
        <p:spPr>
          <a:xfrm>
            <a:off x="896112" y="4078224"/>
            <a:ext cx="2148840" cy="256032"/>
          </a:xfrm>
          <a:prstGeom prst="rect">
            <a:avLst/>
          </a:prstGeom>
          <a:noFill/>
        </p:spPr>
        <p:txBody>
          <a:bodyPr wrap="square" anchor="t" lIns="0" rIns="0" tIns="0" bIns="0">
            <a:noAutofit/>
          </a:bodyPr>
          <a:lstStyle/>
          <a:p>
            <a:pPr algn="l">
              <a:lnSpc>
                <a:spcPct val="112000"/>
              </a:lnSpc>
              <a:spcAft>
                <a:spcPts val="0"/>
              </a:spcAft>
            </a:pPr>
            <a:r>
              <a:rPr sz="1200" b="0" i="0">
                <a:solidFill>
                  <a:srgbClr val="77859A"/>
                </a:solidFill>
                <a:latin typeface="Calibri"/>
              </a:rPr>
              <a:t>Plan made once</a:t>
            </a:r>
          </a:p>
        </p:txBody>
      </p:sp>
      <p:cxnSp>
        <p:nvCxnSpPr>
          <p:cNvPr id="25" name="Connector 24"/>
          <p:cNvCxnSpPr/>
          <p:nvPr/>
        </p:nvCxnSpPr>
        <p:spPr>
          <a:xfrm>
            <a:off x="2999232" y="4206240"/>
            <a:ext cx="347472" cy="0"/>
          </a:xfrm>
          <a:prstGeom prst="line">
            <a:avLst/>
          </a:prstGeom>
          <a:ln w="16510">
            <a:solidFill>
              <a:srgbClr val="0F7A82"/>
            </a:solidFill>
            <a:tailEnd type="triangle" w="med" len="med"/>
          </a:ln>
          <a:effectLst/>
        </p:spPr>
      </p:cxnSp>
      <p:sp>
        <p:nvSpPr>
          <p:cNvPr id="26" name="TextBox 25"/>
          <p:cNvSpPr txBox="1"/>
          <p:nvPr/>
        </p:nvSpPr>
        <p:spPr>
          <a:xfrm>
            <a:off x="3493008" y="4078224"/>
            <a:ext cx="3383280" cy="256032"/>
          </a:xfrm>
          <a:prstGeom prst="rect">
            <a:avLst/>
          </a:prstGeom>
          <a:noFill/>
        </p:spPr>
        <p:txBody>
          <a:bodyPr wrap="square" anchor="t" lIns="0" rIns="0" tIns="0" bIns="0">
            <a:noAutofit/>
          </a:bodyPr>
          <a:lstStyle/>
          <a:p>
            <a:pPr algn="l">
              <a:lnSpc>
                <a:spcPct val="112000"/>
              </a:lnSpc>
              <a:spcAft>
                <a:spcPts val="0"/>
              </a:spcAft>
            </a:pPr>
            <a:r>
              <a:rPr sz="1350" b="1" i="0">
                <a:solidFill>
                  <a:srgbClr val="152238"/>
                </a:solidFill>
                <a:latin typeface="Calibri"/>
              </a:rPr>
              <a:t>Plan recomputed</a:t>
            </a:r>
          </a:p>
        </p:txBody>
      </p:sp>
      <p:sp>
        <p:nvSpPr>
          <p:cNvPr id="27" name="TextBox 26"/>
          <p:cNvSpPr txBox="1"/>
          <p:nvPr/>
        </p:nvSpPr>
        <p:spPr>
          <a:xfrm>
            <a:off x="896112" y="4681728"/>
            <a:ext cx="2148840" cy="256032"/>
          </a:xfrm>
          <a:prstGeom prst="rect">
            <a:avLst/>
          </a:prstGeom>
          <a:noFill/>
        </p:spPr>
        <p:txBody>
          <a:bodyPr wrap="square" anchor="t" lIns="0" rIns="0" tIns="0" bIns="0">
            <a:noAutofit/>
          </a:bodyPr>
          <a:lstStyle/>
          <a:p>
            <a:pPr algn="l">
              <a:lnSpc>
                <a:spcPct val="112000"/>
              </a:lnSpc>
              <a:spcAft>
                <a:spcPts val="0"/>
              </a:spcAft>
            </a:pPr>
            <a:r>
              <a:rPr sz="1200" b="0" i="0">
                <a:solidFill>
                  <a:srgbClr val="77859A"/>
                </a:solidFill>
                <a:latin typeface="Calibri"/>
              </a:rPr>
              <a:t>Feedback at the exam</a:t>
            </a:r>
          </a:p>
        </p:txBody>
      </p:sp>
      <p:cxnSp>
        <p:nvCxnSpPr>
          <p:cNvPr id="28" name="Connector 27"/>
          <p:cNvCxnSpPr/>
          <p:nvPr/>
        </p:nvCxnSpPr>
        <p:spPr>
          <a:xfrm>
            <a:off x="2999232" y="4809744"/>
            <a:ext cx="347472" cy="0"/>
          </a:xfrm>
          <a:prstGeom prst="line">
            <a:avLst/>
          </a:prstGeom>
          <a:ln w="16510">
            <a:solidFill>
              <a:srgbClr val="0F7A82"/>
            </a:solidFill>
            <a:tailEnd type="triangle" w="med" len="med"/>
          </a:ln>
          <a:effectLst/>
        </p:spPr>
      </p:cxnSp>
      <p:sp>
        <p:nvSpPr>
          <p:cNvPr id="29" name="TextBox 28"/>
          <p:cNvSpPr txBox="1"/>
          <p:nvPr/>
        </p:nvSpPr>
        <p:spPr>
          <a:xfrm>
            <a:off x="3493008" y="4681728"/>
            <a:ext cx="3383280" cy="256032"/>
          </a:xfrm>
          <a:prstGeom prst="rect">
            <a:avLst/>
          </a:prstGeom>
          <a:noFill/>
        </p:spPr>
        <p:txBody>
          <a:bodyPr wrap="square" anchor="t" lIns="0" rIns="0" tIns="0" bIns="0">
            <a:noAutofit/>
          </a:bodyPr>
          <a:lstStyle/>
          <a:p>
            <a:pPr algn="l">
              <a:lnSpc>
                <a:spcPct val="112000"/>
              </a:lnSpc>
              <a:spcAft>
                <a:spcPts val="0"/>
              </a:spcAft>
            </a:pPr>
            <a:r>
              <a:rPr sz="1350" b="1" i="0">
                <a:solidFill>
                  <a:srgbClr val="152238"/>
                </a:solidFill>
                <a:latin typeface="Calibri"/>
              </a:rPr>
              <a:t>Feedback in practice</a:t>
            </a:r>
          </a:p>
        </p:txBody>
      </p:sp>
      <p:sp>
        <p:nvSpPr>
          <p:cNvPr id="30" name="Rounded Rectangle 29"/>
          <p:cNvSpPr/>
          <p:nvPr/>
        </p:nvSpPr>
        <p:spPr>
          <a:xfrm>
            <a:off x="7360920" y="2999232"/>
            <a:ext cx="4160520" cy="2596896"/>
          </a:xfrm>
          <a:prstGeom prst="roundRect">
            <a:avLst>
              <a:gd name="adj" fmla="val 3500"/>
            </a:avLst>
          </a:prstGeom>
          <a:solidFill>
            <a:srgbClr val="FFFFFF"/>
          </a:solidFill>
          <a:ln w="9525">
            <a:solidFill>
              <a:srgbClr val="DCE4EA"/>
            </a:solidFill>
          </a:ln>
          <a:effectLst/>
        </p:spPr>
        <p:txBody>
          <a:bodyPr rtlCol="0" anchor="ctr" wrap="square"/>
          <a:lstStyle/>
          <a:p>
            <a:pPr algn="ctr"/>
          </a:p>
        </p:txBody>
      </p:sp>
      <p:pic>
        <p:nvPicPr>
          <p:cNvPr id="31" name="Picture 30" descr="shot_dashboard10.png"/>
          <p:cNvPicPr>
            <a:picLocks noChangeAspect="1"/>
          </p:cNvPicPr>
          <p:nvPr/>
        </p:nvPicPr>
        <p:blipFill>
          <a:blip r:embed="rId2"/>
          <a:srcRect t="4649" b="4649"/>
          <a:stretch>
            <a:fillRect/>
          </a:stretch>
        </p:blipFill>
        <p:spPr>
          <a:xfrm>
            <a:off x="7424928" y="3063239"/>
            <a:ext cx="4032504" cy="2285999"/>
          </a:xfrm>
          <a:prstGeom prst="rect">
            <a:avLst/>
          </a:prstGeom>
          <a:ln w="12700">
            <a:solidFill>
              <a:srgbClr val="FFFFFF"/>
            </a:solidFill>
          </a:ln>
          <a:effectLst/>
        </p:spPr>
      </p:pic>
      <p:sp>
        <p:nvSpPr>
          <p:cNvPr id="32" name="TextBox 31"/>
          <p:cNvSpPr txBox="1"/>
          <p:nvPr/>
        </p:nvSpPr>
        <p:spPr>
          <a:xfrm>
            <a:off x="7424928" y="5376671"/>
            <a:ext cx="4032504" cy="164592"/>
          </a:xfrm>
          <a:prstGeom prst="rect">
            <a:avLst/>
          </a:prstGeom>
          <a:noFill/>
        </p:spPr>
        <p:txBody>
          <a:bodyPr wrap="square" anchor="t" lIns="0" rIns="0" tIns="0" bIns="0">
            <a:noAutofit/>
          </a:bodyPr>
          <a:lstStyle/>
          <a:p>
            <a:pPr algn="l">
              <a:lnSpc>
                <a:spcPct val="112000"/>
              </a:lnSpc>
              <a:spcAft>
                <a:spcPts val="0"/>
              </a:spcAft>
            </a:pPr>
            <a:r>
              <a:rPr sz="900" b="0" i="1">
                <a:solidFill>
                  <a:srgbClr val="77859A"/>
                </a:solidFill>
                <a:latin typeface="Calibri"/>
              </a:rPr>
              <a:t>Dashboard — the seeded demo build</a:t>
            </a:r>
          </a:p>
        </p:txBody>
      </p:sp>
      <p:sp>
        <p:nvSpPr>
          <p:cNvPr id="33" name="TextBox 32"/>
          <p:cNvSpPr txBox="1"/>
          <p:nvPr/>
        </p:nvSpPr>
        <p:spPr>
          <a:xfrm>
            <a:off x="685800" y="5806440"/>
            <a:ext cx="10789920" cy="457200"/>
          </a:xfrm>
          <a:prstGeom prst="rect">
            <a:avLst/>
          </a:prstGeom>
          <a:noFill/>
        </p:spPr>
        <p:txBody>
          <a:bodyPr wrap="square" anchor="t" lIns="0" rIns="0" tIns="0" bIns="0">
            <a:noAutofit/>
          </a:bodyPr>
          <a:lstStyle/>
          <a:p>
            <a:pPr algn="l">
              <a:lnSpc>
                <a:spcPct val="112000"/>
              </a:lnSpc>
              <a:spcAft>
                <a:spcPts val="0"/>
              </a:spcAft>
            </a:pPr>
            <a:r>
              <a:rPr sz="1150" b="1" i="0">
                <a:solidFill>
                  <a:srgbClr val="A64B39"/>
                </a:solidFill>
                <a:latin typeface="Calibri"/>
              </a:rPr>
              <a:t>Not claimed: a measured learning-outcome study, institutional deployment, a teacher dashboard, a native 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47472"/>
            <a:ext cx="8229600" cy="219456"/>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09 · CONCLUSION &amp; FUTURE</a:t>
            </a:r>
          </a:p>
        </p:txBody>
      </p:sp>
      <p:sp>
        <p:nvSpPr>
          <p:cNvPr id="3" name="TextBox 2"/>
          <p:cNvSpPr txBox="1"/>
          <p:nvPr/>
        </p:nvSpPr>
        <p:spPr>
          <a:xfrm>
            <a:off x="685800" y="585216"/>
            <a:ext cx="10881360" cy="566928"/>
          </a:xfrm>
          <a:prstGeom prst="rect">
            <a:avLst/>
          </a:prstGeom>
          <a:noFill/>
        </p:spPr>
        <p:txBody>
          <a:bodyPr wrap="square" anchor="t" lIns="0" rIns="0" tIns="0" bIns="0">
            <a:noAutofit/>
          </a:bodyPr>
          <a:lstStyle/>
          <a:p>
            <a:pPr algn="l">
              <a:lnSpc>
                <a:spcPct val="95000"/>
              </a:lnSpc>
              <a:spcAft>
                <a:spcPts val="0"/>
              </a:spcAft>
            </a:pPr>
            <a:r>
              <a:rPr sz="3300" b="1" i="0">
                <a:solidFill>
                  <a:srgbClr val="152238"/>
                </a:solidFill>
                <a:latin typeface="Calibri"/>
              </a:rPr>
              <a:t>Three claims, one next step</a:t>
            </a:r>
          </a:p>
        </p:txBody>
      </p:sp>
      <p:sp>
        <p:nvSpPr>
          <p:cNvPr id="4" name="TextBox 3"/>
          <p:cNvSpPr txBox="1"/>
          <p:nvPr/>
        </p:nvSpPr>
        <p:spPr>
          <a:xfrm>
            <a:off x="685800" y="1225296"/>
            <a:ext cx="10424160" cy="512064"/>
          </a:xfrm>
          <a:prstGeom prst="rect">
            <a:avLst/>
          </a:prstGeom>
          <a:noFill/>
        </p:spPr>
        <p:txBody>
          <a:bodyPr wrap="square" anchor="t" lIns="0" rIns="0" tIns="0" bIns="0">
            <a:noAutofit/>
          </a:bodyPr>
          <a:lstStyle/>
          <a:p>
            <a:pPr algn="l">
              <a:lnSpc>
                <a:spcPct val="112000"/>
              </a:lnSpc>
              <a:spcAft>
                <a:spcPts val="0"/>
              </a:spcAft>
            </a:pPr>
            <a:r>
              <a:rPr sz="1650" b="0" i="0">
                <a:solidFill>
                  <a:srgbClr val="3D4A5C"/>
                </a:solidFill>
                <a:latin typeface="Calibri"/>
              </a:rPr>
              <a:t>The loop is built and verified. Whether it improves learning is the experiment ahead.</a:t>
            </a:r>
          </a:p>
        </p:txBody>
      </p:sp>
      <p:sp>
        <p:nvSpPr>
          <p:cNvPr id="5" name="TextBox 4"/>
          <p:cNvSpPr txBox="1"/>
          <p:nvPr/>
        </p:nvSpPr>
        <p:spPr>
          <a:xfrm>
            <a:off x="685800" y="6510528"/>
            <a:ext cx="7315200" cy="182880"/>
          </a:xfrm>
          <a:prstGeom prst="rect">
            <a:avLst/>
          </a:prstGeom>
          <a:noFill/>
        </p:spPr>
        <p:txBody>
          <a:bodyPr wrap="square" anchor="t" lIns="0" rIns="0" tIns="0" bIns="0">
            <a:noAutofit/>
          </a:bodyPr>
          <a:lstStyle/>
          <a:p>
            <a:pPr algn="l">
              <a:lnSpc>
                <a:spcPct val="112000"/>
              </a:lnSpc>
              <a:spcAft>
                <a:spcPts val="0"/>
              </a:spcAft>
            </a:pPr>
            <a:r>
              <a:rPr sz="900" b="0" i="0">
                <a:solidFill>
                  <a:srgbClr val="77859A"/>
                </a:solidFill>
                <a:latin typeface="Calibri"/>
              </a:rPr>
              <a:t>StudyMapper  ·  ten-slide overview</a:t>
            </a:r>
          </a:p>
        </p:txBody>
      </p:sp>
      <p:sp>
        <p:nvSpPr>
          <p:cNvPr id="6" name="TextBox 5"/>
          <p:cNvSpPr txBox="1"/>
          <p:nvPr/>
        </p:nvSpPr>
        <p:spPr>
          <a:xfrm>
            <a:off x="10058400" y="6492240"/>
            <a:ext cx="1444752" cy="219456"/>
          </a:xfrm>
          <a:prstGeom prst="rect">
            <a:avLst/>
          </a:prstGeom>
          <a:noFill/>
        </p:spPr>
        <p:txBody>
          <a:bodyPr wrap="square" anchor="t" lIns="0" rIns="0" tIns="0" bIns="0">
            <a:noAutofit/>
          </a:bodyPr>
          <a:lstStyle/>
          <a:p>
            <a:pPr algn="r">
              <a:lnSpc>
                <a:spcPct val="112000"/>
              </a:lnSpc>
              <a:spcAft>
                <a:spcPts val="0"/>
              </a:spcAft>
            </a:pPr>
            <a:r>
              <a:rPr sz="1000" b="1" i="0">
                <a:solidFill>
                  <a:srgbClr val="77859A"/>
                </a:solidFill>
                <a:latin typeface="Calibri"/>
              </a:rPr>
              <a:t>10 / 10</a:t>
            </a:r>
          </a:p>
        </p:txBody>
      </p:sp>
      <p:sp>
        <p:nvSpPr>
          <p:cNvPr id="7" name="Rounded Rectangle 6"/>
          <p:cNvSpPr/>
          <p:nvPr/>
        </p:nvSpPr>
        <p:spPr>
          <a:xfrm>
            <a:off x="685800" y="1773936"/>
            <a:ext cx="3456432" cy="1481328"/>
          </a:xfrm>
          <a:prstGeom prst="roundRect">
            <a:avLst>
              <a:gd name="adj" fmla="val 6000"/>
            </a:avLst>
          </a:prstGeom>
          <a:solidFill>
            <a:srgbClr val="FFFFFF"/>
          </a:solidFill>
          <a:ln w="9525">
            <a:solidFill>
              <a:srgbClr val="DCE4EA"/>
            </a:solidFill>
          </a:ln>
          <a:effectLst/>
        </p:spPr>
        <p:txBody>
          <a:bodyPr rtlCol="0" anchor="ctr" wrap="square"/>
          <a:lstStyle/>
          <a:p>
            <a:pPr algn="ctr"/>
          </a:p>
        </p:txBody>
      </p:sp>
      <p:sp>
        <p:nvSpPr>
          <p:cNvPr id="8" name="TextBox 7"/>
          <p:cNvSpPr txBox="1"/>
          <p:nvPr/>
        </p:nvSpPr>
        <p:spPr>
          <a:xfrm>
            <a:off x="886968" y="1901952"/>
            <a:ext cx="3017520" cy="201168"/>
          </a:xfrm>
          <a:prstGeom prst="rect">
            <a:avLst/>
          </a:prstGeom>
          <a:noFill/>
        </p:spPr>
        <p:txBody>
          <a:bodyPr wrap="square" anchor="t" lIns="0" rIns="0" tIns="0" bIns="0">
            <a:noAutofit/>
          </a:bodyPr>
          <a:lstStyle/>
          <a:p>
            <a:pPr algn="l">
              <a:lnSpc>
                <a:spcPct val="112000"/>
              </a:lnSpc>
              <a:spcAft>
                <a:spcPts val="0"/>
              </a:spcAft>
            </a:pPr>
            <a:r>
              <a:rPr sz="1000" b="1" i="0">
                <a:solidFill>
                  <a:srgbClr val="0F7A82"/>
                </a:solidFill>
                <a:latin typeface="Calibri"/>
              </a:rPr>
              <a:t>ADAPTIVE</a:t>
            </a:r>
          </a:p>
        </p:txBody>
      </p:sp>
      <p:sp>
        <p:nvSpPr>
          <p:cNvPr id="9" name="TextBox 8"/>
          <p:cNvSpPr txBox="1"/>
          <p:nvPr/>
        </p:nvSpPr>
        <p:spPr>
          <a:xfrm>
            <a:off x="886968" y="2139696"/>
            <a:ext cx="3072384" cy="658368"/>
          </a:xfrm>
          <a:prstGeom prst="rect">
            <a:avLst/>
          </a:prstGeom>
          <a:noFill/>
        </p:spPr>
        <p:txBody>
          <a:bodyPr wrap="square" anchor="t" lIns="0" rIns="0" tIns="0" bIns="0">
            <a:noAutofit/>
          </a:bodyPr>
          <a:lstStyle/>
          <a:p>
            <a:pPr algn="l">
              <a:lnSpc>
                <a:spcPct val="122000"/>
              </a:lnSpc>
              <a:spcAft>
                <a:spcPts val="0"/>
              </a:spcAft>
            </a:pPr>
            <a:r>
              <a:rPr sz="1300" b="0" i="0">
                <a:solidFill>
                  <a:srgbClr val="152238"/>
                </a:solidFill>
                <a:latin typeface="Calibri"/>
              </a:rPr>
              <a:t>Plans recompute from the exam date, topic difficulty and measured weakness.</a:t>
            </a:r>
          </a:p>
        </p:txBody>
      </p:sp>
      <p:sp>
        <p:nvSpPr>
          <p:cNvPr id="10" name="TextBox 9"/>
          <p:cNvSpPr txBox="1"/>
          <p:nvPr/>
        </p:nvSpPr>
        <p:spPr>
          <a:xfrm>
            <a:off x="886968" y="2798064"/>
            <a:ext cx="3017520" cy="384048"/>
          </a:xfrm>
          <a:prstGeom prst="rect">
            <a:avLst/>
          </a:prstGeom>
          <a:noFill/>
        </p:spPr>
        <p:txBody>
          <a:bodyPr wrap="square" anchor="t" lIns="0" rIns="0" tIns="0" bIns="0">
            <a:noAutofit/>
          </a:bodyPr>
          <a:lstStyle/>
          <a:p>
            <a:pPr algn="l">
              <a:lnSpc>
                <a:spcPct val="118000"/>
              </a:lnSpc>
              <a:spcAft>
                <a:spcPts val="0"/>
              </a:spcAft>
            </a:pPr>
            <a:r>
              <a:rPr sz="1100" b="0" i="1">
                <a:solidFill>
                  <a:srgbClr val="77859A"/>
                </a:solidFill>
                <a:latin typeface="Calibri"/>
              </a:rPr>
              <a:t>Regenerate on demand; panic mode compresses the rest.</a:t>
            </a:r>
          </a:p>
        </p:txBody>
      </p:sp>
      <p:sp>
        <p:nvSpPr>
          <p:cNvPr id="11" name="Rounded Rectangle 10"/>
          <p:cNvSpPr/>
          <p:nvPr/>
        </p:nvSpPr>
        <p:spPr>
          <a:xfrm>
            <a:off x="4315968" y="1773936"/>
            <a:ext cx="3456432" cy="1481328"/>
          </a:xfrm>
          <a:prstGeom prst="roundRect">
            <a:avLst>
              <a:gd name="adj" fmla="val 6000"/>
            </a:avLst>
          </a:prstGeom>
          <a:solidFill>
            <a:srgbClr val="FFFFFF"/>
          </a:solidFill>
          <a:ln w="9525">
            <a:solidFill>
              <a:srgbClr val="DCE4EA"/>
            </a:solidFill>
          </a:ln>
          <a:effectLst/>
        </p:spPr>
        <p:txBody>
          <a:bodyPr rtlCol="0" anchor="ctr" wrap="square"/>
          <a:lstStyle/>
          <a:p>
            <a:pPr algn="ctr"/>
          </a:p>
        </p:txBody>
      </p:sp>
      <p:sp>
        <p:nvSpPr>
          <p:cNvPr id="12" name="TextBox 11"/>
          <p:cNvSpPr txBox="1"/>
          <p:nvPr/>
        </p:nvSpPr>
        <p:spPr>
          <a:xfrm>
            <a:off x="4517136" y="1901952"/>
            <a:ext cx="3017520" cy="201168"/>
          </a:xfrm>
          <a:prstGeom prst="rect">
            <a:avLst/>
          </a:prstGeom>
          <a:noFill/>
        </p:spPr>
        <p:txBody>
          <a:bodyPr wrap="square" anchor="t" lIns="0" rIns="0" tIns="0" bIns="0">
            <a:noAutofit/>
          </a:bodyPr>
          <a:lstStyle/>
          <a:p>
            <a:pPr algn="l">
              <a:lnSpc>
                <a:spcPct val="112000"/>
              </a:lnSpc>
              <a:spcAft>
                <a:spcPts val="0"/>
              </a:spcAft>
            </a:pPr>
            <a:r>
              <a:rPr sz="1000" b="1" i="0">
                <a:solidFill>
                  <a:srgbClr val="2E5C9A"/>
                </a:solidFill>
                <a:latin typeface="Calibri"/>
              </a:rPr>
              <a:t>EXPLAINABLE</a:t>
            </a:r>
          </a:p>
        </p:txBody>
      </p:sp>
      <p:sp>
        <p:nvSpPr>
          <p:cNvPr id="13" name="TextBox 12"/>
          <p:cNvSpPr txBox="1"/>
          <p:nvPr/>
        </p:nvSpPr>
        <p:spPr>
          <a:xfrm>
            <a:off x="4517136" y="2139696"/>
            <a:ext cx="3072384" cy="658368"/>
          </a:xfrm>
          <a:prstGeom prst="rect">
            <a:avLst/>
          </a:prstGeom>
          <a:noFill/>
        </p:spPr>
        <p:txBody>
          <a:bodyPr wrap="square" anchor="t" lIns="0" rIns="0" tIns="0" bIns="0">
            <a:noAutofit/>
          </a:bodyPr>
          <a:lstStyle/>
          <a:p>
            <a:pPr algn="l">
              <a:lnSpc>
                <a:spcPct val="122000"/>
              </a:lnSpc>
              <a:spcAft>
                <a:spcPts val="0"/>
              </a:spcAft>
            </a:pPr>
            <a:r>
              <a:rPr sz="1300" b="0" i="0">
                <a:solidFill>
                  <a:srgbClr val="152238"/>
                </a:solidFill>
                <a:latin typeface="Calibri"/>
              </a:rPr>
              <a:t>Every score traces back to stored attempts; the rule set is documented.</a:t>
            </a:r>
          </a:p>
        </p:txBody>
      </p:sp>
      <p:sp>
        <p:nvSpPr>
          <p:cNvPr id="14" name="TextBox 13"/>
          <p:cNvSpPr txBox="1"/>
          <p:nvPr/>
        </p:nvSpPr>
        <p:spPr>
          <a:xfrm>
            <a:off x="4517136" y="2798064"/>
            <a:ext cx="3017520" cy="384048"/>
          </a:xfrm>
          <a:prstGeom prst="rect">
            <a:avLst/>
          </a:prstGeom>
          <a:noFill/>
        </p:spPr>
        <p:txBody>
          <a:bodyPr wrap="square" anchor="t" lIns="0" rIns="0" tIns="0" bIns="0">
            <a:noAutofit/>
          </a:bodyPr>
          <a:lstStyle/>
          <a:p>
            <a:pPr algn="l">
              <a:lnSpc>
                <a:spcPct val="118000"/>
              </a:lnSpc>
              <a:spcAft>
                <a:spcPts val="0"/>
              </a:spcAft>
            </a:pPr>
            <a:r>
              <a:rPr sz="1100" b="0" i="1">
                <a:solidFill>
                  <a:srgbClr val="77859A"/>
                </a:solidFill>
                <a:latin typeface="Calibri"/>
              </a:rPr>
              <a:t>Flagged at 40+, over a seven-day window.</a:t>
            </a:r>
          </a:p>
        </p:txBody>
      </p:sp>
      <p:sp>
        <p:nvSpPr>
          <p:cNvPr id="15" name="Rounded Rectangle 14"/>
          <p:cNvSpPr/>
          <p:nvPr/>
        </p:nvSpPr>
        <p:spPr>
          <a:xfrm>
            <a:off x="7946136" y="1773936"/>
            <a:ext cx="3456432" cy="1481328"/>
          </a:xfrm>
          <a:prstGeom prst="roundRect">
            <a:avLst>
              <a:gd name="adj" fmla="val 6000"/>
            </a:avLst>
          </a:prstGeom>
          <a:solidFill>
            <a:srgbClr val="FFFFFF"/>
          </a:solidFill>
          <a:ln w="9525">
            <a:solidFill>
              <a:srgbClr val="DCE4EA"/>
            </a:solidFill>
          </a:ln>
          <a:effectLst/>
        </p:spPr>
        <p:txBody>
          <a:bodyPr rtlCol="0" anchor="ctr" wrap="square"/>
          <a:lstStyle/>
          <a:p>
            <a:pPr algn="ctr"/>
          </a:p>
        </p:txBody>
      </p:sp>
      <p:sp>
        <p:nvSpPr>
          <p:cNvPr id="16" name="TextBox 15"/>
          <p:cNvSpPr txBox="1"/>
          <p:nvPr/>
        </p:nvSpPr>
        <p:spPr>
          <a:xfrm>
            <a:off x="8147304" y="1901952"/>
            <a:ext cx="3017520" cy="201168"/>
          </a:xfrm>
          <a:prstGeom prst="rect">
            <a:avLst/>
          </a:prstGeom>
          <a:noFill/>
        </p:spPr>
        <p:txBody>
          <a:bodyPr wrap="square" anchor="t" lIns="0" rIns="0" tIns="0" bIns="0">
            <a:noAutofit/>
          </a:bodyPr>
          <a:lstStyle/>
          <a:p>
            <a:pPr algn="l">
              <a:lnSpc>
                <a:spcPct val="112000"/>
              </a:lnSpc>
              <a:spcAft>
                <a:spcPts val="0"/>
              </a:spcAft>
            </a:pPr>
            <a:r>
              <a:rPr sz="1000" b="1" i="0">
                <a:solidFill>
                  <a:srgbClr val="2B7A58"/>
                </a:solidFill>
                <a:latin typeface="Calibri"/>
              </a:rPr>
              <a:t>LOCAL-FIRST</a:t>
            </a:r>
          </a:p>
        </p:txBody>
      </p:sp>
      <p:sp>
        <p:nvSpPr>
          <p:cNvPr id="17" name="TextBox 16"/>
          <p:cNvSpPr txBox="1"/>
          <p:nvPr/>
        </p:nvSpPr>
        <p:spPr>
          <a:xfrm>
            <a:off x="8147304" y="2139696"/>
            <a:ext cx="3072384" cy="658368"/>
          </a:xfrm>
          <a:prstGeom prst="rect">
            <a:avLst/>
          </a:prstGeom>
          <a:noFill/>
        </p:spPr>
        <p:txBody>
          <a:bodyPr wrap="square" anchor="t" lIns="0" rIns="0" tIns="0" bIns="0">
            <a:noAutofit/>
          </a:bodyPr>
          <a:lstStyle/>
          <a:p>
            <a:pPr algn="l">
              <a:lnSpc>
                <a:spcPct val="122000"/>
              </a:lnSpc>
              <a:spcAft>
                <a:spcPts val="0"/>
              </a:spcAft>
            </a:pPr>
            <a:r>
              <a:rPr sz="1300" b="0" i="0">
                <a:solidFill>
                  <a:srgbClr val="152238"/>
                </a:solidFill>
                <a:latin typeface="Calibri"/>
              </a:rPr>
              <a:t>Notes, plans and attempts live in IndexedDB; AI and sign-in are optional.</a:t>
            </a:r>
          </a:p>
        </p:txBody>
      </p:sp>
      <p:sp>
        <p:nvSpPr>
          <p:cNvPr id="18" name="TextBox 17"/>
          <p:cNvSpPr txBox="1"/>
          <p:nvPr/>
        </p:nvSpPr>
        <p:spPr>
          <a:xfrm>
            <a:off x="8147304" y="2798064"/>
            <a:ext cx="3017520" cy="384048"/>
          </a:xfrm>
          <a:prstGeom prst="rect">
            <a:avLst/>
          </a:prstGeom>
          <a:noFill/>
        </p:spPr>
        <p:txBody>
          <a:bodyPr wrap="square" anchor="t" lIns="0" rIns="0" tIns="0" bIns="0">
            <a:noAutofit/>
          </a:bodyPr>
          <a:lstStyle/>
          <a:p>
            <a:pPr algn="l">
              <a:lnSpc>
                <a:spcPct val="118000"/>
              </a:lnSpc>
              <a:spcAft>
                <a:spcPts val="0"/>
              </a:spcAft>
            </a:pPr>
            <a:r>
              <a:rPr sz="1100" b="0" i="1">
                <a:solidFill>
                  <a:srgbClr val="77859A"/>
                </a:solidFill>
                <a:latin typeface="Calibri"/>
              </a:rPr>
              <a:t>No server is required for the core loop.</a:t>
            </a:r>
          </a:p>
        </p:txBody>
      </p:sp>
      <p:sp>
        <p:nvSpPr>
          <p:cNvPr id="19" name="TextBox 18"/>
          <p:cNvSpPr txBox="1"/>
          <p:nvPr/>
        </p:nvSpPr>
        <p:spPr>
          <a:xfrm>
            <a:off x="685800" y="3456432"/>
            <a:ext cx="3657600" cy="201168"/>
          </a:xfrm>
          <a:prstGeom prst="rect">
            <a:avLst/>
          </a:prstGeom>
          <a:noFill/>
        </p:spPr>
        <p:txBody>
          <a:bodyPr wrap="square" anchor="t" lIns="0" rIns="0" tIns="0" bIns="0">
            <a:noAutofit/>
          </a:bodyPr>
          <a:lstStyle/>
          <a:p>
            <a:pPr algn="l">
              <a:lnSpc>
                <a:spcPct val="112000"/>
              </a:lnSpc>
              <a:spcAft>
                <a:spcPts val="0"/>
              </a:spcAft>
            </a:pPr>
            <a:r>
              <a:rPr sz="1000" b="1" i="0">
                <a:solidFill>
                  <a:srgbClr val="77859A"/>
                </a:solidFill>
                <a:latin typeface="Calibri"/>
              </a:rPr>
              <a:t>NEXT</a:t>
            </a:r>
          </a:p>
        </p:txBody>
      </p:sp>
      <p:sp>
        <p:nvSpPr>
          <p:cNvPr id="20" name="TextBox 19"/>
          <p:cNvSpPr txBox="1"/>
          <p:nvPr/>
        </p:nvSpPr>
        <p:spPr>
          <a:xfrm>
            <a:off x="685800" y="3694176"/>
            <a:ext cx="457200" cy="201168"/>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01</a:t>
            </a:r>
          </a:p>
        </p:txBody>
      </p:sp>
      <p:sp>
        <p:nvSpPr>
          <p:cNvPr id="21" name="TextBox 20"/>
          <p:cNvSpPr txBox="1"/>
          <p:nvPr/>
        </p:nvSpPr>
        <p:spPr>
          <a:xfrm>
            <a:off x="1088136" y="3675887"/>
            <a:ext cx="3017520" cy="256032"/>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Classroom pilot</a:t>
            </a:r>
          </a:p>
        </p:txBody>
      </p:sp>
      <p:sp>
        <p:nvSpPr>
          <p:cNvPr id="22" name="TextBox 21"/>
          <p:cNvSpPr txBox="1"/>
          <p:nvPr/>
        </p:nvSpPr>
        <p:spPr>
          <a:xfrm>
            <a:off x="1088136" y="3950208"/>
            <a:ext cx="2971800" cy="457200"/>
          </a:xfrm>
          <a:prstGeom prst="rect">
            <a:avLst/>
          </a:prstGeom>
          <a:noFill/>
        </p:spPr>
        <p:txBody>
          <a:bodyPr wrap="square" anchor="t" lIns="0" rIns="0" tIns="0" bIns="0">
            <a:noAutofit/>
          </a:bodyPr>
          <a:lstStyle/>
          <a:p>
            <a:pPr algn="l">
              <a:lnSpc>
                <a:spcPct val="118000"/>
              </a:lnSpc>
              <a:spcAft>
                <a:spcPts val="0"/>
              </a:spcAft>
            </a:pPr>
            <a:r>
              <a:rPr sz="1100" b="0" i="0">
                <a:solidFill>
                  <a:srgbClr val="77859A"/>
                </a:solidFill>
                <a:latin typeface="Calibri"/>
              </a:rPr>
              <a:t>Pre/post quiz with a real cohort.</a:t>
            </a:r>
          </a:p>
        </p:txBody>
      </p:sp>
      <p:sp>
        <p:nvSpPr>
          <p:cNvPr id="23" name="TextBox 22"/>
          <p:cNvSpPr txBox="1"/>
          <p:nvPr/>
        </p:nvSpPr>
        <p:spPr>
          <a:xfrm>
            <a:off x="4315968" y="3694176"/>
            <a:ext cx="457200" cy="201168"/>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02</a:t>
            </a:r>
          </a:p>
        </p:txBody>
      </p:sp>
      <p:sp>
        <p:nvSpPr>
          <p:cNvPr id="24" name="TextBox 23"/>
          <p:cNvSpPr txBox="1"/>
          <p:nvPr/>
        </p:nvSpPr>
        <p:spPr>
          <a:xfrm>
            <a:off x="4718304" y="3675887"/>
            <a:ext cx="3017520" cy="256032"/>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Optional sync</a:t>
            </a:r>
          </a:p>
        </p:txBody>
      </p:sp>
      <p:sp>
        <p:nvSpPr>
          <p:cNvPr id="25" name="TextBox 24"/>
          <p:cNvSpPr txBox="1"/>
          <p:nvPr/>
        </p:nvSpPr>
        <p:spPr>
          <a:xfrm>
            <a:off x="4718304" y="3950208"/>
            <a:ext cx="2971800" cy="457200"/>
          </a:xfrm>
          <a:prstGeom prst="rect">
            <a:avLst/>
          </a:prstGeom>
          <a:noFill/>
        </p:spPr>
        <p:txBody>
          <a:bodyPr wrap="square" anchor="t" lIns="0" rIns="0" tIns="0" bIns="0">
            <a:noAutofit/>
          </a:bodyPr>
          <a:lstStyle/>
          <a:p>
            <a:pPr algn="l">
              <a:lnSpc>
                <a:spcPct val="118000"/>
              </a:lnSpc>
              <a:spcAft>
                <a:spcPts val="0"/>
              </a:spcAft>
            </a:pPr>
            <a:r>
              <a:rPr sz="1100" b="0" i="0">
                <a:solidFill>
                  <a:srgbClr val="77859A"/>
                </a:solidFill>
                <a:latin typeface="Calibri"/>
              </a:rPr>
              <a:t>Account-based, conflict-safe sync.</a:t>
            </a:r>
          </a:p>
        </p:txBody>
      </p:sp>
      <p:sp>
        <p:nvSpPr>
          <p:cNvPr id="26" name="TextBox 25"/>
          <p:cNvSpPr txBox="1"/>
          <p:nvPr/>
        </p:nvSpPr>
        <p:spPr>
          <a:xfrm>
            <a:off x="7946136" y="3694176"/>
            <a:ext cx="457200" cy="201168"/>
          </a:xfrm>
          <a:prstGeom prst="rect">
            <a:avLst/>
          </a:prstGeom>
          <a:noFill/>
        </p:spPr>
        <p:txBody>
          <a:bodyPr wrap="square" anchor="t" lIns="0" rIns="0" tIns="0" bIns="0">
            <a:noAutofit/>
          </a:bodyPr>
          <a:lstStyle/>
          <a:p>
            <a:pPr algn="l">
              <a:lnSpc>
                <a:spcPct val="112000"/>
              </a:lnSpc>
              <a:spcAft>
                <a:spcPts val="0"/>
              </a:spcAft>
            </a:pPr>
            <a:r>
              <a:rPr sz="1050" b="1" i="0">
                <a:solidFill>
                  <a:srgbClr val="0F7A82"/>
                </a:solidFill>
                <a:latin typeface="Calibri"/>
              </a:rPr>
              <a:t>03</a:t>
            </a:r>
          </a:p>
        </p:txBody>
      </p:sp>
      <p:sp>
        <p:nvSpPr>
          <p:cNvPr id="27" name="TextBox 26"/>
          <p:cNvSpPr txBox="1"/>
          <p:nvPr/>
        </p:nvSpPr>
        <p:spPr>
          <a:xfrm>
            <a:off x="8348472" y="3675887"/>
            <a:ext cx="3017520" cy="256032"/>
          </a:xfrm>
          <a:prstGeom prst="rect">
            <a:avLst/>
          </a:prstGeom>
          <a:noFill/>
        </p:spPr>
        <p:txBody>
          <a:bodyPr wrap="square" anchor="t" lIns="0" rIns="0" tIns="0" bIns="0">
            <a:noAutofit/>
          </a:bodyPr>
          <a:lstStyle/>
          <a:p>
            <a:pPr algn="l">
              <a:lnSpc>
                <a:spcPct val="112000"/>
              </a:lnSpc>
              <a:spcAft>
                <a:spcPts val="0"/>
              </a:spcAft>
            </a:pPr>
            <a:r>
              <a:rPr sz="1400" b="1" i="0">
                <a:solidFill>
                  <a:srgbClr val="152238"/>
                </a:solidFill>
                <a:latin typeface="Calibri"/>
              </a:rPr>
              <a:t>Accessibility pass</a:t>
            </a:r>
          </a:p>
        </p:txBody>
      </p:sp>
      <p:sp>
        <p:nvSpPr>
          <p:cNvPr id="28" name="TextBox 27"/>
          <p:cNvSpPr txBox="1"/>
          <p:nvPr/>
        </p:nvSpPr>
        <p:spPr>
          <a:xfrm>
            <a:off x="8348472" y="3950208"/>
            <a:ext cx="2971800" cy="457200"/>
          </a:xfrm>
          <a:prstGeom prst="rect">
            <a:avLst/>
          </a:prstGeom>
          <a:noFill/>
        </p:spPr>
        <p:txBody>
          <a:bodyPr wrap="square" anchor="t" lIns="0" rIns="0" tIns="0" bIns="0">
            <a:noAutofit/>
          </a:bodyPr>
          <a:lstStyle/>
          <a:p>
            <a:pPr algn="l">
              <a:lnSpc>
                <a:spcPct val="118000"/>
              </a:lnSpc>
              <a:spcAft>
                <a:spcPts val="0"/>
              </a:spcAft>
            </a:pPr>
            <a:r>
              <a:rPr sz="1100" b="0" i="0">
                <a:solidFill>
                  <a:srgbClr val="77859A"/>
                </a:solidFill>
                <a:latin typeface="Calibri"/>
              </a:rPr>
              <a:t>Keyboard paths, contrast, screen readers.</a:t>
            </a:r>
          </a:p>
        </p:txBody>
      </p:sp>
      <p:sp>
        <p:nvSpPr>
          <p:cNvPr id="29" name="Rounded Rectangle 28"/>
          <p:cNvSpPr/>
          <p:nvPr/>
        </p:nvSpPr>
        <p:spPr>
          <a:xfrm>
            <a:off x="685800" y="4681728"/>
            <a:ext cx="10835640" cy="1572768"/>
          </a:xfrm>
          <a:prstGeom prst="roundRect">
            <a:avLst>
              <a:gd name="adj" fmla="val 6000"/>
            </a:avLst>
          </a:prstGeom>
          <a:solidFill>
            <a:srgbClr val="F5F8FA"/>
          </a:solidFill>
          <a:ln>
            <a:noFill/>
          </a:ln>
          <a:effectLst/>
        </p:spPr>
        <p:txBody>
          <a:bodyPr rtlCol="0" anchor="ctr" wrap="square"/>
          <a:lstStyle/>
          <a:p>
            <a:pPr algn="ctr"/>
          </a:p>
        </p:txBody>
      </p:sp>
      <p:sp>
        <p:nvSpPr>
          <p:cNvPr id="30" name="TextBox 29"/>
          <p:cNvSpPr txBox="1"/>
          <p:nvPr/>
        </p:nvSpPr>
        <p:spPr>
          <a:xfrm>
            <a:off x="914400" y="4791456"/>
            <a:ext cx="1828800" cy="201168"/>
          </a:xfrm>
          <a:prstGeom prst="rect">
            <a:avLst/>
          </a:prstGeom>
          <a:noFill/>
        </p:spPr>
        <p:txBody>
          <a:bodyPr wrap="square" anchor="t" lIns="0" rIns="0" tIns="0" bIns="0">
            <a:noAutofit/>
          </a:bodyPr>
          <a:lstStyle/>
          <a:p>
            <a:pPr algn="l">
              <a:lnSpc>
                <a:spcPct val="112000"/>
              </a:lnSpc>
              <a:spcAft>
                <a:spcPts val="0"/>
              </a:spcAft>
            </a:pPr>
            <a:r>
              <a:rPr sz="1000" b="1" i="0">
                <a:solidFill>
                  <a:srgbClr val="0F7A82"/>
                </a:solidFill>
                <a:latin typeface="Calibri"/>
              </a:rPr>
              <a:t>REFERENCES</a:t>
            </a:r>
          </a:p>
        </p:txBody>
      </p:sp>
      <p:sp>
        <p:nvSpPr>
          <p:cNvPr id="31" name="TextBox 30"/>
          <p:cNvSpPr txBox="1"/>
          <p:nvPr/>
        </p:nvSpPr>
        <p:spPr>
          <a:xfrm>
            <a:off x="914400" y="5029200"/>
            <a:ext cx="4846320" cy="219456"/>
          </a:xfrm>
          <a:prstGeom prst="rect">
            <a:avLst/>
          </a:prstGeom>
          <a:noFill/>
        </p:spPr>
        <p:txBody>
          <a:bodyPr wrap="square" anchor="t" lIns="0" rIns="0" tIns="0" bIns="0">
            <a:noAutofit/>
          </a:bodyPr>
          <a:lstStyle/>
          <a:p>
            <a:pPr algn="l">
              <a:lnSpc>
                <a:spcPct val="112000"/>
              </a:lnSpc>
              <a:spcAft>
                <a:spcPts val="0"/>
              </a:spcAft>
            </a:pPr>
            <a:r>
              <a:rPr sz="1000" b="0" i="0">
                <a:solidFill>
                  <a:srgbClr val="3D4A5C"/>
                </a:solidFill>
                <a:latin typeface="Calibri"/>
              </a:rPr>
              <a:t>[1]  StudyMapper source repository, GitHub.</a:t>
            </a:r>
          </a:p>
        </p:txBody>
      </p:sp>
      <p:sp>
        <p:nvSpPr>
          <p:cNvPr id="32" name="TextBox 31"/>
          <p:cNvSpPr txBox="1"/>
          <p:nvPr/>
        </p:nvSpPr>
        <p:spPr>
          <a:xfrm>
            <a:off x="914400" y="5394960"/>
            <a:ext cx="4846320" cy="219456"/>
          </a:xfrm>
          <a:prstGeom prst="rect">
            <a:avLst/>
          </a:prstGeom>
          <a:noFill/>
        </p:spPr>
        <p:txBody>
          <a:bodyPr wrap="square" anchor="t" lIns="0" rIns="0" tIns="0" bIns="0">
            <a:noAutofit/>
          </a:bodyPr>
          <a:lstStyle/>
          <a:p>
            <a:pPr algn="l">
              <a:lnSpc>
                <a:spcPct val="112000"/>
              </a:lnSpc>
              <a:spcAft>
                <a:spcPts val="0"/>
              </a:spcAft>
            </a:pPr>
            <a:r>
              <a:rPr sz="1000" b="0" i="0">
                <a:solidFill>
                  <a:srgbClr val="3D4A5C"/>
                </a:solidFill>
                <a:latin typeface="Calibri"/>
              </a:rPr>
              <a:t>[2]  StudyMapper project abstract, ALITS, 2026–27.</a:t>
            </a:r>
          </a:p>
        </p:txBody>
      </p:sp>
      <p:sp>
        <p:nvSpPr>
          <p:cNvPr id="33" name="TextBox 32"/>
          <p:cNvSpPr txBox="1"/>
          <p:nvPr/>
        </p:nvSpPr>
        <p:spPr>
          <a:xfrm>
            <a:off x="914400" y="5760720"/>
            <a:ext cx="4846320" cy="219456"/>
          </a:xfrm>
          <a:prstGeom prst="rect">
            <a:avLst/>
          </a:prstGeom>
          <a:noFill/>
        </p:spPr>
        <p:txBody>
          <a:bodyPr wrap="square" anchor="t" lIns="0" rIns="0" tIns="0" bIns="0">
            <a:noAutofit/>
          </a:bodyPr>
          <a:lstStyle/>
          <a:p>
            <a:pPr algn="l">
              <a:lnSpc>
                <a:spcPct val="112000"/>
              </a:lnSpc>
              <a:spcAft>
                <a:spcPts val="0"/>
              </a:spcAft>
            </a:pPr>
            <a:r>
              <a:rPr sz="1000" b="0" i="0">
                <a:solidFill>
                  <a:srgbClr val="3D4A5C"/>
                </a:solidFill>
                <a:latin typeface="Calibri"/>
              </a:rPr>
              <a:t>[3]  React 19, Vite and Dexie documentation.</a:t>
            </a:r>
          </a:p>
        </p:txBody>
      </p:sp>
      <p:sp>
        <p:nvSpPr>
          <p:cNvPr id="34" name="TextBox 33"/>
          <p:cNvSpPr txBox="1"/>
          <p:nvPr/>
        </p:nvSpPr>
        <p:spPr>
          <a:xfrm>
            <a:off x="6217920" y="5029200"/>
            <a:ext cx="5029200" cy="219456"/>
          </a:xfrm>
          <a:prstGeom prst="rect">
            <a:avLst/>
          </a:prstGeom>
          <a:noFill/>
        </p:spPr>
        <p:txBody>
          <a:bodyPr wrap="square" anchor="t" lIns="0" rIns="0" tIns="0" bIns="0">
            <a:noAutofit/>
          </a:bodyPr>
          <a:lstStyle/>
          <a:p>
            <a:pPr algn="l">
              <a:lnSpc>
                <a:spcPct val="112000"/>
              </a:lnSpc>
              <a:spcAft>
                <a:spcPts val="0"/>
              </a:spcAft>
            </a:pPr>
            <a:r>
              <a:rPr sz="1000" b="0" i="0">
                <a:solidFill>
                  <a:srgbClr val="3D4A5C"/>
                </a:solidFill>
                <a:latin typeface="Calibri"/>
              </a:rPr>
              <a:t>[4]  OpenRouter API documentation.</a:t>
            </a:r>
          </a:p>
        </p:txBody>
      </p:sp>
      <p:sp>
        <p:nvSpPr>
          <p:cNvPr id="35" name="TextBox 34"/>
          <p:cNvSpPr txBox="1"/>
          <p:nvPr/>
        </p:nvSpPr>
        <p:spPr>
          <a:xfrm>
            <a:off x="6217920" y="5394960"/>
            <a:ext cx="5029200" cy="219456"/>
          </a:xfrm>
          <a:prstGeom prst="rect">
            <a:avLst/>
          </a:prstGeom>
          <a:noFill/>
        </p:spPr>
        <p:txBody>
          <a:bodyPr wrap="square" anchor="t" lIns="0" rIns="0" tIns="0" bIns="0">
            <a:noAutofit/>
          </a:bodyPr>
          <a:lstStyle/>
          <a:p>
            <a:pPr algn="l">
              <a:lnSpc>
                <a:spcPct val="112000"/>
              </a:lnSpc>
              <a:spcAft>
                <a:spcPts val="0"/>
              </a:spcAft>
            </a:pPr>
            <a:r>
              <a:rPr sz="1000" b="0" i="0">
                <a:solidFill>
                  <a:srgbClr val="3D4A5C"/>
                </a:solidFill>
                <a:latin typeface="Calibri"/>
              </a:rPr>
              <a:t>[5]  P. A. Woźniak, SuperMemo 2, 1987.</a:t>
            </a:r>
          </a:p>
        </p:txBody>
      </p:sp>
      <p:sp>
        <p:nvSpPr>
          <p:cNvPr id="36" name="TextBox 35"/>
          <p:cNvSpPr txBox="1"/>
          <p:nvPr/>
        </p:nvSpPr>
        <p:spPr>
          <a:xfrm>
            <a:off x="6217920" y="5760720"/>
            <a:ext cx="5029200" cy="219456"/>
          </a:xfrm>
          <a:prstGeom prst="rect">
            <a:avLst/>
          </a:prstGeom>
          <a:noFill/>
        </p:spPr>
        <p:txBody>
          <a:bodyPr wrap="square" anchor="t" lIns="0" rIns="0" tIns="0" bIns="0">
            <a:noAutofit/>
          </a:bodyPr>
          <a:lstStyle/>
          <a:p>
            <a:pPr algn="l">
              <a:lnSpc>
                <a:spcPct val="112000"/>
              </a:lnSpc>
              <a:spcAft>
                <a:spcPts val="0"/>
              </a:spcAft>
            </a:pPr>
            <a:r>
              <a:rPr sz="1000" b="0" i="0">
                <a:solidFill>
                  <a:srgbClr val="3D4A5C"/>
                </a:solidFill>
                <a:latin typeface="Calibri"/>
              </a:rPr>
              <a:t>[6]  Vitest and Pyodide documentation.</a:t>
            </a:r>
          </a:p>
        </p:txBody>
      </p:sp>
      <p:sp>
        <p:nvSpPr>
          <p:cNvPr id="37" name="TextBox 36"/>
          <p:cNvSpPr txBox="1"/>
          <p:nvPr/>
        </p:nvSpPr>
        <p:spPr>
          <a:xfrm>
            <a:off x="914400" y="5998464"/>
            <a:ext cx="10332720" cy="201168"/>
          </a:xfrm>
          <a:prstGeom prst="rect">
            <a:avLst/>
          </a:prstGeom>
          <a:noFill/>
        </p:spPr>
        <p:txBody>
          <a:bodyPr wrap="square" anchor="t" lIns="0" rIns="0" tIns="0" bIns="0">
            <a:noAutofit/>
          </a:bodyPr>
          <a:lstStyle/>
          <a:p>
            <a:pPr algn="l">
              <a:lnSpc>
                <a:spcPct val="112000"/>
              </a:lnSpc>
              <a:spcAft>
                <a:spcPts val="0"/>
              </a:spcAft>
            </a:pPr>
            <a:r>
              <a:rPr sz="950" b="0" i="1">
                <a:solidFill>
                  <a:srgbClr val="77859A"/>
                </a:solidFill>
                <a:latin typeface="Calibri"/>
              </a:rPr>
              <a:t>Full reference list with access dates in the detailed deck.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StudyMapper - ten-slide project presentation</dc:title>
  <dc:subject>Academic project presentation</dc:subject>
  <dc:creator>P. Venubhaskar, T. Vasanth, V. Adarsh Kumar, B. Sai Vikas, C. Narendra</dc:creator>
  <cp:keywords>adaptive learning, spaced repetition, AI, local-first, React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